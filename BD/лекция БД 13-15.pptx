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5"/>
  </p:notesMasterIdLst>
  <p:sldIdLst>
    <p:sldId id="256" r:id="rId2"/>
    <p:sldId id="511" r:id="rId3"/>
    <p:sldId id="512" r:id="rId4"/>
    <p:sldId id="513" r:id="rId5"/>
    <p:sldId id="514" r:id="rId6"/>
    <p:sldId id="515" r:id="rId7"/>
    <p:sldId id="518" r:id="rId8"/>
    <p:sldId id="516" r:id="rId9"/>
    <p:sldId id="519" r:id="rId10"/>
    <p:sldId id="520" r:id="rId11"/>
    <p:sldId id="522" r:id="rId12"/>
    <p:sldId id="523" r:id="rId13"/>
    <p:sldId id="524" r:id="rId14"/>
    <p:sldId id="546" r:id="rId15"/>
    <p:sldId id="528" r:id="rId16"/>
    <p:sldId id="547" r:id="rId17"/>
    <p:sldId id="529" r:id="rId18"/>
    <p:sldId id="548" r:id="rId19"/>
    <p:sldId id="531" r:id="rId20"/>
    <p:sldId id="540" r:id="rId21"/>
    <p:sldId id="543" r:id="rId22"/>
    <p:sldId id="544" r:id="rId23"/>
    <p:sldId id="545" r:id="rId24"/>
    <p:sldId id="542" r:id="rId25"/>
    <p:sldId id="538" r:id="rId26"/>
    <p:sldId id="549" r:id="rId27"/>
    <p:sldId id="551" r:id="rId28"/>
    <p:sldId id="569" r:id="rId29"/>
    <p:sldId id="550" r:id="rId30"/>
    <p:sldId id="565" r:id="rId31"/>
    <p:sldId id="566" r:id="rId32"/>
    <p:sldId id="567" r:id="rId33"/>
    <p:sldId id="568" r:id="rId34"/>
    <p:sldId id="739" r:id="rId35"/>
    <p:sldId id="740" r:id="rId36"/>
    <p:sldId id="741" r:id="rId37"/>
    <p:sldId id="742" r:id="rId38"/>
    <p:sldId id="743" r:id="rId39"/>
    <p:sldId id="744" r:id="rId40"/>
    <p:sldId id="745" r:id="rId41"/>
    <p:sldId id="746" r:id="rId42"/>
    <p:sldId id="747" r:id="rId43"/>
    <p:sldId id="748" r:id="rId44"/>
    <p:sldId id="679" r:id="rId45"/>
    <p:sldId id="709" r:id="rId46"/>
    <p:sldId id="682" r:id="rId47"/>
    <p:sldId id="681" r:id="rId48"/>
    <p:sldId id="710" r:id="rId49"/>
    <p:sldId id="715" r:id="rId50"/>
    <p:sldId id="683" r:id="rId51"/>
    <p:sldId id="685" r:id="rId52"/>
    <p:sldId id="707" r:id="rId53"/>
    <p:sldId id="693" r:id="rId54"/>
    <p:sldId id="703" r:id="rId55"/>
    <p:sldId id="696" r:id="rId56"/>
    <p:sldId id="705" r:id="rId57"/>
    <p:sldId id="706" r:id="rId58"/>
    <p:sldId id="708" r:id="rId59"/>
    <p:sldId id="699" r:id="rId60"/>
    <p:sldId id="680" r:id="rId61"/>
    <p:sldId id="541" r:id="rId62"/>
    <p:sldId id="729" r:id="rId63"/>
    <p:sldId id="730" r:id="rId64"/>
    <p:sldId id="726" r:id="rId65"/>
    <p:sldId id="727" r:id="rId66"/>
    <p:sldId id="728" r:id="rId67"/>
    <p:sldId id="732" r:id="rId68"/>
    <p:sldId id="731" r:id="rId69"/>
    <p:sldId id="733" r:id="rId70"/>
    <p:sldId id="737" r:id="rId71"/>
    <p:sldId id="736" r:id="rId72"/>
    <p:sldId id="734" r:id="rId73"/>
    <p:sldId id="738" r:id="rId7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Ольга" initials="О"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B3F7B5"/>
    <a:srgbClr val="0101FD"/>
    <a:srgbClr val="677369"/>
    <a:srgbClr val="000099"/>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Стиль из темы 1 - акцент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27F97BB-C833-4FB7-BDE5-3F7075034690}" styleName="Стиль из темы 2 - акцент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21" autoAdjust="0"/>
    <p:restoredTop sz="93979" autoAdjust="0"/>
  </p:normalViewPr>
  <p:slideViewPr>
    <p:cSldViewPr>
      <p:cViewPr varScale="1">
        <p:scale>
          <a:sx n="71" d="100"/>
          <a:sy n="71" d="100"/>
        </p:scale>
        <p:origin x="1638" y="66"/>
      </p:cViewPr>
      <p:guideLst>
        <p:guide orient="horz" pos="2160"/>
        <p:guide pos="2880"/>
      </p:guideLst>
    </p:cSldViewPr>
  </p:slideViewPr>
  <p:outlineViewPr>
    <p:cViewPr>
      <p:scale>
        <a:sx n="33" d="100"/>
        <a:sy n="33" d="100"/>
      </p:scale>
      <p:origin x="0" y="-88044"/>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21600A-900E-4FCD-BAC6-1015DA7B2402}" type="doc">
      <dgm:prSet loTypeId="urn:microsoft.com/office/officeart/2005/8/layout/hierarchy1" loCatId="hierarchy" qsTypeId="urn:microsoft.com/office/officeart/2005/8/quickstyle/3d2#1" qsCatId="3D" csTypeId="urn:microsoft.com/office/officeart/2005/8/colors/accent4_3" csCatId="accent4" phldr="1"/>
      <dgm:spPr/>
      <dgm:t>
        <a:bodyPr/>
        <a:lstStyle/>
        <a:p>
          <a:endParaRPr lang="ru-RU"/>
        </a:p>
      </dgm:t>
    </dgm:pt>
    <dgm:pt modelId="{C16FBDCE-2260-4559-82B9-347ED6791878}">
      <dgm:prSet phldrT="[Текст]"/>
      <dgm:spPr/>
      <dgm:t>
        <a:bodyPr/>
        <a:lstStyle/>
        <a:p>
          <a:r>
            <a:rPr lang="ru-RU" dirty="0"/>
            <a:t>Триггеры</a:t>
          </a:r>
        </a:p>
      </dgm:t>
    </dgm:pt>
    <dgm:pt modelId="{3BC144C5-BE68-4247-902B-EE2AFDF03A2D}" type="parTrans" cxnId="{CCBC048E-CA2D-4214-9506-039F90A2640B}">
      <dgm:prSet/>
      <dgm:spPr/>
      <dgm:t>
        <a:bodyPr/>
        <a:lstStyle/>
        <a:p>
          <a:endParaRPr lang="ru-RU"/>
        </a:p>
      </dgm:t>
    </dgm:pt>
    <dgm:pt modelId="{7AA4CA99-2FB7-4259-B975-87E5EA6DD734}" type="sibTrans" cxnId="{CCBC048E-CA2D-4214-9506-039F90A2640B}">
      <dgm:prSet/>
      <dgm:spPr/>
      <dgm:t>
        <a:bodyPr/>
        <a:lstStyle/>
        <a:p>
          <a:endParaRPr lang="ru-RU"/>
        </a:p>
      </dgm:t>
    </dgm:pt>
    <dgm:pt modelId="{CA3AF3B9-DC04-4E8F-863B-F39B14959CF5}">
      <dgm:prSet phldrT="[Текст]"/>
      <dgm:spPr/>
      <dgm:t>
        <a:bodyPr/>
        <a:lstStyle/>
        <a:p>
          <a:r>
            <a:rPr lang="ru-RU" b="0" dirty="0"/>
            <a:t>Время срабатывания</a:t>
          </a:r>
        </a:p>
      </dgm:t>
    </dgm:pt>
    <dgm:pt modelId="{22F0A3A2-2426-428E-A6D7-161A73F0DE2A}" type="parTrans" cxnId="{A929FBEA-5BBA-4616-82EE-0C28EFEE06E1}">
      <dgm:prSet/>
      <dgm:spPr/>
      <dgm:t>
        <a:bodyPr/>
        <a:lstStyle/>
        <a:p>
          <a:endParaRPr lang="ru-RU"/>
        </a:p>
      </dgm:t>
    </dgm:pt>
    <dgm:pt modelId="{A34B96F5-AEBE-4B09-95EC-61420827A7CA}" type="sibTrans" cxnId="{A929FBEA-5BBA-4616-82EE-0C28EFEE06E1}">
      <dgm:prSet/>
      <dgm:spPr/>
      <dgm:t>
        <a:bodyPr/>
        <a:lstStyle/>
        <a:p>
          <a:endParaRPr lang="ru-RU"/>
        </a:p>
      </dgm:t>
    </dgm:pt>
    <dgm:pt modelId="{557B8F28-8CC8-428F-BBFE-85300E843167}">
      <dgm:prSet phldrT="[Текст]"/>
      <dgm:spPr/>
      <dgm:t>
        <a:bodyPr/>
        <a:lstStyle/>
        <a:p>
          <a:r>
            <a:rPr lang="ru-RU" dirty="0"/>
            <a:t> </a:t>
          </a:r>
          <a:r>
            <a:rPr lang="en-US" dirty="0"/>
            <a:t>FOR</a:t>
          </a:r>
          <a:endParaRPr lang="ru-RU" dirty="0"/>
        </a:p>
      </dgm:t>
    </dgm:pt>
    <dgm:pt modelId="{34056AF3-5257-4303-BC01-843BB3CD5793}" type="parTrans" cxnId="{03F2135A-2136-4109-A398-3FE9F6FDC3B0}">
      <dgm:prSet/>
      <dgm:spPr/>
      <dgm:t>
        <a:bodyPr/>
        <a:lstStyle/>
        <a:p>
          <a:endParaRPr lang="ru-RU"/>
        </a:p>
      </dgm:t>
    </dgm:pt>
    <dgm:pt modelId="{9C596CF9-56AA-4F22-9D7B-006456E4E170}" type="sibTrans" cxnId="{03F2135A-2136-4109-A398-3FE9F6FDC3B0}">
      <dgm:prSet/>
      <dgm:spPr/>
      <dgm:t>
        <a:bodyPr/>
        <a:lstStyle/>
        <a:p>
          <a:endParaRPr lang="ru-RU"/>
        </a:p>
      </dgm:t>
    </dgm:pt>
    <dgm:pt modelId="{81E2B85B-B9E3-4B8D-BD61-2DAEF68282A6}">
      <dgm:prSet phldrT="[Текст]"/>
      <dgm:spPr/>
      <dgm:t>
        <a:bodyPr/>
        <a:lstStyle/>
        <a:p>
          <a:r>
            <a:rPr lang="ru-RU" b="0" dirty="0"/>
            <a:t>События</a:t>
          </a:r>
        </a:p>
      </dgm:t>
    </dgm:pt>
    <dgm:pt modelId="{B8C8C53A-E650-40E5-9C19-B6AC2A84F3EE}" type="parTrans" cxnId="{210D52A5-756E-4B87-9B81-67487E9CA845}">
      <dgm:prSet/>
      <dgm:spPr/>
      <dgm:t>
        <a:bodyPr/>
        <a:lstStyle/>
        <a:p>
          <a:endParaRPr lang="ru-RU"/>
        </a:p>
      </dgm:t>
    </dgm:pt>
    <dgm:pt modelId="{750C6EFB-2C1F-472D-8768-9EDFF8C357AA}" type="sibTrans" cxnId="{210D52A5-756E-4B87-9B81-67487E9CA845}">
      <dgm:prSet/>
      <dgm:spPr/>
      <dgm:t>
        <a:bodyPr/>
        <a:lstStyle/>
        <a:p>
          <a:endParaRPr lang="ru-RU"/>
        </a:p>
      </dgm:t>
    </dgm:pt>
    <dgm:pt modelId="{7ED814DB-4D93-44F7-BB1F-86FE98E5769D}">
      <dgm:prSet phldrT="[Текст]"/>
      <dgm:spPr/>
      <dgm:t>
        <a:bodyPr/>
        <a:lstStyle/>
        <a:p>
          <a:r>
            <a:rPr lang="en-US" dirty="0"/>
            <a:t>INSERT</a:t>
          </a:r>
          <a:endParaRPr lang="ru-RU" dirty="0"/>
        </a:p>
      </dgm:t>
    </dgm:pt>
    <dgm:pt modelId="{BE7A099D-9890-48D0-A9E6-2FD38811CC14}" type="parTrans" cxnId="{A8067698-524C-42E5-8DE6-F99C036E27AE}">
      <dgm:prSet/>
      <dgm:spPr/>
      <dgm:t>
        <a:bodyPr/>
        <a:lstStyle/>
        <a:p>
          <a:endParaRPr lang="ru-RU"/>
        </a:p>
      </dgm:t>
    </dgm:pt>
    <dgm:pt modelId="{76D011CB-FAC8-4EFC-A042-EFEE8B53A50E}" type="sibTrans" cxnId="{A8067698-524C-42E5-8DE6-F99C036E27AE}">
      <dgm:prSet/>
      <dgm:spPr/>
      <dgm:t>
        <a:bodyPr/>
        <a:lstStyle/>
        <a:p>
          <a:endParaRPr lang="ru-RU"/>
        </a:p>
      </dgm:t>
    </dgm:pt>
    <dgm:pt modelId="{A1321B97-0B57-458A-A9AF-329FF9D00F99}">
      <dgm:prSet phldrT="[Текст]"/>
      <dgm:spPr/>
      <dgm:t>
        <a:bodyPr/>
        <a:lstStyle/>
        <a:p>
          <a:r>
            <a:rPr lang="en-US" dirty="0"/>
            <a:t>AFTER</a:t>
          </a:r>
          <a:endParaRPr lang="ru-RU" dirty="0"/>
        </a:p>
      </dgm:t>
    </dgm:pt>
    <dgm:pt modelId="{31EAC56F-6C40-463F-BBA7-EAA23D4C9463}" type="parTrans" cxnId="{3B412729-C261-4BCB-B319-66BD77B4E9A5}">
      <dgm:prSet/>
      <dgm:spPr/>
      <dgm:t>
        <a:bodyPr/>
        <a:lstStyle/>
        <a:p>
          <a:endParaRPr lang="ru-RU"/>
        </a:p>
      </dgm:t>
    </dgm:pt>
    <dgm:pt modelId="{F1466254-8F4A-4E68-BF94-1E319BF02000}" type="sibTrans" cxnId="{3B412729-C261-4BCB-B319-66BD77B4E9A5}">
      <dgm:prSet/>
      <dgm:spPr/>
      <dgm:t>
        <a:bodyPr/>
        <a:lstStyle/>
        <a:p>
          <a:endParaRPr lang="ru-RU"/>
        </a:p>
      </dgm:t>
    </dgm:pt>
    <dgm:pt modelId="{83F1B1A2-38F1-479E-AF4F-1E0C167B9C33}">
      <dgm:prSet phldrT="[Текст]"/>
      <dgm:spPr/>
      <dgm:t>
        <a:bodyPr/>
        <a:lstStyle/>
        <a:p>
          <a:r>
            <a:rPr lang="en-US" dirty="0"/>
            <a:t>UPDATE</a:t>
          </a:r>
          <a:endParaRPr lang="ru-RU" dirty="0"/>
        </a:p>
      </dgm:t>
    </dgm:pt>
    <dgm:pt modelId="{20ECB3B6-94DF-46FF-BE66-5AAEDF185291}" type="parTrans" cxnId="{CC2C751D-9CBB-41F3-BACD-C16FE0AA9ACA}">
      <dgm:prSet/>
      <dgm:spPr/>
      <dgm:t>
        <a:bodyPr/>
        <a:lstStyle/>
        <a:p>
          <a:endParaRPr lang="ru-RU"/>
        </a:p>
      </dgm:t>
    </dgm:pt>
    <dgm:pt modelId="{0F9AFEE5-744B-49E0-9A09-48865A4B3127}" type="sibTrans" cxnId="{CC2C751D-9CBB-41F3-BACD-C16FE0AA9ACA}">
      <dgm:prSet/>
      <dgm:spPr/>
      <dgm:t>
        <a:bodyPr/>
        <a:lstStyle/>
        <a:p>
          <a:endParaRPr lang="ru-RU"/>
        </a:p>
      </dgm:t>
    </dgm:pt>
    <dgm:pt modelId="{BE8A776E-1A3F-4F26-B0B3-B33E99C9E900}">
      <dgm:prSet phldrT="[Текст]"/>
      <dgm:spPr/>
      <dgm:t>
        <a:bodyPr/>
        <a:lstStyle/>
        <a:p>
          <a:r>
            <a:rPr lang="en-US" dirty="0"/>
            <a:t>DELETE</a:t>
          </a:r>
          <a:endParaRPr lang="ru-RU" dirty="0"/>
        </a:p>
      </dgm:t>
    </dgm:pt>
    <dgm:pt modelId="{6683B3D9-7961-445E-BAD7-06DA601C6635}" type="parTrans" cxnId="{1F6173A4-FA13-4056-B68E-FD675F8936FF}">
      <dgm:prSet/>
      <dgm:spPr/>
      <dgm:t>
        <a:bodyPr/>
        <a:lstStyle/>
        <a:p>
          <a:endParaRPr lang="ru-RU"/>
        </a:p>
      </dgm:t>
    </dgm:pt>
    <dgm:pt modelId="{B35DD0B1-536C-4AB0-8245-99D9C9B5DDB9}" type="sibTrans" cxnId="{1F6173A4-FA13-4056-B68E-FD675F8936FF}">
      <dgm:prSet/>
      <dgm:spPr/>
      <dgm:t>
        <a:bodyPr/>
        <a:lstStyle/>
        <a:p>
          <a:endParaRPr lang="ru-RU"/>
        </a:p>
      </dgm:t>
    </dgm:pt>
    <dgm:pt modelId="{9D28F040-E93D-48EE-9B3D-9502F12261E9}">
      <dgm:prSet phldrT="[Текст]"/>
      <dgm:spPr/>
      <dgm:t>
        <a:bodyPr/>
        <a:lstStyle/>
        <a:p>
          <a:r>
            <a:rPr lang="en-US"/>
            <a:t>INSTEAD OF</a:t>
          </a:r>
          <a:endParaRPr lang="ru-RU" dirty="0"/>
        </a:p>
      </dgm:t>
    </dgm:pt>
    <dgm:pt modelId="{00727471-D007-495C-BE15-C816C00FA327}" type="parTrans" cxnId="{77369C67-BE44-4121-AC2A-FFCA94413D0F}">
      <dgm:prSet/>
      <dgm:spPr/>
      <dgm:t>
        <a:bodyPr/>
        <a:lstStyle/>
        <a:p>
          <a:endParaRPr lang="ru-RU"/>
        </a:p>
      </dgm:t>
    </dgm:pt>
    <dgm:pt modelId="{38889A29-D473-4321-B34C-60D55CE86772}" type="sibTrans" cxnId="{77369C67-BE44-4121-AC2A-FFCA94413D0F}">
      <dgm:prSet/>
      <dgm:spPr/>
      <dgm:t>
        <a:bodyPr/>
        <a:lstStyle/>
        <a:p>
          <a:endParaRPr lang="ru-RU"/>
        </a:p>
      </dgm:t>
    </dgm:pt>
    <dgm:pt modelId="{275040B5-7562-4843-AFEB-D5BC966DC5B9}" type="pres">
      <dgm:prSet presAssocID="{9421600A-900E-4FCD-BAC6-1015DA7B2402}" presName="hierChild1" presStyleCnt="0">
        <dgm:presLayoutVars>
          <dgm:chPref val="1"/>
          <dgm:dir/>
          <dgm:animOne val="branch"/>
          <dgm:animLvl val="lvl"/>
          <dgm:resizeHandles/>
        </dgm:presLayoutVars>
      </dgm:prSet>
      <dgm:spPr/>
    </dgm:pt>
    <dgm:pt modelId="{5F816B47-58F9-4378-A30D-6F20B6B2D56B}" type="pres">
      <dgm:prSet presAssocID="{C16FBDCE-2260-4559-82B9-347ED6791878}" presName="hierRoot1" presStyleCnt="0"/>
      <dgm:spPr/>
    </dgm:pt>
    <dgm:pt modelId="{4EFAB9D1-CAF7-4B87-A3E8-7F5BDF6E3979}" type="pres">
      <dgm:prSet presAssocID="{C16FBDCE-2260-4559-82B9-347ED6791878}" presName="composite" presStyleCnt="0"/>
      <dgm:spPr/>
    </dgm:pt>
    <dgm:pt modelId="{57748B90-A7FC-45A0-94AE-63F4B89E0E8E}" type="pres">
      <dgm:prSet presAssocID="{C16FBDCE-2260-4559-82B9-347ED6791878}" presName="background" presStyleLbl="node0" presStyleIdx="0" presStyleCnt="1"/>
      <dgm:spPr/>
    </dgm:pt>
    <dgm:pt modelId="{2925FC60-4374-41E0-8D83-3F3C76CC046E}" type="pres">
      <dgm:prSet presAssocID="{C16FBDCE-2260-4559-82B9-347ED6791878}" presName="text" presStyleLbl="fgAcc0" presStyleIdx="0" presStyleCnt="1">
        <dgm:presLayoutVars>
          <dgm:chPref val="3"/>
        </dgm:presLayoutVars>
      </dgm:prSet>
      <dgm:spPr/>
    </dgm:pt>
    <dgm:pt modelId="{3D27FF04-53E2-4B2D-9CE5-60F25863D8C3}" type="pres">
      <dgm:prSet presAssocID="{C16FBDCE-2260-4559-82B9-347ED6791878}" presName="hierChild2" presStyleCnt="0"/>
      <dgm:spPr/>
    </dgm:pt>
    <dgm:pt modelId="{2A4DCFA2-CDF5-402A-A61E-799799C21D21}" type="pres">
      <dgm:prSet presAssocID="{22F0A3A2-2426-428E-A6D7-161A73F0DE2A}" presName="Name10" presStyleLbl="parChTrans1D2" presStyleIdx="0" presStyleCnt="2"/>
      <dgm:spPr/>
    </dgm:pt>
    <dgm:pt modelId="{07B04B46-C961-48C3-8B31-A54F04553AD7}" type="pres">
      <dgm:prSet presAssocID="{CA3AF3B9-DC04-4E8F-863B-F39B14959CF5}" presName="hierRoot2" presStyleCnt="0"/>
      <dgm:spPr/>
    </dgm:pt>
    <dgm:pt modelId="{EB57E429-D784-4240-AF05-7EE4595D5A8B}" type="pres">
      <dgm:prSet presAssocID="{CA3AF3B9-DC04-4E8F-863B-F39B14959CF5}" presName="composite2" presStyleCnt="0"/>
      <dgm:spPr/>
    </dgm:pt>
    <dgm:pt modelId="{C66A79F5-D79D-4C40-8F97-634C08E29B87}" type="pres">
      <dgm:prSet presAssocID="{CA3AF3B9-DC04-4E8F-863B-F39B14959CF5}" presName="background2" presStyleLbl="node2" presStyleIdx="0" presStyleCnt="2"/>
      <dgm:spPr/>
    </dgm:pt>
    <dgm:pt modelId="{89CBF1A3-F0D4-4169-BB21-E986F5F40C33}" type="pres">
      <dgm:prSet presAssocID="{CA3AF3B9-DC04-4E8F-863B-F39B14959CF5}" presName="text2" presStyleLbl="fgAcc2" presStyleIdx="0" presStyleCnt="2">
        <dgm:presLayoutVars>
          <dgm:chPref val="3"/>
        </dgm:presLayoutVars>
      </dgm:prSet>
      <dgm:spPr/>
    </dgm:pt>
    <dgm:pt modelId="{02D32483-27EA-4352-8447-731441B0D472}" type="pres">
      <dgm:prSet presAssocID="{CA3AF3B9-DC04-4E8F-863B-F39B14959CF5}" presName="hierChild3" presStyleCnt="0"/>
      <dgm:spPr/>
    </dgm:pt>
    <dgm:pt modelId="{A39D2D77-F795-4ECD-9CFE-9EBF121CCD51}" type="pres">
      <dgm:prSet presAssocID="{34056AF3-5257-4303-BC01-843BB3CD5793}" presName="Name17" presStyleLbl="parChTrans1D3" presStyleIdx="0" presStyleCnt="6"/>
      <dgm:spPr/>
    </dgm:pt>
    <dgm:pt modelId="{E6C6184C-775C-4D0A-BC44-03042DA9EAB4}" type="pres">
      <dgm:prSet presAssocID="{557B8F28-8CC8-428F-BBFE-85300E843167}" presName="hierRoot3" presStyleCnt="0"/>
      <dgm:spPr/>
    </dgm:pt>
    <dgm:pt modelId="{09990EAE-34AA-4F9C-8BC4-D9F735BC997D}" type="pres">
      <dgm:prSet presAssocID="{557B8F28-8CC8-428F-BBFE-85300E843167}" presName="composite3" presStyleCnt="0"/>
      <dgm:spPr/>
    </dgm:pt>
    <dgm:pt modelId="{830FEBC1-F46F-498D-9201-8708E25895AF}" type="pres">
      <dgm:prSet presAssocID="{557B8F28-8CC8-428F-BBFE-85300E843167}" presName="background3" presStyleLbl="node3" presStyleIdx="0" presStyleCnt="6"/>
      <dgm:spPr/>
    </dgm:pt>
    <dgm:pt modelId="{AFC1332F-547E-43E1-925C-5F9CAED0A900}" type="pres">
      <dgm:prSet presAssocID="{557B8F28-8CC8-428F-BBFE-85300E843167}" presName="text3" presStyleLbl="fgAcc3" presStyleIdx="0" presStyleCnt="6">
        <dgm:presLayoutVars>
          <dgm:chPref val="3"/>
        </dgm:presLayoutVars>
      </dgm:prSet>
      <dgm:spPr/>
    </dgm:pt>
    <dgm:pt modelId="{E0F3FE6F-9978-4451-8A4C-6106F5EC49C8}" type="pres">
      <dgm:prSet presAssocID="{557B8F28-8CC8-428F-BBFE-85300E843167}" presName="hierChild4" presStyleCnt="0"/>
      <dgm:spPr/>
    </dgm:pt>
    <dgm:pt modelId="{FD5A8991-C558-4008-830A-707E0CF5104E}" type="pres">
      <dgm:prSet presAssocID="{31EAC56F-6C40-463F-BBA7-EAA23D4C9463}" presName="Name17" presStyleLbl="parChTrans1D3" presStyleIdx="1" presStyleCnt="6"/>
      <dgm:spPr/>
    </dgm:pt>
    <dgm:pt modelId="{1A8B3496-4A15-4D7E-9D1B-D26818A9623D}" type="pres">
      <dgm:prSet presAssocID="{A1321B97-0B57-458A-A9AF-329FF9D00F99}" presName="hierRoot3" presStyleCnt="0"/>
      <dgm:spPr/>
    </dgm:pt>
    <dgm:pt modelId="{A31C1A9C-DD27-4AC5-A96B-874CABEBC17B}" type="pres">
      <dgm:prSet presAssocID="{A1321B97-0B57-458A-A9AF-329FF9D00F99}" presName="composite3" presStyleCnt="0"/>
      <dgm:spPr/>
    </dgm:pt>
    <dgm:pt modelId="{25A6745A-5C48-41E0-85A8-15A31A0734DF}" type="pres">
      <dgm:prSet presAssocID="{A1321B97-0B57-458A-A9AF-329FF9D00F99}" presName="background3" presStyleLbl="node3" presStyleIdx="1" presStyleCnt="6"/>
      <dgm:spPr/>
    </dgm:pt>
    <dgm:pt modelId="{49E34B39-363F-4E2F-AD09-ED74D8EB1E74}" type="pres">
      <dgm:prSet presAssocID="{A1321B97-0B57-458A-A9AF-329FF9D00F99}" presName="text3" presStyleLbl="fgAcc3" presStyleIdx="1" presStyleCnt="6" custLinFactNeighborX="-3593" custLinFactNeighborY="3705">
        <dgm:presLayoutVars>
          <dgm:chPref val="3"/>
        </dgm:presLayoutVars>
      </dgm:prSet>
      <dgm:spPr/>
    </dgm:pt>
    <dgm:pt modelId="{6C889F5B-BA82-4B21-9ADC-7EA12EABD1BC}" type="pres">
      <dgm:prSet presAssocID="{A1321B97-0B57-458A-A9AF-329FF9D00F99}" presName="hierChild4" presStyleCnt="0"/>
      <dgm:spPr/>
    </dgm:pt>
    <dgm:pt modelId="{7F664827-90CB-4A4E-9029-64DDBF366C82}" type="pres">
      <dgm:prSet presAssocID="{00727471-D007-495C-BE15-C816C00FA327}" presName="Name17" presStyleLbl="parChTrans1D3" presStyleIdx="2" presStyleCnt="6"/>
      <dgm:spPr/>
    </dgm:pt>
    <dgm:pt modelId="{D8F82121-9411-4FD5-9CDA-D8EC09B36991}" type="pres">
      <dgm:prSet presAssocID="{9D28F040-E93D-48EE-9B3D-9502F12261E9}" presName="hierRoot3" presStyleCnt="0"/>
      <dgm:spPr/>
    </dgm:pt>
    <dgm:pt modelId="{563F029D-16ED-40CB-86FD-59435C96F9B9}" type="pres">
      <dgm:prSet presAssocID="{9D28F040-E93D-48EE-9B3D-9502F12261E9}" presName="composite3" presStyleCnt="0"/>
      <dgm:spPr/>
    </dgm:pt>
    <dgm:pt modelId="{38430EF1-B39F-4658-A2A0-482DCC4C1ACC}" type="pres">
      <dgm:prSet presAssocID="{9D28F040-E93D-48EE-9B3D-9502F12261E9}" presName="background3" presStyleLbl="node3" presStyleIdx="2" presStyleCnt="6"/>
      <dgm:spPr/>
    </dgm:pt>
    <dgm:pt modelId="{50BBF682-3A87-40EE-BE2B-3751F16B783F}" type="pres">
      <dgm:prSet presAssocID="{9D28F040-E93D-48EE-9B3D-9502F12261E9}" presName="text3" presStyleLbl="fgAcc3" presStyleIdx="2" presStyleCnt="6">
        <dgm:presLayoutVars>
          <dgm:chPref val="3"/>
        </dgm:presLayoutVars>
      </dgm:prSet>
      <dgm:spPr/>
    </dgm:pt>
    <dgm:pt modelId="{30CA9067-6A17-464D-83D3-D473C5D353A7}" type="pres">
      <dgm:prSet presAssocID="{9D28F040-E93D-48EE-9B3D-9502F12261E9}" presName="hierChild4" presStyleCnt="0"/>
      <dgm:spPr/>
    </dgm:pt>
    <dgm:pt modelId="{19409728-6300-446B-AAC9-1438CE36F7B4}" type="pres">
      <dgm:prSet presAssocID="{B8C8C53A-E650-40E5-9C19-B6AC2A84F3EE}" presName="Name10" presStyleLbl="parChTrans1D2" presStyleIdx="1" presStyleCnt="2"/>
      <dgm:spPr/>
    </dgm:pt>
    <dgm:pt modelId="{0BF3AEC1-1F81-4F18-8367-62D974D31520}" type="pres">
      <dgm:prSet presAssocID="{81E2B85B-B9E3-4B8D-BD61-2DAEF68282A6}" presName="hierRoot2" presStyleCnt="0"/>
      <dgm:spPr/>
    </dgm:pt>
    <dgm:pt modelId="{BDC45C7D-03AC-4AA2-BF75-DDB5AC98BF2A}" type="pres">
      <dgm:prSet presAssocID="{81E2B85B-B9E3-4B8D-BD61-2DAEF68282A6}" presName="composite2" presStyleCnt="0"/>
      <dgm:spPr/>
    </dgm:pt>
    <dgm:pt modelId="{59B5CAFE-B662-41CF-9EEF-7B84F9C8249F}" type="pres">
      <dgm:prSet presAssocID="{81E2B85B-B9E3-4B8D-BD61-2DAEF68282A6}" presName="background2" presStyleLbl="node2" presStyleIdx="1" presStyleCnt="2"/>
      <dgm:spPr/>
    </dgm:pt>
    <dgm:pt modelId="{A728352F-CBA5-4419-943E-E2A4151FA84C}" type="pres">
      <dgm:prSet presAssocID="{81E2B85B-B9E3-4B8D-BD61-2DAEF68282A6}" presName="text2" presStyleLbl="fgAcc2" presStyleIdx="1" presStyleCnt="2">
        <dgm:presLayoutVars>
          <dgm:chPref val="3"/>
        </dgm:presLayoutVars>
      </dgm:prSet>
      <dgm:spPr/>
    </dgm:pt>
    <dgm:pt modelId="{07C72569-203B-4AE0-A8DB-53F3245EFD5A}" type="pres">
      <dgm:prSet presAssocID="{81E2B85B-B9E3-4B8D-BD61-2DAEF68282A6}" presName="hierChild3" presStyleCnt="0"/>
      <dgm:spPr/>
    </dgm:pt>
    <dgm:pt modelId="{4D0A2739-FAF0-4E74-AE3B-3D15D0D31580}" type="pres">
      <dgm:prSet presAssocID="{BE7A099D-9890-48D0-A9E6-2FD38811CC14}" presName="Name17" presStyleLbl="parChTrans1D3" presStyleIdx="3" presStyleCnt="6"/>
      <dgm:spPr/>
    </dgm:pt>
    <dgm:pt modelId="{3C1A74C9-180D-43E4-83CB-1C27E7E59BBD}" type="pres">
      <dgm:prSet presAssocID="{7ED814DB-4D93-44F7-BB1F-86FE98E5769D}" presName="hierRoot3" presStyleCnt="0"/>
      <dgm:spPr/>
    </dgm:pt>
    <dgm:pt modelId="{DBA64D63-D6B2-410D-8C9A-00C26CF54548}" type="pres">
      <dgm:prSet presAssocID="{7ED814DB-4D93-44F7-BB1F-86FE98E5769D}" presName="composite3" presStyleCnt="0"/>
      <dgm:spPr/>
    </dgm:pt>
    <dgm:pt modelId="{FC946AC1-CC69-478C-A60F-12A2965923EF}" type="pres">
      <dgm:prSet presAssocID="{7ED814DB-4D93-44F7-BB1F-86FE98E5769D}" presName="background3" presStyleLbl="node3" presStyleIdx="3" presStyleCnt="6"/>
      <dgm:spPr/>
    </dgm:pt>
    <dgm:pt modelId="{4ADF22AE-C543-4994-8E8D-D6F5844DC332}" type="pres">
      <dgm:prSet presAssocID="{7ED814DB-4D93-44F7-BB1F-86FE98E5769D}" presName="text3" presStyleLbl="fgAcc3" presStyleIdx="3" presStyleCnt="6" custLinFactNeighborX="3037" custLinFactNeighborY="3705">
        <dgm:presLayoutVars>
          <dgm:chPref val="3"/>
        </dgm:presLayoutVars>
      </dgm:prSet>
      <dgm:spPr/>
    </dgm:pt>
    <dgm:pt modelId="{6A6DF8E0-D710-475B-85E2-06E5D4CF07EB}" type="pres">
      <dgm:prSet presAssocID="{7ED814DB-4D93-44F7-BB1F-86FE98E5769D}" presName="hierChild4" presStyleCnt="0"/>
      <dgm:spPr/>
    </dgm:pt>
    <dgm:pt modelId="{C865C972-C977-47F7-9D10-EEAF02433A9F}" type="pres">
      <dgm:prSet presAssocID="{20ECB3B6-94DF-46FF-BE66-5AAEDF185291}" presName="Name17" presStyleLbl="parChTrans1D3" presStyleIdx="4" presStyleCnt="6"/>
      <dgm:spPr/>
    </dgm:pt>
    <dgm:pt modelId="{98AB76BA-769E-4310-A267-CC3D3CE73578}" type="pres">
      <dgm:prSet presAssocID="{83F1B1A2-38F1-479E-AF4F-1E0C167B9C33}" presName="hierRoot3" presStyleCnt="0"/>
      <dgm:spPr/>
    </dgm:pt>
    <dgm:pt modelId="{EB24EEA9-5443-477D-B673-F6FF45EF2510}" type="pres">
      <dgm:prSet presAssocID="{83F1B1A2-38F1-479E-AF4F-1E0C167B9C33}" presName="composite3" presStyleCnt="0"/>
      <dgm:spPr/>
    </dgm:pt>
    <dgm:pt modelId="{C20B57E4-DFC5-41A4-958D-CD46BB7ABEB7}" type="pres">
      <dgm:prSet presAssocID="{83F1B1A2-38F1-479E-AF4F-1E0C167B9C33}" presName="background3" presStyleLbl="node3" presStyleIdx="4" presStyleCnt="6"/>
      <dgm:spPr/>
    </dgm:pt>
    <dgm:pt modelId="{C2486012-158A-49CE-A04D-BB7C75A3CB6E}" type="pres">
      <dgm:prSet presAssocID="{83F1B1A2-38F1-479E-AF4F-1E0C167B9C33}" presName="text3" presStyleLbl="fgAcc3" presStyleIdx="4" presStyleCnt="6">
        <dgm:presLayoutVars>
          <dgm:chPref val="3"/>
        </dgm:presLayoutVars>
      </dgm:prSet>
      <dgm:spPr/>
    </dgm:pt>
    <dgm:pt modelId="{B6F69B5A-6E25-4301-8C8D-35F9ED70F87D}" type="pres">
      <dgm:prSet presAssocID="{83F1B1A2-38F1-479E-AF4F-1E0C167B9C33}" presName="hierChild4" presStyleCnt="0"/>
      <dgm:spPr/>
    </dgm:pt>
    <dgm:pt modelId="{AE5E8644-40F5-47FC-B59F-921D09613C26}" type="pres">
      <dgm:prSet presAssocID="{6683B3D9-7961-445E-BAD7-06DA601C6635}" presName="Name17" presStyleLbl="parChTrans1D3" presStyleIdx="5" presStyleCnt="6"/>
      <dgm:spPr/>
    </dgm:pt>
    <dgm:pt modelId="{D0DBC3F4-C49F-45D2-AAD0-E52C563EC041}" type="pres">
      <dgm:prSet presAssocID="{BE8A776E-1A3F-4F26-B0B3-B33E99C9E900}" presName="hierRoot3" presStyleCnt="0"/>
      <dgm:spPr/>
    </dgm:pt>
    <dgm:pt modelId="{9D2C14D8-47CE-4B55-AA1C-D76715CB8075}" type="pres">
      <dgm:prSet presAssocID="{BE8A776E-1A3F-4F26-B0B3-B33E99C9E900}" presName="composite3" presStyleCnt="0"/>
      <dgm:spPr/>
    </dgm:pt>
    <dgm:pt modelId="{FC9AA495-187B-4D9C-8219-685B90CD66E6}" type="pres">
      <dgm:prSet presAssocID="{BE8A776E-1A3F-4F26-B0B3-B33E99C9E900}" presName="background3" presStyleLbl="node3" presStyleIdx="5" presStyleCnt="6"/>
      <dgm:spPr/>
    </dgm:pt>
    <dgm:pt modelId="{6478DF27-C546-4C1D-BD1B-32273BFEEE4A}" type="pres">
      <dgm:prSet presAssocID="{BE8A776E-1A3F-4F26-B0B3-B33E99C9E900}" presName="text3" presStyleLbl="fgAcc3" presStyleIdx="5" presStyleCnt="6">
        <dgm:presLayoutVars>
          <dgm:chPref val="3"/>
        </dgm:presLayoutVars>
      </dgm:prSet>
      <dgm:spPr/>
    </dgm:pt>
    <dgm:pt modelId="{5B304A9F-050D-4821-8310-8A243364151D}" type="pres">
      <dgm:prSet presAssocID="{BE8A776E-1A3F-4F26-B0B3-B33E99C9E900}" presName="hierChild4" presStyleCnt="0"/>
      <dgm:spPr/>
    </dgm:pt>
  </dgm:ptLst>
  <dgm:cxnLst>
    <dgm:cxn modelId="{CC2C751D-9CBB-41F3-BACD-C16FE0AA9ACA}" srcId="{81E2B85B-B9E3-4B8D-BD61-2DAEF68282A6}" destId="{83F1B1A2-38F1-479E-AF4F-1E0C167B9C33}" srcOrd="1" destOrd="0" parTransId="{20ECB3B6-94DF-46FF-BE66-5AAEDF185291}" sibTransId="{0F9AFEE5-744B-49E0-9A09-48865A4B3127}"/>
    <dgm:cxn modelId="{B480ED26-2B48-4D8A-9743-2FA3E5EF4D5C}" type="presOf" srcId="{BE7A099D-9890-48D0-A9E6-2FD38811CC14}" destId="{4D0A2739-FAF0-4E74-AE3B-3D15D0D31580}" srcOrd="0" destOrd="0" presId="urn:microsoft.com/office/officeart/2005/8/layout/hierarchy1"/>
    <dgm:cxn modelId="{3B412729-C261-4BCB-B319-66BD77B4E9A5}" srcId="{CA3AF3B9-DC04-4E8F-863B-F39B14959CF5}" destId="{A1321B97-0B57-458A-A9AF-329FF9D00F99}" srcOrd="1" destOrd="0" parTransId="{31EAC56F-6C40-463F-BBA7-EAA23D4C9463}" sibTransId="{F1466254-8F4A-4E68-BF94-1E319BF02000}"/>
    <dgm:cxn modelId="{620ED22E-B3E5-4804-8634-C1FD119B6034}" type="presOf" srcId="{22F0A3A2-2426-428E-A6D7-161A73F0DE2A}" destId="{2A4DCFA2-CDF5-402A-A61E-799799C21D21}" srcOrd="0" destOrd="0" presId="urn:microsoft.com/office/officeart/2005/8/layout/hierarchy1"/>
    <dgm:cxn modelId="{FA6C2661-7912-42B6-927C-455A6C870473}" type="presOf" srcId="{9D28F040-E93D-48EE-9B3D-9502F12261E9}" destId="{50BBF682-3A87-40EE-BE2B-3751F16B783F}" srcOrd="0" destOrd="0" presId="urn:microsoft.com/office/officeart/2005/8/layout/hierarchy1"/>
    <dgm:cxn modelId="{576E5F44-98A5-495E-901C-EB7FCF8C1AC0}" type="presOf" srcId="{A1321B97-0B57-458A-A9AF-329FF9D00F99}" destId="{49E34B39-363F-4E2F-AD09-ED74D8EB1E74}" srcOrd="0" destOrd="0" presId="urn:microsoft.com/office/officeart/2005/8/layout/hierarchy1"/>
    <dgm:cxn modelId="{77369C67-BE44-4121-AC2A-FFCA94413D0F}" srcId="{CA3AF3B9-DC04-4E8F-863B-F39B14959CF5}" destId="{9D28F040-E93D-48EE-9B3D-9502F12261E9}" srcOrd="2" destOrd="0" parTransId="{00727471-D007-495C-BE15-C816C00FA327}" sibTransId="{38889A29-D473-4321-B34C-60D55CE86772}"/>
    <dgm:cxn modelId="{726E964E-8375-42AE-8F94-DB7A0195578A}" type="presOf" srcId="{9421600A-900E-4FCD-BAC6-1015DA7B2402}" destId="{275040B5-7562-4843-AFEB-D5BC966DC5B9}" srcOrd="0" destOrd="0" presId="urn:microsoft.com/office/officeart/2005/8/layout/hierarchy1"/>
    <dgm:cxn modelId="{ADEF2077-BA53-4EBC-8BFA-EF36F2AA8225}" type="presOf" srcId="{00727471-D007-495C-BE15-C816C00FA327}" destId="{7F664827-90CB-4A4E-9029-64DDBF366C82}" srcOrd="0" destOrd="0" presId="urn:microsoft.com/office/officeart/2005/8/layout/hierarchy1"/>
    <dgm:cxn modelId="{23542977-6E98-4B35-BCE6-966E8C93C873}" type="presOf" srcId="{31EAC56F-6C40-463F-BBA7-EAA23D4C9463}" destId="{FD5A8991-C558-4008-830A-707E0CF5104E}" srcOrd="0" destOrd="0" presId="urn:microsoft.com/office/officeart/2005/8/layout/hierarchy1"/>
    <dgm:cxn modelId="{03F2135A-2136-4109-A398-3FE9F6FDC3B0}" srcId="{CA3AF3B9-DC04-4E8F-863B-F39B14959CF5}" destId="{557B8F28-8CC8-428F-BBFE-85300E843167}" srcOrd="0" destOrd="0" parTransId="{34056AF3-5257-4303-BC01-843BB3CD5793}" sibTransId="{9C596CF9-56AA-4F22-9D7B-006456E4E170}"/>
    <dgm:cxn modelId="{7A20A77B-7795-488E-8732-3E7166B394D7}" type="presOf" srcId="{C16FBDCE-2260-4559-82B9-347ED6791878}" destId="{2925FC60-4374-41E0-8D83-3F3C76CC046E}" srcOrd="0" destOrd="0" presId="urn:microsoft.com/office/officeart/2005/8/layout/hierarchy1"/>
    <dgm:cxn modelId="{B3973F7C-B463-4C72-9332-28BC8D128A17}" type="presOf" srcId="{81E2B85B-B9E3-4B8D-BD61-2DAEF68282A6}" destId="{A728352F-CBA5-4419-943E-E2A4151FA84C}" srcOrd="0" destOrd="0" presId="urn:microsoft.com/office/officeart/2005/8/layout/hierarchy1"/>
    <dgm:cxn modelId="{CCBC048E-CA2D-4214-9506-039F90A2640B}" srcId="{9421600A-900E-4FCD-BAC6-1015DA7B2402}" destId="{C16FBDCE-2260-4559-82B9-347ED6791878}" srcOrd="0" destOrd="0" parTransId="{3BC144C5-BE68-4247-902B-EE2AFDF03A2D}" sibTransId="{7AA4CA99-2FB7-4259-B975-87E5EA6DD734}"/>
    <dgm:cxn modelId="{A8067698-524C-42E5-8DE6-F99C036E27AE}" srcId="{81E2B85B-B9E3-4B8D-BD61-2DAEF68282A6}" destId="{7ED814DB-4D93-44F7-BB1F-86FE98E5769D}" srcOrd="0" destOrd="0" parTransId="{BE7A099D-9890-48D0-A9E6-2FD38811CC14}" sibTransId="{76D011CB-FAC8-4EFC-A042-EFEE8B53A50E}"/>
    <dgm:cxn modelId="{B29C029C-52A0-4219-A520-771BAE8CCDD9}" type="presOf" srcId="{83F1B1A2-38F1-479E-AF4F-1E0C167B9C33}" destId="{C2486012-158A-49CE-A04D-BB7C75A3CB6E}" srcOrd="0" destOrd="0" presId="urn:microsoft.com/office/officeart/2005/8/layout/hierarchy1"/>
    <dgm:cxn modelId="{1F6173A4-FA13-4056-B68E-FD675F8936FF}" srcId="{81E2B85B-B9E3-4B8D-BD61-2DAEF68282A6}" destId="{BE8A776E-1A3F-4F26-B0B3-B33E99C9E900}" srcOrd="2" destOrd="0" parTransId="{6683B3D9-7961-445E-BAD7-06DA601C6635}" sibTransId="{B35DD0B1-536C-4AB0-8245-99D9C9B5DDB9}"/>
    <dgm:cxn modelId="{210D52A5-756E-4B87-9B81-67487E9CA845}" srcId="{C16FBDCE-2260-4559-82B9-347ED6791878}" destId="{81E2B85B-B9E3-4B8D-BD61-2DAEF68282A6}" srcOrd="1" destOrd="0" parTransId="{B8C8C53A-E650-40E5-9C19-B6AC2A84F3EE}" sibTransId="{750C6EFB-2C1F-472D-8768-9EDFF8C357AA}"/>
    <dgm:cxn modelId="{306369B5-874F-48E7-AA41-49C2E0CBF82A}" type="presOf" srcId="{20ECB3B6-94DF-46FF-BE66-5AAEDF185291}" destId="{C865C972-C977-47F7-9D10-EEAF02433A9F}" srcOrd="0" destOrd="0" presId="urn:microsoft.com/office/officeart/2005/8/layout/hierarchy1"/>
    <dgm:cxn modelId="{98232DBC-BCD1-4848-B287-4AF17BD14678}" type="presOf" srcId="{6683B3D9-7961-445E-BAD7-06DA601C6635}" destId="{AE5E8644-40F5-47FC-B59F-921D09613C26}" srcOrd="0" destOrd="0" presId="urn:microsoft.com/office/officeart/2005/8/layout/hierarchy1"/>
    <dgm:cxn modelId="{52039FBF-9663-4652-8957-9967229CF75F}" type="presOf" srcId="{7ED814DB-4D93-44F7-BB1F-86FE98E5769D}" destId="{4ADF22AE-C543-4994-8E8D-D6F5844DC332}" srcOrd="0" destOrd="0" presId="urn:microsoft.com/office/officeart/2005/8/layout/hierarchy1"/>
    <dgm:cxn modelId="{45F98CDF-B9FC-4515-8C75-B9553BA1A3D0}" type="presOf" srcId="{34056AF3-5257-4303-BC01-843BB3CD5793}" destId="{A39D2D77-F795-4ECD-9CFE-9EBF121CCD51}" srcOrd="0" destOrd="0" presId="urn:microsoft.com/office/officeart/2005/8/layout/hierarchy1"/>
    <dgm:cxn modelId="{5E8456E1-0BCA-491A-870F-843B1D39CC14}" type="presOf" srcId="{CA3AF3B9-DC04-4E8F-863B-F39B14959CF5}" destId="{89CBF1A3-F0D4-4169-BB21-E986F5F40C33}" srcOrd="0" destOrd="0" presId="urn:microsoft.com/office/officeart/2005/8/layout/hierarchy1"/>
    <dgm:cxn modelId="{A929FBEA-5BBA-4616-82EE-0C28EFEE06E1}" srcId="{C16FBDCE-2260-4559-82B9-347ED6791878}" destId="{CA3AF3B9-DC04-4E8F-863B-F39B14959CF5}" srcOrd="0" destOrd="0" parTransId="{22F0A3A2-2426-428E-A6D7-161A73F0DE2A}" sibTransId="{A34B96F5-AEBE-4B09-95EC-61420827A7CA}"/>
    <dgm:cxn modelId="{E6406DF8-5038-4B8A-9EC2-55D3101CBE87}" type="presOf" srcId="{B8C8C53A-E650-40E5-9C19-B6AC2A84F3EE}" destId="{19409728-6300-446B-AAC9-1438CE36F7B4}" srcOrd="0" destOrd="0" presId="urn:microsoft.com/office/officeart/2005/8/layout/hierarchy1"/>
    <dgm:cxn modelId="{BC30F0FA-1563-45A2-BD3D-1E7AED4A8FC7}" type="presOf" srcId="{BE8A776E-1A3F-4F26-B0B3-B33E99C9E900}" destId="{6478DF27-C546-4C1D-BD1B-32273BFEEE4A}" srcOrd="0" destOrd="0" presId="urn:microsoft.com/office/officeart/2005/8/layout/hierarchy1"/>
    <dgm:cxn modelId="{76FF93FE-C39A-4495-A37D-4C7957415F82}" type="presOf" srcId="{557B8F28-8CC8-428F-BBFE-85300E843167}" destId="{AFC1332F-547E-43E1-925C-5F9CAED0A900}" srcOrd="0" destOrd="0" presId="urn:microsoft.com/office/officeart/2005/8/layout/hierarchy1"/>
    <dgm:cxn modelId="{1FB6E014-C5B6-4446-8BB1-4C73FD374057}" type="presParOf" srcId="{275040B5-7562-4843-AFEB-D5BC966DC5B9}" destId="{5F816B47-58F9-4378-A30D-6F20B6B2D56B}" srcOrd="0" destOrd="0" presId="urn:microsoft.com/office/officeart/2005/8/layout/hierarchy1"/>
    <dgm:cxn modelId="{943B1CF5-9EBB-4CEE-A2FF-0C1E2BFA5355}" type="presParOf" srcId="{5F816B47-58F9-4378-A30D-6F20B6B2D56B}" destId="{4EFAB9D1-CAF7-4B87-A3E8-7F5BDF6E3979}" srcOrd="0" destOrd="0" presId="urn:microsoft.com/office/officeart/2005/8/layout/hierarchy1"/>
    <dgm:cxn modelId="{0695D716-BC42-4E19-93C8-F66AF4C8F872}" type="presParOf" srcId="{4EFAB9D1-CAF7-4B87-A3E8-7F5BDF6E3979}" destId="{57748B90-A7FC-45A0-94AE-63F4B89E0E8E}" srcOrd="0" destOrd="0" presId="urn:microsoft.com/office/officeart/2005/8/layout/hierarchy1"/>
    <dgm:cxn modelId="{829EBF57-4A28-4E12-86A6-CA417AA77163}" type="presParOf" srcId="{4EFAB9D1-CAF7-4B87-A3E8-7F5BDF6E3979}" destId="{2925FC60-4374-41E0-8D83-3F3C76CC046E}" srcOrd="1" destOrd="0" presId="urn:microsoft.com/office/officeart/2005/8/layout/hierarchy1"/>
    <dgm:cxn modelId="{8AB08D11-DF8E-48D6-B077-DE6C19904972}" type="presParOf" srcId="{5F816B47-58F9-4378-A30D-6F20B6B2D56B}" destId="{3D27FF04-53E2-4B2D-9CE5-60F25863D8C3}" srcOrd="1" destOrd="0" presId="urn:microsoft.com/office/officeart/2005/8/layout/hierarchy1"/>
    <dgm:cxn modelId="{9475A8FA-3842-44D7-B3FA-CE446045A81E}" type="presParOf" srcId="{3D27FF04-53E2-4B2D-9CE5-60F25863D8C3}" destId="{2A4DCFA2-CDF5-402A-A61E-799799C21D21}" srcOrd="0" destOrd="0" presId="urn:microsoft.com/office/officeart/2005/8/layout/hierarchy1"/>
    <dgm:cxn modelId="{1EA4F7CE-8A33-4A0B-B7EE-FE9C812A5448}" type="presParOf" srcId="{3D27FF04-53E2-4B2D-9CE5-60F25863D8C3}" destId="{07B04B46-C961-48C3-8B31-A54F04553AD7}" srcOrd="1" destOrd="0" presId="urn:microsoft.com/office/officeart/2005/8/layout/hierarchy1"/>
    <dgm:cxn modelId="{0890D88E-E1B1-4FDD-94A7-FF41E48266DA}" type="presParOf" srcId="{07B04B46-C961-48C3-8B31-A54F04553AD7}" destId="{EB57E429-D784-4240-AF05-7EE4595D5A8B}" srcOrd="0" destOrd="0" presId="urn:microsoft.com/office/officeart/2005/8/layout/hierarchy1"/>
    <dgm:cxn modelId="{64DAD4E5-A6F3-4A20-8327-606A399D3C13}" type="presParOf" srcId="{EB57E429-D784-4240-AF05-7EE4595D5A8B}" destId="{C66A79F5-D79D-4C40-8F97-634C08E29B87}" srcOrd="0" destOrd="0" presId="urn:microsoft.com/office/officeart/2005/8/layout/hierarchy1"/>
    <dgm:cxn modelId="{7B2952EE-A173-46CA-9261-1CD2000D9F0E}" type="presParOf" srcId="{EB57E429-D784-4240-AF05-7EE4595D5A8B}" destId="{89CBF1A3-F0D4-4169-BB21-E986F5F40C33}" srcOrd="1" destOrd="0" presId="urn:microsoft.com/office/officeart/2005/8/layout/hierarchy1"/>
    <dgm:cxn modelId="{2362216E-3A8A-43AA-BD50-4A408ECFCA71}" type="presParOf" srcId="{07B04B46-C961-48C3-8B31-A54F04553AD7}" destId="{02D32483-27EA-4352-8447-731441B0D472}" srcOrd="1" destOrd="0" presId="urn:microsoft.com/office/officeart/2005/8/layout/hierarchy1"/>
    <dgm:cxn modelId="{E922BE51-3B6E-46DB-B489-F4D7A656A345}" type="presParOf" srcId="{02D32483-27EA-4352-8447-731441B0D472}" destId="{A39D2D77-F795-4ECD-9CFE-9EBF121CCD51}" srcOrd="0" destOrd="0" presId="urn:microsoft.com/office/officeart/2005/8/layout/hierarchy1"/>
    <dgm:cxn modelId="{2BB05FB0-B618-479C-B9F2-4BC834CD8543}" type="presParOf" srcId="{02D32483-27EA-4352-8447-731441B0D472}" destId="{E6C6184C-775C-4D0A-BC44-03042DA9EAB4}" srcOrd="1" destOrd="0" presId="urn:microsoft.com/office/officeart/2005/8/layout/hierarchy1"/>
    <dgm:cxn modelId="{29FF9D2F-49F5-4A51-8C36-BB6EA2E1DCB3}" type="presParOf" srcId="{E6C6184C-775C-4D0A-BC44-03042DA9EAB4}" destId="{09990EAE-34AA-4F9C-8BC4-D9F735BC997D}" srcOrd="0" destOrd="0" presId="urn:microsoft.com/office/officeart/2005/8/layout/hierarchy1"/>
    <dgm:cxn modelId="{346EDDFB-4772-429E-A1FE-57469DDF7887}" type="presParOf" srcId="{09990EAE-34AA-4F9C-8BC4-D9F735BC997D}" destId="{830FEBC1-F46F-498D-9201-8708E25895AF}" srcOrd="0" destOrd="0" presId="urn:microsoft.com/office/officeart/2005/8/layout/hierarchy1"/>
    <dgm:cxn modelId="{D69B61EC-68F1-420C-8F6C-189628E7EC88}" type="presParOf" srcId="{09990EAE-34AA-4F9C-8BC4-D9F735BC997D}" destId="{AFC1332F-547E-43E1-925C-5F9CAED0A900}" srcOrd="1" destOrd="0" presId="urn:microsoft.com/office/officeart/2005/8/layout/hierarchy1"/>
    <dgm:cxn modelId="{8E261E82-3455-4B33-8DC0-738AAB85D238}" type="presParOf" srcId="{E6C6184C-775C-4D0A-BC44-03042DA9EAB4}" destId="{E0F3FE6F-9978-4451-8A4C-6106F5EC49C8}" srcOrd="1" destOrd="0" presId="urn:microsoft.com/office/officeart/2005/8/layout/hierarchy1"/>
    <dgm:cxn modelId="{603D8217-1E6B-408F-A5E8-DDBAD7E8C151}" type="presParOf" srcId="{02D32483-27EA-4352-8447-731441B0D472}" destId="{FD5A8991-C558-4008-830A-707E0CF5104E}" srcOrd="2" destOrd="0" presId="urn:microsoft.com/office/officeart/2005/8/layout/hierarchy1"/>
    <dgm:cxn modelId="{7780ACB9-8520-464A-9544-96F5AC0707BA}" type="presParOf" srcId="{02D32483-27EA-4352-8447-731441B0D472}" destId="{1A8B3496-4A15-4D7E-9D1B-D26818A9623D}" srcOrd="3" destOrd="0" presId="urn:microsoft.com/office/officeart/2005/8/layout/hierarchy1"/>
    <dgm:cxn modelId="{B3166168-EBC7-47C4-9078-C5FD4F351697}" type="presParOf" srcId="{1A8B3496-4A15-4D7E-9D1B-D26818A9623D}" destId="{A31C1A9C-DD27-4AC5-A96B-874CABEBC17B}" srcOrd="0" destOrd="0" presId="urn:microsoft.com/office/officeart/2005/8/layout/hierarchy1"/>
    <dgm:cxn modelId="{A55D24A4-8262-44B9-8264-54CDFA02F458}" type="presParOf" srcId="{A31C1A9C-DD27-4AC5-A96B-874CABEBC17B}" destId="{25A6745A-5C48-41E0-85A8-15A31A0734DF}" srcOrd="0" destOrd="0" presId="urn:microsoft.com/office/officeart/2005/8/layout/hierarchy1"/>
    <dgm:cxn modelId="{ED848B38-65AD-47DA-8DAE-C4A5BBC18323}" type="presParOf" srcId="{A31C1A9C-DD27-4AC5-A96B-874CABEBC17B}" destId="{49E34B39-363F-4E2F-AD09-ED74D8EB1E74}" srcOrd="1" destOrd="0" presId="urn:microsoft.com/office/officeart/2005/8/layout/hierarchy1"/>
    <dgm:cxn modelId="{BD5FC7EE-2599-447A-A890-68D7638291AB}" type="presParOf" srcId="{1A8B3496-4A15-4D7E-9D1B-D26818A9623D}" destId="{6C889F5B-BA82-4B21-9ADC-7EA12EABD1BC}" srcOrd="1" destOrd="0" presId="urn:microsoft.com/office/officeart/2005/8/layout/hierarchy1"/>
    <dgm:cxn modelId="{2D71C359-3513-4325-9F73-CD16DD39709A}" type="presParOf" srcId="{02D32483-27EA-4352-8447-731441B0D472}" destId="{7F664827-90CB-4A4E-9029-64DDBF366C82}" srcOrd="4" destOrd="0" presId="urn:microsoft.com/office/officeart/2005/8/layout/hierarchy1"/>
    <dgm:cxn modelId="{505EED01-EE89-4E44-BD30-1D367EF5A9E1}" type="presParOf" srcId="{02D32483-27EA-4352-8447-731441B0D472}" destId="{D8F82121-9411-4FD5-9CDA-D8EC09B36991}" srcOrd="5" destOrd="0" presId="urn:microsoft.com/office/officeart/2005/8/layout/hierarchy1"/>
    <dgm:cxn modelId="{729CA396-F85B-489C-97F6-A9E4D476780C}" type="presParOf" srcId="{D8F82121-9411-4FD5-9CDA-D8EC09B36991}" destId="{563F029D-16ED-40CB-86FD-59435C96F9B9}" srcOrd="0" destOrd="0" presId="urn:microsoft.com/office/officeart/2005/8/layout/hierarchy1"/>
    <dgm:cxn modelId="{98427C04-A701-42F4-82D0-296799973C71}" type="presParOf" srcId="{563F029D-16ED-40CB-86FD-59435C96F9B9}" destId="{38430EF1-B39F-4658-A2A0-482DCC4C1ACC}" srcOrd="0" destOrd="0" presId="urn:microsoft.com/office/officeart/2005/8/layout/hierarchy1"/>
    <dgm:cxn modelId="{7F48CF04-E91A-4B81-ACAA-F77440C8C3ED}" type="presParOf" srcId="{563F029D-16ED-40CB-86FD-59435C96F9B9}" destId="{50BBF682-3A87-40EE-BE2B-3751F16B783F}" srcOrd="1" destOrd="0" presId="urn:microsoft.com/office/officeart/2005/8/layout/hierarchy1"/>
    <dgm:cxn modelId="{64D2B0D2-A52D-4ED0-BC4F-841179778227}" type="presParOf" srcId="{D8F82121-9411-4FD5-9CDA-D8EC09B36991}" destId="{30CA9067-6A17-464D-83D3-D473C5D353A7}" srcOrd="1" destOrd="0" presId="urn:microsoft.com/office/officeart/2005/8/layout/hierarchy1"/>
    <dgm:cxn modelId="{87968C54-05F1-4C2C-91AC-A1CE1A8090E8}" type="presParOf" srcId="{3D27FF04-53E2-4B2D-9CE5-60F25863D8C3}" destId="{19409728-6300-446B-AAC9-1438CE36F7B4}" srcOrd="2" destOrd="0" presId="urn:microsoft.com/office/officeart/2005/8/layout/hierarchy1"/>
    <dgm:cxn modelId="{4DD30AE4-AAF4-4500-8CBC-A246216B4BC0}" type="presParOf" srcId="{3D27FF04-53E2-4B2D-9CE5-60F25863D8C3}" destId="{0BF3AEC1-1F81-4F18-8367-62D974D31520}" srcOrd="3" destOrd="0" presId="urn:microsoft.com/office/officeart/2005/8/layout/hierarchy1"/>
    <dgm:cxn modelId="{20E3451C-1BD5-4D18-A51A-A47F50A18EF4}" type="presParOf" srcId="{0BF3AEC1-1F81-4F18-8367-62D974D31520}" destId="{BDC45C7D-03AC-4AA2-BF75-DDB5AC98BF2A}" srcOrd="0" destOrd="0" presId="urn:microsoft.com/office/officeart/2005/8/layout/hierarchy1"/>
    <dgm:cxn modelId="{CBFD5C9F-8BD4-4B4E-9689-740BC3844C2B}" type="presParOf" srcId="{BDC45C7D-03AC-4AA2-BF75-DDB5AC98BF2A}" destId="{59B5CAFE-B662-41CF-9EEF-7B84F9C8249F}" srcOrd="0" destOrd="0" presId="urn:microsoft.com/office/officeart/2005/8/layout/hierarchy1"/>
    <dgm:cxn modelId="{C302B00B-3C45-4DAA-811B-A699AF13CB7F}" type="presParOf" srcId="{BDC45C7D-03AC-4AA2-BF75-DDB5AC98BF2A}" destId="{A728352F-CBA5-4419-943E-E2A4151FA84C}" srcOrd="1" destOrd="0" presId="urn:microsoft.com/office/officeart/2005/8/layout/hierarchy1"/>
    <dgm:cxn modelId="{C808C1B1-42DA-4DAE-8071-C77F3679A95A}" type="presParOf" srcId="{0BF3AEC1-1F81-4F18-8367-62D974D31520}" destId="{07C72569-203B-4AE0-A8DB-53F3245EFD5A}" srcOrd="1" destOrd="0" presId="urn:microsoft.com/office/officeart/2005/8/layout/hierarchy1"/>
    <dgm:cxn modelId="{C6EB1ABC-D784-4A70-A5F1-DB1297D60CBD}" type="presParOf" srcId="{07C72569-203B-4AE0-A8DB-53F3245EFD5A}" destId="{4D0A2739-FAF0-4E74-AE3B-3D15D0D31580}" srcOrd="0" destOrd="0" presId="urn:microsoft.com/office/officeart/2005/8/layout/hierarchy1"/>
    <dgm:cxn modelId="{AC27271C-C52F-4379-9677-D3AAEAB5C12A}" type="presParOf" srcId="{07C72569-203B-4AE0-A8DB-53F3245EFD5A}" destId="{3C1A74C9-180D-43E4-83CB-1C27E7E59BBD}" srcOrd="1" destOrd="0" presId="urn:microsoft.com/office/officeart/2005/8/layout/hierarchy1"/>
    <dgm:cxn modelId="{42F278D0-EA0D-480D-AAE2-19813B07E885}" type="presParOf" srcId="{3C1A74C9-180D-43E4-83CB-1C27E7E59BBD}" destId="{DBA64D63-D6B2-410D-8C9A-00C26CF54548}" srcOrd="0" destOrd="0" presId="urn:microsoft.com/office/officeart/2005/8/layout/hierarchy1"/>
    <dgm:cxn modelId="{A26612F8-D65C-4B92-8558-D0929A6181E2}" type="presParOf" srcId="{DBA64D63-D6B2-410D-8C9A-00C26CF54548}" destId="{FC946AC1-CC69-478C-A60F-12A2965923EF}" srcOrd="0" destOrd="0" presId="urn:microsoft.com/office/officeart/2005/8/layout/hierarchy1"/>
    <dgm:cxn modelId="{1AEE6230-9ACF-45C3-A69D-03E0814C9B19}" type="presParOf" srcId="{DBA64D63-D6B2-410D-8C9A-00C26CF54548}" destId="{4ADF22AE-C543-4994-8E8D-D6F5844DC332}" srcOrd="1" destOrd="0" presId="urn:microsoft.com/office/officeart/2005/8/layout/hierarchy1"/>
    <dgm:cxn modelId="{B520BA2F-9DA5-42A3-A986-BD9A83F2429C}" type="presParOf" srcId="{3C1A74C9-180D-43E4-83CB-1C27E7E59BBD}" destId="{6A6DF8E0-D710-475B-85E2-06E5D4CF07EB}" srcOrd="1" destOrd="0" presId="urn:microsoft.com/office/officeart/2005/8/layout/hierarchy1"/>
    <dgm:cxn modelId="{01C2E59F-7905-43F5-A715-2FF6CCD7E92B}" type="presParOf" srcId="{07C72569-203B-4AE0-A8DB-53F3245EFD5A}" destId="{C865C972-C977-47F7-9D10-EEAF02433A9F}" srcOrd="2" destOrd="0" presId="urn:microsoft.com/office/officeart/2005/8/layout/hierarchy1"/>
    <dgm:cxn modelId="{4678DE26-9212-4817-AEB7-95C0BDD29468}" type="presParOf" srcId="{07C72569-203B-4AE0-A8DB-53F3245EFD5A}" destId="{98AB76BA-769E-4310-A267-CC3D3CE73578}" srcOrd="3" destOrd="0" presId="urn:microsoft.com/office/officeart/2005/8/layout/hierarchy1"/>
    <dgm:cxn modelId="{B675842B-8EE4-44A4-AAA8-4C513614CD3A}" type="presParOf" srcId="{98AB76BA-769E-4310-A267-CC3D3CE73578}" destId="{EB24EEA9-5443-477D-B673-F6FF45EF2510}" srcOrd="0" destOrd="0" presId="urn:microsoft.com/office/officeart/2005/8/layout/hierarchy1"/>
    <dgm:cxn modelId="{D2864DC0-4FA0-43F9-94F4-BD5571DAD34B}" type="presParOf" srcId="{EB24EEA9-5443-477D-B673-F6FF45EF2510}" destId="{C20B57E4-DFC5-41A4-958D-CD46BB7ABEB7}" srcOrd="0" destOrd="0" presId="urn:microsoft.com/office/officeart/2005/8/layout/hierarchy1"/>
    <dgm:cxn modelId="{9D42E6CE-7681-4498-B5B8-44C134EECEAD}" type="presParOf" srcId="{EB24EEA9-5443-477D-B673-F6FF45EF2510}" destId="{C2486012-158A-49CE-A04D-BB7C75A3CB6E}" srcOrd="1" destOrd="0" presId="urn:microsoft.com/office/officeart/2005/8/layout/hierarchy1"/>
    <dgm:cxn modelId="{0138047B-5CB3-484B-8BA4-9CFE0B5A26FF}" type="presParOf" srcId="{98AB76BA-769E-4310-A267-CC3D3CE73578}" destId="{B6F69B5A-6E25-4301-8C8D-35F9ED70F87D}" srcOrd="1" destOrd="0" presId="urn:microsoft.com/office/officeart/2005/8/layout/hierarchy1"/>
    <dgm:cxn modelId="{2901EF8B-8799-4415-945E-C7DD116081F3}" type="presParOf" srcId="{07C72569-203B-4AE0-A8DB-53F3245EFD5A}" destId="{AE5E8644-40F5-47FC-B59F-921D09613C26}" srcOrd="4" destOrd="0" presId="urn:microsoft.com/office/officeart/2005/8/layout/hierarchy1"/>
    <dgm:cxn modelId="{DC5D0DC5-149B-4D4C-9862-182A66343B09}" type="presParOf" srcId="{07C72569-203B-4AE0-A8DB-53F3245EFD5A}" destId="{D0DBC3F4-C49F-45D2-AAD0-E52C563EC041}" srcOrd="5" destOrd="0" presId="urn:microsoft.com/office/officeart/2005/8/layout/hierarchy1"/>
    <dgm:cxn modelId="{C2927DA7-BFAC-4BCA-8C90-4603AE29AFB1}" type="presParOf" srcId="{D0DBC3F4-C49F-45D2-AAD0-E52C563EC041}" destId="{9D2C14D8-47CE-4B55-AA1C-D76715CB8075}" srcOrd="0" destOrd="0" presId="urn:microsoft.com/office/officeart/2005/8/layout/hierarchy1"/>
    <dgm:cxn modelId="{7CE337F5-FD2B-433D-B9D5-923500E8F9C5}" type="presParOf" srcId="{9D2C14D8-47CE-4B55-AA1C-D76715CB8075}" destId="{FC9AA495-187B-4D9C-8219-685B90CD66E6}" srcOrd="0" destOrd="0" presId="urn:microsoft.com/office/officeart/2005/8/layout/hierarchy1"/>
    <dgm:cxn modelId="{9ECA03B5-243A-4649-9358-8AFF01A2FE5C}" type="presParOf" srcId="{9D2C14D8-47CE-4B55-AA1C-D76715CB8075}" destId="{6478DF27-C546-4C1D-BD1B-32273BFEEE4A}" srcOrd="1" destOrd="0" presId="urn:microsoft.com/office/officeart/2005/8/layout/hierarchy1"/>
    <dgm:cxn modelId="{E8183E6B-C4F3-4C0B-9D9C-83B491281022}" type="presParOf" srcId="{D0DBC3F4-C49F-45D2-AAD0-E52C563EC041}" destId="{5B304A9F-050D-4821-8310-8A243364151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50C73B-F301-4A34-AA6B-AEE31E9191B3}" type="doc">
      <dgm:prSet loTypeId="urn:microsoft.com/office/officeart/2005/8/layout/hierarchy6" loCatId="hierarchy" qsTypeId="urn:microsoft.com/office/officeart/2005/8/quickstyle/3d1" qsCatId="3D" csTypeId="urn:microsoft.com/office/officeart/2005/8/colors/colorful4" csCatId="colorful" phldr="1"/>
      <dgm:spPr/>
      <dgm:t>
        <a:bodyPr/>
        <a:lstStyle/>
        <a:p>
          <a:endParaRPr lang="ru-RU"/>
        </a:p>
      </dgm:t>
    </dgm:pt>
    <dgm:pt modelId="{356EB9DB-4F7F-4EB2-A233-F94D45DCBAA6}">
      <dgm:prSet phldrT="[Текст]"/>
      <dgm:spPr/>
      <dgm:t>
        <a:bodyPr/>
        <a:lstStyle/>
        <a:p>
          <a:r>
            <a:rPr lang="ru-RU" dirty="0"/>
            <a:t>1-100</a:t>
          </a:r>
        </a:p>
      </dgm:t>
    </dgm:pt>
    <dgm:pt modelId="{D43C33EE-595C-40EF-90FA-0CA006E193E3}" type="parTrans" cxnId="{DA1F24DE-32B8-4B0F-B11C-D08B529B79C7}">
      <dgm:prSet/>
      <dgm:spPr/>
      <dgm:t>
        <a:bodyPr/>
        <a:lstStyle/>
        <a:p>
          <a:endParaRPr lang="ru-RU"/>
        </a:p>
      </dgm:t>
    </dgm:pt>
    <dgm:pt modelId="{9AB7422B-2661-4950-92DC-CED1C0439EC3}" type="sibTrans" cxnId="{DA1F24DE-32B8-4B0F-B11C-D08B529B79C7}">
      <dgm:prSet/>
      <dgm:spPr/>
      <dgm:t>
        <a:bodyPr/>
        <a:lstStyle/>
        <a:p>
          <a:endParaRPr lang="ru-RU"/>
        </a:p>
      </dgm:t>
    </dgm:pt>
    <dgm:pt modelId="{FB7BC2D4-DB4E-4A33-87C3-5ED9587EDF66}">
      <dgm:prSet phldrT="[Текст]"/>
      <dgm:spPr/>
      <dgm:t>
        <a:bodyPr/>
        <a:lstStyle/>
        <a:p>
          <a:r>
            <a:rPr lang="ru-RU" dirty="0"/>
            <a:t>1-50</a:t>
          </a:r>
        </a:p>
      </dgm:t>
    </dgm:pt>
    <dgm:pt modelId="{F2469CE3-5BDD-49DB-B522-8E7241BB79DF}" type="parTrans" cxnId="{F2C59DE9-EE2B-44A1-8868-AF63A5B6842B}">
      <dgm:prSet/>
      <dgm:spPr/>
      <dgm:t>
        <a:bodyPr/>
        <a:lstStyle/>
        <a:p>
          <a:endParaRPr lang="ru-RU"/>
        </a:p>
      </dgm:t>
    </dgm:pt>
    <dgm:pt modelId="{7E3D2527-DE22-4971-9B3A-35A56185D542}" type="sibTrans" cxnId="{F2C59DE9-EE2B-44A1-8868-AF63A5B6842B}">
      <dgm:prSet/>
      <dgm:spPr/>
      <dgm:t>
        <a:bodyPr/>
        <a:lstStyle/>
        <a:p>
          <a:endParaRPr lang="ru-RU"/>
        </a:p>
      </dgm:t>
    </dgm:pt>
    <dgm:pt modelId="{AE9E1DB8-920F-46C6-B61D-568C15EDE53D}">
      <dgm:prSet phldrT="[Текст]"/>
      <dgm:spPr/>
      <dgm:t>
        <a:bodyPr/>
        <a:lstStyle/>
        <a:p>
          <a:r>
            <a:rPr lang="en-US" dirty="0"/>
            <a:t>1-25</a:t>
          </a:r>
          <a:endParaRPr lang="ru-RU" dirty="0"/>
        </a:p>
      </dgm:t>
    </dgm:pt>
    <dgm:pt modelId="{AFC76FF8-2F77-4773-A87F-8D767E6C55A4}" type="parTrans" cxnId="{8ED04914-F840-40AC-9023-7821B5B65405}">
      <dgm:prSet/>
      <dgm:spPr/>
      <dgm:t>
        <a:bodyPr/>
        <a:lstStyle/>
        <a:p>
          <a:endParaRPr lang="ru-RU"/>
        </a:p>
      </dgm:t>
    </dgm:pt>
    <dgm:pt modelId="{F6B7057B-E2C5-466E-8E48-6FDBA87A2BB4}" type="sibTrans" cxnId="{8ED04914-F840-40AC-9023-7821B5B65405}">
      <dgm:prSet/>
      <dgm:spPr/>
      <dgm:t>
        <a:bodyPr/>
        <a:lstStyle/>
        <a:p>
          <a:endParaRPr lang="ru-RU"/>
        </a:p>
      </dgm:t>
    </dgm:pt>
    <dgm:pt modelId="{CD9CF1A8-8C78-4EE7-9F97-7C1E67EA66DB}">
      <dgm:prSet phldrT="[Текст]"/>
      <dgm:spPr/>
      <dgm:t>
        <a:bodyPr/>
        <a:lstStyle/>
        <a:p>
          <a:r>
            <a:rPr lang="en-US" dirty="0"/>
            <a:t>26-50</a:t>
          </a:r>
          <a:endParaRPr lang="ru-RU" dirty="0"/>
        </a:p>
      </dgm:t>
    </dgm:pt>
    <dgm:pt modelId="{A49346E2-1A44-494C-9944-00A53D03EFAA}" type="parTrans" cxnId="{F35955EA-06D4-4723-AF37-BD8F0F1A266F}">
      <dgm:prSet/>
      <dgm:spPr/>
      <dgm:t>
        <a:bodyPr/>
        <a:lstStyle/>
        <a:p>
          <a:endParaRPr lang="ru-RU"/>
        </a:p>
      </dgm:t>
    </dgm:pt>
    <dgm:pt modelId="{B7911E48-6510-4FE6-8A8D-D048A70C0265}" type="sibTrans" cxnId="{F35955EA-06D4-4723-AF37-BD8F0F1A266F}">
      <dgm:prSet/>
      <dgm:spPr/>
      <dgm:t>
        <a:bodyPr/>
        <a:lstStyle/>
        <a:p>
          <a:endParaRPr lang="ru-RU"/>
        </a:p>
      </dgm:t>
    </dgm:pt>
    <dgm:pt modelId="{966711A3-33AA-4798-810E-CD59DD73CA76}">
      <dgm:prSet phldrT="[Текст]"/>
      <dgm:spPr/>
      <dgm:t>
        <a:bodyPr/>
        <a:lstStyle/>
        <a:p>
          <a:r>
            <a:rPr lang="en-US" dirty="0"/>
            <a:t>Root level</a:t>
          </a:r>
          <a:endParaRPr lang="ru-RU" dirty="0"/>
        </a:p>
      </dgm:t>
    </dgm:pt>
    <dgm:pt modelId="{0FFF7B57-7F8A-4EF2-A3CB-E12EDCBE3F94}" type="parTrans" cxnId="{A31E5313-94F9-45CA-A92C-140768603B06}">
      <dgm:prSet/>
      <dgm:spPr/>
      <dgm:t>
        <a:bodyPr/>
        <a:lstStyle/>
        <a:p>
          <a:endParaRPr lang="ru-RU"/>
        </a:p>
      </dgm:t>
    </dgm:pt>
    <dgm:pt modelId="{6644AE3E-622A-4756-97D5-276B4371F283}" type="sibTrans" cxnId="{A31E5313-94F9-45CA-A92C-140768603B06}">
      <dgm:prSet/>
      <dgm:spPr/>
      <dgm:t>
        <a:bodyPr/>
        <a:lstStyle/>
        <a:p>
          <a:endParaRPr lang="ru-RU"/>
        </a:p>
      </dgm:t>
    </dgm:pt>
    <dgm:pt modelId="{8C8CACA3-FF8C-49F5-87AB-C08DDDFD7180}">
      <dgm:prSet phldrT="[Текст]"/>
      <dgm:spPr/>
      <dgm:t>
        <a:bodyPr/>
        <a:lstStyle/>
        <a:p>
          <a:r>
            <a:rPr lang="en-US" dirty="0"/>
            <a:t>Intermediate level</a:t>
          </a:r>
          <a:endParaRPr lang="ru-RU" dirty="0"/>
        </a:p>
      </dgm:t>
    </dgm:pt>
    <dgm:pt modelId="{765738A8-7E75-4356-A705-4788E41CB80F}" type="parTrans" cxnId="{0C945996-E37C-4D42-9963-BC11CE764C5B}">
      <dgm:prSet/>
      <dgm:spPr/>
      <dgm:t>
        <a:bodyPr/>
        <a:lstStyle/>
        <a:p>
          <a:endParaRPr lang="ru-RU"/>
        </a:p>
      </dgm:t>
    </dgm:pt>
    <dgm:pt modelId="{F103233B-900C-409C-9D32-BB1268D52578}" type="sibTrans" cxnId="{0C945996-E37C-4D42-9963-BC11CE764C5B}">
      <dgm:prSet/>
      <dgm:spPr/>
      <dgm:t>
        <a:bodyPr/>
        <a:lstStyle/>
        <a:p>
          <a:endParaRPr lang="ru-RU"/>
        </a:p>
      </dgm:t>
    </dgm:pt>
    <dgm:pt modelId="{D00ECEA5-7F24-4635-8EBC-30B2A137325F}">
      <dgm:prSet phldrT="[Текст]"/>
      <dgm:spPr/>
      <dgm:t>
        <a:bodyPr/>
        <a:lstStyle/>
        <a:p>
          <a:pPr algn="l"/>
          <a:r>
            <a:rPr lang="en-US" dirty="0"/>
            <a:t>Leaf level</a:t>
          </a:r>
          <a:endParaRPr lang="ru-RU" dirty="0"/>
        </a:p>
      </dgm:t>
    </dgm:pt>
    <dgm:pt modelId="{8F671E68-619B-405C-8169-AD5DFE169BBA}" type="parTrans" cxnId="{93215D6B-1289-4D27-8899-1603A5995662}">
      <dgm:prSet/>
      <dgm:spPr/>
      <dgm:t>
        <a:bodyPr/>
        <a:lstStyle/>
        <a:p>
          <a:endParaRPr lang="ru-RU"/>
        </a:p>
      </dgm:t>
    </dgm:pt>
    <dgm:pt modelId="{EC6F8CAF-308E-46E2-B99E-7826CC888120}" type="sibTrans" cxnId="{93215D6B-1289-4D27-8899-1603A5995662}">
      <dgm:prSet/>
      <dgm:spPr/>
      <dgm:t>
        <a:bodyPr/>
        <a:lstStyle/>
        <a:p>
          <a:endParaRPr lang="ru-RU"/>
        </a:p>
      </dgm:t>
    </dgm:pt>
    <dgm:pt modelId="{6CBFCF96-0D25-4287-8C0E-56C137235BEB}">
      <dgm:prSet phldrT="[Текст]"/>
      <dgm:spPr/>
      <dgm:t>
        <a:bodyPr/>
        <a:lstStyle/>
        <a:p>
          <a:r>
            <a:rPr lang="en-US" dirty="0"/>
            <a:t>51-75</a:t>
          </a:r>
          <a:endParaRPr lang="ru-RU" dirty="0"/>
        </a:p>
      </dgm:t>
    </dgm:pt>
    <dgm:pt modelId="{2CD2A954-56D2-4E7D-8DB4-ECF06347837E}">
      <dgm:prSet phldrT="[Текст]"/>
      <dgm:spPr/>
      <dgm:t>
        <a:bodyPr/>
        <a:lstStyle/>
        <a:p>
          <a:r>
            <a:rPr lang="ru-RU" dirty="0"/>
            <a:t>51-100</a:t>
          </a:r>
        </a:p>
      </dgm:t>
    </dgm:pt>
    <dgm:pt modelId="{AFCECF04-3E16-47FC-9889-C70B7C0DF838}" type="sibTrans" cxnId="{117CFBEF-CFE4-49AD-9CCC-0966AC1F7673}">
      <dgm:prSet/>
      <dgm:spPr/>
      <dgm:t>
        <a:bodyPr/>
        <a:lstStyle/>
        <a:p>
          <a:endParaRPr lang="ru-RU"/>
        </a:p>
      </dgm:t>
    </dgm:pt>
    <dgm:pt modelId="{D402DB48-5E39-4029-99AC-8FF6D300CB1B}" type="parTrans" cxnId="{117CFBEF-CFE4-49AD-9CCC-0966AC1F7673}">
      <dgm:prSet/>
      <dgm:spPr/>
      <dgm:t>
        <a:bodyPr/>
        <a:lstStyle/>
        <a:p>
          <a:endParaRPr lang="ru-RU"/>
        </a:p>
      </dgm:t>
    </dgm:pt>
    <dgm:pt modelId="{4D463E9B-A298-4793-AF0A-31EBC03C052B}" type="sibTrans" cxnId="{F434DB16-6022-47D4-BC4F-CFE3CD35418E}">
      <dgm:prSet/>
      <dgm:spPr/>
      <dgm:t>
        <a:bodyPr/>
        <a:lstStyle/>
        <a:p>
          <a:endParaRPr lang="ru-RU"/>
        </a:p>
      </dgm:t>
    </dgm:pt>
    <dgm:pt modelId="{6D490F8A-4D91-428E-99EE-2FA27DD41A81}" type="parTrans" cxnId="{F434DB16-6022-47D4-BC4F-CFE3CD35418E}">
      <dgm:prSet/>
      <dgm:spPr/>
      <dgm:t>
        <a:bodyPr/>
        <a:lstStyle/>
        <a:p>
          <a:endParaRPr lang="ru-RU"/>
        </a:p>
      </dgm:t>
    </dgm:pt>
    <dgm:pt modelId="{45BEBC1D-1F0D-4515-AC33-08DC7CF22344}">
      <dgm:prSet phldrT="[Текст]"/>
      <dgm:spPr/>
      <dgm:t>
        <a:bodyPr/>
        <a:lstStyle/>
        <a:p>
          <a:r>
            <a:rPr lang="en-US" dirty="0"/>
            <a:t>76-100</a:t>
          </a:r>
          <a:endParaRPr lang="ru-RU" dirty="0"/>
        </a:p>
      </dgm:t>
    </dgm:pt>
    <dgm:pt modelId="{CBD76DF8-28CF-49A1-B9A5-F55A98D1DD78}" type="parTrans" cxnId="{CE496799-0617-4507-B122-26A3E7F0EA99}">
      <dgm:prSet/>
      <dgm:spPr/>
      <dgm:t>
        <a:bodyPr/>
        <a:lstStyle/>
        <a:p>
          <a:endParaRPr lang="ru-RU"/>
        </a:p>
      </dgm:t>
    </dgm:pt>
    <dgm:pt modelId="{7957DB0A-C51E-465F-93DC-D894406BF0D2}" type="sibTrans" cxnId="{CE496799-0617-4507-B122-26A3E7F0EA99}">
      <dgm:prSet/>
      <dgm:spPr/>
      <dgm:t>
        <a:bodyPr/>
        <a:lstStyle/>
        <a:p>
          <a:endParaRPr lang="ru-RU"/>
        </a:p>
      </dgm:t>
    </dgm:pt>
    <dgm:pt modelId="{5E7ABEEA-E6D6-4887-894D-9960FE8A5B83}">
      <dgm:prSet phldrT="[Текст]"/>
      <dgm:spPr/>
      <dgm:t>
        <a:bodyPr/>
        <a:lstStyle/>
        <a:p>
          <a:r>
            <a:rPr lang="en-US" dirty="0"/>
            <a:t>Intermediate level</a:t>
          </a:r>
          <a:endParaRPr lang="ru-RU" dirty="0"/>
        </a:p>
      </dgm:t>
    </dgm:pt>
    <dgm:pt modelId="{4ACF2139-5AAD-4D1F-8F7A-A5D8C0873828}" type="parTrans" cxnId="{6B5FEA32-880E-41EB-964E-789CC177BCE8}">
      <dgm:prSet/>
      <dgm:spPr/>
      <dgm:t>
        <a:bodyPr/>
        <a:lstStyle/>
        <a:p>
          <a:endParaRPr lang="ru-RU"/>
        </a:p>
      </dgm:t>
    </dgm:pt>
    <dgm:pt modelId="{B33FF746-18D4-4B78-9033-7F2CE513800B}" type="sibTrans" cxnId="{6B5FEA32-880E-41EB-964E-789CC177BCE8}">
      <dgm:prSet/>
      <dgm:spPr/>
      <dgm:t>
        <a:bodyPr/>
        <a:lstStyle/>
        <a:p>
          <a:endParaRPr lang="ru-RU"/>
        </a:p>
      </dgm:t>
    </dgm:pt>
    <dgm:pt modelId="{29BE706F-453F-4CF0-A022-4CCAA08975FF}" type="pres">
      <dgm:prSet presAssocID="{A150C73B-F301-4A34-AA6B-AEE31E9191B3}" presName="mainComposite" presStyleCnt="0">
        <dgm:presLayoutVars>
          <dgm:chPref val="1"/>
          <dgm:dir/>
          <dgm:animOne val="branch"/>
          <dgm:animLvl val="lvl"/>
          <dgm:resizeHandles val="exact"/>
        </dgm:presLayoutVars>
      </dgm:prSet>
      <dgm:spPr/>
    </dgm:pt>
    <dgm:pt modelId="{6FE12588-F718-4770-928F-BF68823C788B}" type="pres">
      <dgm:prSet presAssocID="{A150C73B-F301-4A34-AA6B-AEE31E9191B3}" presName="hierFlow" presStyleCnt="0"/>
      <dgm:spPr/>
    </dgm:pt>
    <dgm:pt modelId="{910E4BAC-6C99-4BA7-892D-2A18E094DD6C}" type="pres">
      <dgm:prSet presAssocID="{A150C73B-F301-4A34-AA6B-AEE31E9191B3}" presName="firstBuf" presStyleCnt="0"/>
      <dgm:spPr/>
    </dgm:pt>
    <dgm:pt modelId="{EC58F55F-2ABD-47AC-B53C-DCD337779976}" type="pres">
      <dgm:prSet presAssocID="{A150C73B-F301-4A34-AA6B-AEE31E9191B3}" presName="hierChild1" presStyleCnt="0">
        <dgm:presLayoutVars>
          <dgm:chPref val="1"/>
          <dgm:animOne val="branch"/>
          <dgm:animLvl val="lvl"/>
        </dgm:presLayoutVars>
      </dgm:prSet>
      <dgm:spPr/>
    </dgm:pt>
    <dgm:pt modelId="{D799427B-0EB0-49D9-9DE5-888FA62BFDAD}" type="pres">
      <dgm:prSet presAssocID="{356EB9DB-4F7F-4EB2-A233-F94D45DCBAA6}" presName="Name14" presStyleCnt="0"/>
      <dgm:spPr/>
    </dgm:pt>
    <dgm:pt modelId="{64F6DF3E-B7DD-4A60-97AB-4E0B8BFD152E}" type="pres">
      <dgm:prSet presAssocID="{356EB9DB-4F7F-4EB2-A233-F94D45DCBAA6}" presName="level1Shape" presStyleLbl="node0" presStyleIdx="0" presStyleCnt="1">
        <dgm:presLayoutVars>
          <dgm:chPref val="3"/>
        </dgm:presLayoutVars>
      </dgm:prSet>
      <dgm:spPr/>
    </dgm:pt>
    <dgm:pt modelId="{6CB90BE7-4426-402E-AB72-AEE3F2F4606A}" type="pres">
      <dgm:prSet presAssocID="{356EB9DB-4F7F-4EB2-A233-F94D45DCBAA6}" presName="hierChild2" presStyleCnt="0"/>
      <dgm:spPr/>
    </dgm:pt>
    <dgm:pt modelId="{7590742A-B266-4114-B044-A8E23E0D5855}" type="pres">
      <dgm:prSet presAssocID="{F2469CE3-5BDD-49DB-B522-8E7241BB79DF}" presName="Name19" presStyleLbl="parChTrans1D2" presStyleIdx="0" presStyleCnt="2"/>
      <dgm:spPr/>
    </dgm:pt>
    <dgm:pt modelId="{A2997296-A741-4499-9F08-A44B2EEA206D}" type="pres">
      <dgm:prSet presAssocID="{FB7BC2D4-DB4E-4A33-87C3-5ED9587EDF66}" presName="Name21" presStyleCnt="0"/>
      <dgm:spPr/>
    </dgm:pt>
    <dgm:pt modelId="{C823CC54-FC6F-4D5B-869F-0342B2082284}" type="pres">
      <dgm:prSet presAssocID="{FB7BC2D4-DB4E-4A33-87C3-5ED9587EDF66}" presName="level2Shape" presStyleLbl="node2" presStyleIdx="0" presStyleCnt="2"/>
      <dgm:spPr/>
    </dgm:pt>
    <dgm:pt modelId="{ED2AD765-4D4B-4D2D-9BC9-F06937976C87}" type="pres">
      <dgm:prSet presAssocID="{FB7BC2D4-DB4E-4A33-87C3-5ED9587EDF66}" presName="hierChild3" presStyleCnt="0"/>
      <dgm:spPr/>
    </dgm:pt>
    <dgm:pt modelId="{EB035EEC-13E3-4327-9EC3-0EB06FE8BCBD}" type="pres">
      <dgm:prSet presAssocID="{AFC76FF8-2F77-4773-A87F-8D767E6C55A4}" presName="Name19" presStyleLbl="parChTrans1D3" presStyleIdx="0" presStyleCnt="4"/>
      <dgm:spPr/>
    </dgm:pt>
    <dgm:pt modelId="{F1048E28-9BB5-4574-B16F-CD33F7C89E38}" type="pres">
      <dgm:prSet presAssocID="{AE9E1DB8-920F-46C6-B61D-568C15EDE53D}" presName="Name21" presStyleCnt="0"/>
      <dgm:spPr/>
    </dgm:pt>
    <dgm:pt modelId="{EDCFA681-DE8F-45A9-A25B-8B9A715F4B2A}" type="pres">
      <dgm:prSet presAssocID="{AE9E1DB8-920F-46C6-B61D-568C15EDE53D}" presName="level2Shape" presStyleLbl="node3" presStyleIdx="0" presStyleCnt="4" custLinFactNeighborX="-1448" custLinFactNeighborY="-9348"/>
      <dgm:spPr/>
    </dgm:pt>
    <dgm:pt modelId="{C6AF939E-6E37-41D7-9C55-DDAC7F1F46F6}" type="pres">
      <dgm:prSet presAssocID="{AE9E1DB8-920F-46C6-B61D-568C15EDE53D}" presName="hierChild3" presStyleCnt="0"/>
      <dgm:spPr/>
    </dgm:pt>
    <dgm:pt modelId="{EB7AA012-5D15-4144-8714-05706252613E}" type="pres">
      <dgm:prSet presAssocID="{A49346E2-1A44-494C-9944-00A53D03EFAA}" presName="Name19" presStyleLbl="parChTrans1D3" presStyleIdx="1" presStyleCnt="4"/>
      <dgm:spPr/>
    </dgm:pt>
    <dgm:pt modelId="{225673CF-CABC-432A-9D37-DE986EAE0783}" type="pres">
      <dgm:prSet presAssocID="{CD9CF1A8-8C78-4EE7-9F97-7C1E67EA66DB}" presName="Name21" presStyleCnt="0"/>
      <dgm:spPr/>
    </dgm:pt>
    <dgm:pt modelId="{C742817A-84E3-468D-B771-F8EDAD1FA17A}" type="pres">
      <dgm:prSet presAssocID="{CD9CF1A8-8C78-4EE7-9F97-7C1E67EA66DB}" presName="level2Shape" presStyleLbl="node3" presStyleIdx="1" presStyleCnt="4"/>
      <dgm:spPr/>
    </dgm:pt>
    <dgm:pt modelId="{8AC6A874-71A2-4B68-A16D-E08752B07742}" type="pres">
      <dgm:prSet presAssocID="{CD9CF1A8-8C78-4EE7-9F97-7C1E67EA66DB}" presName="hierChild3" presStyleCnt="0"/>
      <dgm:spPr/>
    </dgm:pt>
    <dgm:pt modelId="{39D7E4EF-860B-4D65-822B-43AF92AAE48B}" type="pres">
      <dgm:prSet presAssocID="{D402DB48-5E39-4029-99AC-8FF6D300CB1B}" presName="Name19" presStyleLbl="parChTrans1D2" presStyleIdx="1" presStyleCnt="2"/>
      <dgm:spPr/>
    </dgm:pt>
    <dgm:pt modelId="{2FBAD812-0482-414C-A603-9F28A385423B}" type="pres">
      <dgm:prSet presAssocID="{2CD2A954-56D2-4E7D-8DB4-ECF06347837E}" presName="Name21" presStyleCnt="0"/>
      <dgm:spPr/>
    </dgm:pt>
    <dgm:pt modelId="{8391045A-2A11-4103-9E34-4DF9C5721FE9}" type="pres">
      <dgm:prSet presAssocID="{2CD2A954-56D2-4E7D-8DB4-ECF06347837E}" presName="level2Shape" presStyleLbl="node2" presStyleIdx="1" presStyleCnt="2"/>
      <dgm:spPr/>
    </dgm:pt>
    <dgm:pt modelId="{D4850FAA-731B-4C3D-8944-7C82074E020D}" type="pres">
      <dgm:prSet presAssocID="{2CD2A954-56D2-4E7D-8DB4-ECF06347837E}" presName="hierChild3" presStyleCnt="0"/>
      <dgm:spPr/>
    </dgm:pt>
    <dgm:pt modelId="{01D11738-0B22-493B-8074-BEA227F697AE}" type="pres">
      <dgm:prSet presAssocID="{6D490F8A-4D91-428E-99EE-2FA27DD41A81}" presName="Name19" presStyleLbl="parChTrans1D3" presStyleIdx="2" presStyleCnt="4"/>
      <dgm:spPr/>
    </dgm:pt>
    <dgm:pt modelId="{F1291393-4E66-49BE-9A3D-1C2700CB098D}" type="pres">
      <dgm:prSet presAssocID="{6CBFCF96-0D25-4287-8C0E-56C137235BEB}" presName="Name21" presStyleCnt="0"/>
      <dgm:spPr/>
    </dgm:pt>
    <dgm:pt modelId="{40003DE6-0A4A-490B-A852-14AE712EE800}" type="pres">
      <dgm:prSet presAssocID="{6CBFCF96-0D25-4287-8C0E-56C137235BEB}" presName="level2Shape" presStyleLbl="node3" presStyleIdx="2" presStyleCnt="4"/>
      <dgm:spPr/>
    </dgm:pt>
    <dgm:pt modelId="{7D5F72FC-1817-4F78-AFFA-544D5376F3C7}" type="pres">
      <dgm:prSet presAssocID="{6CBFCF96-0D25-4287-8C0E-56C137235BEB}" presName="hierChild3" presStyleCnt="0"/>
      <dgm:spPr/>
    </dgm:pt>
    <dgm:pt modelId="{EC3F024C-9E5C-4537-8D89-9647308E87AB}" type="pres">
      <dgm:prSet presAssocID="{CBD76DF8-28CF-49A1-B9A5-F55A98D1DD78}" presName="Name19" presStyleLbl="parChTrans1D3" presStyleIdx="3" presStyleCnt="4"/>
      <dgm:spPr/>
    </dgm:pt>
    <dgm:pt modelId="{9C0FF7C9-DCD3-4C41-8BF7-128F2108E053}" type="pres">
      <dgm:prSet presAssocID="{45BEBC1D-1F0D-4515-AC33-08DC7CF22344}" presName="Name21" presStyleCnt="0"/>
      <dgm:spPr/>
    </dgm:pt>
    <dgm:pt modelId="{1AC1E41C-4344-46CC-AEE0-474C3241907C}" type="pres">
      <dgm:prSet presAssocID="{45BEBC1D-1F0D-4515-AC33-08DC7CF22344}" presName="level2Shape" presStyleLbl="node3" presStyleIdx="3" presStyleCnt="4"/>
      <dgm:spPr/>
    </dgm:pt>
    <dgm:pt modelId="{2DA8F90C-4434-4413-9D24-D1EDC874D7B2}" type="pres">
      <dgm:prSet presAssocID="{45BEBC1D-1F0D-4515-AC33-08DC7CF22344}" presName="hierChild3" presStyleCnt="0"/>
      <dgm:spPr/>
    </dgm:pt>
    <dgm:pt modelId="{51DB06D6-257D-4207-9A8B-45ED8494117D}" type="pres">
      <dgm:prSet presAssocID="{A150C73B-F301-4A34-AA6B-AEE31E9191B3}" presName="bgShapesFlow" presStyleCnt="0"/>
      <dgm:spPr/>
    </dgm:pt>
    <dgm:pt modelId="{71027442-FE00-4D9B-8659-30F4ED26FF71}" type="pres">
      <dgm:prSet presAssocID="{966711A3-33AA-4798-810E-CD59DD73CA76}" presName="rectComp" presStyleCnt="0"/>
      <dgm:spPr/>
    </dgm:pt>
    <dgm:pt modelId="{362040F3-DB3E-48D1-8BEA-93FCBC64EA52}" type="pres">
      <dgm:prSet presAssocID="{966711A3-33AA-4798-810E-CD59DD73CA76}" presName="bgRect" presStyleLbl="bgShp" presStyleIdx="0" presStyleCnt="4" custLinFactNeighborY="6289"/>
      <dgm:spPr/>
    </dgm:pt>
    <dgm:pt modelId="{E784A015-C212-4595-8298-F1FA651CDF0E}" type="pres">
      <dgm:prSet presAssocID="{966711A3-33AA-4798-810E-CD59DD73CA76}" presName="bgRectTx" presStyleLbl="bgShp" presStyleIdx="0" presStyleCnt="4">
        <dgm:presLayoutVars>
          <dgm:bulletEnabled val="1"/>
        </dgm:presLayoutVars>
      </dgm:prSet>
      <dgm:spPr/>
    </dgm:pt>
    <dgm:pt modelId="{08AD6562-E1D9-4736-BAB0-E67EC2BC7B41}" type="pres">
      <dgm:prSet presAssocID="{966711A3-33AA-4798-810E-CD59DD73CA76}" presName="spComp" presStyleCnt="0"/>
      <dgm:spPr/>
    </dgm:pt>
    <dgm:pt modelId="{F57F11B4-3999-4591-B239-3491CAF88CDA}" type="pres">
      <dgm:prSet presAssocID="{966711A3-33AA-4798-810E-CD59DD73CA76}" presName="vSp" presStyleCnt="0"/>
      <dgm:spPr/>
    </dgm:pt>
    <dgm:pt modelId="{999ADD52-309B-4B94-B5DE-19A3DC70674A}" type="pres">
      <dgm:prSet presAssocID="{8C8CACA3-FF8C-49F5-87AB-C08DDDFD7180}" presName="rectComp" presStyleCnt="0"/>
      <dgm:spPr/>
    </dgm:pt>
    <dgm:pt modelId="{9299B391-A826-44B6-8EA0-0DFB0D7DCA29}" type="pres">
      <dgm:prSet presAssocID="{8C8CACA3-FF8C-49F5-87AB-C08DDDFD7180}" presName="bgRect" presStyleLbl="bgShp" presStyleIdx="1" presStyleCnt="4" custScaleY="102792"/>
      <dgm:spPr/>
    </dgm:pt>
    <dgm:pt modelId="{77D03152-0027-43E0-95AF-3CBB62EAB7FA}" type="pres">
      <dgm:prSet presAssocID="{8C8CACA3-FF8C-49F5-87AB-C08DDDFD7180}" presName="bgRectTx" presStyleLbl="bgShp" presStyleIdx="1" presStyleCnt="4">
        <dgm:presLayoutVars>
          <dgm:bulletEnabled val="1"/>
        </dgm:presLayoutVars>
      </dgm:prSet>
      <dgm:spPr/>
    </dgm:pt>
    <dgm:pt modelId="{45F1DD5A-0698-47A9-977F-984EBC80C5D7}" type="pres">
      <dgm:prSet presAssocID="{8C8CACA3-FF8C-49F5-87AB-C08DDDFD7180}" presName="spComp" presStyleCnt="0"/>
      <dgm:spPr/>
    </dgm:pt>
    <dgm:pt modelId="{14034CFA-B483-4C6E-94D6-2C235192C6D6}" type="pres">
      <dgm:prSet presAssocID="{8C8CACA3-FF8C-49F5-87AB-C08DDDFD7180}" presName="vSp" presStyleCnt="0"/>
      <dgm:spPr/>
    </dgm:pt>
    <dgm:pt modelId="{DFCA5153-49F9-49CD-9BBD-40C66BB1B9FE}" type="pres">
      <dgm:prSet presAssocID="{5E7ABEEA-E6D6-4887-894D-9960FE8A5B83}" presName="rectComp" presStyleCnt="0"/>
      <dgm:spPr/>
    </dgm:pt>
    <dgm:pt modelId="{D534B7CC-1AF7-444D-8AD5-A95F735C6B7A}" type="pres">
      <dgm:prSet presAssocID="{5E7ABEEA-E6D6-4887-894D-9960FE8A5B83}" presName="bgRect" presStyleLbl="bgShp" presStyleIdx="2" presStyleCnt="4" custScaleY="102792"/>
      <dgm:spPr/>
    </dgm:pt>
    <dgm:pt modelId="{CE7F9E37-3357-4533-A194-582D51597647}" type="pres">
      <dgm:prSet presAssocID="{5E7ABEEA-E6D6-4887-894D-9960FE8A5B83}" presName="bgRectTx" presStyleLbl="bgShp" presStyleIdx="2" presStyleCnt="4">
        <dgm:presLayoutVars>
          <dgm:bulletEnabled val="1"/>
        </dgm:presLayoutVars>
      </dgm:prSet>
      <dgm:spPr/>
    </dgm:pt>
    <dgm:pt modelId="{0C7CE0A8-D590-4D6D-9F8D-7F8F4931C31D}" type="pres">
      <dgm:prSet presAssocID="{5E7ABEEA-E6D6-4887-894D-9960FE8A5B83}" presName="spComp" presStyleCnt="0"/>
      <dgm:spPr/>
    </dgm:pt>
    <dgm:pt modelId="{60005E80-6E63-4B2A-9434-9519A8146FDD}" type="pres">
      <dgm:prSet presAssocID="{5E7ABEEA-E6D6-4887-894D-9960FE8A5B83}" presName="vSp" presStyleCnt="0"/>
      <dgm:spPr/>
    </dgm:pt>
    <dgm:pt modelId="{61F6D35C-9568-4552-80C9-DA79E8936609}" type="pres">
      <dgm:prSet presAssocID="{D00ECEA5-7F24-4635-8EBC-30B2A137325F}" presName="rectComp" presStyleCnt="0"/>
      <dgm:spPr/>
    </dgm:pt>
    <dgm:pt modelId="{53CA5D39-8C4F-4491-8B24-3421933C1A46}" type="pres">
      <dgm:prSet presAssocID="{D00ECEA5-7F24-4635-8EBC-30B2A137325F}" presName="bgRect" presStyleLbl="bgShp" presStyleIdx="3" presStyleCnt="4" custLinFactY="19591" custLinFactNeighborX="-877" custLinFactNeighborY="100000"/>
      <dgm:spPr/>
    </dgm:pt>
    <dgm:pt modelId="{BFA76291-7BF4-43F2-B8E3-1AF13E9D35B4}" type="pres">
      <dgm:prSet presAssocID="{D00ECEA5-7F24-4635-8EBC-30B2A137325F}" presName="bgRectTx" presStyleLbl="bgShp" presStyleIdx="3" presStyleCnt="4">
        <dgm:presLayoutVars>
          <dgm:bulletEnabled val="1"/>
        </dgm:presLayoutVars>
      </dgm:prSet>
      <dgm:spPr/>
    </dgm:pt>
  </dgm:ptLst>
  <dgm:cxnLst>
    <dgm:cxn modelId="{8C57D604-2436-49D5-BC9C-9ACA8A0E13BD}" type="presOf" srcId="{8C8CACA3-FF8C-49F5-87AB-C08DDDFD7180}" destId="{9299B391-A826-44B6-8EA0-0DFB0D7DCA29}" srcOrd="0" destOrd="0" presId="urn:microsoft.com/office/officeart/2005/8/layout/hierarchy6"/>
    <dgm:cxn modelId="{A31E5313-94F9-45CA-A92C-140768603B06}" srcId="{A150C73B-F301-4A34-AA6B-AEE31E9191B3}" destId="{966711A3-33AA-4798-810E-CD59DD73CA76}" srcOrd="1" destOrd="0" parTransId="{0FFF7B57-7F8A-4EF2-A3CB-E12EDCBE3F94}" sibTransId="{6644AE3E-622A-4756-97D5-276B4371F283}"/>
    <dgm:cxn modelId="{8ED04914-F840-40AC-9023-7821B5B65405}" srcId="{FB7BC2D4-DB4E-4A33-87C3-5ED9587EDF66}" destId="{AE9E1DB8-920F-46C6-B61D-568C15EDE53D}" srcOrd="0" destOrd="0" parTransId="{AFC76FF8-2F77-4773-A87F-8D767E6C55A4}" sibTransId="{F6B7057B-E2C5-466E-8E48-6FDBA87A2BB4}"/>
    <dgm:cxn modelId="{F434DB16-6022-47D4-BC4F-CFE3CD35418E}" srcId="{2CD2A954-56D2-4E7D-8DB4-ECF06347837E}" destId="{6CBFCF96-0D25-4287-8C0E-56C137235BEB}" srcOrd="0" destOrd="0" parTransId="{6D490F8A-4D91-428E-99EE-2FA27DD41A81}" sibTransId="{4D463E9B-A298-4793-AF0A-31EBC03C052B}"/>
    <dgm:cxn modelId="{CB047422-105E-4769-8600-0338D7B2D178}" type="presOf" srcId="{D402DB48-5E39-4029-99AC-8FF6D300CB1B}" destId="{39D7E4EF-860B-4D65-822B-43AF92AAE48B}" srcOrd="0" destOrd="0" presId="urn:microsoft.com/office/officeart/2005/8/layout/hierarchy6"/>
    <dgm:cxn modelId="{EC9F7229-5374-4E39-A2B3-3122C29A78D0}" type="presOf" srcId="{D00ECEA5-7F24-4635-8EBC-30B2A137325F}" destId="{BFA76291-7BF4-43F2-B8E3-1AF13E9D35B4}" srcOrd="1" destOrd="0" presId="urn:microsoft.com/office/officeart/2005/8/layout/hierarchy6"/>
    <dgm:cxn modelId="{6B5FEA32-880E-41EB-964E-789CC177BCE8}" srcId="{A150C73B-F301-4A34-AA6B-AEE31E9191B3}" destId="{5E7ABEEA-E6D6-4887-894D-9960FE8A5B83}" srcOrd="3" destOrd="0" parTransId="{4ACF2139-5AAD-4D1F-8F7A-A5D8C0873828}" sibTransId="{B33FF746-18D4-4B78-9033-7F2CE513800B}"/>
    <dgm:cxn modelId="{56CB9045-5D10-4D8B-81DB-6BC92FBF1EB8}" type="presOf" srcId="{AE9E1DB8-920F-46C6-B61D-568C15EDE53D}" destId="{EDCFA681-DE8F-45A9-A25B-8B9A715F4B2A}" srcOrd="0" destOrd="0" presId="urn:microsoft.com/office/officeart/2005/8/layout/hierarchy6"/>
    <dgm:cxn modelId="{2B6CC745-5CC0-4C75-B2BF-64DC07AF5FEB}" type="presOf" srcId="{5E7ABEEA-E6D6-4887-894D-9960FE8A5B83}" destId="{CE7F9E37-3357-4533-A194-582D51597647}" srcOrd="1" destOrd="0" presId="urn:microsoft.com/office/officeart/2005/8/layout/hierarchy6"/>
    <dgm:cxn modelId="{9D24EB4A-82C5-45AC-8663-EF077865B682}" type="presOf" srcId="{6CBFCF96-0D25-4287-8C0E-56C137235BEB}" destId="{40003DE6-0A4A-490B-A852-14AE712EE800}" srcOrd="0" destOrd="0" presId="urn:microsoft.com/office/officeart/2005/8/layout/hierarchy6"/>
    <dgm:cxn modelId="{93215D6B-1289-4D27-8899-1603A5995662}" srcId="{A150C73B-F301-4A34-AA6B-AEE31E9191B3}" destId="{D00ECEA5-7F24-4635-8EBC-30B2A137325F}" srcOrd="4" destOrd="0" parTransId="{8F671E68-619B-405C-8169-AD5DFE169BBA}" sibTransId="{EC6F8CAF-308E-46E2-B99E-7826CC888120}"/>
    <dgm:cxn modelId="{6BD3E450-76BA-4D8F-905B-17E08489C965}" type="presOf" srcId="{5E7ABEEA-E6D6-4887-894D-9960FE8A5B83}" destId="{D534B7CC-1AF7-444D-8AD5-A95F735C6B7A}" srcOrd="0" destOrd="0" presId="urn:microsoft.com/office/officeart/2005/8/layout/hierarchy6"/>
    <dgm:cxn modelId="{B04BFC53-8B9E-418F-9ABC-BD16CBBDF2C9}" type="presOf" srcId="{D00ECEA5-7F24-4635-8EBC-30B2A137325F}" destId="{53CA5D39-8C4F-4491-8B24-3421933C1A46}" srcOrd="0" destOrd="0" presId="urn:microsoft.com/office/officeart/2005/8/layout/hierarchy6"/>
    <dgm:cxn modelId="{459A2374-179F-432E-9C85-FE5922692CEF}" type="presOf" srcId="{CBD76DF8-28CF-49A1-B9A5-F55A98D1DD78}" destId="{EC3F024C-9E5C-4537-8D89-9647308E87AB}" srcOrd="0" destOrd="0" presId="urn:microsoft.com/office/officeart/2005/8/layout/hierarchy6"/>
    <dgm:cxn modelId="{406CDB74-6941-419D-BB90-5E33657DE68C}" type="presOf" srcId="{8C8CACA3-FF8C-49F5-87AB-C08DDDFD7180}" destId="{77D03152-0027-43E0-95AF-3CBB62EAB7FA}" srcOrd="1" destOrd="0" presId="urn:microsoft.com/office/officeart/2005/8/layout/hierarchy6"/>
    <dgm:cxn modelId="{68CC948C-E945-43DB-91FB-FF22C46A2874}" type="presOf" srcId="{A49346E2-1A44-494C-9944-00A53D03EFAA}" destId="{EB7AA012-5D15-4144-8714-05706252613E}" srcOrd="0" destOrd="0" presId="urn:microsoft.com/office/officeart/2005/8/layout/hierarchy6"/>
    <dgm:cxn modelId="{3A4AB490-DFB8-44A3-A4D0-D68864A01CA8}" type="presOf" srcId="{6D490F8A-4D91-428E-99EE-2FA27DD41A81}" destId="{01D11738-0B22-493B-8074-BEA227F697AE}" srcOrd="0" destOrd="0" presId="urn:microsoft.com/office/officeart/2005/8/layout/hierarchy6"/>
    <dgm:cxn modelId="{504A0093-8641-4E35-B33F-806A2B51941B}" type="presOf" srcId="{2CD2A954-56D2-4E7D-8DB4-ECF06347837E}" destId="{8391045A-2A11-4103-9E34-4DF9C5721FE9}" srcOrd="0" destOrd="0" presId="urn:microsoft.com/office/officeart/2005/8/layout/hierarchy6"/>
    <dgm:cxn modelId="{0C945996-E37C-4D42-9963-BC11CE764C5B}" srcId="{A150C73B-F301-4A34-AA6B-AEE31E9191B3}" destId="{8C8CACA3-FF8C-49F5-87AB-C08DDDFD7180}" srcOrd="2" destOrd="0" parTransId="{765738A8-7E75-4356-A705-4788E41CB80F}" sibTransId="{F103233B-900C-409C-9D32-BB1268D52578}"/>
    <dgm:cxn modelId="{CE496799-0617-4507-B122-26A3E7F0EA99}" srcId="{2CD2A954-56D2-4E7D-8DB4-ECF06347837E}" destId="{45BEBC1D-1F0D-4515-AC33-08DC7CF22344}" srcOrd="1" destOrd="0" parTransId="{CBD76DF8-28CF-49A1-B9A5-F55A98D1DD78}" sibTransId="{7957DB0A-C51E-465F-93DC-D894406BF0D2}"/>
    <dgm:cxn modelId="{C40F46AF-41FF-484A-A6D8-65569253CFDA}" type="presOf" srcId="{45BEBC1D-1F0D-4515-AC33-08DC7CF22344}" destId="{1AC1E41C-4344-46CC-AEE0-474C3241907C}" srcOrd="0" destOrd="0" presId="urn:microsoft.com/office/officeart/2005/8/layout/hierarchy6"/>
    <dgm:cxn modelId="{7EE94DBC-056A-488B-8D8D-997FD24C2E83}" type="presOf" srcId="{FB7BC2D4-DB4E-4A33-87C3-5ED9587EDF66}" destId="{C823CC54-FC6F-4D5B-869F-0342B2082284}" srcOrd="0" destOrd="0" presId="urn:microsoft.com/office/officeart/2005/8/layout/hierarchy6"/>
    <dgm:cxn modelId="{2910C0BC-E9F1-4122-88C9-922A4DA162B4}" type="presOf" srcId="{966711A3-33AA-4798-810E-CD59DD73CA76}" destId="{E784A015-C212-4595-8298-F1FA651CDF0E}" srcOrd="1" destOrd="0" presId="urn:microsoft.com/office/officeart/2005/8/layout/hierarchy6"/>
    <dgm:cxn modelId="{5924B9C5-D2B1-4122-8304-1E92FD3154AC}" type="presOf" srcId="{AFC76FF8-2F77-4773-A87F-8D767E6C55A4}" destId="{EB035EEC-13E3-4327-9EC3-0EB06FE8BCBD}" srcOrd="0" destOrd="0" presId="urn:microsoft.com/office/officeart/2005/8/layout/hierarchy6"/>
    <dgm:cxn modelId="{DA1F24DE-32B8-4B0F-B11C-D08B529B79C7}" srcId="{A150C73B-F301-4A34-AA6B-AEE31E9191B3}" destId="{356EB9DB-4F7F-4EB2-A233-F94D45DCBAA6}" srcOrd="0" destOrd="0" parTransId="{D43C33EE-595C-40EF-90FA-0CA006E193E3}" sibTransId="{9AB7422B-2661-4950-92DC-CED1C0439EC3}"/>
    <dgm:cxn modelId="{2F33CFDE-2B22-40B6-A4D6-5DEEF1A2D2F3}" type="presOf" srcId="{356EB9DB-4F7F-4EB2-A233-F94D45DCBAA6}" destId="{64F6DF3E-B7DD-4A60-97AB-4E0B8BFD152E}" srcOrd="0" destOrd="0" presId="urn:microsoft.com/office/officeart/2005/8/layout/hierarchy6"/>
    <dgm:cxn modelId="{905B5BE0-D72A-42C6-86D1-F5DFF41E4BC1}" type="presOf" srcId="{F2469CE3-5BDD-49DB-B522-8E7241BB79DF}" destId="{7590742A-B266-4114-B044-A8E23E0D5855}" srcOrd="0" destOrd="0" presId="urn:microsoft.com/office/officeart/2005/8/layout/hierarchy6"/>
    <dgm:cxn modelId="{3F426AE9-2F24-4E6C-B66E-C3F4B3878B38}" type="presOf" srcId="{966711A3-33AA-4798-810E-CD59DD73CA76}" destId="{362040F3-DB3E-48D1-8BEA-93FCBC64EA52}" srcOrd="0" destOrd="0" presId="urn:microsoft.com/office/officeart/2005/8/layout/hierarchy6"/>
    <dgm:cxn modelId="{F2C59DE9-EE2B-44A1-8868-AF63A5B6842B}" srcId="{356EB9DB-4F7F-4EB2-A233-F94D45DCBAA6}" destId="{FB7BC2D4-DB4E-4A33-87C3-5ED9587EDF66}" srcOrd="0" destOrd="0" parTransId="{F2469CE3-5BDD-49DB-B522-8E7241BB79DF}" sibTransId="{7E3D2527-DE22-4971-9B3A-35A56185D542}"/>
    <dgm:cxn modelId="{F35955EA-06D4-4723-AF37-BD8F0F1A266F}" srcId="{FB7BC2D4-DB4E-4A33-87C3-5ED9587EDF66}" destId="{CD9CF1A8-8C78-4EE7-9F97-7C1E67EA66DB}" srcOrd="1" destOrd="0" parTransId="{A49346E2-1A44-494C-9944-00A53D03EFAA}" sibTransId="{B7911E48-6510-4FE6-8A8D-D048A70C0265}"/>
    <dgm:cxn modelId="{117CFBEF-CFE4-49AD-9CCC-0966AC1F7673}" srcId="{356EB9DB-4F7F-4EB2-A233-F94D45DCBAA6}" destId="{2CD2A954-56D2-4E7D-8DB4-ECF06347837E}" srcOrd="1" destOrd="0" parTransId="{D402DB48-5E39-4029-99AC-8FF6D300CB1B}" sibTransId="{AFCECF04-3E16-47FC-9889-C70B7C0DF838}"/>
    <dgm:cxn modelId="{A7F6C5FB-AD64-4A44-A3B3-D79926DCCE0F}" type="presOf" srcId="{A150C73B-F301-4A34-AA6B-AEE31E9191B3}" destId="{29BE706F-453F-4CF0-A022-4CCAA08975FF}" srcOrd="0" destOrd="0" presId="urn:microsoft.com/office/officeart/2005/8/layout/hierarchy6"/>
    <dgm:cxn modelId="{4F4F04FC-67C3-4621-B62D-FC12C663FE82}" type="presOf" srcId="{CD9CF1A8-8C78-4EE7-9F97-7C1E67EA66DB}" destId="{C742817A-84E3-468D-B771-F8EDAD1FA17A}" srcOrd="0" destOrd="0" presId="urn:microsoft.com/office/officeart/2005/8/layout/hierarchy6"/>
    <dgm:cxn modelId="{6705FE96-EF17-41AC-BFD3-BE3957820717}" type="presParOf" srcId="{29BE706F-453F-4CF0-A022-4CCAA08975FF}" destId="{6FE12588-F718-4770-928F-BF68823C788B}" srcOrd="0" destOrd="0" presId="urn:microsoft.com/office/officeart/2005/8/layout/hierarchy6"/>
    <dgm:cxn modelId="{FFAC83A6-3A1E-4713-B733-D3EA072B71A1}" type="presParOf" srcId="{6FE12588-F718-4770-928F-BF68823C788B}" destId="{910E4BAC-6C99-4BA7-892D-2A18E094DD6C}" srcOrd="0" destOrd="0" presId="urn:microsoft.com/office/officeart/2005/8/layout/hierarchy6"/>
    <dgm:cxn modelId="{4A39FCBA-ED1D-4DA1-8740-EE88DD61130A}" type="presParOf" srcId="{6FE12588-F718-4770-928F-BF68823C788B}" destId="{EC58F55F-2ABD-47AC-B53C-DCD337779976}" srcOrd="1" destOrd="0" presId="urn:microsoft.com/office/officeart/2005/8/layout/hierarchy6"/>
    <dgm:cxn modelId="{32B314F3-95DD-4F04-A13F-11B9DF34652D}" type="presParOf" srcId="{EC58F55F-2ABD-47AC-B53C-DCD337779976}" destId="{D799427B-0EB0-49D9-9DE5-888FA62BFDAD}" srcOrd="0" destOrd="0" presId="urn:microsoft.com/office/officeart/2005/8/layout/hierarchy6"/>
    <dgm:cxn modelId="{2CA67650-A2E2-4EF7-B963-FC52E282C134}" type="presParOf" srcId="{D799427B-0EB0-49D9-9DE5-888FA62BFDAD}" destId="{64F6DF3E-B7DD-4A60-97AB-4E0B8BFD152E}" srcOrd="0" destOrd="0" presId="urn:microsoft.com/office/officeart/2005/8/layout/hierarchy6"/>
    <dgm:cxn modelId="{702B78B0-A5FC-4D42-9652-D0CBC276556E}" type="presParOf" srcId="{D799427B-0EB0-49D9-9DE5-888FA62BFDAD}" destId="{6CB90BE7-4426-402E-AB72-AEE3F2F4606A}" srcOrd="1" destOrd="0" presId="urn:microsoft.com/office/officeart/2005/8/layout/hierarchy6"/>
    <dgm:cxn modelId="{AA2FF2E7-47F8-468C-A4F8-D062DE1B7995}" type="presParOf" srcId="{6CB90BE7-4426-402E-AB72-AEE3F2F4606A}" destId="{7590742A-B266-4114-B044-A8E23E0D5855}" srcOrd="0" destOrd="0" presId="urn:microsoft.com/office/officeart/2005/8/layout/hierarchy6"/>
    <dgm:cxn modelId="{D9DCA95B-DE23-48C7-A182-3C582B8B4812}" type="presParOf" srcId="{6CB90BE7-4426-402E-AB72-AEE3F2F4606A}" destId="{A2997296-A741-4499-9F08-A44B2EEA206D}" srcOrd="1" destOrd="0" presId="urn:microsoft.com/office/officeart/2005/8/layout/hierarchy6"/>
    <dgm:cxn modelId="{058957CE-20B8-4AAB-8D02-2D7B0374DC3C}" type="presParOf" srcId="{A2997296-A741-4499-9F08-A44B2EEA206D}" destId="{C823CC54-FC6F-4D5B-869F-0342B2082284}" srcOrd="0" destOrd="0" presId="urn:microsoft.com/office/officeart/2005/8/layout/hierarchy6"/>
    <dgm:cxn modelId="{BE66FFE0-FF4B-4076-96FF-B0448CF8049A}" type="presParOf" srcId="{A2997296-A741-4499-9F08-A44B2EEA206D}" destId="{ED2AD765-4D4B-4D2D-9BC9-F06937976C87}" srcOrd="1" destOrd="0" presId="urn:microsoft.com/office/officeart/2005/8/layout/hierarchy6"/>
    <dgm:cxn modelId="{F54DAC93-AB43-4AC4-AF81-E1BD9D1441F5}" type="presParOf" srcId="{ED2AD765-4D4B-4D2D-9BC9-F06937976C87}" destId="{EB035EEC-13E3-4327-9EC3-0EB06FE8BCBD}" srcOrd="0" destOrd="0" presId="urn:microsoft.com/office/officeart/2005/8/layout/hierarchy6"/>
    <dgm:cxn modelId="{5BDFC8A7-86E5-469A-8E03-4F5E9151D8A5}" type="presParOf" srcId="{ED2AD765-4D4B-4D2D-9BC9-F06937976C87}" destId="{F1048E28-9BB5-4574-B16F-CD33F7C89E38}" srcOrd="1" destOrd="0" presId="urn:microsoft.com/office/officeart/2005/8/layout/hierarchy6"/>
    <dgm:cxn modelId="{3F9D356F-7C79-4B84-8469-C1527237AE9D}" type="presParOf" srcId="{F1048E28-9BB5-4574-B16F-CD33F7C89E38}" destId="{EDCFA681-DE8F-45A9-A25B-8B9A715F4B2A}" srcOrd="0" destOrd="0" presId="urn:microsoft.com/office/officeart/2005/8/layout/hierarchy6"/>
    <dgm:cxn modelId="{359ABFAE-0D37-4D80-99C5-17D23F559577}" type="presParOf" srcId="{F1048E28-9BB5-4574-B16F-CD33F7C89E38}" destId="{C6AF939E-6E37-41D7-9C55-DDAC7F1F46F6}" srcOrd="1" destOrd="0" presId="urn:microsoft.com/office/officeart/2005/8/layout/hierarchy6"/>
    <dgm:cxn modelId="{55BA1BE5-2ED6-4550-802A-16587B5F7601}" type="presParOf" srcId="{ED2AD765-4D4B-4D2D-9BC9-F06937976C87}" destId="{EB7AA012-5D15-4144-8714-05706252613E}" srcOrd="2" destOrd="0" presId="urn:microsoft.com/office/officeart/2005/8/layout/hierarchy6"/>
    <dgm:cxn modelId="{63228492-12F6-401B-AE9C-09414FA666C5}" type="presParOf" srcId="{ED2AD765-4D4B-4D2D-9BC9-F06937976C87}" destId="{225673CF-CABC-432A-9D37-DE986EAE0783}" srcOrd="3" destOrd="0" presId="urn:microsoft.com/office/officeart/2005/8/layout/hierarchy6"/>
    <dgm:cxn modelId="{C3B61F0A-6B75-4B65-8AE8-9317F362BA34}" type="presParOf" srcId="{225673CF-CABC-432A-9D37-DE986EAE0783}" destId="{C742817A-84E3-468D-B771-F8EDAD1FA17A}" srcOrd="0" destOrd="0" presId="urn:microsoft.com/office/officeart/2005/8/layout/hierarchy6"/>
    <dgm:cxn modelId="{362EB453-3C0D-45A2-B1B3-E1CCE50C311C}" type="presParOf" srcId="{225673CF-CABC-432A-9D37-DE986EAE0783}" destId="{8AC6A874-71A2-4B68-A16D-E08752B07742}" srcOrd="1" destOrd="0" presId="urn:microsoft.com/office/officeart/2005/8/layout/hierarchy6"/>
    <dgm:cxn modelId="{4BB4AC25-D404-40EB-8377-602703AD1B43}" type="presParOf" srcId="{6CB90BE7-4426-402E-AB72-AEE3F2F4606A}" destId="{39D7E4EF-860B-4D65-822B-43AF92AAE48B}" srcOrd="2" destOrd="0" presId="urn:microsoft.com/office/officeart/2005/8/layout/hierarchy6"/>
    <dgm:cxn modelId="{D282150A-F053-4B78-AA0C-BC2B243132E9}" type="presParOf" srcId="{6CB90BE7-4426-402E-AB72-AEE3F2F4606A}" destId="{2FBAD812-0482-414C-A603-9F28A385423B}" srcOrd="3" destOrd="0" presId="urn:microsoft.com/office/officeart/2005/8/layout/hierarchy6"/>
    <dgm:cxn modelId="{06E0F164-DE8E-4E36-954B-49121AF28BD8}" type="presParOf" srcId="{2FBAD812-0482-414C-A603-9F28A385423B}" destId="{8391045A-2A11-4103-9E34-4DF9C5721FE9}" srcOrd="0" destOrd="0" presId="urn:microsoft.com/office/officeart/2005/8/layout/hierarchy6"/>
    <dgm:cxn modelId="{CF46F587-8E29-4BB9-ABF2-13FD8A0F619F}" type="presParOf" srcId="{2FBAD812-0482-414C-A603-9F28A385423B}" destId="{D4850FAA-731B-4C3D-8944-7C82074E020D}" srcOrd="1" destOrd="0" presId="urn:microsoft.com/office/officeart/2005/8/layout/hierarchy6"/>
    <dgm:cxn modelId="{4B769691-0116-429F-B533-CE0B912A921B}" type="presParOf" srcId="{D4850FAA-731B-4C3D-8944-7C82074E020D}" destId="{01D11738-0B22-493B-8074-BEA227F697AE}" srcOrd="0" destOrd="0" presId="urn:microsoft.com/office/officeart/2005/8/layout/hierarchy6"/>
    <dgm:cxn modelId="{212E12E0-0ADC-4E8A-B297-B66B05CCE978}" type="presParOf" srcId="{D4850FAA-731B-4C3D-8944-7C82074E020D}" destId="{F1291393-4E66-49BE-9A3D-1C2700CB098D}" srcOrd="1" destOrd="0" presId="urn:microsoft.com/office/officeart/2005/8/layout/hierarchy6"/>
    <dgm:cxn modelId="{A2D5FE81-8DAA-4D2D-9BED-E2E76DBE3A89}" type="presParOf" srcId="{F1291393-4E66-49BE-9A3D-1C2700CB098D}" destId="{40003DE6-0A4A-490B-A852-14AE712EE800}" srcOrd="0" destOrd="0" presId="urn:microsoft.com/office/officeart/2005/8/layout/hierarchy6"/>
    <dgm:cxn modelId="{D52C11AF-D6B2-457E-90EA-8F3B6AC42161}" type="presParOf" srcId="{F1291393-4E66-49BE-9A3D-1C2700CB098D}" destId="{7D5F72FC-1817-4F78-AFFA-544D5376F3C7}" srcOrd="1" destOrd="0" presId="urn:microsoft.com/office/officeart/2005/8/layout/hierarchy6"/>
    <dgm:cxn modelId="{B7EDBDC3-3E8D-4819-897E-33664D58BEE5}" type="presParOf" srcId="{D4850FAA-731B-4C3D-8944-7C82074E020D}" destId="{EC3F024C-9E5C-4537-8D89-9647308E87AB}" srcOrd="2" destOrd="0" presId="urn:microsoft.com/office/officeart/2005/8/layout/hierarchy6"/>
    <dgm:cxn modelId="{C7459608-8A7C-41E6-B814-E6EB10EDE897}" type="presParOf" srcId="{D4850FAA-731B-4C3D-8944-7C82074E020D}" destId="{9C0FF7C9-DCD3-4C41-8BF7-128F2108E053}" srcOrd="3" destOrd="0" presId="urn:microsoft.com/office/officeart/2005/8/layout/hierarchy6"/>
    <dgm:cxn modelId="{0A5ABC8B-1B95-4B39-A85D-438851ACFC14}" type="presParOf" srcId="{9C0FF7C9-DCD3-4C41-8BF7-128F2108E053}" destId="{1AC1E41C-4344-46CC-AEE0-474C3241907C}" srcOrd="0" destOrd="0" presId="urn:microsoft.com/office/officeart/2005/8/layout/hierarchy6"/>
    <dgm:cxn modelId="{C62E86E4-B7A8-4598-9ED2-037350B21355}" type="presParOf" srcId="{9C0FF7C9-DCD3-4C41-8BF7-128F2108E053}" destId="{2DA8F90C-4434-4413-9D24-D1EDC874D7B2}" srcOrd="1" destOrd="0" presId="urn:microsoft.com/office/officeart/2005/8/layout/hierarchy6"/>
    <dgm:cxn modelId="{E9E1EE35-C5B1-44BE-94F8-0C5F5A092609}" type="presParOf" srcId="{29BE706F-453F-4CF0-A022-4CCAA08975FF}" destId="{51DB06D6-257D-4207-9A8B-45ED8494117D}" srcOrd="1" destOrd="0" presId="urn:microsoft.com/office/officeart/2005/8/layout/hierarchy6"/>
    <dgm:cxn modelId="{2810F72E-E9CA-49C5-B762-2BC4D06E066C}" type="presParOf" srcId="{51DB06D6-257D-4207-9A8B-45ED8494117D}" destId="{71027442-FE00-4D9B-8659-30F4ED26FF71}" srcOrd="0" destOrd="0" presId="urn:microsoft.com/office/officeart/2005/8/layout/hierarchy6"/>
    <dgm:cxn modelId="{4AD25DA1-CEA6-45C8-9F69-B3A31FE198C4}" type="presParOf" srcId="{71027442-FE00-4D9B-8659-30F4ED26FF71}" destId="{362040F3-DB3E-48D1-8BEA-93FCBC64EA52}" srcOrd="0" destOrd="0" presId="urn:microsoft.com/office/officeart/2005/8/layout/hierarchy6"/>
    <dgm:cxn modelId="{AB35C6C4-587F-4761-B14F-A159AAF1AC25}" type="presParOf" srcId="{71027442-FE00-4D9B-8659-30F4ED26FF71}" destId="{E784A015-C212-4595-8298-F1FA651CDF0E}" srcOrd="1" destOrd="0" presId="urn:microsoft.com/office/officeart/2005/8/layout/hierarchy6"/>
    <dgm:cxn modelId="{775C74A6-09C4-419E-8A65-A764075CDD78}" type="presParOf" srcId="{51DB06D6-257D-4207-9A8B-45ED8494117D}" destId="{08AD6562-E1D9-4736-BAB0-E67EC2BC7B41}" srcOrd="1" destOrd="0" presId="urn:microsoft.com/office/officeart/2005/8/layout/hierarchy6"/>
    <dgm:cxn modelId="{1C2A40F1-17C3-4A5E-A9D1-4F0010453490}" type="presParOf" srcId="{08AD6562-E1D9-4736-BAB0-E67EC2BC7B41}" destId="{F57F11B4-3999-4591-B239-3491CAF88CDA}" srcOrd="0" destOrd="0" presId="urn:microsoft.com/office/officeart/2005/8/layout/hierarchy6"/>
    <dgm:cxn modelId="{00AF6E55-BFC0-4EB8-9208-BD684842C624}" type="presParOf" srcId="{51DB06D6-257D-4207-9A8B-45ED8494117D}" destId="{999ADD52-309B-4B94-B5DE-19A3DC70674A}" srcOrd="2" destOrd="0" presId="urn:microsoft.com/office/officeart/2005/8/layout/hierarchy6"/>
    <dgm:cxn modelId="{E65B0D66-9524-4BB0-BC52-E3EC845F79BF}" type="presParOf" srcId="{999ADD52-309B-4B94-B5DE-19A3DC70674A}" destId="{9299B391-A826-44B6-8EA0-0DFB0D7DCA29}" srcOrd="0" destOrd="0" presId="urn:microsoft.com/office/officeart/2005/8/layout/hierarchy6"/>
    <dgm:cxn modelId="{E2EDEB1C-91B4-485B-985C-2B3C44E46ECD}" type="presParOf" srcId="{999ADD52-309B-4B94-B5DE-19A3DC70674A}" destId="{77D03152-0027-43E0-95AF-3CBB62EAB7FA}" srcOrd="1" destOrd="0" presId="urn:microsoft.com/office/officeart/2005/8/layout/hierarchy6"/>
    <dgm:cxn modelId="{C40D8135-08DA-409B-B886-1D3BF815579D}" type="presParOf" srcId="{51DB06D6-257D-4207-9A8B-45ED8494117D}" destId="{45F1DD5A-0698-47A9-977F-984EBC80C5D7}" srcOrd="3" destOrd="0" presId="urn:microsoft.com/office/officeart/2005/8/layout/hierarchy6"/>
    <dgm:cxn modelId="{751F1D78-AC8E-4264-90B9-06623A1B478D}" type="presParOf" srcId="{45F1DD5A-0698-47A9-977F-984EBC80C5D7}" destId="{14034CFA-B483-4C6E-94D6-2C235192C6D6}" srcOrd="0" destOrd="0" presId="urn:microsoft.com/office/officeart/2005/8/layout/hierarchy6"/>
    <dgm:cxn modelId="{0533B132-AFB6-4D8B-9D17-7EB436CFF7EF}" type="presParOf" srcId="{51DB06D6-257D-4207-9A8B-45ED8494117D}" destId="{DFCA5153-49F9-49CD-9BBD-40C66BB1B9FE}" srcOrd="4" destOrd="0" presId="urn:microsoft.com/office/officeart/2005/8/layout/hierarchy6"/>
    <dgm:cxn modelId="{81FBE5DA-4A51-48B2-AF15-346CD8E32D42}" type="presParOf" srcId="{DFCA5153-49F9-49CD-9BBD-40C66BB1B9FE}" destId="{D534B7CC-1AF7-444D-8AD5-A95F735C6B7A}" srcOrd="0" destOrd="0" presId="urn:microsoft.com/office/officeart/2005/8/layout/hierarchy6"/>
    <dgm:cxn modelId="{8BAA200B-C7B9-486F-90E9-0535256C1491}" type="presParOf" srcId="{DFCA5153-49F9-49CD-9BBD-40C66BB1B9FE}" destId="{CE7F9E37-3357-4533-A194-582D51597647}" srcOrd="1" destOrd="0" presId="urn:microsoft.com/office/officeart/2005/8/layout/hierarchy6"/>
    <dgm:cxn modelId="{893A3B07-5C54-4800-B064-ED59A7DB47C5}" type="presParOf" srcId="{51DB06D6-257D-4207-9A8B-45ED8494117D}" destId="{0C7CE0A8-D590-4D6D-9F8D-7F8F4931C31D}" srcOrd="5" destOrd="0" presId="urn:microsoft.com/office/officeart/2005/8/layout/hierarchy6"/>
    <dgm:cxn modelId="{6871D806-B026-4006-A982-5BB1F5CA68FC}" type="presParOf" srcId="{0C7CE0A8-D590-4D6D-9F8D-7F8F4931C31D}" destId="{60005E80-6E63-4B2A-9434-9519A8146FDD}" srcOrd="0" destOrd="0" presId="urn:microsoft.com/office/officeart/2005/8/layout/hierarchy6"/>
    <dgm:cxn modelId="{9E7A406E-CE2D-4671-896E-56C66BB60CBC}" type="presParOf" srcId="{51DB06D6-257D-4207-9A8B-45ED8494117D}" destId="{61F6D35C-9568-4552-80C9-DA79E8936609}" srcOrd="6" destOrd="0" presId="urn:microsoft.com/office/officeart/2005/8/layout/hierarchy6"/>
    <dgm:cxn modelId="{6AD0895B-970D-4B0B-A5A3-159277CB7DC0}" type="presParOf" srcId="{61F6D35C-9568-4552-80C9-DA79E8936609}" destId="{53CA5D39-8C4F-4491-8B24-3421933C1A46}" srcOrd="0" destOrd="0" presId="urn:microsoft.com/office/officeart/2005/8/layout/hierarchy6"/>
    <dgm:cxn modelId="{2F6C161A-720F-4E79-BF1D-A3DF179D3CDF}" type="presParOf" srcId="{61F6D35C-9568-4552-80C9-DA79E8936609}" destId="{BFA76291-7BF4-43F2-B8E3-1AF13E9D35B4}"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5E8644-40F5-47FC-B59F-921D09613C26}">
      <dsp:nvSpPr>
        <dsp:cNvPr id="0" name=""/>
        <dsp:cNvSpPr/>
      </dsp:nvSpPr>
      <dsp:spPr>
        <a:xfrm>
          <a:off x="5862938" y="2859730"/>
          <a:ext cx="1329521" cy="316365"/>
        </a:xfrm>
        <a:custGeom>
          <a:avLst/>
          <a:gdLst/>
          <a:ahLst/>
          <a:cxnLst/>
          <a:rect l="0" t="0" r="0" b="0"/>
          <a:pathLst>
            <a:path>
              <a:moveTo>
                <a:pt x="0" y="0"/>
              </a:moveTo>
              <a:lnTo>
                <a:pt x="0" y="215593"/>
              </a:lnTo>
              <a:lnTo>
                <a:pt x="1329521" y="215593"/>
              </a:lnTo>
              <a:lnTo>
                <a:pt x="1329521" y="316365"/>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865C972-C977-47F7-9D10-EEAF02433A9F}">
      <dsp:nvSpPr>
        <dsp:cNvPr id="0" name=""/>
        <dsp:cNvSpPr/>
      </dsp:nvSpPr>
      <dsp:spPr>
        <a:xfrm>
          <a:off x="5817218" y="2859730"/>
          <a:ext cx="91440" cy="316365"/>
        </a:xfrm>
        <a:custGeom>
          <a:avLst/>
          <a:gdLst/>
          <a:ahLst/>
          <a:cxnLst/>
          <a:rect l="0" t="0" r="0" b="0"/>
          <a:pathLst>
            <a:path>
              <a:moveTo>
                <a:pt x="45720" y="0"/>
              </a:moveTo>
              <a:lnTo>
                <a:pt x="45720" y="316365"/>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D0A2739-FAF0-4E74-AE3B-3D15D0D31580}">
      <dsp:nvSpPr>
        <dsp:cNvPr id="0" name=""/>
        <dsp:cNvSpPr/>
      </dsp:nvSpPr>
      <dsp:spPr>
        <a:xfrm>
          <a:off x="4566453" y="2859730"/>
          <a:ext cx="1296484" cy="341957"/>
        </a:xfrm>
        <a:custGeom>
          <a:avLst/>
          <a:gdLst/>
          <a:ahLst/>
          <a:cxnLst/>
          <a:rect l="0" t="0" r="0" b="0"/>
          <a:pathLst>
            <a:path>
              <a:moveTo>
                <a:pt x="1296484" y="0"/>
              </a:moveTo>
              <a:lnTo>
                <a:pt x="1296484" y="241186"/>
              </a:lnTo>
              <a:lnTo>
                <a:pt x="0" y="241186"/>
              </a:lnTo>
              <a:lnTo>
                <a:pt x="0" y="341957"/>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9409728-6300-446B-AAC9-1438CE36F7B4}">
      <dsp:nvSpPr>
        <dsp:cNvPr id="0" name=""/>
        <dsp:cNvSpPr/>
      </dsp:nvSpPr>
      <dsp:spPr>
        <a:xfrm>
          <a:off x="3868657" y="1852617"/>
          <a:ext cx="1994281" cy="316365"/>
        </a:xfrm>
        <a:custGeom>
          <a:avLst/>
          <a:gdLst/>
          <a:ahLst/>
          <a:cxnLst/>
          <a:rect l="0" t="0" r="0" b="0"/>
          <a:pathLst>
            <a:path>
              <a:moveTo>
                <a:pt x="0" y="0"/>
              </a:moveTo>
              <a:lnTo>
                <a:pt x="0" y="215593"/>
              </a:lnTo>
              <a:lnTo>
                <a:pt x="1994281" y="215593"/>
              </a:lnTo>
              <a:lnTo>
                <a:pt x="1994281" y="316365"/>
              </a:lnTo>
            </a:path>
          </a:pathLst>
        </a:custGeom>
        <a:noFill/>
        <a:ln w="25400" cap="flat" cmpd="sng" algn="ctr">
          <a:solidFill>
            <a:schemeClr val="accent4">
              <a:tint val="99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F664827-90CB-4A4E-9029-64DDBF366C82}">
      <dsp:nvSpPr>
        <dsp:cNvPr id="0" name=""/>
        <dsp:cNvSpPr/>
      </dsp:nvSpPr>
      <dsp:spPr>
        <a:xfrm>
          <a:off x="1874375" y="2859730"/>
          <a:ext cx="1329521" cy="316365"/>
        </a:xfrm>
        <a:custGeom>
          <a:avLst/>
          <a:gdLst/>
          <a:ahLst/>
          <a:cxnLst/>
          <a:rect l="0" t="0" r="0" b="0"/>
          <a:pathLst>
            <a:path>
              <a:moveTo>
                <a:pt x="0" y="0"/>
              </a:moveTo>
              <a:lnTo>
                <a:pt x="0" y="215593"/>
              </a:lnTo>
              <a:lnTo>
                <a:pt x="1329521" y="215593"/>
              </a:lnTo>
              <a:lnTo>
                <a:pt x="1329521" y="316365"/>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D5A8991-C558-4008-830A-707E0CF5104E}">
      <dsp:nvSpPr>
        <dsp:cNvPr id="0" name=""/>
        <dsp:cNvSpPr/>
      </dsp:nvSpPr>
      <dsp:spPr>
        <a:xfrm>
          <a:off x="1789571" y="2859730"/>
          <a:ext cx="91440" cy="341957"/>
        </a:xfrm>
        <a:custGeom>
          <a:avLst/>
          <a:gdLst/>
          <a:ahLst/>
          <a:cxnLst/>
          <a:rect l="0" t="0" r="0" b="0"/>
          <a:pathLst>
            <a:path>
              <a:moveTo>
                <a:pt x="84804" y="0"/>
              </a:moveTo>
              <a:lnTo>
                <a:pt x="84804" y="241186"/>
              </a:lnTo>
              <a:lnTo>
                <a:pt x="45720" y="241186"/>
              </a:lnTo>
              <a:lnTo>
                <a:pt x="45720" y="341957"/>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39D2D77-F795-4ECD-9CFE-9EBF121CCD51}">
      <dsp:nvSpPr>
        <dsp:cNvPr id="0" name=""/>
        <dsp:cNvSpPr/>
      </dsp:nvSpPr>
      <dsp:spPr>
        <a:xfrm>
          <a:off x="544854" y="2859730"/>
          <a:ext cx="1329521" cy="316365"/>
        </a:xfrm>
        <a:custGeom>
          <a:avLst/>
          <a:gdLst/>
          <a:ahLst/>
          <a:cxnLst/>
          <a:rect l="0" t="0" r="0" b="0"/>
          <a:pathLst>
            <a:path>
              <a:moveTo>
                <a:pt x="1329521" y="0"/>
              </a:moveTo>
              <a:lnTo>
                <a:pt x="1329521" y="215593"/>
              </a:lnTo>
              <a:lnTo>
                <a:pt x="0" y="215593"/>
              </a:lnTo>
              <a:lnTo>
                <a:pt x="0" y="316365"/>
              </a:lnTo>
            </a:path>
          </a:pathLst>
        </a:custGeom>
        <a:noFill/>
        <a:ln w="25400" cap="flat" cmpd="sng" algn="ctr">
          <a:solidFill>
            <a:schemeClr val="accent4">
              <a:tint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A4DCFA2-CDF5-402A-A61E-799799C21D21}">
      <dsp:nvSpPr>
        <dsp:cNvPr id="0" name=""/>
        <dsp:cNvSpPr/>
      </dsp:nvSpPr>
      <dsp:spPr>
        <a:xfrm>
          <a:off x="1874375" y="1852617"/>
          <a:ext cx="1994281" cy="316365"/>
        </a:xfrm>
        <a:custGeom>
          <a:avLst/>
          <a:gdLst/>
          <a:ahLst/>
          <a:cxnLst/>
          <a:rect l="0" t="0" r="0" b="0"/>
          <a:pathLst>
            <a:path>
              <a:moveTo>
                <a:pt x="1994281" y="0"/>
              </a:moveTo>
              <a:lnTo>
                <a:pt x="1994281" y="215593"/>
              </a:lnTo>
              <a:lnTo>
                <a:pt x="0" y="215593"/>
              </a:lnTo>
              <a:lnTo>
                <a:pt x="0" y="316365"/>
              </a:lnTo>
            </a:path>
          </a:pathLst>
        </a:custGeom>
        <a:noFill/>
        <a:ln w="25400" cap="flat" cmpd="sng" algn="ctr">
          <a:solidFill>
            <a:schemeClr val="accent4">
              <a:tint val="99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7748B90-A7FC-45A0-94AE-63F4B89E0E8E}">
      <dsp:nvSpPr>
        <dsp:cNvPr id="0" name=""/>
        <dsp:cNvSpPr/>
      </dsp:nvSpPr>
      <dsp:spPr>
        <a:xfrm>
          <a:off x="3324762" y="1161871"/>
          <a:ext cx="1087790" cy="690746"/>
        </a:xfrm>
        <a:prstGeom prst="roundRect">
          <a:avLst>
            <a:gd name="adj" fmla="val 10000"/>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925FC60-4374-41E0-8D83-3F3C76CC046E}">
      <dsp:nvSpPr>
        <dsp:cNvPr id="0" name=""/>
        <dsp:cNvSpPr/>
      </dsp:nvSpPr>
      <dsp:spPr>
        <a:xfrm>
          <a:off x="3445627" y="1276693"/>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kern="1200" dirty="0"/>
            <a:t>Триггеры</a:t>
          </a:r>
        </a:p>
      </dsp:txBody>
      <dsp:txXfrm>
        <a:off x="3465858" y="1296924"/>
        <a:ext cx="1047328" cy="650284"/>
      </dsp:txXfrm>
    </dsp:sp>
    <dsp:sp modelId="{C66A79F5-D79D-4C40-8F97-634C08E29B87}">
      <dsp:nvSpPr>
        <dsp:cNvPr id="0" name=""/>
        <dsp:cNvSpPr/>
      </dsp:nvSpPr>
      <dsp:spPr>
        <a:xfrm>
          <a:off x="1330480" y="2168983"/>
          <a:ext cx="1087790" cy="690746"/>
        </a:xfrm>
        <a:prstGeom prst="roundRect">
          <a:avLst>
            <a:gd name="adj" fmla="val 10000"/>
          </a:avLst>
        </a:prstGeom>
        <a:gradFill rotWithShape="0">
          <a:gsLst>
            <a:gs pos="0">
              <a:schemeClr val="accent4">
                <a:tint val="99000"/>
                <a:hueOff val="0"/>
                <a:satOff val="0"/>
                <a:lumOff val="0"/>
                <a:alphaOff val="0"/>
                <a:shade val="51000"/>
                <a:satMod val="130000"/>
              </a:schemeClr>
            </a:gs>
            <a:gs pos="80000">
              <a:schemeClr val="accent4">
                <a:tint val="99000"/>
                <a:hueOff val="0"/>
                <a:satOff val="0"/>
                <a:lumOff val="0"/>
                <a:alphaOff val="0"/>
                <a:shade val="93000"/>
                <a:satMod val="130000"/>
              </a:schemeClr>
            </a:gs>
            <a:gs pos="100000">
              <a:schemeClr val="accent4">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9CBF1A3-F0D4-4169-BB21-E986F5F40C33}">
      <dsp:nvSpPr>
        <dsp:cNvPr id="0" name=""/>
        <dsp:cNvSpPr/>
      </dsp:nvSpPr>
      <dsp:spPr>
        <a:xfrm>
          <a:off x="1451345" y="2283805"/>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99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b="0" kern="1200" dirty="0"/>
            <a:t>Время срабатывания</a:t>
          </a:r>
        </a:p>
      </dsp:txBody>
      <dsp:txXfrm>
        <a:off x="1471576" y="2304036"/>
        <a:ext cx="1047328" cy="650284"/>
      </dsp:txXfrm>
    </dsp:sp>
    <dsp:sp modelId="{830FEBC1-F46F-498D-9201-8708E25895AF}">
      <dsp:nvSpPr>
        <dsp:cNvPr id="0" name=""/>
        <dsp:cNvSpPr/>
      </dsp:nvSpPr>
      <dsp:spPr>
        <a:xfrm>
          <a:off x="959" y="3176095"/>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FC1332F-547E-43E1-925C-5F9CAED0A900}">
      <dsp:nvSpPr>
        <dsp:cNvPr id="0" name=""/>
        <dsp:cNvSpPr/>
      </dsp:nvSpPr>
      <dsp:spPr>
        <a:xfrm>
          <a:off x="121824" y="3290918"/>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kern="1200" dirty="0"/>
            <a:t> </a:t>
          </a:r>
          <a:r>
            <a:rPr lang="en-US" sz="1200" kern="1200" dirty="0"/>
            <a:t>FOR</a:t>
          </a:r>
          <a:endParaRPr lang="ru-RU" sz="1200" kern="1200" dirty="0"/>
        </a:p>
      </dsp:txBody>
      <dsp:txXfrm>
        <a:off x="142055" y="3311149"/>
        <a:ext cx="1047328" cy="650284"/>
      </dsp:txXfrm>
    </dsp:sp>
    <dsp:sp modelId="{25A6745A-5C48-41E0-85A8-15A31A0734DF}">
      <dsp:nvSpPr>
        <dsp:cNvPr id="0" name=""/>
        <dsp:cNvSpPr/>
      </dsp:nvSpPr>
      <dsp:spPr>
        <a:xfrm>
          <a:off x="1291396" y="3201687"/>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9E34B39-363F-4E2F-AD09-ED74D8EB1E74}">
      <dsp:nvSpPr>
        <dsp:cNvPr id="0" name=""/>
        <dsp:cNvSpPr/>
      </dsp:nvSpPr>
      <dsp:spPr>
        <a:xfrm>
          <a:off x="1412261" y="3316510"/>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AFTER</a:t>
          </a:r>
          <a:endParaRPr lang="ru-RU" sz="1200" kern="1200" dirty="0"/>
        </a:p>
      </dsp:txBody>
      <dsp:txXfrm>
        <a:off x="1432492" y="3336741"/>
        <a:ext cx="1047328" cy="650284"/>
      </dsp:txXfrm>
    </dsp:sp>
    <dsp:sp modelId="{38430EF1-B39F-4658-A2A0-482DCC4C1ACC}">
      <dsp:nvSpPr>
        <dsp:cNvPr id="0" name=""/>
        <dsp:cNvSpPr/>
      </dsp:nvSpPr>
      <dsp:spPr>
        <a:xfrm>
          <a:off x="2660001" y="3176095"/>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0BBF682-3A87-40EE-BE2B-3751F16B783F}">
      <dsp:nvSpPr>
        <dsp:cNvPr id="0" name=""/>
        <dsp:cNvSpPr/>
      </dsp:nvSpPr>
      <dsp:spPr>
        <a:xfrm>
          <a:off x="2780867" y="3290918"/>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INSTEAD OF</a:t>
          </a:r>
          <a:endParaRPr lang="ru-RU" sz="1200" kern="1200" dirty="0"/>
        </a:p>
      </dsp:txBody>
      <dsp:txXfrm>
        <a:off x="2801098" y="3311149"/>
        <a:ext cx="1047328" cy="650284"/>
      </dsp:txXfrm>
    </dsp:sp>
    <dsp:sp modelId="{59B5CAFE-B662-41CF-9EEF-7B84F9C8249F}">
      <dsp:nvSpPr>
        <dsp:cNvPr id="0" name=""/>
        <dsp:cNvSpPr/>
      </dsp:nvSpPr>
      <dsp:spPr>
        <a:xfrm>
          <a:off x="5319043" y="2168983"/>
          <a:ext cx="1087790" cy="690746"/>
        </a:xfrm>
        <a:prstGeom prst="roundRect">
          <a:avLst>
            <a:gd name="adj" fmla="val 10000"/>
          </a:avLst>
        </a:prstGeom>
        <a:gradFill rotWithShape="0">
          <a:gsLst>
            <a:gs pos="0">
              <a:schemeClr val="accent4">
                <a:tint val="99000"/>
                <a:hueOff val="0"/>
                <a:satOff val="0"/>
                <a:lumOff val="0"/>
                <a:alphaOff val="0"/>
                <a:shade val="51000"/>
                <a:satMod val="130000"/>
              </a:schemeClr>
            </a:gs>
            <a:gs pos="80000">
              <a:schemeClr val="accent4">
                <a:tint val="99000"/>
                <a:hueOff val="0"/>
                <a:satOff val="0"/>
                <a:lumOff val="0"/>
                <a:alphaOff val="0"/>
                <a:shade val="93000"/>
                <a:satMod val="130000"/>
              </a:schemeClr>
            </a:gs>
            <a:gs pos="100000">
              <a:schemeClr val="accent4">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728352F-CBA5-4419-943E-E2A4151FA84C}">
      <dsp:nvSpPr>
        <dsp:cNvPr id="0" name=""/>
        <dsp:cNvSpPr/>
      </dsp:nvSpPr>
      <dsp:spPr>
        <a:xfrm>
          <a:off x="5439909" y="2283805"/>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99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b="0" kern="1200" dirty="0"/>
            <a:t>События</a:t>
          </a:r>
        </a:p>
      </dsp:txBody>
      <dsp:txXfrm>
        <a:off x="5460140" y="2304036"/>
        <a:ext cx="1047328" cy="650284"/>
      </dsp:txXfrm>
    </dsp:sp>
    <dsp:sp modelId="{FC946AC1-CC69-478C-A60F-12A2965923EF}">
      <dsp:nvSpPr>
        <dsp:cNvPr id="0" name=""/>
        <dsp:cNvSpPr/>
      </dsp:nvSpPr>
      <dsp:spPr>
        <a:xfrm>
          <a:off x="4022558" y="3201687"/>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ADF22AE-C543-4994-8E8D-D6F5844DC332}">
      <dsp:nvSpPr>
        <dsp:cNvPr id="0" name=""/>
        <dsp:cNvSpPr/>
      </dsp:nvSpPr>
      <dsp:spPr>
        <a:xfrm>
          <a:off x="4143424" y="3316510"/>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INSERT</a:t>
          </a:r>
          <a:endParaRPr lang="ru-RU" sz="1200" kern="1200" dirty="0"/>
        </a:p>
      </dsp:txBody>
      <dsp:txXfrm>
        <a:off x="4163655" y="3336741"/>
        <a:ext cx="1047328" cy="650284"/>
      </dsp:txXfrm>
    </dsp:sp>
    <dsp:sp modelId="{C20B57E4-DFC5-41A4-958D-CD46BB7ABEB7}">
      <dsp:nvSpPr>
        <dsp:cNvPr id="0" name=""/>
        <dsp:cNvSpPr/>
      </dsp:nvSpPr>
      <dsp:spPr>
        <a:xfrm>
          <a:off x="5319043" y="3176095"/>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2486012-158A-49CE-A04D-BB7C75A3CB6E}">
      <dsp:nvSpPr>
        <dsp:cNvPr id="0" name=""/>
        <dsp:cNvSpPr/>
      </dsp:nvSpPr>
      <dsp:spPr>
        <a:xfrm>
          <a:off x="5439909" y="3290918"/>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UPDATE</a:t>
          </a:r>
          <a:endParaRPr lang="ru-RU" sz="1200" kern="1200" dirty="0"/>
        </a:p>
      </dsp:txBody>
      <dsp:txXfrm>
        <a:off x="5460140" y="3311149"/>
        <a:ext cx="1047328" cy="650284"/>
      </dsp:txXfrm>
    </dsp:sp>
    <dsp:sp modelId="{FC9AA495-187B-4D9C-8219-685B90CD66E6}">
      <dsp:nvSpPr>
        <dsp:cNvPr id="0" name=""/>
        <dsp:cNvSpPr/>
      </dsp:nvSpPr>
      <dsp:spPr>
        <a:xfrm>
          <a:off x="6648565" y="3176095"/>
          <a:ext cx="1087790" cy="690746"/>
        </a:xfrm>
        <a:prstGeom prst="roundRect">
          <a:avLst>
            <a:gd name="adj" fmla="val 10000"/>
          </a:avLst>
        </a:prstGeom>
        <a:gradFill rotWithShape="0">
          <a:gsLst>
            <a:gs pos="0">
              <a:schemeClr val="accent4">
                <a:tint val="80000"/>
                <a:hueOff val="0"/>
                <a:satOff val="0"/>
                <a:lumOff val="0"/>
                <a:alphaOff val="0"/>
                <a:shade val="51000"/>
                <a:satMod val="130000"/>
              </a:schemeClr>
            </a:gs>
            <a:gs pos="80000">
              <a:schemeClr val="accent4">
                <a:tint val="80000"/>
                <a:hueOff val="0"/>
                <a:satOff val="0"/>
                <a:lumOff val="0"/>
                <a:alphaOff val="0"/>
                <a:shade val="93000"/>
                <a:satMod val="130000"/>
              </a:schemeClr>
            </a:gs>
            <a:gs pos="100000">
              <a:schemeClr val="accent4">
                <a:tint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478DF27-C546-4C1D-BD1B-32273BFEEE4A}">
      <dsp:nvSpPr>
        <dsp:cNvPr id="0" name=""/>
        <dsp:cNvSpPr/>
      </dsp:nvSpPr>
      <dsp:spPr>
        <a:xfrm>
          <a:off x="6769430" y="3290918"/>
          <a:ext cx="1087790" cy="690746"/>
        </a:xfrm>
        <a:prstGeom prst="roundRect">
          <a:avLst>
            <a:gd name="adj" fmla="val 10000"/>
          </a:avLst>
        </a:prstGeom>
        <a:solidFill>
          <a:schemeClr val="lt1">
            <a:alpha val="90000"/>
            <a:hueOff val="0"/>
            <a:satOff val="0"/>
            <a:lumOff val="0"/>
            <a:alphaOff val="0"/>
          </a:schemeClr>
        </a:solidFill>
        <a:ln w="9525" cap="flat" cmpd="sng" algn="ctr">
          <a:solidFill>
            <a:schemeClr val="accent4">
              <a:tint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DELETE</a:t>
          </a:r>
          <a:endParaRPr lang="ru-RU" sz="1200" kern="1200" dirty="0"/>
        </a:p>
      </dsp:txBody>
      <dsp:txXfrm>
        <a:off x="6789661" y="3311149"/>
        <a:ext cx="1047328" cy="6502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A5D39-8C4F-4491-8B24-3421933C1A46}">
      <dsp:nvSpPr>
        <dsp:cNvPr id="0" name=""/>
        <dsp:cNvSpPr/>
      </dsp:nvSpPr>
      <dsp:spPr>
        <a:xfrm>
          <a:off x="0" y="3724152"/>
          <a:ext cx="8286808" cy="919317"/>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l" defTabSz="977900">
            <a:lnSpc>
              <a:spcPct val="90000"/>
            </a:lnSpc>
            <a:spcBef>
              <a:spcPct val="0"/>
            </a:spcBef>
            <a:spcAft>
              <a:spcPct val="35000"/>
            </a:spcAft>
            <a:buNone/>
          </a:pPr>
          <a:r>
            <a:rPr lang="en-US" sz="2200" kern="1200" dirty="0"/>
            <a:t>Leaf level</a:t>
          </a:r>
          <a:endParaRPr lang="ru-RU" sz="2200" kern="1200" dirty="0"/>
        </a:p>
      </dsp:txBody>
      <dsp:txXfrm>
        <a:off x="0" y="3724152"/>
        <a:ext cx="2486042" cy="919317"/>
      </dsp:txXfrm>
    </dsp:sp>
    <dsp:sp modelId="{D534B7CC-1AF7-444D-8AD5-A95F735C6B7A}">
      <dsp:nvSpPr>
        <dsp:cNvPr id="0" name=""/>
        <dsp:cNvSpPr/>
      </dsp:nvSpPr>
      <dsp:spPr>
        <a:xfrm>
          <a:off x="0" y="2398344"/>
          <a:ext cx="8286808" cy="944985"/>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Intermediate level</a:t>
          </a:r>
          <a:endParaRPr lang="ru-RU" sz="2200" kern="1200" dirty="0"/>
        </a:p>
      </dsp:txBody>
      <dsp:txXfrm>
        <a:off x="0" y="2398344"/>
        <a:ext cx="2486042" cy="944985"/>
      </dsp:txXfrm>
    </dsp:sp>
    <dsp:sp modelId="{9299B391-A826-44B6-8EA0-0DFB0D7DCA29}">
      <dsp:nvSpPr>
        <dsp:cNvPr id="0" name=""/>
        <dsp:cNvSpPr/>
      </dsp:nvSpPr>
      <dsp:spPr>
        <a:xfrm>
          <a:off x="0" y="1300140"/>
          <a:ext cx="8286808" cy="944985"/>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Intermediate level</a:t>
          </a:r>
          <a:endParaRPr lang="ru-RU" sz="2200" kern="1200" dirty="0"/>
        </a:p>
      </dsp:txBody>
      <dsp:txXfrm>
        <a:off x="0" y="1300140"/>
        <a:ext cx="2486042" cy="944985"/>
      </dsp:txXfrm>
    </dsp:sp>
    <dsp:sp modelId="{362040F3-DB3E-48D1-8BEA-93FCBC64EA52}">
      <dsp:nvSpPr>
        <dsp:cNvPr id="0" name=""/>
        <dsp:cNvSpPr/>
      </dsp:nvSpPr>
      <dsp:spPr>
        <a:xfrm>
          <a:off x="0" y="285418"/>
          <a:ext cx="8286808" cy="919317"/>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Root level</a:t>
          </a:r>
          <a:endParaRPr lang="ru-RU" sz="2200" kern="1200" dirty="0"/>
        </a:p>
      </dsp:txBody>
      <dsp:txXfrm>
        <a:off x="0" y="285418"/>
        <a:ext cx="2486042" cy="919317"/>
      </dsp:txXfrm>
    </dsp:sp>
    <dsp:sp modelId="{64F6DF3E-B7DD-4A60-97AB-4E0B8BFD152E}">
      <dsp:nvSpPr>
        <dsp:cNvPr id="0" name=""/>
        <dsp:cNvSpPr/>
      </dsp:nvSpPr>
      <dsp:spPr>
        <a:xfrm>
          <a:off x="4728983" y="304212"/>
          <a:ext cx="1149147" cy="766098"/>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kern="1200" dirty="0"/>
            <a:t>1-100</a:t>
          </a:r>
        </a:p>
      </dsp:txBody>
      <dsp:txXfrm>
        <a:off x="4751421" y="326650"/>
        <a:ext cx="1104271" cy="721222"/>
      </dsp:txXfrm>
    </dsp:sp>
    <dsp:sp modelId="{7590742A-B266-4114-B044-A8E23E0D5855}">
      <dsp:nvSpPr>
        <dsp:cNvPr id="0" name=""/>
        <dsp:cNvSpPr/>
      </dsp:nvSpPr>
      <dsp:spPr>
        <a:xfrm>
          <a:off x="3809665" y="1070310"/>
          <a:ext cx="1493891" cy="306439"/>
        </a:xfrm>
        <a:custGeom>
          <a:avLst/>
          <a:gdLst/>
          <a:ahLst/>
          <a:cxnLst/>
          <a:rect l="0" t="0" r="0" b="0"/>
          <a:pathLst>
            <a:path>
              <a:moveTo>
                <a:pt x="1493891" y="0"/>
              </a:moveTo>
              <a:lnTo>
                <a:pt x="1493891" y="153219"/>
              </a:lnTo>
              <a:lnTo>
                <a:pt x="0" y="153219"/>
              </a:lnTo>
              <a:lnTo>
                <a:pt x="0" y="306439"/>
              </a:lnTo>
            </a:path>
          </a:pathLst>
        </a:custGeom>
        <a:noFill/>
        <a:ln w="25400" cap="flat" cmpd="sng" algn="ctr">
          <a:solidFill>
            <a:schemeClr val="accent5">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823CC54-FC6F-4D5B-869F-0342B2082284}">
      <dsp:nvSpPr>
        <dsp:cNvPr id="0" name=""/>
        <dsp:cNvSpPr/>
      </dsp:nvSpPr>
      <dsp:spPr>
        <a:xfrm>
          <a:off x="3235092" y="1376749"/>
          <a:ext cx="1149147" cy="766098"/>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kern="1200" dirty="0"/>
            <a:t>1-50</a:t>
          </a:r>
        </a:p>
      </dsp:txBody>
      <dsp:txXfrm>
        <a:off x="3257530" y="1399187"/>
        <a:ext cx="1104271" cy="721222"/>
      </dsp:txXfrm>
    </dsp:sp>
    <dsp:sp modelId="{EB035EEC-13E3-4327-9EC3-0EB06FE8BCBD}">
      <dsp:nvSpPr>
        <dsp:cNvPr id="0" name=""/>
        <dsp:cNvSpPr/>
      </dsp:nvSpPr>
      <dsp:spPr>
        <a:xfrm>
          <a:off x="3046080" y="2142848"/>
          <a:ext cx="763585" cy="234824"/>
        </a:xfrm>
        <a:custGeom>
          <a:avLst/>
          <a:gdLst/>
          <a:ahLst/>
          <a:cxnLst/>
          <a:rect l="0" t="0" r="0" b="0"/>
          <a:pathLst>
            <a:path>
              <a:moveTo>
                <a:pt x="763585" y="0"/>
              </a:moveTo>
              <a:lnTo>
                <a:pt x="763585" y="117412"/>
              </a:lnTo>
              <a:lnTo>
                <a:pt x="0" y="117412"/>
              </a:lnTo>
              <a:lnTo>
                <a:pt x="0" y="234824"/>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DCFA681-DE8F-45A9-A25B-8B9A715F4B2A}">
      <dsp:nvSpPr>
        <dsp:cNvPr id="0" name=""/>
        <dsp:cNvSpPr/>
      </dsp:nvSpPr>
      <dsp:spPr>
        <a:xfrm>
          <a:off x="2471506" y="2377672"/>
          <a:ext cx="1149147" cy="76609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1-25</a:t>
          </a:r>
          <a:endParaRPr lang="ru-RU" sz="2500" kern="1200" dirty="0"/>
        </a:p>
      </dsp:txBody>
      <dsp:txXfrm>
        <a:off x="2493944" y="2400110"/>
        <a:ext cx="1104271" cy="721222"/>
      </dsp:txXfrm>
    </dsp:sp>
    <dsp:sp modelId="{EB7AA012-5D15-4144-8714-05706252613E}">
      <dsp:nvSpPr>
        <dsp:cNvPr id="0" name=""/>
        <dsp:cNvSpPr/>
      </dsp:nvSpPr>
      <dsp:spPr>
        <a:xfrm>
          <a:off x="3809665" y="2142848"/>
          <a:ext cx="746945" cy="306439"/>
        </a:xfrm>
        <a:custGeom>
          <a:avLst/>
          <a:gdLst/>
          <a:ahLst/>
          <a:cxnLst/>
          <a:rect l="0" t="0" r="0" b="0"/>
          <a:pathLst>
            <a:path>
              <a:moveTo>
                <a:pt x="0" y="0"/>
              </a:moveTo>
              <a:lnTo>
                <a:pt x="0" y="153219"/>
              </a:lnTo>
              <a:lnTo>
                <a:pt x="746945" y="153219"/>
              </a:lnTo>
              <a:lnTo>
                <a:pt x="746945" y="306439"/>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742817A-84E3-468D-B771-F8EDAD1FA17A}">
      <dsp:nvSpPr>
        <dsp:cNvPr id="0" name=""/>
        <dsp:cNvSpPr/>
      </dsp:nvSpPr>
      <dsp:spPr>
        <a:xfrm>
          <a:off x="3982037" y="2449287"/>
          <a:ext cx="1149147" cy="76609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26-50</a:t>
          </a:r>
          <a:endParaRPr lang="ru-RU" sz="2500" kern="1200" dirty="0"/>
        </a:p>
      </dsp:txBody>
      <dsp:txXfrm>
        <a:off x="4004475" y="2471725"/>
        <a:ext cx="1104271" cy="721222"/>
      </dsp:txXfrm>
    </dsp:sp>
    <dsp:sp modelId="{39D7E4EF-860B-4D65-822B-43AF92AAE48B}">
      <dsp:nvSpPr>
        <dsp:cNvPr id="0" name=""/>
        <dsp:cNvSpPr/>
      </dsp:nvSpPr>
      <dsp:spPr>
        <a:xfrm>
          <a:off x="5303557" y="1070310"/>
          <a:ext cx="1493891" cy="306439"/>
        </a:xfrm>
        <a:custGeom>
          <a:avLst/>
          <a:gdLst/>
          <a:ahLst/>
          <a:cxnLst/>
          <a:rect l="0" t="0" r="0" b="0"/>
          <a:pathLst>
            <a:path>
              <a:moveTo>
                <a:pt x="0" y="0"/>
              </a:moveTo>
              <a:lnTo>
                <a:pt x="0" y="153219"/>
              </a:lnTo>
              <a:lnTo>
                <a:pt x="1493891" y="153219"/>
              </a:lnTo>
              <a:lnTo>
                <a:pt x="1493891" y="306439"/>
              </a:lnTo>
            </a:path>
          </a:pathLst>
        </a:custGeom>
        <a:noFill/>
        <a:ln w="25400" cap="flat" cmpd="sng" algn="ctr">
          <a:solidFill>
            <a:schemeClr val="accent5">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391045A-2A11-4103-9E34-4DF9C5721FE9}">
      <dsp:nvSpPr>
        <dsp:cNvPr id="0" name=""/>
        <dsp:cNvSpPr/>
      </dsp:nvSpPr>
      <dsp:spPr>
        <a:xfrm>
          <a:off x="6222874" y="1376749"/>
          <a:ext cx="1149147" cy="766098"/>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u-RU" sz="2500" kern="1200" dirty="0"/>
            <a:t>51-100</a:t>
          </a:r>
        </a:p>
      </dsp:txBody>
      <dsp:txXfrm>
        <a:off x="6245312" y="1399187"/>
        <a:ext cx="1104271" cy="721222"/>
      </dsp:txXfrm>
    </dsp:sp>
    <dsp:sp modelId="{01D11738-0B22-493B-8074-BEA227F697AE}">
      <dsp:nvSpPr>
        <dsp:cNvPr id="0" name=""/>
        <dsp:cNvSpPr/>
      </dsp:nvSpPr>
      <dsp:spPr>
        <a:xfrm>
          <a:off x="6050502" y="2142848"/>
          <a:ext cx="746945" cy="306439"/>
        </a:xfrm>
        <a:custGeom>
          <a:avLst/>
          <a:gdLst/>
          <a:ahLst/>
          <a:cxnLst/>
          <a:rect l="0" t="0" r="0" b="0"/>
          <a:pathLst>
            <a:path>
              <a:moveTo>
                <a:pt x="746945" y="0"/>
              </a:moveTo>
              <a:lnTo>
                <a:pt x="746945" y="153219"/>
              </a:lnTo>
              <a:lnTo>
                <a:pt x="0" y="153219"/>
              </a:lnTo>
              <a:lnTo>
                <a:pt x="0" y="306439"/>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0003DE6-0A4A-490B-A852-14AE712EE800}">
      <dsp:nvSpPr>
        <dsp:cNvPr id="0" name=""/>
        <dsp:cNvSpPr/>
      </dsp:nvSpPr>
      <dsp:spPr>
        <a:xfrm>
          <a:off x="5475929" y="2449287"/>
          <a:ext cx="1149147" cy="76609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51-75</a:t>
          </a:r>
          <a:endParaRPr lang="ru-RU" sz="2500" kern="1200" dirty="0"/>
        </a:p>
      </dsp:txBody>
      <dsp:txXfrm>
        <a:off x="5498367" y="2471725"/>
        <a:ext cx="1104271" cy="721222"/>
      </dsp:txXfrm>
    </dsp:sp>
    <dsp:sp modelId="{EC3F024C-9E5C-4537-8D89-9647308E87AB}">
      <dsp:nvSpPr>
        <dsp:cNvPr id="0" name=""/>
        <dsp:cNvSpPr/>
      </dsp:nvSpPr>
      <dsp:spPr>
        <a:xfrm>
          <a:off x="6797448" y="2142848"/>
          <a:ext cx="746945" cy="306439"/>
        </a:xfrm>
        <a:custGeom>
          <a:avLst/>
          <a:gdLst/>
          <a:ahLst/>
          <a:cxnLst/>
          <a:rect l="0" t="0" r="0" b="0"/>
          <a:pathLst>
            <a:path>
              <a:moveTo>
                <a:pt x="0" y="0"/>
              </a:moveTo>
              <a:lnTo>
                <a:pt x="0" y="153219"/>
              </a:lnTo>
              <a:lnTo>
                <a:pt x="746945" y="153219"/>
              </a:lnTo>
              <a:lnTo>
                <a:pt x="746945" y="306439"/>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AC1E41C-4344-46CC-AEE0-474C3241907C}">
      <dsp:nvSpPr>
        <dsp:cNvPr id="0" name=""/>
        <dsp:cNvSpPr/>
      </dsp:nvSpPr>
      <dsp:spPr>
        <a:xfrm>
          <a:off x="6969820" y="2449287"/>
          <a:ext cx="1149147" cy="76609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76-100</a:t>
          </a:r>
          <a:endParaRPr lang="ru-RU" sz="2500" kern="1200" dirty="0"/>
        </a:p>
      </dsp:txBody>
      <dsp:txXfrm>
        <a:off x="6992258" y="2471725"/>
        <a:ext cx="1104271" cy="72122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FF2B9B-0DFA-4845-BD9B-901AF91C68CD}" type="datetimeFigureOut">
              <a:rPr lang="ru-RU" smtClean="0"/>
              <a:pPr/>
              <a:t>16.04.2026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A3527A-6151-4A98-A75F-4D4E0D307F3E}"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1</a:t>
            </a:fld>
            <a:endParaRPr lang="ru-R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39</a:t>
            </a:fld>
            <a:endParaRPr lang="ru-RU"/>
          </a:p>
        </p:txBody>
      </p:sp>
    </p:spTree>
    <p:extLst>
      <p:ext uri="{BB962C8B-B14F-4D97-AF65-F5344CB8AC3E}">
        <p14:creationId xmlns:p14="http://schemas.microsoft.com/office/powerpoint/2010/main" val="49224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https://learn.microsoft.com/ru-ru/SQL/relational-databases/system-stored-procedures/sp-updatestats-transact-sql?view=sql-server-ver15</a:t>
            </a:r>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46</a:t>
            </a:fld>
            <a:endParaRPr lang="ru-RU"/>
          </a:p>
        </p:txBody>
      </p:sp>
    </p:spTree>
    <p:extLst>
      <p:ext uri="{BB962C8B-B14F-4D97-AF65-F5344CB8AC3E}">
        <p14:creationId xmlns:p14="http://schemas.microsoft.com/office/powerpoint/2010/main" val="3616540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https://learn.microsoft.com/ru-ru/sql/t-sql/database-console-commands/dbcc-showcontig-transact-sql?view=sql-server-ver16&amp;viewFallbackFrom=aps-pdw-2016</a:t>
            </a:r>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47</a:t>
            </a:fld>
            <a:endParaRPr lang="ru-RU"/>
          </a:p>
        </p:txBody>
      </p:sp>
    </p:spTree>
    <p:extLst>
      <p:ext uri="{BB962C8B-B14F-4D97-AF65-F5344CB8AC3E}">
        <p14:creationId xmlns:p14="http://schemas.microsoft.com/office/powerpoint/2010/main" val="24411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https://learn.microsoft.com/ru-ru/sql/t-sql/database-console-commands/dbcc-freeproccache-transact-sql?view=sql-server-ver15</a:t>
            </a:r>
            <a:endParaRPr lang="ru-RU" dirty="0"/>
          </a:p>
        </p:txBody>
      </p:sp>
      <p:sp>
        <p:nvSpPr>
          <p:cNvPr id="4" name="Номер слайда 3"/>
          <p:cNvSpPr>
            <a:spLocks noGrp="1"/>
          </p:cNvSpPr>
          <p:nvPr>
            <p:ph type="sldNum" sz="quarter" idx="10"/>
          </p:nvPr>
        </p:nvSpPr>
        <p:spPr/>
        <p:txBody>
          <a:bodyPr/>
          <a:lstStyle/>
          <a:p>
            <a:fld id="{4DA3527A-6151-4A98-A75F-4D4E0D307F3E}" type="slidenum">
              <a:rPr lang="ru-RU" smtClean="0"/>
              <a:pPr/>
              <a:t>48</a:t>
            </a:fld>
            <a:endParaRPr lang="ru-RU"/>
          </a:p>
        </p:txBody>
      </p:sp>
    </p:spTree>
    <p:extLst>
      <p:ext uri="{BB962C8B-B14F-4D97-AF65-F5344CB8AC3E}">
        <p14:creationId xmlns:p14="http://schemas.microsoft.com/office/powerpoint/2010/main" val="1747228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6805E711-7C8E-4257-A76A-06F3D3C05320}" type="datetime1">
              <a:rPr lang="ru-RU" smtClean="0"/>
              <a:pPr/>
              <a:t>16.04.2026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lvl1pPr>
              <a:defRPr sz="2800"/>
            </a:lvl1pPr>
          </a:lstStyle>
          <a:p>
            <a:r>
              <a:rPr lang="ru-RU" dirty="0"/>
              <a:t>Образец заголовка</a:t>
            </a:r>
          </a:p>
        </p:txBody>
      </p:sp>
      <p:sp>
        <p:nvSpPr>
          <p:cNvPr id="3" name="Содержимое 2"/>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10"/>
          </p:nvPr>
        </p:nvSpPr>
        <p:spPr/>
        <p:txBody>
          <a:bodyPr/>
          <a:lstStyle/>
          <a:p>
            <a:fld id="{C82BC58E-C9F6-48FD-B9E5-AE933892D04A}" type="datetime1">
              <a:rPr lang="ru-RU" smtClean="0"/>
              <a:pPr/>
              <a:t>16.04.2026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F4011C0-8750-4E8D-9BD1-DF579FD696AD}" type="datetime1">
              <a:rPr lang="ru-RU" smtClean="0"/>
              <a:pPr/>
              <a:t>16.04.2026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E89A03D0-05CB-4C72-A911-D19BD413180A}" type="datetime1">
              <a:rPr lang="ru-RU" smtClean="0"/>
              <a:pPr/>
              <a:t>16.04.2026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4BE2FE4-6142-4F31-B490-D105260BC39F}" type="datetime1">
              <a:rPr lang="ru-RU" smtClean="0"/>
              <a:pPr/>
              <a:t>16.04.2026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6CF83CA6-27E9-4E4D-BCEE-D3820ACE1C26}" type="datetime1">
              <a:rPr lang="ru-RU" smtClean="0"/>
              <a:pPr/>
              <a:t>16.04.2026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CAC190E-BB99-4A28-8238-D9D556E7C487}" type="datetime1">
              <a:rPr lang="ru-RU" smtClean="0"/>
              <a:pPr/>
              <a:t>16.04.2026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027213BA-A1C1-4A50-93E6-D90B2774F18F}" type="datetime1">
              <a:rPr lang="ru-RU" smtClean="0"/>
              <a:pPr/>
              <a:t>16.04.2026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9020698-BAFC-4F5D-B55E-E7DC063F46C5}" type="datetime1">
              <a:rPr lang="ru-RU" smtClean="0"/>
              <a:pPr/>
              <a:t>16.04.2026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6854DA7-58E9-4D54-B46F-2E208CCEBF8D}" type="datetime1">
              <a:rPr lang="ru-RU" smtClean="0"/>
              <a:pPr/>
              <a:t>16.04.2026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1F3EBCA-EEA3-4401-B722-FC2FACC9B1D1}" type="datetime1">
              <a:rPr lang="ru-RU" smtClean="0"/>
              <a:pPr/>
              <a:t>16.04.2026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F87023B-4310-42C4-812D-874FAF4871B2}"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A15DA-5244-4B85-8402-67565CA01B9A}" type="datetime1">
              <a:rPr lang="ru-RU" smtClean="0"/>
              <a:pPr/>
              <a:t>16.04.2026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7023B-4310-42C4-812D-874FAF4871B2}"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14348" y="2928935"/>
            <a:ext cx="7772400" cy="1285884"/>
          </a:xfrm>
          <a:solidFill>
            <a:schemeClr val="tx2">
              <a:lumMod val="40000"/>
              <a:lumOff val="60000"/>
            </a:schemeClr>
          </a:solidFill>
        </p:spPr>
        <p:style>
          <a:lnRef idx="2">
            <a:schemeClr val="accent1"/>
          </a:lnRef>
          <a:fillRef idx="1">
            <a:schemeClr val="lt1"/>
          </a:fillRef>
          <a:effectRef idx="0">
            <a:schemeClr val="accent1"/>
          </a:effectRef>
          <a:fontRef idx="minor">
            <a:schemeClr val="dk1"/>
          </a:fontRef>
        </p:style>
        <p:txBody>
          <a:bodyPr>
            <a:normAutofit fontScale="90000"/>
          </a:bodyPr>
          <a:lstStyle/>
          <a:p>
            <a:r>
              <a:rPr kumimoji="0" lang="ru-RU" sz="4400" b="0" i="0" u="none" strike="noStrike" kern="1200" cap="none" spc="0" normalizeH="0" baseline="0" noProof="0" dirty="0">
                <a:ln>
                  <a:noFill/>
                </a:ln>
                <a:solidFill>
                  <a:schemeClr val="tx1"/>
                </a:solidFill>
                <a:effectLst/>
                <a:uLnTx/>
                <a:uFillTx/>
                <a:latin typeface="+mj-lt"/>
                <a:ea typeface="+mj-ea"/>
                <a:cs typeface="+mj-cs"/>
              </a:rPr>
              <a:t>Хранимые</a:t>
            </a:r>
            <a:r>
              <a:rPr kumimoji="0" lang="ru-RU" sz="4400" b="0" i="0" u="none" strike="noStrike" kern="1200" cap="none" spc="0" normalizeH="0" noProof="0" dirty="0">
                <a:ln>
                  <a:noFill/>
                </a:ln>
                <a:solidFill>
                  <a:schemeClr val="tx1"/>
                </a:solidFill>
                <a:effectLst/>
                <a:uLnTx/>
                <a:uFillTx/>
                <a:latin typeface="+mj-lt"/>
                <a:ea typeface="+mj-ea"/>
                <a:cs typeface="+mj-cs"/>
              </a:rPr>
              <a:t> процедуры</a:t>
            </a:r>
            <a:br>
              <a:rPr kumimoji="0" lang="ru-RU" sz="4400" b="0" i="0" u="none" strike="noStrike" kern="1200" cap="none" spc="0" normalizeH="0" noProof="0" dirty="0">
                <a:ln>
                  <a:noFill/>
                </a:ln>
                <a:solidFill>
                  <a:schemeClr val="tx1"/>
                </a:solidFill>
                <a:effectLst/>
                <a:uLnTx/>
                <a:uFillTx/>
                <a:latin typeface="+mj-lt"/>
                <a:ea typeface="+mj-ea"/>
                <a:cs typeface="+mj-cs"/>
              </a:rPr>
            </a:br>
            <a:r>
              <a:rPr kumimoji="0" lang="ru-RU" sz="4400" b="0" i="0" u="none" strike="noStrike" kern="1200" cap="none" spc="0" normalizeH="0" noProof="0" dirty="0">
                <a:ln>
                  <a:noFill/>
                </a:ln>
                <a:solidFill>
                  <a:schemeClr val="tx1"/>
                </a:solidFill>
                <a:effectLst/>
                <a:uLnTx/>
                <a:uFillTx/>
                <a:latin typeface="+mj-lt"/>
                <a:ea typeface="+mj-ea"/>
                <a:cs typeface="+mj-cs"/>
              </a:rPr>
              <a:t>Триггеры</a:t>
            </a:r>
            <a:r>
              <a:rPr lang="ru-RU" b="1" dirty="0"/>
              <a:t> </a:t>
            </a:r>
          </a:p>
        </p:txBody>
      </p:sp>
      <p:pic>
        <p:nvPicPr>
          <p:cNvPr id="1026" name="Picture 2"/>
          <p:cNvPicPr>
            <a:picLocks noChangeAspect="1" noChangeArrowheads="1"/>
          </p:cNvPicPr>
          <p:nvPr/>
        </p:nvPicPr>
        <p:blipFill>
          <a:blip r:embed="rId3" cstate="print"/>
          <a:srcRect r="2299" b="-197"/>
          <a:stretch>
            <a:fillRect/>
          </a:stretch>
        </p:blipFill>
        <p:spPr bwMode="auto">
          <a:xfrm>
            <a:off x="642910" y="0"/>
            <a:ext cx="3643306" cy="2786058"/>
          </a:xfrm>
          <a:prstGeom prst="rect">
            <a:avLst/>
          </a:prstGeom>
          <a:noFill/>
          <a:ln w="9525">
            <a:noFill/>
            <a:miter lim="800000"/>
            <a:headEnd/>
            <a:tailEnd/>
          </a:ln>
          <a:effectLst/>
        </p:spPr>
      </p:pic>
      <p:pic>
        <p:nvPicPr>
          <p:cNvPr id="2050" name="Picture 2"/>
          <p:cNvPicPr>
            <a:picLocks noChangeAspect="1" noChangeArrowheads="1"/>
          </p:cNvPicPr>
          <p:nvPr/>
        </p:nvPicPr>
        <p:blipFill>
          <a:blip r:embed="rId4" cstate="print"/>
          <a:srcRect/>
          <a:stretch>
            <a:fillRect/>
          </a:stretch>
        </p:blipFill>
        <p:spPr bwMode="auto">
          <a:xfrm>
            <a:off x="642910" y="4429132"/>
            <a:ext cx="2478333" cy="2138363"/>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cstate="print"/>
          <a:srcRect/>
          <a:stretch>
            <a:fillRect/>
          </a:stretch>
        </p:blipFill>
        <p:spPr bwMode="auto">
          <a:xfrm>
            <a:off x="5643570" y="214290"/>
            <a:ext cx="2643206" cy="2577490"/>
          </a:xfrm>
          <a:prstGeom prst="rect">
            <a:avLst/>
          </a:prstGeom>
          <a:noFill/>
          <a:ln w="9525">
            <a:noFill/>
            <a:miter lim="800000"/>
            <a:headEnd/>
            <a:tailEnd/>
          </a:ln>
          <a:effectLst/>
        </p:spPr>
      </p:pic>
      <p:pic>
        <p:nvPicPr>
          <p:cNvPr id="7" name="Picture 2"/>
          <p:cNvPicPr>
            <a:picLocks noChangeAspect="1" noChangeArrowheads="1"/>
          </p:cNvPicPr>
          <p:nvPr/>
        </p:nvPicPr>
        <p:blipFill>
          <a:blip r:embed="rId6" cstate="print"/>
          <a:srcRect t="10756" r="1538"/>
          <a:stretch>
            <a:fillRect/>
          </a:stretch>
        </p:blipFill>
        <p:spPr bwMode="auto">
          <a:xfrm>
            <a:off x="4071934" y="4424813"/>
            <a:ext cx="4429156" cy="212461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2</a:t>
            </a:fld>
            <a:endParaRPr lang="ru-RU"/>
          </a:p>
        </p:txBody>
      </p:sp>
      <p:sp>
        <p:nvSpPr>
          <p:cNvPr id="3" name="Заголовок 1"/>
          <p:cNvSpPr txBox="1">
            <a:spLocks/>
          </p:cNvSpPr>
          <p:nvPr/>
        </p:nvSpPr>
        <p:spPr>
          <a:xfrm>
            <a:off x="428596" y="0"/>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600" b="0" i="0" u="none" strike="noStrike" kern="1200" cap="none" spc="0" normalizeH="0" baseline="0" noProof="0" dirty="0">
                <a:ln>
                  <a:noFill/>
                </a:ln>
                <a:solidFill>
                  <a:schemeClr val="tx1"/>
                </a:solidFill>
                <a:effectLst/>
                <a:uLnTx/>
                <a:uFillTx/>
                <a:latin typeface="+mj-lt"/>
                <a:ea typeface="+mj-ea"/>
                <a:cs typeface="+mj-cs"/>
              </a:rPr>
              <a:t>Хранимые</a:t>
            </a:r>
            <a:r>
              <a:rPr kumimoji="0" lang="ru-RU" sz="2600" b="0" i="0" u="none" strike="noStrike" kern="1200" cap="none" spc="0" normalizeH="0" noProof="0" dirty="0">
                <a:ln>
                  <a:noFill/>
                </a:ln>
                <a:solidFill>
                  <a:schemeClr val="tx1"/>
                </a:solidFill>
                <a:effectLst/>
                <a:uLnTx/>
                <a:uFillTx/>
                <a:latin typeface="+mj-lt"/>
                <a:ea typeface="+mj-ea"/>
                <a:cs typeface="+mj-cs"/>
              </a:rPr>
              <a:t> процедуры в </a:t>
            </a:r>
            <a:r>
              <a:rPr kumimoji="0" lang="en-US" sz="2600" b="0" i="0" u="none" strike="noStrike" kern="1200" cap="none" spc="0" normalizeH="0" noProof="0" dirty="0">
                <a:ln>
                  <a:noFill/>
                </a:ln>
                <a:solidFill>
                  <a:schemeClr val="tx1"/>
                </a:solidFill>
                <a:effectLst/>
                <a:uLnTx/>
                <a:uFillTx/>
                <a:latin typeface="+mj-lt"/>
                <a:ea typeface="+mj-ea"/>
                <a:cs typeface="+mj-cs"/>
              </a:rPr>
              <a:t>Transact</a:t>
            </a:r>
            <a:r>
              <a:rPr kumimoji="0" lang="en-US" sz="2600" b="0" i="0" u="none" strike="noStrike" kern="1200" cap="none" spc="0" normalizeH="0" noProof="0" dirty="0">
                <a:ln>
                  <a:noFill/>
                </a:ln>
                <a:solidFill>
                  <a:schemeClr val="tx1"/>
                </a:solidFill>
                <a:effectLst/>
                <a:uLnTx/>
                <a:uFillTx/>
                <a:latin typeface="Calibri"/>
                <a:ea typeface="+mj-ea"/>
                <a:cs typeface="Calibri"/>
                <a:sym typeface="Symbol"/>
              </a:rPr>
              <a:t>−</a:t>
            </a:r>
            <a:r>
              <a:rPr kumimoji="0" lang="en-US" sz="2600" b="0" i="0" u="none" strike="noStrike" kern="1200" cap="none" spc="0" normalizeH="0" noProof="0" dirty="0">
                <a:ln>
                  <a:noFill/>
                </a:ln>
                <a:solidFill>
                  <a:schemeClr val="tx1"/>
                </a:solidFill>
                <a:effectLst/>
                <a:uLnTx/>
                <a:uFillTx/>
                <a:latin typeface="+mj-lt"/>
                <a:ea typeface="+mj-ea"/>
                <a:cs typeface="+mj-cs"/>
              </a:rPr>
              <a:t>SQL</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TextBox 4"/>
          <p:cNvSpPr txBox="1"/>
          <p:nvPr/>
        </p:nvSpPr>
        <p:spPr>
          <a:xfrm>
            <a:off x="357158" y="571480"/>
            <a:ext cx="8429684" cy="646331"/>
          </a:xfrm>
          <a:prstGeom prst="rect">
            <a:avLst/>
          </a:prstGeom>
          <a:noFill/>
        </p:spPr>
        <p:txBody>
          <a:bodyPr wrap="square" rtlCol="0">
            <a:spAutoFit/>
          </a:bodyPr>
          <a:lstStyle/>
          <a:p>
            <a:r>
              <a:rPr lang="ru-RU" b="1" dirty="0"/>
              <a:t>Хранимая процедура (</a:t>
            </a:r>
            <a:r>
              <a:rPr lang="ru-RU" b="1" dirty="0" err="1"/>
              <a:t>Stored</a:t>
            </a:r>
            <a:r>
              <a:rPr lang="ru-RU" b="1" dirty="0"/>
              <a:t> </a:t>
            </a:r>
            <a:r>
              <a:rPr lang="ru-RU" b="1" dirty="0" err="1"/>
              <a:t>Procedure</a:t>
            </a:r>
            <a:r>
              <a:rPr lang="ru-RU" b="1" dirty="0"/>
              <a:t>) </a:t>
            </a:r>
            <a:r>
              <a:rPr lang="ru-RU" dirty="0"/>
              <a:t>– это именованный набор команд языка </a:t>
            </a:r>
            <a:r>
              <a:rPr lang="ru-RU" dirty="0" err="1"/>
              <a:t>Transact-SQL</a:t>
            </a:r>
            <a:r>
              <a:rPr lang="ru-RU" dirty="0"/>
              <a:t>, хранящийся на сервере в качестве самостоятельного объекта БД </a:t>
            </a:r>
          </a:p>
        </p:txBody>
      </p:sp>
      <p:sp>
        <p:nvSpPr>
          <p:cNvPr id="6" name="Прямоугольник 5"/>
          <p:cNvSpPr/>
          <p:nvPr/>
        </p:nvSpPr>
        <p:spPr>
          <a:xfrm>
            <a:off x="214282" y="2786058"/>
            <a:ext cx="1785950" cy="914400"/>
          </a:xfrm>
          <a:prstGeom prst="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Хранимые процедуры </a:t>
            </a:r>
          </a:p>
        </p:txBody>
      </p:sp>
      <p:sp>
        <p:nvSpPr>
          <p:cNvPr id="7" name="Скругленный прямоугольник 6"/>
          <p:cNvSpPr/>
          <p:nvPr/>
        </p:nvSpPr>
        <p:spPr>
          <a:xfrm>
            <a:off x="3214678" y="2214554"/>
            <a:ext cx="5643602" cy="642942"/>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выполняются быстрее, чем последовательность отдельных </a:t>
            </a:r>
            <a:r>
              <a:rPr lang="en-US" dirty="0">
                <a:solidFill>
                  <a:schemeClr val="accent6">
                    <a:lumMod val="50000"/>
                  </a:schemeClr>
                </a:solidFill>
              </a:rPr>
              <a:t>SQL</a:t>
            </a:r>
            <a:r>
              <a:rPr lang="ru-RU" dirty="0">
                <a:solidFill>
                  <a:schemeClr val="accent6">
                    <a:lumMod val="50000"/>
                  </a:schemeClr>
                </a:solidFill>
              </a:rPr>
              <a:t> команд</a:t>
            </a:r>
          </a:p>
        </p:txBody>
      </p:sp>
      <p:sp>
        <p:nvSpPr>
          <p:cNvPr id="8" name="Скругленный прямоугольник 7"/>
          <p:cNvSpPr/>
          <p:nvPr/>
        </p:nvSpPr>
        <p:spPr>
          <a:xfrm>
            <a:off x="3214678" y="1285860"/>
            <a:ext cx="5643602" cy="642942"/>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хранится на сервере БД</a:t>
            </a:r>
          </a:p>
        </p:txBody>
      </p:sp>
      <p:sp>
        <p:nvSpPr>
          <p:cNvPr id="9" name="Скругленный прямоугольник 8"/>
          <p:cNvSpPr/>
          <p:nvPr/>
        </p:nvSpPr>
        <p:spPr>
          <a:xfrm>
            <a:off x="3214678" y="3357562"/>
            <a:ext cx="5643602" cy="642942"/>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поддерживают модульное программирование</a:t>
            </a:r>
          </a:p>
        </p:txBody>
      </p:sp>
      <p:sp>
        <p:nvSpPr>
          <p:cNvPr id="10" name="Скругленный прямоугольник 9"/>
          <p:cNvSpPr/>
          <p:nvPr/>
        </p:nvSpPr>
        <p:spPr>
          <a:xfrm>
            <a:off x="3214678" y="4429132"/>
            <a:ext cx="5643602" cy="642942"/>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могут вызывать другие хранимые процедуры и функции</a:t>
            </a:r>
          </a:p>
        </p:txBody>
      </p:sp>
      <p:sp>
        <p:nvSpPr>
          <p:cNvPr id="11" name="Скругленный прямоугольник 10"/>
          <p:cNvSpPr/>
          <p:nvPr/>
        </p:nvSpPr>
        <p:spPr>
          <a:xfrm>
            <a:off x="3214678" y="5500702"/>
            <a:ext cx="5643602" cy="642942"/>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проще использовать</a:t>
            </a:r>
          </a:p>
        </p:txBody>
      </p:sp>
      <p:cxnSp>
        <p:nvCxnSpPr>
          <p:cNvPr id="12" name="Прямая со стрелкой 11"/>
          <p:cNvCxnSpPr/>
          <p:nvPr/>
        </p:nvCxnSpPr>
        <p:spPr>
          <a:xfrm flipV="1">
            <a:off x="2000232" y="1643050"/>
            <a:ext cx="1214447" cy="1214446"/>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1"/>
          </p:cNvCxnSpPr>
          <p:nvPr/>
        </p:nvCxnSpPr>
        <p:spPr>
          <a:xfrm flipV="1">
            <a:off x="2000232" y="2536025"/>
            <a:ext cx="1214446" cy="607224"/>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endCxn id="9" idx="1"/>
          </p:cNvCxnSpPr>
          <p:nvPr/>
        </p:nvCxnSpPr>
        <p:spPr>
          <a:xfrm>
            <a:off x="2000232" y="3286124"/>
            <a:ext cx="1214446" cy="392909"/>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endCxn id="10" idx="1"/>
          </p:cNvCxnSpPr>
          <p:nvPr/>
        </p:nvCxnSpPr>
        <p:spPr>
          <a:xfrm rot="16200000" flipH="1">
            <a:off x="1982372" y="3518297"/>
            <a:ext cx="1250166" cy="1214446"/>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endCxn id="11" idx="1"/>
          </p:cNvCxnSpPr>
          <p:nvPr/>
        </p:nvCxnSpPr>
        <p:spPr>
          <a:xfrm rot="16200000" flipH="1">
            <a:off x="1553744" y="4161239"/>
            <a:ext cx="2107422" cy="1214446"/>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Прямая со стрелкой 19"/>
          <p:cNvCxnSpPr>
            <a:endCxn id="17" idx="0"/>
          </p:cNvCxnSpPr>
          <p:nvPr/>
        </p:nvCxnSpPr>
        <p:spPr>
          <a:xfrm rot="16200000" flipH="1">
            <a:off x="5304239" y="2911074"/>
            <a:ext cx="1643074" cy="1393042"/>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p:nvPr/>
        </p:nvCxnSpPr>
        <p:spPr>
          <a:xfrm rot="5400000">
            <a:off x="2911067" y="3375423"/>
            <a:ext cx="1500199" cy="607223"/>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 name="Номер слайда 1"/>
          <p:cNvSpPr>
            <a:spLocks noGrp="1"/>
          </p:cNvSpPr>
          <p:nvPr>
            <p:ph type="sldNum" sz="quarter" idx="12"/>
          </p:nvPr>
        </p:nvSpPr>
        <p:spPr/>
        <p:txBody>
          <a:bodyPr/>
          <a:lstStyle/>
          <a:p>
            <a:fld id="{1F87023B-4310-42C4-812D-874FAF4871B2}" type="slidenum">
              <a:rPr lang="ru-RU" smtClean="0"/>
              <a:pPr/>
              <a:t>3</a:t>
            </a:fld>
            <a:endParaRPr lang="ru-RU"/>
          </a:p>
        </p:txBody>
      </p:sp>
      <p:sp>
        <p:nvSpPr>
          <p:cNvPr id="3" name="Заголовок 1"/>
          <p:cNvSpPr txBox="1">
            <a:spLocks/>
          </p:cNvSpPr>
          <p:nvPr/>
        </p:nvSpPr>
        <p:spPr>
          <a:xfrm>
            <a:off x="428596" y="0"/>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600" b="0" i="0" u="none" strike="noStrike" kern="1200" cap="none" spc="0" normalizeH="0" baseline="0" noProof="0" dirty="0">
                <a:ln>
                  <a:noFill/>
                </a:ln>
                <a:solidFill>
                  <a:schemeClr val="tx1"/>
                </a:solidFill>
                <a:effectLst/>
                <a:uLnTx/>
                <a:uFillTx/>
                <a:latin typeface="+mj-lt"/>
                <a:ea typeface="+mj-ea"/>
                <a:cs typeface="+mj-cs"/>
              </a:rPr>
              <a:t>Хранимые</a:t>
            </a:r>
            <a:r>
              <a:rPr kumimoji="0" lang="ru-RU" sz="2600" b="0" i="0" u="none" strike="noStrike" kern="1200" cap="none" spc="0" normalizeH="0" noProof="0" dirty="0">
                <a:ln>
                  <a:noFill/>
                </a:ln>
                <a:solidFill>
                  <a:schemeClr val="tx1"/>
                </a:solidFill>
                <a:effectLst/>
                <a:uLnTx/>
                <a:uFillTx/>
                <a:latin typeface="+mj-lt"/>
                <a:ea typeface="+mj-ea"/>
                <a:cs typeface="+mj-cs"/>
              </a:rPr>
              <a:t> процедуры в </a:t>
            </a:r>
            <a:r>
              <a:rPr kumimoji="0" lang="en-US" sz="2600" b="0" i="0" u="none" strike="noStrike" kern="1200" cap="none" spc="0" normalizeH="0" noProof="0" dirty="0">
                <a:ln>
                  <a:noFill/>
                </a:ln>
                <a:solidFill>
                  <a:schemeClr val="tx1"/>
                </a:solidFill>
                <a:effectLst/>
                <a:uLnTx/>
                <a:uFillTx/>
                <a:latin typeface="+mj-lt"/>
                <a:ea typeface="+mj-ea"/>
                <a:cs typeface="+mj-cs"/>
              </a:rPr>
              <a:t>Transact</a:t>
            </a:r>
            <a:r>
              <a:rPr kumimoji="0" lang="en-US" sz="2600" b="0" i="0" u="none" strike="noStrike" kern="1200" cap="none" spc="0" normalizeH="0" noProof="0" dirty="0">
                <a:ln>
                  <a:noFill/>
                </a:ln>
                <a:solidFill>
                  <a:schemeClr val="tx1"/>
                </a:solidFill>
                <a:effectLst/>
                <a:uLnTx/>
                <a:uFillTx/>
                <a:latin typeface="Calibri"/>
                <a:ea typeface="+mj-ea"/>
                <a:cs typeface="Calibri"/>
                <a:sym typeface="Symbol"/>
              </a:rPr>
              <a:t>−</a:t>
            </a:r>
            <a:r>
              <a:rPr kumimoji="0" lang="en-US" sz="2600" b="0" i="0" u="none" strike="noStrike" kern="1200" cap="none" spc="0" normalizeH="0" noProof="0" dirty="0">
                <a:ln>
                  <a:noFill/>
                </a:ln>
                <a:solidFill>
                  <a:schemeClr val="tx1"/>
                </a:solidFill>
                <a:effectLst/>
                <a:uLnTx/>
                <a:uFillTx/>
                <a:latin typeface="+mj-lt"/>
                <a:ea typeface="+mj-ea"/>
                <a:cs typeface="+mj-cs"/>
              </a:rPr>
              <a:t>SQL</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Скругленный прямоугольник 5"/>
          <p:cNvSpPr/>
          <p:nvPr/>
        </p:nvSpPr>
        <p:spPr>
          <a:xfrm>
            <a:off x="3428992" y="785794"/>
            <a:ext cx="2357454" cy="785818"/>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Типы хранимых процедур</a:t>
            </a:r>
          </a:p>
        </p:txBody>
      </p:sp>
      <p:sp>
        <p:nvSpPr>
          <p:cNvPr id="7" name="Скругленный прямоугольник 6"/>
          <p:cNvSpPr/>
          <p:nvPr/>
        </p:nvSpPr>
        <p:spPr>
          <a:xfrm>
            <a:off x="6500826" y="2143116"/>
            <a:ext cx="2357454" cy="785818"/>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Пользовательские процедуры</a:t>
            </a:r>
          </a:p>
        </p:txBody>
      </p:sp>
      <p:sp>
        <p:nvSpPr>
          <p:cNvPr id="8" name="Скругленный прямоугольник 7"/>
          <p:cNvSpPr/>
          <p:nvPr/>
        </p:nvSpPr>
        <p:spPr>
          <a:xfrm>
            <a:off x="3428992" y="2143116"/>
            <a:ext cx="2357454" cy="785818"/>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Временные процедуры</a:t>
            </a:r>
          </a:p>
        </p:txBody>
      </p:sp>
      <p:sp>
        <p:nvSpPr>
          <p:cNvPr id="9" name="Скругленный прямоугольник 8"/>
          <p:cNvSpPr/>
          <p:nvPr/>
        </p:nvSpPr>
        <p:spPr>
          <a:xfrm>
            <a:off x="214282" y="2143116"/>
            <a:ext cx="2357454" cy="785818"/>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Системные процедуры </a:t>
            </a:r>
          </a:p>
        </p:txBody>
      </p:sp>
      <p:sp>
        <p:nvSpPr>
          <p:cNvPr id="10" name="Скругленный прямоугольник 9"/>
          <p:cNvSpPr/>
          <p:nvPr/>
        </p:nvSpPr>
        <p:spPr>
          <a:xfrm>
            <a:off x="214282" y="3143248"/>
            <a:ext cx="2357454" cy="1571636"/>
          </a:xfrm>
          <a:prstGeom prst="roundRect">
            <a:avLst/>
          </a:prstGeom>
          <a:solidFill>
            <a:schemeClr val="accent3">
              <a:lumMod val="40000"/>
              <a:lumOff val="60000"/>
            </a:schemeClr>
          </a:solid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200" dirty="0">
                <a:solidFill>
                  <a:schemeClr val="accent6">
                    <a:lumMod val="50000"/>
                  </a:schemeClr>
                </a:solidFill>
              </a:rPr>
              <a:t>хранятся в базе данных </a:t>
            </a:r>
            <a:r>
              <a:rPr lang="ru-RU" sz="1200" dirty="0" err="1">
                <a:solidFill>
                  <a:schemeClr val="accent6">
                    <a:lumMod val="50000"/>
                  </a:schemeClr>
                </a:solidFill>
              </a:rPr>
              <a:t>master</a:t>
            </a:r>
            <a:r>
              <a:rPr lang="ru-RU" sz="1200" dirty="0">
                <a:solidFill>
                  <a:schemeClr val="accent6">
                    <a:lumMod val="50000"/>
                  </a:schemeClr>
                </a:solidFill>
              </a:rPr>
              <a:t>. Названия системных процедур начинаются с префикса </a:t>
            </a:r>
            <a:r>
              <a:rPr lang="ru-RU" sz="1200" b="1" dirty="0" err="1">
                <a:solidFill>
                  <a:schemeClr val="accent6">
                    <a:lumMod val="50000"/>
                  </a:schemeClr>
                </a:solidFill>
              </a:rPr>
              <a:t>sp_</a:t>
            </a:r>
            <a:r>
              <a:rPr lang="ru-RU" sz="1200" dirty="0">
                <a:solidFill>
                  <a:schemeClr val="accent6">
                    <a:lumMod val="50000"/>
                  </a:schemeClr>
                </a:solidFill>
              </a:rPr>
              <a:t> ,  потому этот префикс не рекомендуется использовать при создании пользовательских процедур. </a:t>
            </a:r>
          </a:p>
        </p:txBody>
      </p:sp>
      <p:sp>
        <p:nvSpPr>
          <p:cNvPr id="11" name="Скругленный прямоугольник 10"/>
          <p:cNvSpPr/>
          <p:nvPr/>
        </p:nvSpPr>
        <p:spPr>
          <a:xfrm>
            <a:off x="6500826" y="3143248"/>
            <a:ext cx="2357454" cy="714380"/>
          </a:xfrm>
          <a:prstGeom prst="roundRect">
            <a:avLst/>
          </a:prstGeom>
          <a:solidFill>
            <a:schemeClr val="accent3">
              <a:lumMod val="40000"/>
              <a:lumOff val="60000"/>
            </a:schemeClr>
          </a:solid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200" dirty="0">
                <a:solidFill>
                  <a:schemeClr val="accent6">
                    <a:lumMod val="50000"/>
                  </a:schemeClr>
                </a:solidFill>
              </a:rPr>
              <a:t>могут быть созданы в пользовательской базе данных.</a:t>
            </a:r>
          </a:p>
        </p:txBody>
      </p:sp>
      <p:sp>
        <p:nvSpPr>
          <p:cNvPr id="13" name="Скругленный прямоугольник 12"/>
          <p:cNvSpPr/>
          <p:nvPr/>
        </p:nvSpPr>
        <p:spPr>
          <a:xfrm>
            <a:off x="3428992" y="3071810"/>
            <a:ext cx="2357454" cy="857256"/>
          </a:xfrm>
          <a:prstGeom prst="roundRect">
            <a:avLst/>
          </a:prstGeom>
          <a:solidFill>
            <a:schemeClr val="accent3">
              <a:lumMod val="40000"/>
              <a:lumOff val="60000"/>
            </a:schemeClr>
          </a:solid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200" dirty="0">
                <a:solidFill>
                  <a:schemeClr val="accent6">
                    <a:lumMod val="50000"/>
                  </a:schemeClr>
                </a:solidFill>
              </a:rPr>
              <a:t>являются одним из видов пользовательских процедур. Хранятся в базе данных </a:t>
            </a:r>
            <a:r>
              <a:rPr lang="ru-RU" sz="1200" dirty="0" err="1">
                <a:solidFill>
                  <a:schemeClr val="accent6">
                    <a:lumMod val="50000"/>
                  </a:schemeClr>
                </a:solidFill>
              </a:rPr>
              <a:t>tempdb</a:t>
            </a:r>
            <a:r>
              <a:rPr lang="ru-RU" sz="1200" dirty="0">
                <a:solidFill>
                  <a:schemeClr val="accent6">
                    <a:lumMod val="50000"/>
                  </a:schemeClr>
                </a:solidFill>
              </a:rPr>
              <a:t>. </a:t>
            </a:r>
          </a:p>
        </p:txBody>
      </p:sp>
      <p:sp>
        <p:nvSpPr>
          <p:cNvPr id="16" name="Скругленный прямоугольник 15"/>
          <p:cNvSpPr/>
          <p:nvPr/>
        </p:nvSpPr>
        <p:spPr>
          <a:xfrm>
            <a:off x="2786050" y="4429132"/>
            <a:ext cx="2357454" cy="928694"/>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Временные локальные процедуры</a:t>
            </a:r>
          </a:p>
        </p:txBody>
      </p:sp>
      <p:sp>
        <p:nvSpPr>
          <p:cNvPr id="17" name="Скругленный прямоугольник 16"/>
          <p:cNvSpPr/>
          <p:nvPr/>
        </p:nvSpPr>
        <p:spPr>
          <a:xfrm>
            <a:off x="5643570" y="4429132"/>
            <a:ext cx="2357454" cy="928694"/>
          </a:xfrm>
          <a:prstGeom prst="roundRect">
            <a:avLst/>
          </a:prstGeom>
          <a:solidFill>
            <a:schemeClr val="accent3">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6">
                    <a:lumMod val="50000"/>
                  </a:schemeClr>
                </a:solidFill>
              </a:rPr>
              <a:t>Временные глобальные  процедуры</a:t>
            </a:r>
          </a:p>
        </p:txBody>
      </p:sp>
      <p:cxnSp>
        <p:nvCxnSpPr>
          <p:cNvPr id="22" name="Прямая со стрелкой 21"/>
          <p:cNvCxnSpPr/>
          <p:nvPr/>
        </p:nvCxnSpPr>
        <p:spPr>
          <a:xfrm rot="10800000" flipV="1">
            <a:off x="1785919" y="1571612"/>
            <a:ext cx="1893107" cy="571506"/>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p:cNvCxnSpPr>
            <a:endCxn id="8" idx="0"/>
          </p:cNvCxnSpPr>
          <p:nvPr/>
        </p:nvCxnSpPr>
        <p:spPr>
          <a:xfrm rot="5400000">
            <a:off x="4321968" y="1857364"/>
            <a:ext cx="571504" cy="1"/>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endCxn id="7" idx="0"/>
          </p:cNvCxnSpPr>
          <p:nvPr/>
        </p:nvCxnSpPr>
        <p:spPr>
          <a:xfrm>
            <a:off x="5464976" y="1571612"/>
            <a:ext cx="2214577" cy="571504"/>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Скругленный прямоугольник 32"/>
          <p:cNvSpPr/>
          <p:nvPr/>
        </p:nvSpPr>
        <p:spPr>
          <a:xfrm>
            <a:off x="2714612" y="5500702"/>
            <a:ext cx="2500330" cy="1071570"/>
          </a:xfrm>
          <a:prstGeom prst="roundRect">
            <a:avLst/>
          </a:prstGeom>
          <a:solidFill>
            <a:schemeClr val="accent3">
              <a:lumMod val="40000"/>
              <a:lumOff val="60000"/>
            </a:schemeClr>
          </a:solid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200" dirty="0">
                <a:solidFill>
                  <a:schemeClr val="accent6">
                    <a:lumMod val="50000"/>
                  </a:schemeClr>
                </a:solidFill>
              </a:rPr>
              <a:t>Имена начинаются с одного знака диеза (#); они видны только текущему соединению пользователя и удаляются, когда закрывается соединение.</a:t>
            </a:r>
          </a:p>
        </p:txBody>
      </p:sp>
      <p:sp>
        <p:nvSpPr>
          <p:cNvPr id="34" name="Скругленный прямоугольник 33"/>
          <p:cNvSpPr/>
          <p:nvPr/>
        </p:nvSpPr>
        <p:spPr>
          <a:xfrm>
            <a:off x="5643570" y="5500702"/>
            <a:ext cx="2571768" cy="1071570"/>
          </a:xfrm>
          <a:prstGeom prst="roundRect">
            <a:avLst/>
          </a:prstGeom>
          <a:solidFill>
            <a:schemeClr val="accent3">
              <a:lumMod val="40000"/>
              <a:lumOff val="60000"/>
            </a:schemeClr>
          </a:solidFill>
          <a:ln>
            <a:solidFill>
              <a:schemeClr val="accent6">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200" dirty="0">
                <a:solidFill>
                  <a:schemeClr val="accent6">
                    <a:lumMod val="50000"/>
                  </a:schemeClr>
                </a:solidFill>
              </a:rPr>
              <a:t>Имена начинаются с двух знаков диеза (##); они видны любому пользователю и удаляются после окончания последнего сеанса, использующего процедуру.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4</a:t>
            </a:fld>
            <a:endParaRPr lang="ru-RU" dirty="0"/>
          </a:p>
        </p:txBody>
      </p:sp>
      <p:sp>
        <p:nvSpPr>
          <p:cNvPr id="3" name="TextBox 2"/>
          <p:cNvSpPr txBox="1"/>
          <p:nvPr/>
        </p:nvSpPr>
        <p:spPr>
          <a:xfrm>
            <a:off x="214282" y="642918"/>
            <a:ext cx="8715436" cy="5847755"/>
          </a:xfrm>
          <a:prstGeom prst="rect">
            <a:avLst/>
          </a:prstGeom>
          <a:solidFill>
            <a:schemeClr val="accent3">
              <a:lumMod val="60000"/>
              <a:lumOff val="40000"/>
            </a:schemeClr>
          </a:solidFill>
          <a:ln>
            <a:solidFill>
              <a:schemeClr val="accent6">
                <a:lumMod val="50000"/>
              </a:schemeClr>
            </a:solidFill>
          </a:ln>
        </p:spPr>
        <p:txBody>
          <a:bodyPr wrap="square" rtlCol="0">
            <a:spAutoFit/>
          </a:bodyPr>
          <a:lstStyle/>
          <a:p>
            <a:r>
              <a:rPr lang="ru-RU" sz="1700" dirty="0"/>
              <a:t>Синтаксис создания (изменения) процедуры:</a:t>
            </a:r>
            <a:endParaRPr lang="en-US" sz="1700" dirty="0"/>
          </a:p>
          <a:p>
            <a:r>
              <a:rPr lang="ru-RU" sz="1700" b="1" dirty="0"/>
              <a:t>{</a:t>
            </a:r>
            <a:r>
              <a:rPr lang="en-US" sz="1700" b="1" dirty="0"/>
              <a:t>CREATE</a:t>
            </a:r>
            <a:r>
              <a:rPr lang="ru-RU" sz="1700" b="1" dirty="0"/>
              <a:t>|</a:t>
            </a:r>
            <a:r>
              <a:rPr lang="en-US" sz="1700" b="1" dirty="0"/>
              <a:t>ALTER</a:t>
            </a:r>
            <a:r>
              <a:rPr lang="ru-RU" sz="1700" b="1" dirty="0"/>
              <a:t>} </a:t>
            </a:r>
            <a:r>
              <a:rPr lang="en-US" sz="1700" b="1" dirty="0"/>
              <a:t>PROCEDURE</a:t>
            </a:r>
            <a:r>
              <a:rPr lang="ru-RU" sz="1700" b="1" dirty="0"/>
              <a:t>|</a:t>
            </a:r>
            <a:r>
              <a:rPr lang="en-US" sz="1700" b="1" dirty="0"/>
              <a:t>PROC</a:t>
            </a:r>
            <a:r>
              <a:rPr lang="ru-RU" sz="1700" b="1" dirty="0"/>
              <a:t> </a:t>
            </a:r>
            <a:r>
              <a:rPr lang="en-US" sz="1700" dirty="0" err="1"/>
              <a:t>procedure_name</a:t>
            </a:r>
            <a:r>
              <a:rPr lang="ru-RU" sz="1700" dirty="0"/>
              <a:t> [;</a:t>
            </a:r>
            <a:r>
              <a:rPr lang="en-US" sz="1700" dirty="0"/>
              <a:t> number</a:t>
            </a:r>
            <a:r>
              <a:rPr lang="ru-RU" sz="1700" dirty="0"/>
              <a:t>]</a:t>
            </a:r>
          </a:p>
          <a:p>
            <a:r>
              <a:rPr lang="en-US" sz="1700" dirty="0"/>
              <a:t>[{@</a:t>
            </a:r>
            <a:r>
              <a:rPr lang="en-US" sz="1700" dirty="0" err="1"/>
              <a:t>name_paramet</a:t>
            </a:r>
            <a:r>
              <a:rPr lang="en-US" sz="1700" dirty="0"/>
              <a:t> </a:t>
            </a:r>
            <a:r>
              <a:rPr lang="en-US" sz="1700" dirty="0" err="1"/>
              <a:t>data_type</a:t>
            </a:r>
            <a:r>
              <a:rPr lang="en-US" sz="1700" dirty="0"/>
              <a:t>} </a:t>
            </a:r>
            <a:r>
              <a:rPr lang="en-US" sz="1700" b="1" dirty="0"/>
              <a:t>[VARYING] [=DEFAULT][OUTPUT]]</a:t>
            </a:r>
            <a:r>
              <a:rPr lang="en-US" sz="1700" dirty="0"/>
              <a:t>[,...n]</a:t>
            </a:r>
            <a:endParaRPr lang="ru-RU" sz="1700" dirty="0"/>
          </a:p>
          <a:p>
            <a:r>
              <a:rPr lang="en-US" sz="1700" b="1" dirty="0"/>
              <a:t>[WITH {RECOMPILE|ENCRYPTION|RECOMPILE, ENCRYPTION}]</a:t>
            </a:r>
            <a:endParaRPr lang="ru-RU" sz="1700" dirty="0"/>
          </a:p>
          <a:p>
            <a:r>
              <a:rPr lang="en-US" sz="1700" b="1" dirty="0"/>
              <a:t>[FOR REPLICATION]</a:t>
            </a:r>
            <a:endParaRPr lang="ru-RU" sz="1700" dirty="0"/>
          </a:p>
          <a:p>
            <a:r>
              <a:rPr lang="en-US" sz="1700" b="1" dirty="0"/>
              <a:t>AS</a:t>
            </a:r>
            <a:endParaRPr lang="ru-RU" sz="1700" dirty="0"/>
          </a:p>
          <a:p>
            <a:endParaRPr lang="ru-RU" sz="1700" dirty="0"/>
          </a:p>
          <a:p>
            <a:r>
              <a:rPr lang="ru-RU" sz="1700" dirty="0"/>
              <a:t>Параметр </a:t>
            </a:r>
            <a:r>
              <a:rPr lang="en-US" sz="1700" b="1" dirty="0" err="1"/>
              <a:t>procedure_name</a:t>
            </a:r>
            <a:r>
              <a:rPr lang="ru-RU" sz="1700" b="1" dirty="0"/>
              <a:t> </a:t>
            </a:r>
            <a:r>
              <a:rPr lang="ru-RU" sz="1700" dirty="0"/>
              <a:t>задает имя хранимой процедуры</a:t>
            </a:r>
            <a:r>
              <a:rPr lang="en-US" sz="1700" dirty="0"/>
              <a:t>.</a:t>
            </a:r>
          </a:p>
          <a:p>
            <a:r>
              <a:rPr lang="ru-RU" sz="1700" dirty="0"/>
              <a:t>Параметр</a:t>
            </a:r>
            <a:r>
              <a:rPr lang="ru-RU" sz="1700" b="1" dirty="0"/>
              <a:t> @</a:t>
            </a:r>
            <a:r>
              <a:rPr lang="en-US" sz="1700" b="1" dirty="0" err="1"/>
              <a:t>name_parametr</a:t>
            </a:r>
            <a:r>
              <a:rPr lang="ru-RU" sz="1700" b="1" dirty="0"/>
              <a:t> </a:t>
            </a:r>
            <a:r>
              <a:rPr lang="ru-RU" sz="1700" dirty="0"/>
              <a:t>является параметром процедуры (формальным аргументом), тип данных определяется </a:t>
            </a:r>
            <a:r>
              <a:rPr lang="en-US" sz="1700" dirty="0" err="1"/>
              <a:t>data_type</a:t>
            </a:r>
            <a:r>
              <a:rPr lang="en-US" sz="1700" dirty="0"/>
              <a:t>.</a:t>
            </a:r>
            <a:endParaRPr lang="ru-RU" sz="1700" dirty="0"/>
          </a:p>
          <a:p>
            <a:r>
              <a:rPr lang="ru-RU" sz="1700" b="1" dirty="0"/>
              <a:t>VARYING</a:t>
            </a:r>
            <a:r>
              <a:rPr lang="ru-RU" sz="1700" dirty="0"/>
              <a:t> — указывает результирующий набор, поддерживаемый в качестве выходного параметра. </a:t>
            </a:r>
            <a:endParaRPr lang="en-US" sz="1700" dirty="0"/>
          </a:p>
          <a:p>
            <a:r>
              <a:rPr lang="ru-RU" sz="1700" b="1" dirty="0"/>
              <a:t>DEFAULT </a:t>
            </a:r>
            <a:r>
              <a:rPr lang="ru-RU" sz="1700" dirty="0"/>
              <a:t>определяет значение по умолчанию для соответствующего параметра процедуры.</a:t>
            </a:r>
            <a:r>
              <a:rPr lang="en-US" sz="1700" dirty="0"/>
              <a:t> </a:t>
            </a:r>
            <a:r>
              <a:rPr lang="ru-RU" sz="1700" dirty="0"/>
              <a:t>Значением по умолчанию также может быть NULL.</a:t>
            </a:r>
          </a:p>
          <a:p>
            <a:r>
              <a:rPr lang="ru-RU" sz="1700" dirty="0"/>
              <a:t>Опция</a:t>
            </a:r>
            <a:r>
              <a:rPr lang="ru-RU" sz="1700" i="1" dirty="0"/>
              <a:t> </a:t>
            </a:r>
            <a:r>
              <a:rPr lang="ru-RU" sz="1700" b="1" dirty="0"/>
              <a:t>OUTPUT</a:t>
            </a:r>
            <a:r>
              <a:rPr lang="ru-RU" sz="1700" dirty="0"/>
              <a:t> указывает, что параметр процедуры является возвращаемым.</a:t>
            </a:r>
          </a:p>
          <a:p>
            <a:r>
              <a:rPr lang="ru-RU" sz="1700" dirty="0"/>
              <a:t>Опция </a:t>
            </a:r>
            <a:r>
              <a:rPr lang="en-US" sz="1700" b="1" dirty="0"/>
              <a:t>WITH RECOMPILE</a:t>
            </a:r>
            <a:r>
              <a:rPr lang="ru-RU" sz="1700" b="1" dirty="0"/>
              <a:t> </a:t>
            </a:r>
            <a:r>
              <a:rPr lang="ru-RU" sz="1700" dirty="0"/>
              <a:t>задается если требуется компилировать хранимую процедуру при каждом ее вызове.</a:t>
            </a:r>
          </a:p>
          <a:p>
            <a:r>
              <a:rPr lang="en-US" sz="1700" b="1" dirty="0"/>
              <a:t>WITH ENCRYPTION</a:t>
            </a:r>
            <a:r>
              <a:rPr lang="ru-RU" sz="1700" dirty="0"/>
              <a:t> задает шифрование исходного текста инструкции CREATE PROCEDURE.</a:t>
            </a:r>
          </a:p>
          <a:p>
            <a:r>
              <a:rPr lang="en-US" sz="1700" b="1" dirty="0"/>
              <a:t>FOR REPLICATION</a:t>
            </a:r>
            <a:r>
              <a:rPr lang="ru-RU" sz="1700" b="1" dirty="0"/>
              <a:t> </a:t>
            </a:r>
            <a:r>
              <a:rPr lang="ru-RU" sz="1700" dirty="0"/>
              <a:t>указывает, что процедура создается для репликации. Процедура, созданная с параметром FOR REPLICATION, используется в качестве фильтра и выполняется только в процессе репликации. Параметры не могут быть объявлены, если указан параметр FOR REPLICATION. </a:t>
            </a:r>
          </a:p>
        </p:txBody>
      </p:sp>
      <p:sp>
        <p:nvSpPr>
          <p:cNvPr id="5" name="Заголовок 1"/>
          <p:cNvSpPr txBox="1">
            <a:spLocks/>
          </p:cNvSpPr>
          <p:nvPr/>
        </p:nvSpPr>
        <p:spPr>
          <a:xfrm>
            <a:off x="428596" y="0"/>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500" b="0" i="0" u="none" strike="noStrike" kern="1200" cap="none" spc="0" normalizeH="0" baseline="0" noProof="0" dirty="0">
                <a:ln>
                  <a:noFill/>
                </a:ln>
                <a:solidFill>
                  <a:schemeClr val="tx1"/>
                </a:solidFill>
                <a:effectLst/>
                <a:uLnTx/>
                <a:uFillTx/>
                <a:latin typeface="+mj-lt"/>
                <a:ea typeface="+mj-ea"/>
                <a:cs typeface="+mj-cs"/>
              </a:rPr>
              <a:t>Хранимые</a:t>
            </a:r>
            <a:r>
              <a:rPr kumimoji="0" lang="ru-RU" sz="2500" b="0" i="0" u="none" strike="noStrike" kern="1200" cap="none" spc="0" normalizeH="0" noProof="0" dirty="0">
                <a:ln>
                  <a:noFill/>
                </a:ln>
                <a:solidFill>
                  <a:schemeClr val="tx1"/>
                </a:solidFill>
                <a:effectLst/>
                <a:uLnTx/>
                <a:uFillTx/>
                <a:latin typeface="+mj-lt"/>
                <a:ea typeface="+mj-ea"/>
                <a:cs typeface="+mj-cs"/>
              </a:rPr>
              <a:t> процедуры в </a:t>
            </a:r>
            <a:r>
              <a:rPr kumimoji="0" lang="en-US" sz="2500" b="0" i="0" u="none" strike="noStrike" kern="1200" cap="none" spc="0" normalizeH="0" noProof="0" dirty="0">
                <a:ln>
                  <a:noFill/>
                </a:ln>
                <a:solidFill>
                  <a:schemeClr val="tx1"/>
                </a:solidFill>
                <a:effectLst/>
                <a:uLnTx/>
                <a:uFillTx/>
                <a:latin typeface="+mj-lt"/>
                <a:ea typeface="+mj-ea"/>
                <a:cs typeface="+mj-cs"/>
              </a:rPr>
              <a:t>Transact</a:t>
            </a:r>
            <a:r>
              <a:rPr kumimoji="0" lang="en-US" sz="2500" b="0" i="0" u="none" strike="noStrike" kern="1200" cap="none" spc="0" normalizeH="0" noProof="0" dirty="0">
                <a:ln>
                  <a:noFill/>
                </a:ln>
                <a:solidFill>
                  <a:schemeClr val="tx1"/>
                </a:solidFill>
                <a:effectLst/>
                <a:uLnTx/>
                <a:uFillTx/>
                <a:latin typeface="Calibri"/>
                <a:ea typeface="+mj-ea"/>
                <a:cs typeface="Calibri"/>
                <a:sym typeface="Symbol"/>
              </a:rPr>
              <a:t>−</a:t>
            </a:r>
            <a:r>
              <a:rPr kumimoji="0" lang="en-US" sz="2500" b="0" i="0" u="none" strike="noStrike" kern="1200" cap="none" spc="0" normalizeH="0" noProof="0" dirty="0">
                <a:ln>
                  <a:noFill/>
                </a:ln>
                <a:solidFill>
                  <a:schemeClr val="tx1"/>
                </a:solidFill>
                <a:effectLst/>
                <a:uLnTx/>
                <a:uFillTx/>
                <a:latin typeface="+mj-lt"/>
                <a:ea typeface="+mj-ea"/>
                <a:cs typeface="+mj-cs"/>
              </a:rPr>
              <a: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5</a:t>
            </a:fld>
            <a:endParaRPr lang="ru-RU"/>
          </a:p>
        </p:txBody>
      </p:sp>
      <p:sp>
        <p:nvSpPr>
          <p:cNvPr id="3" name="TextBox 2"/>
          <p:cNvSpPr txBox="1"/>
          <p:nvPr/>
        </p:nvSpPr>
        <p:spPr>
          <a:xfrm>
            <a:off x="285720" y="3143248"/>
            <a:ext cx="4327980" cy="646331"/>
          </a:xfrm>
          <a:prstGeom prst="rect">
            <a:avLst/>
          </a:prstGeom>
          <a:solidFill>
            <a:schemeClr val="accent3">
              <a:lumMod val="60000"/>
              <a:lumOff val="40000"/>
            </a:schemeClr>
          </a:solidFill>
          <a:ln>
            <a:solidFill>
              <a:schemeClr val="accent6">
                <a:lumMod val="50000"/>
              </a:schemeClr>
            </a:solidFill>
          </a:ln>
        </p:spPr>
        <p:txBody>
          <a:bodyPr wrap="none" rtlCol="0">
            <a:spAutoFit/>
          </a:bodyPr>
          <a:lstStyle/>
          <a:p>
            <a:r>
              <a:rPr lang="ru-RU" dirty="0"/>
              <a:t>Синтаксис удаления процедуры:</a:t>
            </a:r>
          </a:p>
          <a:p>
            <a:r>
              <a:rPr lang="en-US" dirty="0"/>
              <a:t>DROP PROCEDURE {</a:t>
            </a:r>
            <a:r>
              <a:rPr lang="ru-RU" dirty="0"/>
              <a:t>имя</a:t>
            </a:r>
            <a:r>
              <a:rPr lang="en-US" dirty="0"/>
              <a:t>_</a:t>
            </a:r>
            <a:r>
              <a:rPr lang="ru-RU" dirty="0"/>
              <a:t>процедуры</a:t>
            </a:r>
            <a:r>
              <a:rPr lang="en-US" dirty="0"/>
              <a:t>} [,...n]</a:t>
            </a:r>
            <a:endParaRPr lang="ru-RU" dirty="0"/>
          </a:p>
        </p:txBody>
      </p:sp>
      <p:sp>
        <p:nvSpPr>
          <p:cNvPr id="4" name="Заголовок 1"/>
          <p:cNvSpPr txBox="1">
            <a:spLocks/>
          </p:cNvSpPr>
          <p:nvPr/>
        </p:nvSpPr>
        <p:spPr>
          <a:xfrm>
            <a:off x="428596" y="142852"/>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500" b="0" i="0" u="none" strike="noStrike" kern="1200" cap="none" spc="0" normalizeH="0" baseline="0" noProof="0" dirty="0">
                <a:ln>
                  <a:noFill/>
                </a:ln>
                <a:solidFill>
                  <a:schemeClr val="tx1"/>
                </a:solidFill>
                <a:effectLst/>
                <a:uLnTx/>
                <a:uFillTx/>
                <a:latin typeface="+mj-lt"/>
                <a:ea typeface="+mj-ea"/>
                <a:cs typeface="+mj-cs"/>
              </a:rPr>
              <a:t>Хранимые</a:t>
            </a:r>
            <a:r>
              <a:rPr kumimoji="0" lang="ru-RU" sz="2500" b="0" i="0" u="none" strike="noStrike" kern="1200" cap="none" spc="0" normalizeH="0" noProof="0" dirty="0">
                <a:ln>
                  <a:noFill/>
                </a:ln>
                <a:solidFill>
                  <a:schemeClr val="tx1"/>
                </a:solidFill>
                <a:effectLst/>
                <a:uLnTx/>
                <a:uFillTx/>
                <a:latin typeface="+mj-lt"/>
                <a:ea typeface="+mj-ea"/>
                <a:cs typeface="+mj-cs"/>
              </a:rPr>
              <a:t> процедуры в </a:t>
            </a:r>
            <a:r>
              <a:rPr kumimoji="0" lang="en-US" sz="2500" b="0" i="0" u="none" strike="noStrike" kern="1200" cap="none" spc="0" normalizeH="0" noProof="0" dirty="0">
                <a:ln>
                  <a:noFill/>
                </a:ln>
                <a:solidFill>
                  <a:schemeClr val="tx1"/>
                </a:solidFill>
                <a:effectLst/>
                <a:uLnTx/>
                <a:uFillTx/>
                <a:latin typeface="+mj-lt"/>
                <a:ea typeface="+mj-ea"/>
                <a:cs typeface="+mj-cs"/>
              </a:rPr>
              <a:t>Transact</a:t>
            </a:r>
            <a:r>
              <a:rPr kumimoji="0" lang="en-US" sz="2500" b="0" i="0" u="none" strike="noStrike" kern="1200" cap="none" spc="0" normalizeH="0" noProof="0" dirty="0">
                <a:ln>
                  <a:noFill/>
                </a:ln>
                <a:solidFill>
                  <a:schemeClr val="tx1"/>
                </a:solidFill>
                <a:effectLst/>
                <a:uLnTx/>
                <a:uFillTx/>
                <a:latin typeface="Calibri"/>
                <a:ea typeface="+mj-ea"/>
                <a:cs typeface="Calibri"/>
                <a:sym typeface="Symbol"/>
              </a:rPr>
              <a:t>−</a:t>
            </a:r>
            <a:r>
              <a:rPr kumimoji="0" lang="en-US" sz="2500" b="0" i="0" u="none" strike="noStrike" kern="1200" cap="none" spc="0" normalizeH="0" noProof="0" dirty="0">
                <a:ln>
                  <a:noFill/>
                </a:ln>
                <a:solidFill>
                  <a:schemeClr val="tx1"/>
                </a:solidFill>
                <a:effectLst/>
                <a:uLnTx/>
                <a:uFillTx/>
                <a:latin typeface="+mj-lt"/>
                <a:ea typeface="+mj-ea"/>
                <a:cs typeface="+mj-cs"/>
              </a:rPr>
              <a: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TextBox 4"/>
          <p:cNvSpPr txBox="1"/>
          <p:nvPr/>
        </p:nvSpPr>
        <p:spPr>
          <a:xfrm>
            <a:off x="285720" y="1142984"/>
            <a:ext cx="7929618" cy="1477328"/>
          </a:xfrm>
          <a:prstGeom prst="rect">
            <a:avLst/>
          </a:prstGeom>
          <a:solidFill>
            <a:schemeClr val="accent3">
              <a:lumMod val="60000"/>
              <a:lumOff val="40000"/>
            </a:schemeClr>
          </a:solidFill>
          <a:ln>
            <a:solidFill>
              <a:schemeClr val="accent6">
                <a:lumMod val="50000"/>
              </a:schemeClr>
            </a:solidFill>
          </a:ln>
        </p:spPr>
        <p:txBody>
          <a:bodyPr wrap="square" rtlCol="0">
            <a:spAutoFit/>
          </a:bodyPr>
          <a:lstStyle/>
          <a:p>
            <a:r>
              <a:rPr lang="ru-RU" dirty="0"/>
              <a:t>Синтаксис вызова:</a:t>
            </a:r>
          </a:p>
          <a:p>
            <a:r>
              <a:rPr lang="ru-RU" dirty="0"/>
              <a:t>[</a:t>
            </a:r>
            <a:r>
              <a:rPr lang="en-US" dirty="0"/>
              <a:t>EXECUTE</a:t>
            </a:r>
            <a:r>
              <a:rPr lang="ru-RU" dirty="0"/>
              <a:t>|EXEC] </a:t>
            </a:r>
            <a:r>
              <a:rPr lang="ru-RU" dirty="0" err="1"/>
              <a:t>имя_процедуры</a:t>
            </a:r>
            <a:r>
              <a:rPr lang="ru-RU" dirty="0"/>
              <a:t> [;номер]</a:t>
            </a:r>
          </a:p>
          <a:p>
            <a:r>
              <a:rPr lang="ru-RU" dirty="0"/>
              <a:t>[[@</a:t>
            </a:r>
            <a:r>
              <a:rPr lang="ru-RU" dirty="0" err="1"/>
              <a:t>имя_параметра=</a:t>
            </a:r>
            <a:r>
              <a:rPr lang="ru-RU" dirty="0"/>
              <a:t>]{значение | @</a:t>
            </a:r>
            <a:r>
              <a:rPr lang="ru-RU" dirty="0" err="1"/>
              <a:t>имя_переменной</a:t>
            </a:r>
            <a:r>
              <a:rPr lang="ru-RU" dirty="0"/>
              <a:t>}</a:t>
            </a:r>
          </a:p>
          <a:p>
            <a:r>
              <a:rPr lang="ru-RU" dirty="0"/>
              <a:t>[</a:t>
            </a:r>
            <a:r>
              <a:rPr lang="en-US" dirty="0"/>
              <a:t>OUTPUT</a:t>
            </a:r>
            <a:r>
              <a:rPr lang="ru-RU" dirty="0"/>
              <a:t> ]|[</a:t>
            </a:r>
            <a:r>
              <a:rPr lang="en-US" dirty="0"/>
              <a:t>DEFAULT</a:t>
            </a:r>
            <a:r>
              <a:rPr lang="ru-RU" dirty="0"/>
              <a:t>]][,...</a:t>
            </a:r>
            <a:r>
              <a:rPr lang="en-US" dirty="0"/>
              <a:t>n</a:t>
            </a:r>
            <a:r>
              <a:rPr lang="ru-RU" dirty="0"/>
              <a:t>]</a:t>
            </a:r>
          </a:p>
          <a:p>
            <a:endParaRPr lang="ru-R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6</a:t>
            </a:fld>
            <a:endParaRPr lang="ru-RU"/>
          </a:p>
        </p:txBody>
      </p:sp>
      <p:sp>
        <p:nvSpPr>
          <p:cNvPr id="3" name="Заголовок 1"/>
          <p:cNvSpPr txBox="1">
            <a:spLocks/>
          </p:cNvSpPr>
          <p:nvPr/>
        </p:nvSpPr>
        <p:spPr>
          <a:xfrm>
            <a:off x="428596" y="142852"/>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500" dirty="0">
                <a:latin typeface="+mj-lt"/>
                <a:ea typeface="+mj-ea"/>
                <a:cs typeface="+mj-cs"/>
              </a:rPr>
              <a:t>Пример создания процедуры без параметров</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TextBox 6"/>
          <p:cNvSpPr txBox="1"/>
          <p:nvPr/>
        </p:nvSpPr>
        <p:spPr>
          <a:xfrm>
            <a:off x="357158" y="857232"/>
            <a:ext cx="8572560" cy="4514056"/>
          </a:xfrm>
          <a:prstGeom prst="rect">
            <a:avLst/>
          </a:prstGeom>
          <a:noFill/>
        </p:spPr>
        <p:txBody>
          <a:bodyPr wrap="square" rtlCol="0">
            <a:spAutoFit/>
          </a:bodyPr>
          <a:lstStyle/>
          <a:p>
            <a:r>
              <a:rPr lang="ru-RU" dirty="0"/>
              <a:t>Создадим процедуру для получения названий экзаменов и оценок, полученных студентом Ивановым:</a:t>
            </a:r>
          </a:p>
          <a:p>
            <a:pPr>
              <a:lnSpc>
                <a:spcPct val="115000"/>
              </a:lnSpc>
              <a:spcAft>
                <a:spcPts val="0"/>
              </a:spcAft>
            </a:pPr>
            <a:r>
              <a:rPr lang="en-US" dirty="0">
                <a:solidFill>
                  <a:srgbClr val="0000FF"/>
                </a:solidFill>
                <a:ea typeface="Calibri"/>
                <a:cs typeface="Times New Roman"/>
              </a:rPr>
              <a:t>CREATE</a:t>
            </a:r>
            <a:r>
              <a:rPr lang="en-US" dirty="0">
                <a:ea typeface="Calibri"/>
                <a:cs typeface="Times New Roman"/>
              </a:rPr>
              <a:t> </a:t>
            </a:r>
            <a:r>
              <a:rPr lang="en-US" dirty="0">
                <a:solidFill>
                  <a:srgbClr val="0000FF"/>
                </a:solidFill>
                <a:ea typeface="Calibri"/>
                <a:cs typeface="Times New Roman"/>
              </a:rPr>
              <a:t>Procedure</a:t>
            </a:r>
            <a:r>
              <a:rPr lang="en-US" dirty="0">
                <a:ea typeface="Calibri"/>
                <a:cs typeface="Times New Roman"/>
              </a:rPr>
              <a:t> </a:t>
            </a:r>
            <a:r>
              <a:rPr lang="en-US" dirty="0" err="1">
                <a:solidFill>
                  <a:srgbClr val="008080"/>
                </a:solidFill>
                <a:ea typeface="Calibri"/>
                <a:cs typeface="Times New Roman"/>
              </a:rPr>
              <a:t>ExamResults</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AS</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SELECT</a:t>
            </a:r>
            <a:r>
              <a:rPr lang="en-US" dirty="0">
                <a:ea typeface="Calibri"/>
                <a:cs typeface="Times New Roman"/>
              </a:rPr>
              <a:t> </a:t>
            </a:r>
            <a:r>
              <a:rPr lang="en-US" dirty="0">
                <a:solidFill>
                  <a:srgbClr val="008080"/>
                </a:solidFill>
                <a:ea typeface="Calibri"/>
                <a:cs typeface="Times New Roman"/>
              </a:rPr>
              <a:t>Surname</a:t>
            </a:r>
            <a:r>
              <a:rPr lang="en-US" dirty="0">
                <a:ea typeface="Calibri"/>
                <a:cs typeface="Times New Roman"/>
              </a:rPr>
              <a:t> </a:t>
            </a:r>
            <a:r>
              <a:rPr lang="en-US" dirty="0">
                <a:solidFill>
                  <a:srgbClr val="0000FF"/>
                </a:solidFill>
                <a:ea typeface="Calibri"/>
                <a:cs typeface="Times New Roman"/>
              </a:rPr>
              <a:t>AS</a:t>
            </a:r>
            <a:r>
              <a:rPr lang="en-US" dirty="0">
                <a:ea typeface="Calibri"/>
                <a:cs typeface="Times New Roman"/>
              </a:rPr>
              <a:t> </a:t>
            </a:r>
            <a:r>
              <a:rPr lang="en-US" dirty="0">
                <a:solidFill>
                  <a:srgbClr val="FF0000"/>
                </a:solidFill>
                <a:ea typeface="Calibri"/>
                <a:cs typeface="Times New Roman"/>
              </a:rPr>
              <a:t>'</a:t>
            </a:r>
            <a:r>
              <a:rPr lang="ru-RU" dirty="0">
                <a:solidFill>
                  <a:srgbClr val="FF0000"/>
                </a:solidFill>
                <a:ea typeface="Calibri"/>
                <a:cs typeface="Times New Roman"/>
              </a:rPr>
              <a:t>Фамилия</a:t>
            </a:r>
            <a:r>
              <a:rPr lang="en-US" dirty="0">
                <a:solidFill>
                  <a:srgbClr val="FF0000"/>
                </a:solidFill>
                <a:ea typeface="Calibri"/>
                <a:cs typeface="Times New Roman"/>
              </a:rPr>
              <a:t>'</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Name</a:t>
            </a:r>
            <a:r>
              <a:rPr lang="en-US" dirty="0">
                <a:ea typeface="Calibri"/>
                <a:cs typeface="Times New Roman"/>
              </a:rPr>
              <a:t> </a:t>
            </a:r>
            <a:r>
              <a:rPr lang="en-US" dirty="0">
                <a:solidFill>
                  <a:srgbClr val="0000FF"/>
                </a:solidFill>
                <a:ea typeface="Calibri"/>
                <a:cs typeface="Times New Roman"/>
              </a:rPr>
              <a:t>AS</a:t>
            </a:r>
            <a:r>
              <a:rPr lang="en-US" dirty="0">
                <a:ea typeface="Calibri"/>
                <a:cs typeface="Times New Roman"/>
              </a:rPr>
              <a:t> </a:t>
            </a:r>
            <a:r>
              <a:rPr lang="en-US" dirty="0">
                <a:solidFill>
                  <a:srgbClr val="FF0000"/>
                </a:solidFill>
                <a:ea typeface="Calibri"/>
                <a:cs typeface="Times New Roman"/>
              </a:rPr>
              <a:t>'</a:t>
            </a:r>
            <a:r>
              <a:rPr lang="ru-RU" dirty="0">
                <a:solidFill>
                  <a:srgbClr val="FF0000"/>
                </a:solidFill>
                <a:ea typeface="Calibri"/>
                <a:cs typeface="Times New Roman"/>
              </a:rPr>
              <a:t>Имя</a:t>
            </a:r>
            <a:r>
              <a:rPr lang="en-US" dirty="0">
                <a:solidFill>
                  <a:srgbClr val="FF0000"/>
                </a:solidFill>
                <a:ea typeface="Calibri"/>
                <a:cs typeface="Times New Roman"/>
              </a:rPr>
              <a:t>'</a:t>
            </a:r>
            <a:r>
              <a:rPr lang="en-US" dirty="0">
                <a:solidFill>
                  <a:srgbClr val="808080"/>
                </a:solidFill>
                <a:ea typeface="Calibri"/>
                <a:cs typeface="Times New Roman"/>
              </a:rPr>
              <a:t>,</a:t>
            </a:r>
            <a:r>
              <a:rPr lang="ru-RU" dirty="0">
                <a:solidFill>
                  <a:srgbClr val="808080"/>
                </a:solidFill>
                <a:ea typeface="Calibri"/>
                <a:cs typeface="Times New Roman"/>
              </a:rPr>
              <a:t> </a:t>
            </a:r>
            <a:r>
              <a:rPr lang="en-US" dirty="0" err="1">
                <a:solidFill>
                  <a:srgbClr val="008080"/>
                </a:solidFill>
                <a:ea typeface="Calibri"/>
                <a:cs typeface="Times New Roman"/>
              </a:rPr>
              <a:t>Subj_Name</a:t>
            </a:r>
            <a:r>
              <a:rPr lang="en-US" dirty="0">
                <a:ea typeface="Calibri"/>
                <a:cs typeface="Times New Roman"/>
              </a:rPr>
              <a:t> </a:t>
            </a:r>
            <a:r>
              <a:rPr lang="en-US" dirty="0">
                <a:solidFill>
                  <a:srgbClr val="0000FF"/>
                </a:solidFill>
                <a:ea typeface="Calibri"/>
                <a:cs typeface="Times New Roman"/>
              </a:rPr>
              <a:t>AS</a:t>
            </a:r>
            <a:r>
              <a:rPr lang="en-US" dirty="0">
                <a:ea typeface="Calibri"/>
                <a:cs typeface="Times New Roman"/>
              </a:rPr>
              <a:t> </a:t>
            </a:r>
            <a:r>
              <a:rPr lang="en-US" dirty="0">
                <a:solidFill>
                  <a:srgbClr val="FF0000"/>
                </a:solidFill>
                <a:ea typeface="Calibri"/>
                <a:cs typeface="Times New Roman"/>
              </a:rPr>
              <a:t>'</a:t>
            </a:r>
            <a:r>
              <a:rPr lang="ru-RU" dirty="0">
                <a:solidFill>
                  <a:srgbClr val="FF0000"/>
                </a:solidFill>
                <a:ea typeface="Calibri"/>
                <a:cs typeface="Times New Roman"/>
              </a:rPr>
              <a:t>Дисциплина</a:t>
            </a:r>
            <a:r>
              <a:rPr lang="en-US" dirty="0">
                <a:solidFill>
                  <a:srgbClr val="FF0000"/>
                </a:solidFill>
                <a:ea typeface="Calibri"/>
                <a:cs typeface="Times New Roman"/>
              </a:rPr>
              <a:t>'</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Mark</a:t>
            </a:r>
            <a:r>
              <a:rPr lang="en-US" dirty="0">
                <a:ea typeface="Calibri"/>
                <a:cs typeface="Times New Roman"/>
              </a:rPr>
              <a:t> </a:t>
            </a:r>
            <a:r>
              <a:rPr lang="en-US" dirty="0">
                <a:solidFill>
                  <a:srgbClr val="0000FF"/>
                </a:solidFill>
                <a:ea typeface="Calibri"/>
                <a:cs typeface="Times New Roman"/>
              </a:rPr>
              <a:t>AS</a:t>
            </a:r>
            <a:r>
              <a:rPr lang="en-US" dirty="0">
                <a:ea typeface="Calibri"/>
                <a:cs typeface="Times New Roman"/>
              </a:rPr>
              <a:t> </a:t>
            </a:r>
            <a:r>
              <a:rPr lang="en-US" dirty="0">
                <a:solidFill>
                  <a:srgbClr val="FF0000"/>
                </a:solidFill>
                <a:ea typeface="Calibri"/>
                <a:cs typeface="Times New Roman"/>
              </a:rPr>
              <a:t>'</a:t>
            </a:r>
            <a:r>
              <a:rPr lang="ru-RU" dirty="0">
                <a:solidFill>
                  <a:srgbClr val="FF0000"/>
                </a:solidFill>
                <a:ea typeface="Calibri"/>
                <a:cs typeface="Times New Roman"/>
              </a:rPr>
              <a:t>Оценка за экзамен</a:t>
            </a:r>
            <a:r>
              <a:rPr lang="en-US" dirty="0">
                <a:solidFill>
                  <a:srgbClr val="FF0000"/>
                </a:solidFill>
                <a:ea typeface="Calibri"/>
                <a:cs typeface="Times New Roman"/>
              </a:rPr>
              <a:t>'</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FROM</a:t>
            </a:r>
            <a:r>
              <a:rPr lang="en-US" dirty="0">
                <a:ea typeface="Calibri"/>
                <a:cs typeface="Times New Roman"/>
              </a:rPr>
              <a:t> </a:t>
            </a:r>
            <a:r>
              <a:rPr lang="en-US" dirty="0">
                <a:solidFill>
                  <a:srgbClr val="008080"/>
                </a:solidFill>
                <a:ea typeface="Calibri"/>
                <a:cs typeface="Times New Roman"/>
              </a:rPr>
              <a:t>Student</a:t>
            </a:r>
            <a:r>
              <a:rPr lang="en-US" dirty="0">
                <a:ea typeface="Calibri"/>
                <a:cs typeface="Times New Roman"/>
              </a:rPr>
              <a:t> </a:t>
            </a:r>
            <a:r>
              <a:rPr lang="en-US" dirty="0">
                <a:solidFill>
                  <a:srgbClr val="808080"/>
                </a:solidFill>
                <a:ea typeface="Calibri"/>
                <a:cs typeface="Times New Roman"/>
              </a:rPr>
              <a:t>INNER</a:t>
            </a:r>
            <a:r>
              <a:rPr lang="en-US" dirty="0">
                <a:ea typeface="Calibri"/>
                <a:cs typeface="Times New Roman"/>
              </a:rPr>
              <a:t> </a:t>
            </a:r>
            <a:r>
              <a:rPr lang="en-US" dirty="0">
                <a:solidFill>
                  <a:srgbClr val="808080"/>
                </a:solidFill>
                <a:ea typeface="Calibri"/>
                <a:cs typeface="Times New Roman"/>
              </a:rPr>
              <a:t>JOIN</a:t>
            </a:r>
            <a:r>
              <a:rPr lang="en-US" dirty="0">
                <a:ea typeface="Calibri"/>
                <a:cs typeface="Times New Roman"/>
              </a:rPr>
              <a:t> </a:t>
            </a:r>
            <a:r>
              <a:rPr lang="en-US" dirty="0" err="1">
                <a:solidFill>
                  <a:srgbClr val="008080"/>
                </a:solidFill>
                <a:ea typeface="Calibri"/>
                <a:cs typeface="Times New Roman"/>
              </a:rPr>
              <a:t>Exam_marks</a:t>
            </a:r>
            <a:r>
              <a:rPr lang="ru-RU" dirty="0">
                <a:solidFill>
                  <a:srgbClr val="008080"/>
                </a:solidFill>
                <a:ea typeface="Calibri"/>
                <a:cs typeface="Times New Roman"/>
              </a:rPr>
              <a:t> </a:t>
            </a:r>
            <a:r>
              <a:rPr lang="en-US" dirty="0">
                <a:solidFill>
                  <a:srgbClr val="0000FF"/>
                </a:solidFill>
                <a:ea typeface="Calibri"/>
                <a:cs typeface="Times New Roman"/>
              </a:rPr>
              <a:t>ON</a:t>
            </a:r>
            <a:r>
              <a:rPr lang="en-US" dirty="0">
                <a:ea typeface="Calibri"/>
                <a:cs typeface="Times New Roman"/>
              </a:rPr>
              <a:t> </a:t>
            </a:r>
            <a:r>
              <a:rPr lang="en-US" dirty="0" err="1">
                <a:solidFill>
                  <a:srgbClr val="008080"/>
                </a:solidFill>
                <a:ea typeface="Calibri"/>
                <a:cs typeface="Times New Roman"/>
              </a:rPr>
              <a:t>Student</a:t>
            </a:r>
            <a:r>
              <a:rPr lang="en-US" dirty="0" err="1">
                <a:solidFill>
                  <a:srgbClr val="808080"/>
                </a:solidFill>
                <a:ea typeface="Calibri"/>
                <a:cs typeface="Times New Roman"/>
              </a:rPr>
              <a:t>.</a:t>
            </a:r>
            <a:r>
              <a:rPr lang="en-US" dirty="0" err="1">
                <a:solidFill>
                  <a:srgbClr val="008080"/>
                </a:solidFill>
                <a:ea typeface="Calibri"/>
                <a:cs typeface="Times New Roman"/>
              </a:rPr>
              <a:t>Student_Id</a:t>
            </a:r>
            <a:r>
              <a:rPr lang="en-US" dirty="0">
                <a:solidFill>
                  <a:srgbClr val="808080"/>
                </a:solidFill>
                <a:ea typeface="Calibri"/>
                <a:cs typeface="Times New Roman"/>
              </a:rPr>
              <a:t>=</a:t>
            </a:r>
            <a:r>
              <a:rPr lang="en-US" dirty="0" err="1">
                <a:solidFill>
                  <a:srgbClr val="008080"/>
                </a:solidFill>
                <a:ea typeface="Calibri"/>
                <a:cs typeface="Times New Roman"/>
              </a:rPr>
              <a:t>Exam_marks</a:t>
            </a:r>
            <a:r>
              <a:rPr lang="en-US" dirty="0" err="1">
                <a:solidFill>
                  <a:srgbClr val="808080"/>
                </a:solidFill>
                <a:ea typeface="Calibri"/>
                <a:cs typeface="Times New Roman"/>
              </a:rPr>
              <a:t>.</a:t>
            </a:r>
            <a:r>
              <a:rPr lang="en-US" dirty="0" err="1">
                <a:solidFill>
                  <a:srgbClr val="008080"/>
                </a:solidFill>
                <a:ea typeface="Calibri"/>
                <a:cs typeface="Times New Roman"/>
              </a:rPr>
              <a:t>Student_Id</a:t>
            </a:r>
            <a:endParaRPr lang="ru-RU" sz="2400" dirty="0">
              <a:ea typeface="Calibri"/>
              <a:cs typeface="Times New Roman"/>
            </a:endParaRPr>
          </a:p>
          <a:p>
            <a:pPr>
              <a:lnSpc>
                <a:spcPct val="115000"/>
              </a:lnSpc>
              <a:spcAft>
                <a:spcPts val="0"/>
              </a:spcAft>
            </a:pPr>
            <a:r>
              <a:rPr lang="ru-RU" dirty="0">
                <a:solidFill>
                  <a:srgbClr val="808080"/>
                </a:solidFill>
                <a:ea typeface="Calibri"/>
                <a:cs typeface="Times New Roman"/>
              </a:rPr>
              <a:t>	         </a:t>
            </a:r>
            <a:r>
              <a:rPr lang="en-US" dirty="0">
                <a:solidFill>
                  <a:srgbClr val="808080"/>
                </a:solidFill>
                <a:ea typeface="Calibri"/>
                <a:cs typeface="Times New Roman"/>
              </a:rPr>
              <a:t>INNER</a:t>
            </a:r>
            <a:r>
              <a:rPr lang="en-US" dirty="0">
                <a:ea typeface="Calibri"/>
                <a:cs typeface="Times New Roman"/>
              </a:rPr>
              <a:t> </a:t>
            </a:r>
            <a:r>
              <a:rPr lang="en-US" dirty="0">
                <a:solidFill>
                  <a:srgbClr val="808080"/>
                </a:solidFill>
                <a:ea typeface="Calibri"/>
                <a:cs typeface="Times New Roman"/>
              </a:rPr>
              <a:t>JOIN</a:t>
            </a:r>
            <a:r>
              <a:rPr lang="en-US" dirty="0">
                <a:ea typeface="Calibri"/>
                <a:cs typeface="Times New Roman"/>
              </a:rPr>
              <a:t> </a:t>
            </a:r>
            <a:r>
              <a:rPr lang="en-US" dirty="0">
                <a:solidFill>
                  <a:srgbClr val="008080"/>
                </a:solidFill>
                <a:ea typeface="Calibri"/>
                <a:cs typeface="Times New Roman"/>
              </a:rPr>
              <a:t>Subject</a:t>
            </a:r>
            <a:r>
              <a:rPr lang="en-US" dirty="0">
                <a:ea typeface="Calibri"/>
                <a:cs typeface="Times New Roman"/>
              </a:rPr>
              <a:t> </a:t>
            </a:r>
            <a:r>
              <a:rPr lang="en-US" dirty="0">
                <a:solidFill>
                  <a:srgbClr val="0000FF"/>
                </a:solidFill>
                <a:ea typeface="Calibri"/>
                <a:cs typeface="Times New Roman"/>
              </a:rPr>
              <a:t>ON</a:t>
            </a:r>
            <a:r>
              <a:rPr lang="en-US" dirty="0">
                <a:ea typeface="Calibri"/>
                <a:cs typeface="Times New Roman"/>
              </a:rPr>
              <a:t> </a:t>
            </a:r>
            <a:r>
              <a:rPr lang="en-US" dirty="0" err="1">
                <a:solidFill>
                  <a:srgbClr val="008080"/>
                </a:solidFill>
                <a:ea typeface="Calibri"/>
                <a:cs typeface="Times New Roman"/>
              </a:rPr>
              <a:t>Exam_marks</a:t>
            </a:r>
            <a:r>
              <a:rPr lang="en-US" dirty="0" err="1">
                <a:solidFill>
                  <a:srgbClr val="808080"/>
                </a:solidFill>
                <a:ea typeface="Calibri"/>
                <a:cs typeface="Times New Roman"/>
              </a:rPr>
              <a:t>.</a:t>
            </a:r>
            <a:r>
              <a:rPr lang="en-US" dirty="0" err="1">
                <a:solidFill>
                  <a:srgbClr val="008080"/>
                </a:solidFill>
                <a:ea typeface="Calibri"/>
                <a:cs typeface="Times New Roman"/>
              </a:rPr>
              <a:t>Subj_Id</a:t>
            </a:r>
            <a:r>
              <a:rPr lang="en-US" dirty="0">
                <a:ea typeface="Calibri"/>
                <a:cs typeface="Times New Roman"/>
              </a:rPr>
              <a:t> </a:t>
            </a:r>
            <a:r>
              <a:rPr lang="en-US" dirty="0">
                <a:solidFill>
                  <a:srgbClr val="808080"/>
                </a:solidFill>
                <a:ea typeface="Calibri"/>
                <a:cs typeface="Times New Roman"/>
              </a:rPr>
              <a:t>=</a:t>
            </a:r>
            <a:r>
              <a:rPr lang="en-US" dirty="0">
                <a:ea typeface="Calibri"/>
                <a:cs typeface="Times New Roman"/>
              </a:rPr>
              <a:t> </a:t>
            </a:r>
            <a:r>
              <a:rPr lang="en-US" dirty="0" err="1">
                <a:solidFill>
                  <a:srgbClr val="008080"/>
                </a:solidFill>
                <a:ea typeface="Calibri"/>
                <a:cs typeface="Times New Roman"/>
              </a:rPr>
              <a:t>Subject</a:t>
            </a:r>
            <a:r>
              <a:rPr lang="en-US" dirty="0" err="1">
                <a:solidFill>
                  <a:srgbClr val="808080"/>
                </a:solidFill>
                <a:ea typeface="Calibri"/>
                <a:cs typeface="Times New Roman"/>
              </a:rPr>
              <a:t>.</a:t>
            </a:r>
            <a:r>
              <a:rPr lang="en-US" dirty="0" err="1">
                <a:solidFill>
                  <a:srgbClr val="008080"/>
                </a:solidFill>
                <a:ea typeface="Calibri"/>
                <a:cs typeface="Times New Roman"/>
              </a:rPr>
              <a:t>Subj_Id</a:t>
            </a:r>
            <a:endParaRPr lang="ru-RU" sz="2400" dirty="0">
              <a:ea typeface="Calibri"/>
              <a:cs typeface="Times New Roman"/>
            </a:endParaRPr>
          </a:p>
          <a:p>
            <a:pPr>
              <a:lnSpc>
                <a:spcPct val="115000"/>
              </a:lnSpc>
              <a:spcAft>
                <a:spcPts val="0"/>
              </a:spcAft>
            </a:pPr>
            <a:r>
              <a:rPr lang="ru-RU" dirty="0">
                <a:solidFill>
                  <a:srgbClr val="0000FF"/>
                </a:solidFill>
                <a:ea typeface="Calibri"/>
                <a:cs typeface="Times New Roman"/>
              </a:rPr>
              <a:t>WHERE</a:t>
            </a:r>
            <a:r>
              <a:rPr lang="ru-RU" dirty="0">
                <a:ea typeface="Calibri"/>
                <a:cs typeface="Times New Roman"/>
              </a:rPr>
              <a:t> </a:t>
            </a:r>
            <a:r>
              <a:rPr lang="ru-RU" dirty="0" err="1">
                <a:solidFill>
                  <a:srgbClr val="008080"/>
                </a:solidFill>
                <a:ea typeface="Calibri"/>
                <a:cs typeface="Times New Roman"/>
              </a:rPr>
              <a:t>Student</a:t>
            </a:r>
            <a:r>
              <a:rPr lang="ru-RU" dirty="0" err="1">
                <a:solidFill>
                  <a:srgbClr val="808080"/>
                </a:solidFill>
                <a:ea typeface="Calibri"/>
                <a:cs typeface="Times New Roman"/>
              </a:rPr>
              <a:t>.</a:t>
            </a:r>
            <a:r>
              <a:rPr lang="ru-RU" dirty="0" err="1">
                <a:solidFill>
                  <a:srgbClr val="008080"/>
                </a:solidFill>
                <a:ea typeface="Calibri"/>
                <a:cs typeface="Times New Roman"/>
              </a:rPr>
              <a:t>Surname</a:t>
            </a:r>
            <a:r>
              <a:rPr lang="ru-RU" dirty="0">
                <a:ea typeface="Calibri"/>
                <a:cs typeface="Times New Roman"/>
              </a:rPr>
              <a:t> </a:t>
            </a:r>
            <a:r>
              <a:rPr lang="ru-RU" dirty="0">
                <a:solidFill>
                  <a:srgbClr val="808080"/>
                </a:solidFill>
                <a:ea typeface="Calibri"/>
                <a:cs typeface="Times New Roman"/>
              </a:rPr>
              <a:t>=</a:t>
            </a:r>
            <a:r>
              <a:rPr lang="ru-RU" dirty="0">
                <a:ea typeface="Calibri"/>
                <a:cs typeface="Times New Roman"/>
              </a:rPr>
              <a:t> </a:t>
            </a:r>
            <a:r>
              <a:rPr lang="ru-RU" dirty="0">
                <a:solidFill>
                  <a:srgbClr val="FF0000"/>
                </a:solidFill>
                <a:ea typeface="Calibri"/>
                <a:cs typeface="Times New Roman"/>
              </a:rPr>
              <a:t>'Иванов'</a:t>
            </a:r>
            <a:endParaRPr lang="ru-RU" sz="2400" dirty="0">
              <a:ea typeface="Calibri"/>
              <a:cs typeface="Times New Roman"/>
            </a:endParaRPr>
          </a:p>
          <a:p>
            <a:pPr>
              <a:lnSpc>
                <a:spcPct val="115000"/>
              </a:lnSpc>
              <a:spcAft>
                <a:spcPts val="0"/>
              </a:spcAft>
            </a:pPr>
            <a:r>
              <a:rPr lang="ru-RU" dirty="0">
                <a:solidFill>
                  <a:srgbClr val="FF0000"/>
                </a:solidFill>
                <a:ea typeface="Calibri"/>
                <a:cs typeface="Times New Roman"/>
              </a:rPr>
              <a:t> </a:t>
            </a:r>
            <a:endParaRPr lang="ru-RU" sz="2400" dirty="0">
              <a:ea typeface="Calibri"/>
              <a:cs typeface="Times New Roman"/>
            </a:endParaRPr>
          </a:p>
          <a:p>
            <a:pPr>
              <a:lnSpc>
                <a:spcPct val="115000"/>
              </a:lnSpc>
            </a:pPr>
            <a:r>
              <a:rPr lang="ru-RU" dirty="0"/>
              <a:t>Вызов процедуры:</a:t>
            </a:r>
          </a:p>
          <a:p>
            <a:pPr>
              <a:lnSpc>
                <a:spcPct val="115000"/>
              </a:lnSpc>
              <a:spcAft>
                <a:spcPts val="1000"/>
              </a:spcAft>
            </a:pPr>
            <a:r>
              <a:rPr lang="ru-RU" dirty="0">
                <a:solidFill>
                  <a:srgbClr val="0000FF"/>
                </a:solidFill>
                <a:ea typeface="Calibri"/>
                <a:cs typeface="Times New Roman"/>
              </a:rPr>
              <a:t>EXECUTE</a:t>
            </a:r>
            <a:r>
              <a:rPr lang="ru-RU" dirty="0">
                <a:ea typeface="Calibri"/>
                <a:cs typeface="Times New Roman"/>
              </a:rPr>
              <a:t> </a:t>
            </a:r>
            <a:r>
              <a:rPr lang="ru-RU" dirty="0" err="1">
                <a:solidFill>
                  <a:srgbClr val="008080"/>
                </a:solidFill>
                <a:ea typeface="Calibri"/>
                <a:cs typeface="Times New Roman"/>
              </a:rPr>
              <a:t>ExamResults</a:t>
            </a:r>
            <a:endParaRPr lang="ru-RU" sz="2400" dirty="0">
              <a:ea typeface="Calibri"/>
              <a:cs typeface="Times New Roman"/>
            </a:endParaRPr>
          </a:p>
          <a:p>
            <a:r>
              <a:rPr lang="ru-RU" dirty="0"/>
              <a:t> </a:t>
            </a:r>
          </a:p>
          <a:p>
            <a:endParaRPr lang="ru-RU" dirty="0"/>
          </a:p>
        </p:txBody>
      </p:sp>
      <p:pic>
        <p:nvPicPr>
          <p:cNvPr id="1028" name="Picture 4"/>
          <p:cNvPicPr>
            <a:picLocks noChangeAspect="1" noChangeArrowheads="1"/>
          </p:cNvPicPr>
          <p:nvPr/>
        </p:nvPicPr>
        <p:blipFill>
          <a:blip r:embed="rId2" cstate="print"/>
          <a:srcRect/>
          <a:stretch>
            <a:fillRect/>
          </a:stretch>
        </p:blipFill>
        <p:spPr bwMode="auto">
          <a:xfrm>
            <a:off x="2992560" y="4857760"/>
            <a:ext cx="5296017" cy="1571636"/>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7</a:t>
            </a:fld>
            <a:endParaRPr lang="ru-RU" dirty="0"/>
          </a:p>
        </p:txBody>
      </p:sp>
      <p:sp>
        <p:nvSpPr>
          <p:cNvPr id="3" name="Заголовок 1"/>
          <p:cNvSpPr txBox="1">
            <a:spLocks/>
          </p:cNvSpPr>
          <p:nvPr/>
        </p:nvSpPr>
        <p:spPr>
          <a:xfrm>
            <a:off x="0" y="0"/>
            <a:ext cx="9144000" cy="357166"/>
          </a:xfrm>
          <a:prstGeom prst="rect">
            <a:avLst/>
          </a:prstGeom>
        </p:spPr>
        <p:txBody>
          <a:bodyPr>
            <a:noAutofit/>
          </a:bodyPr>
          <a:lstStyle/>
          <a:p>
            <a:pPr algn="ctr">
              <a:spcBef>
                <a:spcPct val="0"/>
              </a:spcBef>
              <a:defRPr/>
            </a:pPr>
            <a:r>
              <a:rPr lang="ru-RU" sz="2000" dirty="0">
                <a:latin typeface="+mj-lt"/>
                <a:ea typeface="+mj-ea"/>
                <a:cs typeface="+mj-cs"/>
              </a:rPr>
              <a:t>Пример создания процедуры для вычисления значений поля </a:t>
            </a:r>
            <a:r>
              <a:rPr lang="en-US" sz="2000" i="1" dirty="0" err="1">
                <a:latin typeface="+mj-lt"/>
                <a:ea typeface="+mj-ea"/>
                <a:cs typeface="+mj-cs"/>
              </a:rPr>
              <a:t>Cost_product</a:t>
            </a:r>
            <a:r>
              <a:rPr lang="ru-RU" sz="2000" dirty="0">
                <a:latin typeface="+mj-lt"/>
                <a:ea typeface="+mj-ea"/>
                <a:cs typeface="+mj-cs"/>
              </a:rPr>
              <a:t> </a:t>
            </a:r>
            <a:endParaRPr kumimoji="0" lang="ru-RU" sz="20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4" name="Таблица 3"/>
          <p:cNvGraphicFramePr>
            <a:graphicFrameLocks noGrp="1"/>
          </p:cNvGraphicFramePr>
          <p:nvPr/>
        </p:nvGraphicFramePr>
        <p:xfrm>
          <a:off x="214282" y="571480"/>
          <a:ext cx="7786743" cy="1031868"/>
        </p:xfrm>
        <a:graphic>
          <a:graphicData uri="http://schemas.openxmlformats.org/drawingml/2006/table">
            <a:tbl>
              <a:tblPr firstRow="1" bandRow="1">
                <a:tableStyleId>{F5AB1C69-6EDB-4FF4-983F-18BD219EF322}</a:tableStyleId>
              </a:tblPr>
              <a:tblGrid>
                <a:gridCol w="1571636">
                  <a:extLst>
                    <a:ext uri="{9D8B030D-6E8A-4147-A177-3AD203B41FA5}">
                      <a16:colId xmlns:a16="http://schemas.microsoft.com/office/drawing/2014/main" val="20000"/>
                    </a:ext>
                  </a:extLst>
                </a:gridCol>
                <a:gridCol w="1643074">
                  <a:extLst>
                    <a:ext uri="{9D8B030D-6E8A-4147-A177-3AD203B41FA5}">
                      <a16:colId xmlns:a16="http://schemas.microsoft.com/office/drawing/2014/main" val="20001"/>
                    </a:ext>
                  </a:extLst>
                </a:gridCol>
                <a:gridCol w="1714512">
                  <a:extLst>
                    <a:ext uri="{9D8B030D-6E8A-4147-A177-3AD203B41FA5}">
                      <a16:colId xmlns:a16="http://schemas.microsoft.com/office/drawing/2014/main" val="20002"/>
                    </a:ext>
                  </a:extLst>
                </a:gridCol>
                <a:gridCol w="2857521">
                  <a:extLst>
                    <a:ext uri="{9D8B030D-6E8A-4147-A177-3AD203B41FA5}">
                      <a16:colId xmlns:a16="http://schemas.microsoft.com/office/drawing/2014/main" val="20003"/>
                    </a:ext>
                  </a:extLst>
                </a:gridCol>
              </a:tblGrid>
              <a:tr h="343956">
                <a:tc>
                  <a:txBody>
                    <a:bodyPr/>
                    <a:lstStyle/>
                    <a:p>
                      <a:r>
                        <a:rPr lang="en-US" sz="1600" dirty="0" err="1"/>
                        <a:t>ID_product</a:t>
                      </a:r>
                      <a:r>
                        <a:rPr lang="en-US" sz="1600" dirty="0"/>
                        <a:t> (PK)</a:t>
                      </a:r>
                      <a:endParaRPr lang="ru-RU" sz="1600" b="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Name</a:t>
                      </a:r>
                      <a:r>
                        <a:rPr lang="ru-RU" sz="1600" dirty="0"/>
                        <a:t>_</a:t>
                      </a:r>
                      <a:r>
                        <a:rPr lang="en-US" sz="1600" dirty="0"/>
                        <a:t>product</a:t>
                      </a:r>
                      <a:endParaRPr lang="ru-RU" sz="1600" b="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600" dirty="0"/>
                        <a:t>Cost</a:t>
                      </a:r>
                      <a:r>
                        <a:rPr lang="ru-RU" sz="1600" dirty="0"/>
                        <a:t>_</a:t>
                      </a:r>
                      <a:r>
                        <a:rPr lang="en-US" sz="1600" dirty="0"/>
                        <a:t>product</a:t>
                      </a:r>
                      <a:endParaRPr lang="ru-RU" sz="1600" b="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600" dirty="0"/>
                        <a:t>Date</a:t>
                      </a:r>
                      <a:r>
                        <a:rPr lang="ru-RU" sz="1600" dirty="0"/>
                        <a:t>_</a:t>
                      </a:r>
                      <a:r>
                        <a:rPr lang="en-US" sz="1600" dirty="0"/>
                        <a:t>of</a:t>
                      </a:r>
                      <a:r>
                        <a:rPr lang="ru-RU" sz="1600" dirty="0"/>
                        <a:t>_</a:t>
                      </a:r>
                      <a:r>
                        <a:rPr lang="en-US" sz="1600" dirty="0"/>
                        <a:t>manufacture</a:t>
                      </a:r>
                      <a:endParaRPr lang="ru-RU" sz="1600" b="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343956">
                <a:tc>
                  <a:txBody>
                    <a:bodyPr/>
                    <a:lstStyle/>
                    <a:p>
                      <a:r>
                        <a:rPr lang="en-US" sz="1600" dirty="0"/>
                        <a:t>1</a:t>
                      </a:r>
                      <a:endParaRPr lang="ru-RU" sz="16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600" dirty="0"/>
                        <a:t>Шоколад</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600" dirty="0"/>
                        <a:t>NULL</a:t>
                      </a:r>
                      <a:endParaRPr lang="ru-RU" sz="1600" i="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600" dirty="0"/>
                        <a:t>20.01.2021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1"/>
                  </a:ext>
                </a:extLst>
              </a:tr>
              <a:tr h="343956">
                <a:tc>
                  <a:txBody>
                    <a:bodyPr/>
                    <a:lstStyle/>
                    <a:p>
                      <a:r>
                        <a:rPr lang="en-US" sz="1600" dirty="0"/>
                        <a:t>2</a:t>
                      </a:r>
                      <a:endParaRPr lang="ru-RU" sz="16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600" dirty="0"/>
                        <a:t>Мармелад</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600" dirty="0"/>
                        <a:t>NULL</a:t>
                      </a:r>
                      <a:endParaRPr lang="ru-RU" sz="1600" i="1"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600" dirty="0"/>
                        <a:t>21.01.2021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Таблица 4"/>
          <p:cNvGraphicFramePr>
            <a:graphicFrameLocks noGrp="1"/>
          </p:cNvGraphicFramePr>
          <p:nvPr/>
        </p:nvGraphicFramePr>
        <p:xfrm>
          <a:off x="285720" y="2071678"/>
          <a:ext cx="2857520" cy="1580508"/>
        </p:xfrm>
        <a:graphic>
          <a:graphicData uri="http://schemas.openxmlformats.org/drawingml/2006/table">
            <a:tbl>
              <a:tblPr firstRow="1" bandRow="1">
                <a:tableStyleId>{F5AB1C69-6EDB-4FF4-983F-18BD219EF322}</a:tableStyleId>
              </a:tblPr>
              <a:tblGrid>
                <a:gridCol w="1285884">
                  <a:extLst>
                    <a:ext uri="{9D8B030D-6E8A-4147-A177-3AD203B41FA5}">
                      <a16:colId xmlns:a16="http://schemas.microsoft.com/office/drawing/2014/main" val="20000"/>
                    </a:ext>
                  </a:extLst>
                </a:gridCol>
                <a:gridCol w="1571636">
                  <a:extLst>
                    <a:ext uri="{9D8B030D-6E8A-4147-A177-3AD203B41FA5}">
                      <a16:colId xmlns:a16="http://schemas.microsoft.com/office/drawing/2014/main" val="20001"/>
                    </a:ext>
                  </a:extLst>
                </a:gridCol>
              </a:tblGrid>
              <a:tr h="343956">
                <a:tc>
                  <a:txBody>
                    <a:bodyPr/>
                    <a:lstStyle/>
                    <a:p>
                      <a:r>
                        <a:rPr lang="en-US" sz="1500" dirty="0"/>
                        <a:t>ID</a:t>
                      </a:r>
                      <a:r>
                        <a:rPr lang="ru-RU" sz="1500" dirty="0"/>
                        <a:t>_</a:t>
                      </a:r>
                      <a:r>
                        <a:rPr lang="en-US" sz="1500" dirty="0"/>
                        <a:t>ingredient (PK)</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500" dirty="0"/>
                        <a:t>Name</a:t>
                      </a:r>
                      <a:r>
                        <a:rPr lang="ru-RU" sz="1500" dirty="0"/>
                        <a:t>_</a:t>
                      </a:r>
                      <a:r>
                        <a:rPr lang="en-US" sz="1500" dirty="0"/>
                        <a:t>ingredient</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343956">
                <a:tc>
                  <a:txBody>
                    <a:bodyPr/>
                    <a:lstStyle/>
                    <a:p>
                      <a:r>
                        <a:rPr lang="ru-RU" sz="1500" dirty="0"/>
                        <a:t>11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какао-бобы</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1"/>
                  </a:ext>
                </a:extLst>
              </a:tr>
              <a:tr h="343956">
                <a:tc>
                  <a:txBody>
                    <a:bodyPr/>
                    <a:lstStyle/>
                    <a:p>
                      <a:r>
                        <a:rPr lang="ru-RU" sz="1500" dirty="0"/>
                        <a:t>12</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орехи</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r h="343956">
                <a:tc>
                  <a:txBody>
                    <a:bodyPr/>
                    <a:lstStyle/>
                    <a:p>
                      <a:r>
                        <a:rPr lang="ru-RU" sz="1500" dirty="0"/>
                        <a:t>13</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патока</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Прямоугольник 5"/>
          <p:cNvSpPr/>
          <p:nvPr/>
        </p:nvSpPr>
        <p:spPr>
          <a:xfrm>
            <a:off x="214282" y="285728"/>
            <a:ext cx="1525482" cy="369332"/>
          </a:xfrm>
          <a:prstGeom prst="rect">
            <a:avLst/>
          </a:prstGeom>
        </p:spPr>
        <p:txBody>
          <a:bodyPr wrap="none">
            <a:spAutoFit/>
          </a:bodyPr>
          <a:lstStyle/>
          <a:p>
            <a:r>
              <a:rPr lang="en-US" dirty="0"/>
              <a:t>Table. Product</a:t>
            </a:r>
            <a:endParaRPr lang="ru-RU" dirty="0"/>
          </a:p>
        </p:txBody>
      </p:sp>
      <p:sp>
        <p:nvSpPr>
          <p:cNvPr id="7" name="Прямоугольник 6"/>
          <p:cNvSpPr/>
          <p:nvPr/>
        </p:nvSpPr>
        <p:spPr>
          <a:xfrm>
            <a:off x="214282" y="1714488"/>
            <a:ext cx="1753300" cy="369332"/>
          </a:xfrm>
          <a:prstGeom prst="rect">
            <a:avLst/>
          </a:prstGeom>
        </p:spPr>
        <p:txBody>
          <a:bodyPr wrap="none">
            <a:spAutoFit/>
          </a:bodyPr>
          <a:lstStyle/>
          <a:p>
            <a:r>
              <a:rPr lang="en-US" dirty="0"/>
              <a:t>Table. Ingredient</a:t>
            </a:r>
            <a:endParaRPr lang="ru-RU" dirty="0"/>
          </a:p>
        </p:txBody>
      </p:sp>
      <p:sp>
        <p:nvSpPr>
          <p:cNvPr id="9" name="TextBox 8"/>
          <p:cNvSpPr txBox="1"/>
          <p:nvPr/>
        </p:nvSpPr>
        <p:spPr>
          <a:xfrm>
            <a:off x="214282" y="3714752"/>
            <a:ext cx="5857916" cy="3140860"/>
          </a:xfrm>
          <a:prstGeom prst="rect">
            <a:avLst/>
          </a:prstGeom>
          <a:noFill/>
        </p:spPr>
        <p:txBody>
          <a:bodyPr wrap="square" rtlCol="0">
            <a:spAutoFit/>
          </a:bodyPr>
          <a:lstStyle/>
          <a:p>
            <a:pPr>
              <a:lnSpc>
                <a:spcPct val="115000"/>
              </a:lnSpc>
              <a:spcAft>
                <a:spcPts val="0"/>
              </a:spcAft>
            </a:pPr>
            <a:r>
              <a:rPr lang="en-US" sz="1400" dirty="0">
                <a:solidFill>
                  <a:srgbClr val="0000FF"/>
                </a:solidFill>
                <a:ea typeface="Calibri"/>
                <a:cs typeface="Times New Roman"/>
              </a:rPr>
              <a:t>CREATE</a:t>
            </a:r>
            <a:r>
              <a:rPr lang="en-US" sz="1400" dirty="0">
                <a:ea typeface="Calibri"/>
                <a:cs typeface="Times New Roman"/>
              </a:rPr>
              <a:t> </a:t>
            </a:r>
            <a:r>
              <a:rPr lang="en-US" sz="1400" dirty="0">
                <a:solidFill>
                  <a:srgbClr val="0000FF"/>
                </a:solidFill>
                <a:ea typeface="Calibri"/>
                <a:cs typeface="Times New Roman"/>
              </a:rPr>
              <a:t>PROCEDURE</a:t>
            </a:r>
            <a:r>
              <a:rPr lang="en-US" sz="1400" dirty="0">
                <a:ea typeface="Calibri"/>
                <a:cs typeface="Times New Roman"/>
              </a:rPr>
              <a:t> </a:t>
            </a:r>
            <a:r>
              <a:rPr lang="en-US" sz="1400" dirty="0" err="1">
                <a:solidFill>
                  <a:srgbClr val="008080"/>
                </a:solidFill>
                <a:ea typeface="Calibri"/>
                <a:cs typeface="Times New Roman"/>
              </a:rPr>
              <a:t>Cost_product</a:t>
            </a:r>
            <a:endParaRPr lang="ru-RU" sz="1400" dirty="0">
              <a:ea typeface="Calibri"/>
              <a:cs typeface="Times New Roman"/>
            </a:endParaRPr>
          </a:p>
          <a:p>
            <a:pPr>
              <a:lnSpc>
                <a:spcPct val="115000"/>
              </a:lnSpc>
              <a:spcAft>
                <a:spcPts val="0"/>
              </a:spcAft>
            </a:pPr>
            <a:r>
              <a:rPr lang="en-US" sz="1400" dirty="0">
                <a:solidFill>
                  <a:srgbClr val="0000FF"/>
                </a:solidFill>
                <a:ea typeface="Calibri"/>
                <a:cs typeface="Times New Roman"/>
              </a:rPr>
              <a:t>AS</a:t>
            </a:r>
            <a:endParaRPr lang="ru-RU" sz="1400" dirty="0">
              <a:ea typeface="Calibri"/>
              <a:cs typeface="Times New Roman"/>
            </a:endParaRPr>
          </a:p>
          <a:p>
            <a:pPr>
              <a:lnSpc>
                <a:spcPct val="115000"/>
              </a:lnSpc>
              <a:spcAft>
                <a:spcPts val="0"/>
              </a:spcAft>
            </a:pPr>
            <a:r>
              <a:rPr lang="en-US" sz="1400" dirty="0">
                <a:solidFill>
                  <a:srgbClr val="0000FF"/>
                </a:solidFill>
                <a:ea typeface="Calibri"/>
                <a:cs typeface="Times New Roman"/>
              </a:rPr>
              <a:t>Update</a:t>
            </a:r>
            <a:r>
              <a:rPr lang="en-US" sz="1400" dirty="0">
                <a:ea typeface="Calibri"/>
                <a:cs typeface="Times New Roman"/>
              </a:rPr>
              <a:t> </a:t>
            </a:r>
            <a:r>
              <a:rPr lang="en-US" sz="1400" dirty="0">
                <a:solidFill>
                  <a:srgbClr val="008080"/>
                </a:solidFill>
                <a:ea typeface="Calibri"/>
                <a:cs typeface="Times New Roman"/>
              </a:rPr>
              <a:t>Product</a:t>
            </a:r>
            <a:endParaRPr lang="ru-RU" sz="1400" dirty="0">
              <a:ea typeface="Calibri"/>
              <a:cs typeface="Times New Roman"/>
            </a:endParaRPr>
          </a:p>
          <a:p>
            <a:pPr>
              <a:lnSpc>
                <a:spcPct val="115000"/>
              </a:lnSpc>
              <a:spcAft>
                <a:spcPts val="0"/>
              </a:spcAft>
            </a:pPr>
            <a:r>
              <a:rPr lang="en-US" sz="1400" dirty="0">
                <a:solidFill>
                  <a:srgbClr val="0000FF"/>
                </a:solidFill>
                <a:ea typeface="Calibri"/>
                <a:cs typeface="Times New Roman"/>
              </a:rPr>
              <a:t>SET</a:t>
            </a:r>
            <a:r>
              <a:rPr lang="en-US" sz="1400" dirty="0">
                <a:ea typeface="Calibri"/>
                <a:cs typeface="Times New Roman"/>
              </a:rPr>
              <a:t> </a:t>
            </a:r>
            <a:r>
              <a:rPr lang="en-US" sz="1400" dirty="0" err="1">
                <a:solidFill>
                  <a:srgbClr val="008080"/>
                </a:solidFill>
                <a:ea typeface="Calibri"/>
                <a:cs typeface="Times New Roman"/>
              </a:rPr>
              <a:t>Cost_product</a:t>
            </a:r>
            <a:r>
              <a:rPr lang="en-US" sz="1400" dirty="0">
                <a:solidFill>
                  <a:srgbClr val="808080"/>
                </a:solidFill>
                <a:ea typeface="Calibri"/>
                <a:cs typeface="Times New Roman"/>
              </a:rPr>
              <a:t>=(</a:t>
            </a:r>
            <a:r>
              <a:rPr lang="en-US" sz="1400" dirty="0">
                <a:solidFill>
                  <a:srgbClr val="0000FF"/>
                </a:solidFill>
                <a:ea typeface="Calibri"/>
                <a:cs typeface="Times New Roman"/>
              </a:rPr>
              <a:t>SELECT</a:t>
            </a:r>
            <a:r>
              <a:rPr lang="en-US" sz="1400" dirty="0">
                <a:ea typeface="Calibri"/>
                <a:cs typeface="Times New Roman"/>
              </a:rPr>
              <a:t> </a:t>
            </a:r>
            <a:r>
              <a:rPr lang="en-US" sz="1400" dirty="0">
                <a:solidFill>
                  <a:srgbClr val="FF00FF"/>
                </a:solidFill>
                <a:ea typeface="Calibri"/>
                <a:cs typeface="Times New Roman"/>
              </a:rPr>
              <a:t>SUM</a:t>
            </a:r>
            <a:r>
              <a:rPr lang="en-US" sz="1400" dirty="0">
                <a:solidFill>
                  <a:srgbClr val="808080"/>
                </a:solidFill>
                <a:ea typeface="Calibri"/>
                <a:cs typeface="Times New Roman"/>
              </a:rPr>
              <a:t>(</a:t>
            </a:r>
            <a:r>
              <a:rPr lang="en-US" sz="1400" dirty="0" err="1">
                <a:solidFill>
                  <a:srgbClr val="008080"/>
                </a:solidFill>
                <a:ea typeface="Calibri"/>
                <a:cs typeface="Times New Roman"/>
              </a:rPr>
              <a:t>Cost_unit</a:t>
            </a:r>
            <a:r>
              <a:rPr lang="en-US" sz="1400" dirty="0">
                <a:solidFill>
                  <a:srgbClr val="808080"/>
                </a:solidFill>
                <a:ea typeface="Calibri"/>
                <a:cs typeface="Times New Roman"/>
              </a:rPr>
              <a:t>*</a:t>
            </a:r>
            <a:r>
              <a:rPr lang="en-US" sz="1400" dirty="0" err="1">
                <a:solidFill>
                  <a:srgbClr val="008080"/>
                </a:solidFill>
                <a:ea typeface="Calibri"/>
                <a:cs typeface="Times New Roman"/>
              </a:rPr>
              <a:t>Count_unit</a:t>
            </a:r>
            <a:r>
              <a:rPr lang="en-US" sz="1400" dirty="0">
                <a:solidFill>
                  <a:srgbClr val="808080"/>
                </a:solidFill>
                <a:ea typeface="Calibri"/>
                <a:cs typeface="Times New Roman"/>
              </a:rPr>
              <a:t>)</a:t>
            </a:r>
            <a:endParaRPr lang="ru-RU" sz="1400" dirty="0">
              <a:ea typeface="Calibri"/>
              <a:cs typeface="Times New Roman"/>
            </a:endParaRPr>
          </a:p>
          <a:p>
            <a:pPr>
              <a:lnSpc>
                <a:spcPct val="115000"/>
              </a:lnSpc>
            </a:pPr>
            <a:r>
              <a:rPr lang="en-US" sz="1400" dirty="0">
                <a:ea typeface="Calibri"/>
                <a:cs typeface="Times New Roman"/>
              </a:rPr>
              <a:t>	        </a:t>
            </a:r>
            <a:r>
              <a:rPr lang="en-US" sz="1400" dirty="0">
                <a:solidFill>
                  <a:srgbClr val="0000FF"/>
                </a:solidFill>
                <a:ea typeface="Calibri"/>
                <a:cs typeface="Times New Roman"/>
              </a:rPr>
              <a:t>FROM</a:t>
            </a:r>
            <a:r>
              <a:rPr lang="en-US" sz="1400" dirty="0">
                <a:ea typeface="Calibri"/>
                <a:cs typeface="Times New Roman"/>
              </a:rPr>
              <a:t> </a:t>
            </a:r>
            <a:r>
              <a:rPr lang="en-US" sz="1400" dirty="0">
                <a:solidFill>
                  <a:srgbClr val="008080"/>
                </a:solidFill>
                <a:ea typeface="Calibri"/>
                <a:cs typeface="Times New Roman"/>
              </a:rPr>
              <a:t>Composition</a:t>
            </a:r>
            <a:endParaRPr lang="ru-RU" sz="1400" dirty="0">
              <a:ea typeface="Calibri"/>
              <a:cs typeface="Times New Roman"/>
            </a:endParaRPr>
          </a:p>
          <a:p>
            <a:pPr>
              <a:lnSpc>
                <a:spcPct val="115000"/>
              </a:lnSpc>
              <a:spcAft>
                <a:spcPts val="0"/>
              </a:spcAft>
            </a:pPr>
            <a:r>
              <a:rPr lang="en-US" sz="1400" dirty="0">
                <a:ea typeface="Calibri"/>
                <a:cs typeface="Times New Roman"/>
              </a:rPr>
              <a:t>	        </a:t>
            </a:r>
            <a:r>
              <a:rPr lang="en-US" sz="1400" dirty="0">
                <a:solidFill>
                  <a:srgbClr val="0000FF"/>
                </a:solidFill>
                <a:ea typeface="Calibri"/>
                <a:cs typeface="Times New Roman"/>
              </a:rPr>
              <a:t>WHERE</a:t>
            </a:r>
            <a:r>
              <a:rPr lang="en-US" sz="1400" dirty="0">
                <a:ea typeface="Calibri"/>
                <a:cs typeface="Times New Roman"/>
              </a:rPr>
              <a:t> </a:t>
            </a:r>
            <a:r>
              <a:rPr lang="en-US" sz="1400" dirty="0" err="1">
                <a:solidFill>
                  <a:srgbClr val="008080"/>
                </a:solidFill>
                <a:ea typeface="Calibri"/>
                <a:cs typeface="Times New Roman"/>
              </a:rPr>
              <a:t>Product</a:t>
            </a:r>
            <a:r>
              <a:rPr lang="en-US" sz="1400" dirty="0" err="1">
                <a:solidFill>
                  <a:srgbClr val="808080"/>
                </a:solidFill>
                <a:ea typeface="Calibri"/>
                <a:cs typeface="Times New Roman"/>
              </a:rPr>
              <a:t>.</a:t>
            </a:r>
            <a:r>
              <a:rPr lang="en-US" sz="1400" dirty="0" err="1">
                <a:solidFill>
                  <a:srgbClr val="008080"/>
                </a:solidFill>
                <a:ea typeface="Calibri"/>
                <a:cs typeface="Times New Roman"/>
              </a:rPr>
              <a:t>Id_product</a:t>
            </a:r>
            <a:r>
              <a:rPr lang="en-US" sz="1400" dirty="0">
                <a:solidFill>
                  <a:srgbClr val="808080"/>
                </a:solidFill>
                <a:ea typeface="Calibri"/>
                <a:cs typeface="Times New Roman"/>
              </a:rPr>
              <a:t>=</a:t>
            </a:r>
            <a:r>
              <a:rPr lang="en-US" sz="1400" dirty="0">
                <a:solidFill>
                  <a:srgbClr val="008080"/>
                </a:solidFill>
                <a:ea typeface="Calibri"/>
                <a:cs typeface="Times New Roman"/>
              </a:rPr>
              <a:t> </a:t>
            </a:r>
            <a:r>
              <a:rPr lang="en-US" sz="1400" dirty="0" err="1">
                <a:solidFill>
                  <a:srgbClr val="008080"/>
                </a:solidFill>
                <a:ea typeface="Calibri"/>
                <a:cs typeface="Times New Roman"/>
              </a:rPr>
              <a:t>Composition</a:t>
            </a:r>
            <a:r>
              <a:rPr lang="en-US" sz="1400" dirty="0" err="1">
                <a:solidFill>
                  <a:srgbClr val="808080"/>
                </a:solidFill>
                <a:ea typeface="Calibri"/>
                <a:cs typeface="Times New Roman"/>
              </a:rPr>
              <a:t>.</a:t>
            </a:r>
            <a:r>
              <a:rPr lang="en-US" sz="1400" dirty="0" err="1">
                <a:solidFill>
                  <a:srgbClr val="008080"/>
                </a:solidFill>
                <a:ea typeface="Calibri"/>
                <a:cs typeface="Times New Roman"/>
              </a:rPr>
              <a:t>Id_product</a:t>
            </a:r>
            <a:endParaRPr lang="ru-RU" sz="1400" dirty="0">
              <a:ea typeface="Calibri"/>
              <a:cs typeface="Times New Roman"/>
            </a:endParaRPr>
          </a:p>
          <a:p>
            <a:pPr>
              <a:lnSpc>
                <a:spcPct val="115000"/>
              </a:lnSpc>
              <a:spcAft>
                <a:spcPts val="0"/>
              </a:spcAft>
            </a:pPr>
            <a:r>
              <a:rPr lang="en-US" sz="1400" dirty="0">
                <a:ea typeface="Calibri"/>
                <a:cs typeface="Times New Roman"/>
              </a:rPr>
              <a:t>	        </a:t>
            </a:r>
            <a:r>
              <a:rPr lang="ru-RU" sz="1400" dirty="0">
                <a:solidFill>
                  <a:srgbClr val="0000FF"/>
                </a:solidFill>
                <a:ea typeface="Calibri"/>
                <a:cs typeface="Times New Roman"/>
              </a:rPr>
              <a:t>GROUP</a:t>
            </a:r>
            <a:r>
              <a:rPr lang="ru-RU" sz="1400" dirty="0">
                <a:ea typeface="Calibri"/>
                <a:cs typeface="Times New Roman"/>
              </a:rPr>
              <a:t> </a:t>
            </a:r>
            <a:r>
              <a:rPr lang="ru-RU" sz="1400" dirty="0">
                <a:solidFill>
                  <a:srgbClr val="0000FF"/>
                </a:solidFill>
                <a:ea typeface="Calibri"/>
                <a:cs typeface="Times New Roman"/>
              </a:rPr>
              <a:t>BY</a:t>
            </a:r>
            <a:r>
              <a:rPr lang="ru-RU" sz="1400" dirty="0">
                <a:ea typeface="Calibri"/>
                <a:cs typeface="Times New Roman"/>
              </a:rPr>
              <a:t> </a:t>
            </a:r>
            <a:r>
              <a:rPr lang="ru-RU" sz="1400" dirty="0" err="1">
                <a:solidFill>
                  <a:srgbClr val="008080"/>
                </a:solidFill>
                <a:ea typeface="Calibri"/>
                <a:cs typeface="Times New Roman"/>
              </a:rPr>
              <a:t>Id_product</a:t>
            </a:r>
            <a:r>
              <a:rPr lang="ru-RU" sz="1400" dirty="0">
                <a:solidFill>
                  <a:srgbClr val="808080"/>
                </a:solidFill>
                <a:ea typeface="Calibri"/>
                <a:cs typeface="Times New Roman"/>
              </a:rPr>
              <a:t>)</a:t>
            </a:r>
            <a:endParaRPr lang="ru-RU" sz="1400" dirty="0">
              <a:ea typeface="Calibri"/>
              <a:cs typeface="Times New Roman"/>
            </a:endParaRPr>
          </a:p>
          <a:p>
            <a:pPr>
              <a:lnSpc>
                <a:spcPct val="115000"/>
              </a:lnSpc>
            </a:pPr>
            <a:r>
              <a:rPr lang="ru-RU" sz="1400" dirty="0">
                <a:solidFill>
                  <a:srgbClr val="808080"/>
                </a:solidFill>
                <a:ea typeface="Calibri"/>
                <a:cs typeface="Times New Roman"/>
              </a:rPr>
              <a:t> </a:t>
            </a:r>
          </a:p>
          <a:p>
            <a:pPr>
              <a:lnSpc>
                <a:spcPct val="115000"/>
              </a:lnSpc>
            </a:pPr>
            <a:r>
              <a:rPr lang="ru-RU" sz="1400" dirty="0">
                <a:ea typeface="Calibri"/>
                <a:cs typeface="Times New Roman"/>
              </a:rPr>
              <a:t>Вызов процедуры для расчета </a:t>
            </a:r>
          </a:p>
          <a:p>
            <a:pPr>
              <a:lnSpc>
                <a:spcPct val="115000"/>
              </a:lnSpc>
            </a:pPr>
            <a:r>
              <a:rPr lang="ru-RU" sz="1400" dirty="0">
                <a:ea typeface="Calibri"/>
                <a:cs typeface="Times New Roman"/>
              </a:rPr>
              <a:t>значений в поле </a:t>
            </a:r>
            <a:r>
              <a:rPr lang="en-US" sz="1400" dirty="0"/>
              <a:t>Cost</a:t>
            </a:r>
            <a:r>
              <a:rPr lang="ru-RU" sz="1400" dirty="0"/>
              <a:t>_</a:t>
            </a:r>
            <a:r>
              <a:rPr lang="en-US" sz="1400" dirty="0"/>
              <a:t>product</a:t>
            </a:r>
            <a:endParaRPr lang="ru-RU" sz="1400" dirty="0"/>
          </a:p>
          <a:p>
            <a:pPr>
              <a:lnSpc>
                <a:spcPct val="115000"/>
              </a:lnSpc>
            </a:pPr>
            <a:r>
              <a:rPr lang="ru-RU" sz="1400" dirty="0"/>
              <a:t>таблицы  </a:t>
            </a:r>
            <a:r>
              <a:rPr lang="en-US" sz="1400" dirty="0"/>
              <a:t>Product</a:t>
            </a:r>
            <a:r>
              <a:rPr lang="ru-RU" sz="1400" dirty="0"/>
              <a:t>:</a:t>
            </a:r>
            <a:endParaRPr lang="ru-RU" sz="1400" b="1" dirty="0"/>
          </a:p>
          <a:p>
            <a:pPr>
              <a:lnSpc>
                <a:spcPct val="150000"/>
              </a:lnSpc>
              <a:spcAft>
                <a:spcPts val="0"/>
              </a:spcAft>
            </a:pPr>
            <a:r>
              <a:rPr lang="en-US" sz="1400" dirty="0">
                <a:solidFill>
                  <a:srgbClr val="0000FF"/>
                </a:solidFill>
                <a:latin typeface="Times New Roman"/>
                <a:ea typeface="Calibri"/>
                <a:cs typeface="Times New Roman"/>
              </a:rPr>
              <a:t>EXEC</a:t>
            </a:r>
            <a:r>
              <a:rPr lang="en-US" sz="1400" dirty="0">
                <a:latin typeface="Times New Roman"/>
                <a:ea typeface="Calibri"/>
                <a:cs typeface="Times New Roman"/>
              </a:rPr>
              <a:t> </a:t>
            </a:r>
            <a:r>
              <a:rPr lang="en-US" sz="1400" dirty="0" err="1">
                <a:solidFill>
                  <a:srgbClr val="008080"/>
                </a:solidFill>
                <a:latin typeface="Times New Roman"/>
                <a:ea typeface="Calibri"/>
                <a:cs typeface="Times New Roman"/>
              </a:rPr>
              <a:t>Cost_product</a:t>
            </a:r>
            <a:r>
              <a:rPr lang="en-US" sz="1400" dirty="0">
                <a:solidFill>
                  <a:srgbClr val="008080"/>
                </a:solidFill>
                <a:latin typeface="Times New Roman"/>
                <a:ea typeface="Calibri"/>
                <a:cs typeface="Times New Roman"/>
              </a:rPr>
              <a:t> </a:t>
            </a:r>
            <a:r>
              <a:rPr lang="en-US" sz="1400" dirty="0">
                <a:latin typeface="Times New Roman"/>
                <a:ea typeface="Calibri"/>
                <a:cs typeface="Times New Roman"/>
              </a:rPr>
              <a:t> </a:t>
            </a:r>
            <a:r>
              <a:rPr lang="ru-RU" sz="1400" dirty="0">
                <a:latin typeface="Times New Roman"/>
                <a:ea typeface="Calibri"/>
                <a:cs typeface="Times New Roman"/>
              </a:rPr>
              <a:t>или</a:t>
            </a:r>
            <a:r>
              <a:rPr lang="en-US" sz="1400" dirty="0">
                <a:solidFill>
                  <a:srgbClr val="008080"/>
                </a:solidFill>
                <a:latin typeface="Times New Roman"/>
                <a:ea typeface="Calibri"/>
                <a:cs typeface="Times New Roman"/>
              </a:rPr>
              <a:t>  </a:t>
            </a:r>
            <a:r>
              <a:rPr lang="en-US" sz="1400" dirty="0" err="1">
                <a:solidFill>
                  <a:srgbClr val="008080"/>
                </a:solidFill>
                <a:latin typeface="Times New Roman"/>
                <a:ea typeface="Calibri"/>
                <a:cs typeface="Times New Roman"/>
              </a:rPr>
              <a:t>Cost_product</a:t>
            </a:r>
            <a:r>
              <a:rPr lang="en-US" sz="1400" dirty="0">
                <a:solidFill>
                  <a:srgbClr val="008080"/>
                </a:solidFill>
                <a:latin typeface="Times New Roman"/>
                <a:ea typeface="Calibri"/>
                <a:cs typeface="Times New Roman"/>
              </a:rPr>
              <a:t> </a:t>
            </a:r>
            <a:r>
              <a:rPr lang="en-US" sz="1400" dirty="0">
                <a:latin typeface="Times New Roman"/>
                <a:ea typeface="Calibri"/>
                <a:cs typeface="Times New Roman"/>
              </a:rPr>
              <a:t> </a:t>
            </a:r>
            <a:endParaRPr lang="ru-RU" sz="1400" dirty="0">
              <a:latin typeface="Times New Roman"/>
              <a:ea typeface="Calibri"/>
              <a:cs typeface="Times New Roman"/>
            </a:endParaRPr>
          </a:p>
        </p:txBody>
      </p:sp>
      <p:pic>
        <p:nvPicPr>
          <p:cNvPr id="1026" name="Picture 2"/>
          <p:cNvPicPr>
            <a:picLocks noChangeAspect="1" noChangeArrowheads="1"/>
          </p:cNvPicPr>
          <p:nvPr/>
        </p:nvPicPr>
        <p:blipFill>
          <a:blip r:embed="rId2" cstate="print"/>
          <a:srcRect/>
          <a:stretch>
            <a:fillRect/>
          </a:stretch>
        </p:blipFill>
        <p:spPr bwMode="auto">
          <a:xfrm>
            <a:off x="5572132" y="4449074"/>
            <a:ext cx="2999332" cy="837313"/>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3286116" y="5572140"/>
            <a:ext cx="5576182" cy="1285860"/>
          </a:xfrm>
          <a:prstGeom prst="rect">
            <a:avLst/>
          </a:prstGeom>
          <a:noFill/>
          <a:ln w="9525">
            <a:noFill/>
            <a:miter lim="800000"/>
            <a:headEnd/>
            <a:tailEnd/>
          </a:ln>
          <a:effectLst/>
        </p:spPr>
      </p:pic>
      <p:graphicFrame>
        <p:nvGraphicFramePr>
          <p:cNvPr id="11" name="Таблица 10"/>
          <p:cNvGraphicFramePr>
            <a:graphicFrameLocks noGrp="1"/>
          </p:cNvGraphicFramePr>
          <p:nvPr/>
        </p:nvGraphicFramePr>
        <p:xfrm>
          <a:off x="3286116" y="2071678"/>
          <a:ext cx="5786478" cy="1580508"/>
        </p:xfrm>
        <a:graphic>
          <a:graphicData uri="http://schemas.openxmlformats.org/drawingml/2006/table">
            <a:tbl>
              <a:tblPr firstRow="1" bandRow="1">
                <a:tableStyleId>{F5AB1C69-6EDB-4FF4-983F-18BD219EF322}</a:tableStyleId>
              </a:tblPr>
              <a:tblGrid>
                <a:gridCol w="1357322">
                  <a:extLst>
                    <a:ext uri="{9D8B030D-6E8A-4147-A177-3AD203B41FA5}">
                      <a16:colId xmlns:a16="http://schemas.microsoft.com/office/drawing/2014/main" val="20000"/>
                    </a:ext>
                  </a:extLst>
                </a:gridCol>
                <a:gridCol w="1285884">
                  <a:extLst>
                    <a:ext uri="{9D8B030D-6E8A-4147-A177-3AD203B41FA5}">
                      <a16:colId xmlns:a16="http://schemas.microsoft.com/office/drawing/2014/main" val="20001"/>
                    </a:ext>
                  </a:extLst>
                </a:gridCol>
                <a:gridCol w="1071570">
                  <a:extLst>
                    <a:ext uri="{9D8B030D-6E8A-4147-A177-3AD203B41FA5}">
                      <a16:colId xmlns:a16="http://schemas.microsoft.com/office/drawing/2014/main" val="20002"/>
                    </a:ext>
                  </a:extLst>
                </a:gridCol>
                <a:gridCol w="1000132">
                  <a:extLst>
                    <a:ext uri="{9D8B030D-6E8A-4147-A177-3AD203B41FA5}">
                      <a16:colId xmlns:a16="http://schemas.microsoft.com/office/drawing/2014/main" val="20003"/>
                    </a:ext>
                  </a:extLst>
                </a:gridCol>
                <a:gridCol w="1071570">
                  <a:extLst>
                    <a:ext uri="{9D8B030D-6E8A-4147-A177-3AD203B41FA5}">
                      <a16:colId xmlns:a16="http://schemas.microsoft.com/office/drawing/2014/main" val="20004"/>
                    </a:ext>
                  </a:extLst>
                </a:gridCol>
              </a:tblGrid>
              <a:tr h="343956">
                <a:tc>
                  <a:txBody>
                    <a:bodyPr/>
                    <a:lstStyle/>
                    <a:p>
                      <a:r>
                        <a:rPr lang="en-US" sz="1350" dirty="0"/>
                        <a:t>ID</a:t>
                      </a:r>
                      <a:r>
                        <a:rPr lang="ru-RU" sz="1350" dirty="0"/>
                        <a:t>_</a:t>
                      </a:r>
                      <a:r>
                        <a:rPr lang="en-US" sz="1350" dirty="0"/>
                        <a:t>Composition (PK)</a:t>
                      </a:r>
                      <a:endParaRPr lang="ru-RU" sz="135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500" dirty="0"/>
                        <a:t>ID</a:t>
                      </a:r>
                      <a:r>
                        <a:rPr lang="ru-RU" sz="1500" dirty="0"/>
                        <a:t>_</a:t>
                      </a:r>
                      <a:r>
                        <a:rPr lang="en-US" sz="1500" dirty="0"/>
                        <a:t>ingredient </a:t>
                      </a:r>
                      <a:endParaRPr lang="ru-RU" sz="1500" dirty="0"/>
                    </a:p>
                    <a:p>
                      <a:r>
                        <a:rPr lang="en-US" sz="1500" dirty="0"/>
                        <a:t>(FK)</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err="1"/>
                        <a:t>Id_product</a:t>
                      </a:r>
                      <a:r>
                        <a:rPr lang="en-US" sz="1500" dirty="0"/>
                        <a:t> (FK)</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500" dirty="0"/>
                        <a:t>Cost</a:t>
                      </a:r>
                      <a:r>
                        <a:rPr lang="ru-RU" sz="1500" dirty="0"/>
                        <a:t>_</a:t>
                      </a:r>
                      <a:r>
                        <a:rPr lang="en-US" sz="1500" dirty="0"/>
                        <a:t>unit</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en-US" sz="1500" dirty="0"/>
                        <a:t>Count</a:t>
                      </a:r>
                      <a:r>
                        <a:rPr lang="ru-RU" sz="1500" dirty="0"/>
                        <a:t>_</a:t>
                      </a:r>
                      <a:r>
                        <a:rPr lang="en-US" sz="1500" dirty="0"/>
                        <a:t>unit</a:t>
                      </a:r>
                      <a:endParaRPr lang="ru-RU" sz="1500" dirty="0"/>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343956">
                <a:tc>
                  <a:txBody>
                    <a:bodyPr/>
                    <a:lstStyle/>
                    <a:p>
                      <a:r>
                        <a:rPr lang="ru-RU" sz="1500" dirty="0"/>
                        <a:t>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900</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2</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1"/>
                  </a:ext>
                </a:extLst>
              </a:tr>
              <a:tr h="343956">
                <a:tc>
                  <a:txBody>
                    <a:bodyPr/>
                    <a:lstStyle/>
                    <a:p>
                      <a:r>
                        <a:rPr lang="ru-RU" sz="1500" dirty="0"/>
                        <a:t>2</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12</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300</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r h="343956">
                <a:tc>
                  <a:txBody>
                    <a:bodyPr/>
                    <a:lstStyle/>
                    <a:p>
                      <a:r>
                        <a:rPr lang="ru-RU" sz="1500" dirty="0"/>
                        <a:t>3</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13</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2</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200</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tc>
                  <a:txBody>
                    <a:bodyPr/>
                    <a:lstStyle/>
                    <a:p>
                      <a:r>
                        <a:rPr lang="ru-RU" sz="1500" dirty="0"/>
                        <a:t>1</a:t>
                      </a:r>
                    </a:p>
                  </a:txBody>
                  <a:tcP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Прямоугольник 11"/>
          <p:cNvSpPr/>
          <p:nvPr/>
        </p:nvSpPr>
        <p:spPr>
          <a:xfrm>
            <a:off x="3286116" y="1714488"/>
            <a:ext cx="1979644" cy="369332"/>
          </a:xfrm>
          <a:prstGeom prst="rect">
            <a:avLst/>
          </a:prstGeom>
        </p:spPr>
        <p:txBody>
          <a:bodyPr wrap="none">
            <a:spAutoFit/>
          </a:bodyPr>
          <a:lstStyle/>
          <a:p>
            <a:r>
              <a:rPr lang="en-US" dirty="0"/>
              <a:t>Table. Composition</a:t>
            </a:r>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8</a:t>
            </a:fld>
            <a:endParaRPr lang="ru-RU"/>
          </a:p>
        </p:txBody>
      </p:sp>
      <p:sp>
        <p:nvSpPr>
          <p:cNvPr id="3" name="Заголовок 1"/>
          <p:cNvSpPr txBox="1">
            <a:spLocks/>
          </p:cNvSpPr>
          <p:nvPr/>
        </p:nvSpPr>
        <p:spPr>
          <a:xfrm>
            <a:off x="428596" y="142852"/>
            <a:ext cx="8229600" cy="654032"/>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500" dirty="0">
                <a:latin typeface="+mj-lt"/>
                <a:ea typeface="+mj-ea"/>
                <a:cs typeface="+mj-cs"/>
              </a:rPr>
              <a:t>Пример создания процедуры с входным параметром</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357158" y="785794"/>
            <a:ext cx="8572560" cy="5556393"/>
          </a:xfrm>
          <a:prstGeom prst="rect">
            <a:avLst/>
          </a:prstGeom>
          <a:noFill/>
        </p:spPr>
        <p:txBody>
          <a:bodyPr wrap="square" rtlCol="0">
            <a:spAutoFit/>
          </a:bodyPr>
          <a:lstStyle/>
          <a:p>
            <a:r>
              <a:rPr lang="ru-RU" dirty="0"/>
              <a:t>Создать процедуру для увеличения размера стипендии у студентов со средней оценкой больше 4-х. Процент увеличения стипендии входной параметр:</a:t>
            </a:r>
          </a:p>
          <a:p>
            <a:endParaRPr lang="ru-RU" dirty="0"/>
          </a:p>
          <a:p>
            <a:pPr>
              <a:lnSpc>
                <a:spcPct val="115000"/>
              </a:lnSpc>
              <a:spcAft>
                <a:spcPts val="0"/>
              </a:spcAft>
            </a:pPr>
            <a:r>
              <a:rPr lang="en-US" dirty="0">
                <a:solidFill>
                  <a:srgbClr val="0000FF"/>
                </a:solidFill>
                <a:ea typeface="Calibri"/>
                <a:cs typeface="Times New Roman"/>
              </a:rPr>
              <a:t>CREATE</a:t>
            </a:r>
            <a:r>
              <a:rPr lang="en-US" dirty="0">
                <a:ea typeface="Calibri"/>
                <a:cs typeface="Times New Roman"/>
              </a:rPr>
              <a:t> </a:t>
            </a:r>
            <a:r>
              <a:rPr lang="en-US" dirty="0">
                <a:solidFill>
                  <a:srgbClr val="0000FF"/>
                </a:solidFill>
                <a:ea typeface="Calibri"/>
                <a:cs typeface="Times New Roman"/>
              </a:rPr>
              <a:t>PROCEDURE</a:t>
            </a:r>
            <a:r>
              <a:rPr lang="en-US" dirty="0">
                <a:ea typeface="Calibri"/>
                <a:cs typeface="Times New Roman"/>
              </a:rPr>
              <a:t> </a:t>
            </a:r>
            <a:r>
              <a:rPr lang="en-US" dirty="0" err="1">
                <a:solidFill>
                  <a:srgbClr val="008080"/>
                </a:solidFill>
                <a:ea typeface="Calibri"/>
                <a:cs typeface="Times New Roman"/>
              </a:rPr>
              <a:t>Reduce_stipend</a:t>
            </a:r>
            <a:endParaRPr lang="ru-RU" sz="2400" dirty="0">
              <a:ea typeface="Calibri"/>
              <a:cs typeface="Times New Roman"/>
            </a:endParaRPr>
          </a:p>
          <a:p>
            <a:pPr>
              <a:lnSpc>
                <a:spcPct val="115000"/>
              </a:lnSpc>
              <a:spcAft>
                <a:spcPts val="0"/>
              </a:spcAft>
            </a:pPr>
            <a:r>
              <a:rPr lang="en-US" dirty="0">
                <a:solidFill>
                  <a:srgbClr val="008080"/>
                </a:solidFill>
                <a:ea typeface="Calibri"/>
                <a:cs typeface="Times New Roman"/>
              </a:rPr>
              <a:t>@</a:t>
            </a:r>
            <a:r>
              <a:rPr lang="en-US" dirty="0" err="1">
                <a:solidFill>
                  <a:srgbClr val="008080"/>
                </a:solidFill>
                <a:ea typeface="Calibri"/>
                <a:cs typeface="Times New Roman"/>
              </a:rPr>
              <a:t>Persent</a:t>
            </a:r>
            <a:r>
              <a:rPr lang="en-US" dirty="0">
                <a:ea typeface="Calibri"/>
                <a:cs typeface="Times New Roman"/>
              </a:rPr>
              <a:t> </a:t>
            </a:r>
            <a:r>
              <a:rPr lang="en-US" dirty="0">
                <a:solidFill>
                  <a:srgbClr val="0000FF"/>
                </a:solidFill>
                <a:ea typeface="Calibri"/>
                <a:cs typeface="Times New Roman"/>
              </a:rPr>
              <a:t>float</a:t>
            </a:r>
            <a:r>
              <a:rPr lang="en-US" dirty="0">
                <a:ea typeface="Calibri"/>
                <a:cs typeface="Times New Roman"/>
              </a:rPr>
              <a:t> </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AS</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UPDATE</a:t>
            </a:r>
            <a:r>
              <a:rPr lang="en-US" dirty="0">
                <a:ea typeface="Calibri"/>
                <a:cs typeface="Times New Roman"/>
              </a:rPr>
              <a:t> </a:t>
            </a:r>
            <a:r>
              <a:rPr lang="en-US" dirty="0">
                <a:solidFill>
                  <a:srgbClr val="008080"/>
                </a:solidFill>
                <a:ea typeface="Calibri"/>
                <a:cs typeface="Times New Roman"/>
              </a:rPr>
              <a:t>Student</a:t>
            </a:r>
            <a:r>
              <a:rPr lang="en-US" dirty="0">
                <a:ea typeface="Calibri"/>
                <a:cs typeface="Times New Roman"/>
              </a:rPr>
              <a:t> </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SET</a:t>
            </a:r>
            <a:r>
              <a:rPr lang="en-US" dirty="0">
                <a:ea typeface="Calibri"/>
                <a:cs typeface="Times New Roman"/>
              </a:rPr>
              <a:t> </a:t>
            </a:r>
            <a:r>
              <a:rPr lang="en-US" dirty="0">
                <a:solidFill>
                  <a:srgbClr val="008080"/>
                </a:solidFill>
                <a:ea typeface="Calibri"/>
                <a:cs typeface="Times New Roman"/>
              </a:rPr>
              <a:t>Stipend</a:t>
            </a:r>
            <a:r>
              <a:rPr lang="en-US" dirty="0">
                <a:ea typeface="Calibri"/>
                <a:cs typeface="Times New Roman"/>
              </a:rPr>
              <a:t> </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Stipend</a:t>
            </a:r>
            <a:r>
              <a:rPr lang="en-US" dirty="0">
                <a:solidFill>
                  <a:srgbClr val="808080"/>
                </a:solidFill>
                <a:ea typeface="Calibri"/>
                <a:cs typeface="Times New Roman"/>
              </a:rPr>
              <a:t>*(</a:t>
            </a:r>
            <a:r>
              <a:rPr lang="en-US">
                <a:ea typeface="Calibri"/>
                <a:cs typeface="Times New Roman"/>
              </a:rPr>
              <a:t>100</a:t>
            </a:r>
            <a:r>
              <a:rPr lang="en-US">
                <a:solidFill>
                  <a:srgbClr val="808080"/>
                </a:solidFill>
                <a:ea typeface="Calibri"/>
                <a:cs typeface="Times New Roman"/>
              </a:rPr>
              <a:t>+</a:t>
            </a:r>
            <a:r>
              <a:rPr lang="en-US">
                <a:solidFill>
                  <a:srgbClr val="008080"/>
                </a:solidFill>
                <a:ea typeface="Calibri"/>
                <a:cs typeface="Times New Roman"/>
              </a:rPr>
              <a:t>@percent</a:t>
            </a:r>
            <a:r>
              <a:rPr lang="en-US">
                <a:solidFill>
                  <a:srgbClr val="808080"/>
                </a:solidFill>
                <a:ea typeface="Calibri"/>
                <a:cs typeface="Times New Roman"/>
              </a:rPr>
              <a:t>)/</a:t>
            </a:r>
            <a:r>
              <a:rPr lang="en-US" dirty="0">
                <a:ea typeface="Calibri"/>
                <a:cs typeface="Times New Roman"/>
              </a:rPr>
              <a:t>100</a:t>
            </a:r>
            <a:endParaRPr lang="ru-RU" sz="2400" dirty="0">
              <a:ea typeface="Calibri"/>
              <a:cs typeface="Times New Roman"/>
            </a:endParaRPr>
          </a:p>
          <a:p>
            <a:pPr>
              <a:lnSpc>
                <a:spcPct val="115000"/>
              </a:lnSpc>
              <a:spcAft>
                <a:spcPts val="0"/>
              </a:spcAft>
            </a:pPr>
            <a:r>
              <a:rPr lang="en-US" dirty="0">
                <a:solidFill>
                  <a:srgbClr val="0000FF"/>
                </a:solidFill>
                <a:ea typeface="Calibri"/>
                <a:cs typeface="Times New Roman"/>
              </a:rPr>
              <a:t>WHERE</a:t>
            </a:r>
            <a:r>
              <a:rPr lang="en-US" dirty="0">
                <a:ea typeface="Calibri"/>
                <a:cs typeface="Times New Roman"/>
              </a:rPr>
              <a:t> </a:t>
            </a:r>
            <a:r>
              <a:rPr lang="en-US" dirty="0" err="1">
                <a:solidFill>
                  <a:srgbClr val="008080"/>
                </a:solidFill>
                <a:ea typeface="Calibri"/>
                <a:cs typeface="Times New Roman"/>
              </a:rPr>
              <a:t>Student_Id</a:t>
            </a:r>
            <a:r>
              <a:rPr lang="en-US" dirty="0">
                <a:ea typeface="Calibri"/>
                <a:cs typeface="Times New Roman"/>
              </a:rPr>
              <a:t> </a:t>
            </a:r>
            <a:r>
              <a:rPr lang="en-US" dirty="0">
                <a:solidFill>
                  <a:srgbClr val="808080"/>
                </a:solidFill>
                <a:ea typeface="Calibri"/>
                <a:cs typeface="Times New Roman"/>
              </a:rPr>
              <a:t>IN</a:t>
            </a:r>
            <a:r>
              <a:rPr lang="en-US" dirty="0">
                <a:solidFill>
                  <a:srgbClr val="0000FF"/>
                </a:solidFill>
                <a:ea typeface="Calibri"/>
                <a:cs typeface="Times New Roman"/>
              </a:rPr>
              <a:t> </a:t>
            </a:r>
            <a:r>
              <a:rPr lang="en-US" dirty="0">
                <a:solidFill>
                  <a:srgbClr val="808080"/>
                </a:solidFill>
                <a:ea typeface="Calibri"/>
                <a:cs typeface="Times New Roman"/>
              </a:rPr>
              <a:t>(</a:t>
            </a:r>
            <a:r>
              <a:rPr lang="en-US" dirty="0">
                <a:solidFill>
                  <a:srgbClr val="0000FF"/>
                </a:solidFill>
                <a:ea typeface="Calibri"/>
                <a:cs typeface="Times New Roman"/>
              </a:rPr>
              <a:t>SELECT</a:t>
            </a:r>
            <a:r>
              <a:rPr lang="en-US" dirty="0">
                <a:ea typeface="Calibri"/>
                <a:cs typeface="Times New Roman"/>
              </a:rPr>
              <a:t> </a:t>
            </a:r>
            <a:r>
              <a:rPr lang="en-US" dirty="0" err="1">
                <a:solidFill>
                  <a:srgbClr val="008080"/>
                </a:solidFill>
                <a:ea typeface="Calibri"/>
                <a:cs typeface="Times New Roman"/>
              </a:rPr>
              <a:t>Student_Id</a:t>
            </a:r>
            <a:r>
              <a:rPr lang="en-US" dirty="0">
                <a:ea typeface="Calibri"/>
                <a:cs typeface="Times New Roman"/>
              </a:rPr>
              <a:t> </a:t>
            </a:r>
            <a:endParaRPr lang="ru-RU" dirty="0">
              <a:ea typeface="Calibri"/>
              <a:cs typeface="Times New Roman"/>
            </a:endParaRPr>
          </a:p>
          <a:p>
            <a:pPr>
              <a:lnSpc>
                <a:spcPct val="115000"/>
              </a:lnSpc>
              <a:spcAft>
                <a:spcPts val="0"/>
              </a:spcAft>
            </a:pPr>
            <a:r>
              <a:rPr lang="ru-RU" dirty="0">
                <a:solidFill>
                  <a:srgbClr val="0000FF"/>
                </a:solidFill>
                <a:ea typeface="Calibri"/>
                <a:cs typeface="Times New Roman"/>
              </a:rPr>
              <a:t>		       </a:t>
            </a:r>
            <a:r>
              <a:rPr lang="en-US" dirty="0">
                <a:solidFill>
                  <a:srgbClr val="0000FF"/>
                </a:solidFill>
                <a:ea typeface="Calibri"/>
                <a:cs typeface="Times New Roman"/>
              </a:rPr>
              <a:t>FROM</a:t>
            </a:r>
            <a:r>
              <a:rPr lang="en-US" dirty="0">
                <a:ea typeface="Calibri"/>
                <a:cs typeface="Times New Roman"/>
              </a:rPr>
              <a:t> </a:t>
            </a:r>
            <a:r>
              <a:rPr lang="en-US" dirty="0" err="1">
                <a:solidFill>
                  <a:srgbClr val="008080"/>
                </a:solidFill>
                <a:ea typeface="Calibri"/>
                <a:cs typeface="Times New Roman"/>
              </a:rPr>
              <a:t>Exam_marks</a:t>
            </a:r>
            <a:r>
              <a:rPr lang="en-US" dirty="0">
                <a:ea typeface="Calibri"/>
                <a:cs typeface="Times New Roman"/>
              </a:rPr>
              <a:t> </a:t>
            </a:r>
            <a:endParaRPr lang="ru-RU" sz="2400" dirty="0">
              <a:ea typeface="Calibri"/>
              <a:cs typeface="Times New Roman"/>
            </a:endParaRPr>
          </a:p>
          <a:p>
            <a:pPr>
              <a:lnSpc>
                <a:spcPct val="115000"/>
              </a:lnSpc>
              <a:spcAft>
                <a:spcPts val="0"/>
              </a:spcAft>
            </a:pPr>
            <a:r>
              <a:rPr lang="en-US" dirty="0">
                <a:ea typeface="Calibri"/>
                <a:cs typeface="Times New Roman"/>
              </a:rPr>
              <a:t>	</a:t>
            </a:r>
            <a:r>
              <a:rPr lang="ru-RU" dirty="0">
                <a:ea typeface="Calibri"/>
                <a:cs typeface="Times New Roman"/>
              </a:rPr>
              <a:t>                        </a:t>
            </a:r>
            <a:r>
              <a:rPr lang="en-US" dirty="0">
                <a:solidFill>
                  <a:srgbClr val="0000FF"/>
                </a:solidFill>
                <a:ea typeface="Calibri"/>
                <a:cs typeface="Times New Roman"/>
              </a:rPr>
              <a:t>WHERE</a:t>
            </a:r>
            <a:r>
              <a:rPr lang="en-US" dirty="0">
                <a:ea typeface="Calibri"/>
                <a:cs typeface="Times New Roman"/>
              </a:rPr>
              <a:t> </a:t>
            </a:r>
            <a:r>
              <a:rPr lang="en-US" dirty="0">
                <a:solidFill>
                  <a:srgbClr val="008080"/>
                </a:solidFill>
                <a:ea typeface="Calibri"/>
                <a:cs typeface="Times New Roman"/>
              </a:rPr>
              <a:t>Mark</a:t>
            </a:r>
            <a:r>
              <a:rPr lang="en-US" dirty="0">
                <a:ea typeface="Calibri"/>
                <a:cs typeface="Times New Roman"/>
              </a:rPr>
              <a:t> </a:t>
            </a:r>
            <a:r>
              <a:rPr lang="en-US" dirty="0">
                <a:solidFill>
                  <a:srgbClr val="808080"/>
                </a:solidFill>
                <a:ea typeface="Calibri"/>
                <a:cs typeface="Times New Roman"/>
              </a:rPr>
              <a:t>IS</a:t>
            </a:r>
            <a:r>
              <a:rPr lang="en-US" dirty="0">
                <a:ea typeface="Calibri"/>
                <a:cs typeface="Times New Roman"/>
              </a:rPr>
              <a:t> </a:t>
            </a:r>
            <a:r>
              <a:rPr lang="en-US" dirty="0">
                <a:solidFill>
                  <a:srgbClr val="808080"/>
                </a:solidFill>
                <a:ea typeface="Calibri"/>
                <a:cs typeface="Times New Roman"/>
              </a:rPr>
              <a:t>NOT</a:t>
            </a:r>
            <a:r>
              <a:rPr lang="en-US" dirty="0">
                <a:ea typeface="Calibri"/>
                <a:cs typeface="Times New Roman"/>
              </a:rPr>
              <a:t> </a:t>
            </a:r>
            <a:r>
              <a:rPr lang="en-US" dirty="0">
                <a:solidFill>
                  <a:srgbClr val="808080"/>
                </a:solidFill>
                <a:ea typeface="Calibri"/>
                <a:cs typeface="Times New Roman"/>
              </a:rPr>
              <a:t>NULL</a:t>
            </a:r>
            <a:r>
              <a:rPr lang="en-US" dirty="0">
                <a:ea typeface="Calibri"/>
                <a:cs typeface="Times New Roman"/>
              </a:rPr>
              <a:t> </a:t>
            </a:r>
            <a:r>
              <a:rPr lang="en-US" dirty="0">
                <a:solidFill>
                  <a:srgbClr val="808080"/>
                </a:solidFill>
                <a:ea typeface="Calibri"/>
                <a:cs typeface="Times New Roman"/>
              </a:rPr>
              <a:t>AND</a:t>
            </a:r>
            <a:r>
              <a:rPr lang="en-US" dirty="0">
                <a:ea typeface="Calibri"/>
                <a:cs typeface="Times New Roman"/>
              </a:rPr>
              <a:t> </a:t>
            </a:r>
            <a:r>
              <a:rPr lang="en-US" dirty="0">
                <a:solidFill>
                  <a:srgbClr val="008080"/>
                </a:solidFill>
                <a:ea typeface="Calibri"/>
                <a:cs typeface="Times New Roman"/>
              </a:rPr>
              <a:t>Mark</a:t>
            </a:r>
            <a:r>
              <a:rPr lang="en-US" dirty="0">
                <a:solidFill>
                  <a:srgbClr val="808080"/>
                </a:solidFill>
                <a:ea typeface="Calibri"/>
                <a:cs typeface="Times New Roman"/>
              </a:rPr>
              <a:t>!=</a:t>
            </a:r>
            <a:r>
              <a:rPr lang="en-US" dirty="0">
                <a:ea typeface="Calibri"/>
                <a:cs typeface="Times New Roman"/>
              </a:rPr>
              <a:t>0 </a:t>
            </a:r>
            <a:endParaRPr lang="ru-RU" sz="2400" dirty="0">
              <a:ea typeface="Calibri"/>
              <a:cs typeface="Times New Roman"/>
            </a:endParaRPr>
          </a:p>
          <a:p>
            <a:pPr>
              <a:lnSpc>
                <a:spcPct val="115000"/>
              </a:lnSpc>
              <a:spcAft>
                <a:spcPts val="0"/>
              </a:spcAft>
            </a:pPr>
            <a:r>
              <a:rPr lang="ru-RU" dirty="0">
                <a:solidFill>
                  <a:srgbClr val="0000FF"/>
                </a:solidFill>
                <a:ea typeface="Calibri"/>
                <a:cs typeface="Times New Roman"/>
              </a:rPr>
              <a:t>                                         </a:t>
            </a:r>
            <a:r>
              <a:rPr lang="en-US" dirty="0">
                <a:solidFill>
                  <a:srgbClr val="0000FF"/>
                </a:solidFill>
                <a:ea typeface="Calibri"/>
                <a:cs typeface="Times New Roman"/>
              </a:rPr>
              <a:t>GROUP</a:t>
            </a:r>
            <a:r>
              <a:rPr lang="en-US" dirty="0">
                <a:ea typeface="Calibri"/>
                <a:cs typeface="Times New Roman"/>
              </a:rPr>
              <a:t> </a:t>
            </a:r>
            <a:r>
              <a:rPr lang="en-US" dirty="0">
                <a:solidFill>
                  <a:srgbClr val="0000FF"/>
                </a:solidFill>
                <a:ea typeface="Calibri"/>
                <a:cs typeface="Times New Roman"/>
              </a:rPr>
              <a:t>BY</a:t>
            </a:r>
            <a:r>
              <a:rPr lang="en-US" dirty="0">
                <a:ea typeface="Calibri"/>
                <a:cs typeface="Times New Roman"/>
              </a:rPr>
              <a:t> </a:t>
            </a:r>
            <a:r>
              <a:rPr lang="en-US" dirty="0" err="1">
                <a:solidFill>
                  <a:srgbClr val="008080"/>
                </a:solidFill>
                <a:ea typeface="Calibri"/>
                <a:cs typeface="Times New Roman"/>
              </a:rPr>
              <a:t>Student_Id</a:t>
            </a:r>
            <a:r>
              <a:rPr lang="en-US" dirty="0">
                <a:ea typeface="Calibri"/>
                <a:cs typeface="Times New Roman"/>
              </a:rPr>
              <a:t> </a:t>
            </a:r>
            <a:endParaRPr lang="ru-RU" sz="2400" dirty="0">
              <a:ea typeface="Calibri"/>
              <a:cs typeface="Times New Roman"/>
            </a:endParaRPr>
          </a:p>
          <a:p>
            <a:pPr>
              <a:lnSpc>
                <a:spcPct val="115000"/>
              </a:lnSpc>
              <a:spcAft>
                <a:spcPts val="1000"/>
              </a:spcAft>
            </a:pPr>
            <a:r>
              <a:rPr lang="ru-RU" dirty="0">
                <a:solidFill>
                  <a:srgbClr val="0000FF"/>
                </a:solidFill>
                <a:ea typeface="Calibri"/>
                <a:cs typeface="Times New Roman"/>
              </a:rPr>
              <a:t>  		      </a:t>
            </a:r>
            <a:r>
              <a:rPr lang="en-US" dirty="0">
                <a:solidFill>
                  <a:srgbClr val="0000FF"/>
                </a:solidFill>
                <a:ea typeface="Calibri"/>
                <a:cs typeface="Times New Roman"/>
              </a:rPr>
              <a:t>HAVING</a:t>
            </a:r>
            <a:r>
              <a:rPr lang="en-US" dirty="0">
                <a:ea typeface="Calibri"/>
                <a:cs typeface="Times New Roman"/>
              </a:rPr>
              <a:t> </a:t>
            </a:r>
            <a:r>
              <a:rPr lang="en-US" dirty="0">
                <a:solidFill>
                  <a:srgbClr val="FF00FF"/>
                </a:solidFill>
                <a:ea typeface="Calibri"/>
                <a:cs typeface="Times New Roman"/>
              </a:rPr>
              <a:t>AVG</a:t>
            </a:r>
            <a:r>
              <a:rPr lang="en-US" dirty="0">
                <a:solidFill>
                  <a:srgbClr val="808080"/>
                </a:solidFill>
                <a:ea typeface="Calibri"/>
                <a:cs typeface="Times New Roman"/>
              </a:rPr>
              <a:t>(</a:t>
            </a:r>
            <a:r>
              <a:rPr lang="en-US" dirty="0">
                <a:solidFill>
                  <a:srgbClr val="008080"/>
                </a:solidFill>
                <a:ea typeface="Calibri"/>
                <a:cs typeface="Times New Roman"/>
              </a:rPr>
              <a:t>Mark</a:t>
            </a:r>
            <a:r>
              <a:rPr lang="en-US" dirty="0">
                <a:solidFill>
                  <a:srgbClr val="808080"/>
                </a:solidFill>
                <a:ea typeface="Calibri"/>
                <a:cs typeface="Times New Roman"/>
              </a:rPr>
              <a:t>)&gt;</a:t>
            </a:r>
            <a:r>
              <a:rPr lang="en-US" dirty="0">
                <a:ea typeface="Calibri"/>
                <a:cs typeface="Times New Roman"/>
              </a:rPr>
              <a:t>4</a:t>
            </a:r>
            <a:r>
              <a:rPr lang="en-US" dirty="0">
                <a:solidFill>
                  <a:srgbClr val="808080"/>
                </a:solidFill>
                <a:ea typeface="Calibri"/>
                <a:cs typeface="Times New Roman"/>
              </a:rPr>
              <a:t>)</a:t>
            </a:r>
            <a:endParaRPr lang="ru-RU" sz="2400" dirty="0">
              <a:ea typeface="Calibri"/>
              <a:cs typeface="Times New Roman"/>
            </a:endParaRPr>
          </a:p>
          <a:p>
            <a:pPr>
              <a:lnSpc>
                <a:spcPct val="115000"/>
              </a:lnSpc>
              <a:spcAft>
                <a:spcPts val="0"/>
              </a:spcAft>
            </a:pPr>
            <a:r>
              <a:rPr lang="ru-RU" dirty="0">
                <a:ea typeface="Calibri"/>
                <a:cs typeface="Times New Roman"/>
              </a:rPr>
              <a:t>Обращения к процедуре и задание процента увеличения стипендии: </a:t>
            </a:r>
            <a:endParaRPr lang="ru-RU" sz="2400" dirty="0">
              <a:ea typeface="Calibri"/>
              <a:cs typeface="Times New Roman"/>
            </a:endParaRPr>
          </a:p>
          <a:p>
            <a:pPr>
              <a:lnSpc>
                <a:spcPct val="115000"/>
              </a:lnSpc>
              <a:spcAft>
                <a:spcPts val="1000"/>
              </a:spcAft>
            </a:pPr>
            <a:r>
              <a:rPr lang="ru-RU" dirty="0">
                <a:solidFill>
                  <a:srgbClr val="0000FF"/>
                </a:solidFill>
                <a:ea typeface="Calibri"/>
                <a:cs typeface="Times New Roman"/>
              </a:rPr>
              <a:t>EXEC</a:t>
            </a:r>
            <a:r>
              <a:rPr lang="ru-RU" dirty="0">
                <a:ea typeface="Calibri"/>
                <a:cs typeface="Times New Roman"/>
              </a:rPr>
              <a:t> </a:t>
            </a:r>
            <a:r>
              <a:rPr lang="ru-RU" dirty="0" err="1">
                <a:solidFill>
                  <a:srgbClr val="008080"/>
                </a:solidFill>
                <a:ea typeface="Calibri"/>
                <a:cs typeface="Times New Roman"/>
              </a:rPr>
              <a:t>Reduce_stipend</a:t>
            </a:r>
            <a:r>
              <a:rPr lang="ru-RU" dirty="0">
                <a:solidFill>
                  <a:srgbClr val="0000FF"/>
                </a:solidFill>
                <a:ea typeface="Calibri"/>
                <a:cs typeface="Times New Roman"/>
              </a:rPr>
              <a:t> </a:t>
            </a:r>
            <a:r>
              <a:rPr lang="ru-RU" dirty="0">
                <a:ea typeface="Calibri"/>
                <a:cs typeface="Times New Roman"/>
              </a:rPr>
              <a:t>50</a:t>
            </a:r>
            <a:endParaRPr lang="ru-RU" sz="2400" dirty="0">
              <a:ea typeface="Calibri"/>
              <a:cs typeface="Times New Roman"/>
            </a:endParaRPr>
          </a:p>
          <a:p>
            <a:endParaRPr lang="ru-RU" dirty="0"/>
          </a:p>
          <a:p>
            <a:endParaRPr lang="ru-RU" dirty="0"/>
          </a:p>
        </p:txBody>
      </p:sp>
      <p:pic>
        <p:nvPicPr>
          <p:cNvPr id="241666" name="Picture 2"/>
          <p:cNvPicPr>
            <a:picLocks noChangeAspect="1" noChangeArrowheads="1"/>
          </p:cNvPicPr>
          <p:nvPr/>
        </p:nvPicPr>
        <p:blipFill>
          <a:blip r:embed="rId2" cstate="print"/>
          <a:srcRect/>
          <a:stretch>
            <a:fillRect/>
          </a:stretch>
        </p:blipFill>
        <p:spPr bwMode="auto">
          <a:xfrm>
            <a:off x="4071934" y="5520460"/>
            <a:ext cx="3839793" cy="980373"/>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9</a:t>
            </a:fld>
            <a:endParaRPr lang="ru-RU" dirty="0"/>
          </a:p>
        </p:txBody>
      </p:sp>
      <p:sp>
        <p:nvSpPr>
          <p:cNvPr id="3" name="Заголовок 1"/>
          <p:cNvSpPr txBox="1">
            <a:spLocks/>
          </p:cNvSpPr>
          <p:nvPr/>
        </p:nvSpPr>
        <p:spPr>
          <a:xfrm>
            <a:off x="428596" y="0"/>
            <a:ext cx="8229600" cy="500066"/>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500" dirty="0">
                <a:latin typeface="+mj-lt"/>
                <a:ea typeface="+mj-ea"/>
                <a:cs typeface="+mj-cs"/>
              </a:rPr>
              <a:t>Пример создания процедуры с входными параметрами</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214282" y="428604"/>
            <a:ext cx="8572560" cy="3207032"/>
          </a:xfrm>
          <a:prstGeom prst="rect">
            <a:avLst/>
          </a:prstGeom>
          <a:noFill/>
        </p:spPr>
        <p:txBody>
          <a:bodyPr wrap="square" rtlCol="0">
            <a:spAutoFit/>
          </a:bodyPr>
          <a:lstStyle/>
          <a:p>
            <a:pPr>
              <a:lnSpc>
                <a:spcPct val="115000"/>
              </a:lnSpc>
            </a:pPr>
            <a:r>
              <a:rPr lang="ru-RU" sz="1600" dirty="0"/>
              <a:t>Создать процедуру для выдачи списка студентов, получивших оценку, значение которой может передаться через входной параметр по дисциплине, название которой также может передаваться при вызове процедуры. По умолчанию выводить фамилии студентов, получивших оценку «5» по дисциплине «Базы данных»:</a:t>
            </a:r>
          </a:p>
          <a:p>
            <a:pPr>
              <a:lnSpc>
                <a:spcPct val="115000"/>
              </a:lnSpc>
              <a:spcAft>
                <a:spcPts val="0"/>
              </a:spcAft>
            </a:pPr>
            <a:r>
              <a:rPr lang="ru-RU" sz="1600" dirty="0">
                <a:solidFill>
                  <a:srgbClr val="0000FF"/>
                </a:solidFill>
                <a:ea typeface="Calibri"/>
                <a:cs typeface="Times New Roman"/>
              </a:rPr>
              <a:t>CREATE</a:t>
            </a:r>
            <a:r>
              <a:rPr lang="ru-RU" sz="1600" dirty="0">
                <a:ea typeface="Calibri"/>
                <a:cs typeface="Times New Roman"/>
              </a:rPr>
              <a:t> </a:t>
            </a:r>
            <a:r>
              <a:rPr lang="ru-RU" sz="1600" dirty="0">
                <a:solidFill>
                  <a:srgbClr val="0000FF"/>
                </a:solidFill>
                <a:ea typeface="Calibri"/>
                <a:cs typeface="Times New Roman"/>
              </a:rPr>
              <a:t>PROCEDURE</a:t>
            </a:r>
            <a:r>
              <a:rPr lang="ru-RU" sz="1600" dirty="0">
                <a:ea typeface="Calibri"/>
                <a:cs typeface="Times New Roman"/>
              </a:rPr>
              <a:t> </a:t>
            </a:r>
            <a:r>
              <a:rPr lang="ru-RU" sz="1600" dirty="0" err="1">
                <a:solidFill>
                  <a:srgbClr val="008080"/>
                </a:solidFill>
                <a:ea typeface="Calibri"/>
                <a:cs typeface="Times New Roman"/>
              </a:rPr>
              <a:t>Subject_procedure</a:t>
            </a:r>
            <a:endParaRPr lang="ru-RU" sz="1600" dirty="0">
              <a:ea typeface="Calibri"/>
              <a:cs typeface="Times New Roman"/>
            </a:endParaRPr>
          </a:p>
          <a:p>
            <a:pPr>
              <a:lnSpc>
                <a:spcPct val="115000"/>
              </a:lnSpc>
              <a:spcAft>
                <a:spcPts val="0"/>
              </a:spcAft>
            </a:pPr>
            <a:r>
              <a:rPr lang="ru-RU" sz="1600" dirty="0">
                <a:solidFill>
                  <a:srgbClr val="008080"/>
                </a:solidFill>
                <a:ea typeface="Calibri"/>
                <a:cs typeface="Times New Roman"/>
              </a:rPr>
              <a:t>@</a:t>
            </a:r>
            <a:r>
              <a:rPr lang="ru-RU" sz="1600" dirty="0" err="1">
                <a:solidFill>
                  <a:srgbClr val="008080"/>
                </a:solidFill>
                <a:ea typeface="Calibri"/>
                <a:cs typeface="Times New Roman"/>
              </a:rPr>
              <a:t>Subject</a:t>
            </a:r>
            <a:r>
              <a:rPr lang="ru-RU" sz="1600" dirty="0">
                <a:ea typeface="Calibri"/>
                <a:cs typeface="Times New Roman"/>
              </a:rPr>
              <a:t> </a:t>
            </a:r>
            <a:r>
              <a:rPr lang="ru-RU" sz="1600" dirty="0">
                <a:solidFill>
                  <a:srgbClr val="0000FF"/>
                </a:solidFill>
                <a:ea typeface="Calibri"/>
                <a:cs typeface="Times New Roman"/>
              </a:rPr>
              <a:t>VARCHAR</a:t>
            </a:r>
            <a:r>
              <a:rPr lang="ru-RU" sz="1600" dirty="0">
                <a:solidFill>
                  <a:srgbClr val="808080"/>
                </a:solidFill>
                <a:ea typeface="Calibri"/>
                <a:cs typeface="Times New Roman"/>
              </a:rPr>
              <a:t>(</a:t>
            </a:r>
            <a:r>
              <a:rPr lang="ru-RU" sz="1600" dirty="0">
                <a:ea typeface="Calibri"/>
                <a:cs typeface="Times New Roman"/>
              </a:rPr>
              <a:t>30</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FF0000"/>
                </a:solidFill>
                <a:ea typeface="Calibri"/>
                <a:cs typeface="Times New Roman"/>
              </a:rPr>
              <a:t>'Базы данных'</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008080"/>
                </a:solidFill>
                <a:ea typeface="Calibri"/>
                <a:cs typeface="Times New Roman"/>
              </a:rPr>
              <a:t>@Mark</a:t>
            </a:r>
            <a:r>
              <a:rPr lang="ru-RU" sz="1600" dirty="0">
                <a:ea typeface="Calibri"/>
                <a:cs typeface="Times New Roman"/>
              </a:rPr>
              <a:t> </a:t>
            </a:r>
            <a:r>
              <a:rPr lang="ru-RU" sz="1600" dirty="0">
                <a:solidFill>
                  <a:srgbClr val="0000FF"/>
                </a:solidFill>
                <a:ea typeface="Calibri"/>
                <a:cs typeface="Times New Roman"/>
              </a:rPr>
              <a:t>TINYINT</a:t>
            </a:r>
            <a:r>
              <a:rPr lang="ru-RU" sz="1600" dirty="0">
                <a:solidFill>
                  <a:srgbClr val="808080"/>
                </a:solidFill>
                <a:ea typeface="Calibri"/>
                <a:cs typeface="Times New Roman"/>
              </a:rPr>
              <a:t>=</a:t>
            </a:r>
            <a:r>
              <a:rPr lang="ru-RU" sz="1600" dirty="0">
                <a:ea typeface="Calibri"/>
                <a:cs typeface="Times New Roman"/>
              </a:rPr>
              <a:t>5</a:t>
            </a:r>
          </a:p>
          <a:p>
            <a:pPr>
              <a:lnSpc>
                <a:spcPct val="115000"/>
              </a:lnSpc>
              <a:spcAft>
                <a:spcPts val="0"/>
              </a:spcAft>
            </a:pPr>
            <a:r>
              <a:rPr lang="ru-RU" sz="1600" dirty="0">
                <a:solidFill>
                  <a:srgbClr val="0000FF"/>
                </a:solidFill>
                <a:ea typeface="Calibri"/>
                <a:cs typeface="Times New Roman"/>
              </a:rPr>
              <a:t>AS</a:t>
            </a:r>
            <a:endParaRPr lang="ru-RU" sz="1600" dirty="0">
              <a:ea typeface="Calibri"/>
              <a:cs typeface="Times New Roman"/>
            </a:endParaRPr>
          </a:p>
          <a:p>
            <a:pPr>
              <a:lnSpc>
                <a:spcPct val="115000"/>
              </a:lnSpc>
              <a:spcAft>
                <a:spcPts val="0"/>
              </a:spcAft>
            </a:pPr>
            <a:r>
              <a:rPr lang="ru-RU" sz="1600" dirty="0">
                <a:solidFill>
                  <a:srgbClr val="0000FF"/>
                </a:solidFill>
                <a:ea typeface="Calibri"/>
                <a:cs typeface="Times New Roman"/>
              </a:rPr>
              <a:t>SELECT</a:t>
            </a:r>
            <a:r>
              <a:rPr lang="ru-RU" sz="1600" dirty="0">
                <a:ea typeface="Calibri"/>
                <a:cs typeface="Times New Roman"/>
              </a:rPr>
              <a:t> </a:t>
            </a:r>
            <a:r>
              <a:rPr lang="ru-RU" sz="1600" dirty="0" err="1">
                <a:solidFill>
                  <a:srgbClr val="008080"/>
                </a:solidFill>
                <a:ea typeface="Calibri"/>
                <a:cs typeface="Times New Roman"/>
              </a:rPr>
              <a:t>Surname</a:t>
            </a:r>
            <a:r>
              <a:rPr lang="ru-RU" sz="1600" dirty="0">
                <a:ea typeface="Calibri"/>
                <a:cs typeface="Times New Roman"/>
              </a:rPr>
              <a:t> </a:t>
            </a:r>
            <a:r>
              <a:rPr lang="ru-RU" sz="1600" dirty="0">
                <a:solidFill>
                  <a:srgbClr val="0000FF"/>
                </a:solidFill>
                <a:ea typeface="Calibri"/>
                <a:cs typeface="Times New Roman"/>
              </a:rPr>
              <a:t>AS</a:t>
            </a:r>
            <a:r>
              <a:rPr lang="ru-RU" sz="1600" dirty="0">
                <a:ea typeface="Calibri"/>
                <a:cs typeface="Times New Roman"/>
              </a:rPr>
              <a:t> </a:t>
            </a:r>
            <a:r>
              <a:rPr lang="ru-RU" sz="1600" dirty="0">
                <a:solidFill>
                  <a:srgbClr val="FF0000"/>
                </a:solidFill>
                <a:ea typeface="Calibri"/>
                <a:cs typeface="Times New Roman"/>
              </a:rPr>
              <a:t>'Фамилия'</a:t>
            </a:r>
            <a:r>
              <a:rPr lang="ru-RU" sz="1600" dirty="0">
                <a:solidFill>
                  <a:srgbClr val="808080"/>
                </a:solidFill>
                <a:ea typeface="Calibri"/>
                <a:cs typeface="Times New Roman"/>
              </a:rPr>
              <a:t>,</a:t>
            </a:r>
            <a:r>
              <a:rPr lang="ru-RU" sz="1600" dirty="0">
                <a:ea typeface="Calibri"/>
                <a:cs typeface="Times New Roman"/>
              </a:rPr>
              <a:t> </a:t>
            </a:r>
            <a:r>
              <a:rPr lang="ru-RU" sz="1600" dirty="0" err="1">
                <a:solidFill>
                  <a:srgbClr val="008080"/>
                </a:solidFill>
                <a:ea typeface="Calibri"/>
                <a:cs typeface="Times New Roman"/>
              </a:rPr>
              <a:t>Subj_Name</a:t>
            </a:r>
            <a:r>
              <a:rPr lang="ru-RU" sz="1600" dirty="0">
                <a:ea typeface="Calibri"/>
                <a:cs typeface="Times New Roman"/>
              </a:rPr>
              <a:t> </a:t>
            </a:r>
            <a:r>
              <a:rPr lang="ru-RU" sz="1600" dirty="0">
                <a:solidFill>
                  <a:srgbClr val="0000FF"/>
                </a:solidFill>
                <a:ea typeface="Calibri"/>
                <a:cs typeface="Times New Roman"/>
              </a:rPr>
              <a:t>AS</a:t>
            </a:r>
            <a:r>
              <a:rPr lang="ru-RU" sz="1600" dirty="0">
                <a:ea typeface="Calibri"/>
                <a:cs typeface="Times New Roman"/>
              </a:rPr>
              <a:t> </a:t>
            </a:r>
            <a:r>
              <a:rPr lang="ru-RU" sz="1600" dirty="0">
                <a:solidFill>
                  <a:srgbClr val="FF0000"/>
                </a:solidFill>
                <a:ea typeface="Calibri"/>
                <a:cs typeface="Times New Roman"/>
              </a:rPr>
              <a:t>'Дисциплина'</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008080"/>
                </a:solidFill>
                <a:ea typeface="Calibri"/>
                <a:cs typeface="Times New Roman"/>
              </a:rPr>
              <a:t>Mark</a:t>
            </a:r>
            <a:r>
              <a:rPr lang="ru-RU" sz="1600" dirty="0">
                <a:ea typeface="Calibri"/>
                <a:cs typeface="Times New Roman"/>
              </a:rPr>
              <a:t> </a:t>
            </a:r>
            <a:r>
              <a:rPr lang="ru-RU" sz="1600" dirty="0">
                <a:solidFill>
                  <a:srgbClr val="0000FF"/>
                </a:solidFill>
                <a:ea typeface="Calibri"/>
                <a:cs typeface="Times New Roman"/>
              </a:rPr>
              <a:t>AS</a:t>
            </a:r>
            <a:r>
              <a:rPr lang="ru-RU" sz="1600" dirty="0">
                <a:ea typeface="Calibri"/>
                <a:cs typeface="Times New Roman"/>
              </a:rPr>
              <a:t> </a:t>
            </a:r>
            <a:r>
              <a:rPr lang="ru-RU" sz="1600" dirty="0">
                <a:solidFill>
                  <a:srgbClr val="FF0000"/>
                </a:solidFill>
                <a:ea typeface="Calibri"/>
                <a:cs typeface="Times New Roman"/>
              </a:rPr>
              <a:t>'Оценка за экзамен'</a:t>
            </a:r>
            <a:endParaRPr lang="ru-RU" sz="1600" dirty="0">
              <a:ea typeface="Calibri"/>
              <a:cs typeface="Times New Roman"/>
            </a:endParaRPr>
          </a:p>
          <a:p>
            <a:pPr>
              <a:lnSpc>
                <a:spcPct val="115000"/>
              </a:lnSpc>
              <a:spcAft>
                <a:spcPts val="0"/>
              </a:spcAft>
            </a:pPr>
            <a:r>
              <a:rPr lang="ru-RU" sz="1600" dirty="0">
                <a:solidFill>
                  <a:srgbClr val="0000FF"/>
                </a:solidFill>
                <a:ea typeface="Calibri"/>
                <a:cs typeface="Times New Roman"/>
              </a:rPr>
              <a:t>FROM</a:t>
            </a:r>
            <a:r>
              <a:rPr lang="ru-RU" sz="1600" dirty="0">
                <a:ea typeface="Calibri"/>
                <a:cs typeface="Times New Roman"/>
              </a:rPr>
              <a:t> </a:t>
            </a:r>
            <a:r>
              <a:rPr lang="ru-RU" sz="1600" dirty="0" err="1">
                <a:solidFill>
                  <a:srgbClr val="008080"/>
                </a:solidFill>
                <a:ea typeface="Calibri"/>
                <a:cs typeface="Times New Roman"/>
              </a:rPr>
              <a:t>Student</a:t>
            </a:r>
            <a:r>
              <a:rPr lang="ru-RU" sz="1600" dirty="0">
                <a:ea typeface="Calibri"/>
                <a:cs typeface="Times New Roman"/>
              </a:rPr>
              <a:t> </a:t>
            </a:r>
            <a:r>
              <a:rPr lang="ru-RU" sz="1600" dirty="0" err="1">
                <a:solidFill>
                  <a:srgbClr val="008080"/>
                </a:solidFill>
                <a:ea typeface="Calibri"/>
                <a:cs typeface="Times New Roman"/>
              </a:rPr>
              <a:t>s</a:t>
            </a:r>
            <a:r>
              <a:rPr lang="ru-RU" sz="1600" dirty="0">
                <a:ea typeface="Calibri"/>
                <a:cs typeface="Times New Roman"/>
              </a:rPr>
              <a:t> </a:t>
            </a:r>
            <a:r>
              <a:rPr lang="ru-RU" sz="1600" dirty="0">
                <a:solidFill>
                  <a:srgbClr val="808080"/>
                </a:solidFill>
                <a:ea typeface="Calibri"/>
                <a:cs typeface="Times New Roman"/>
              </a:rPr>
              <a:t>INNER</a:t>
            </a:r>
            <a:r>
              <a:rPr lang="ru-RU" sz="1600" dirty="0">
                <a:ea typeface="Calibri"/>
                <a:cs typeface="Times New Roman"/>
              </a:rPr>
              <a:t> </a:t>
            </a:r>
            <a:r>
              <a:rPr lang="ru-RU" sz="1600" dirty="0">
                <a:solidFill>
                  <a:srgbClr val="808080"/>
                </a:solidFill>
                <a:ea typeface="Calibri"/>
                <a:cs typeface="Times New Roman"/>
              </a:rPr>
              <a:t>JOIN</a:t>
            </a:r>
            <a:r>
              <a:rPr lang="ru-RU" sz="1600" dirty="0">
                <a:ea typeface="Calibri"/>
                <a:cs typeface="Times New Roman"/>
              </a:rPr>
              <a:t> </a:t>
            </a:r>
            <a:r>
              <a:rPr lang="ru-RU" sz="1600" dirty="0">
                <a:solidFill>
                  <a:srgbClr val="008080"/>
                </a:solidFill>
                <a:ea typeface="Calibri"/>
                <a:cs typeface="Times New Roman"/>
              </a:rPr>
              <a:t>EXAM_MARKS</a:t>
            </a:r>
            <a:r>
              <a:rPr lang="ru-RU" sz="1600" dirty="0">
                <a:ea typeface="Calibri"/>
                <a:cs typeface="Times New Roman"/>
              </a:rPr>
              <a:t> </a:t>
            </a:r>
            <a:r>
              <a:rPr lang="ru-RU" sz="1600" dirty="0" err="1">
                <a:solidFill>
                  <a:srgbClr val="008080"/>
                </a:solidFill>
                <a:ea typeface="Calibri"/>
                <a:cs typeface="Times New Roman"/>
              </a:rPr>
              <a:t>e</a:t>
            </a:r>
            <a:r>
              <a:rPr lang="ru-RU" sz="1600" dirty="0">
                <a:ea typeface="Calibri"/>
                <a:cs typeface="Times New Roman"/>
              </a:rPr>
              <a:t> </a:t>
            </a:r>
            <a:r>
              <a:rPr lang="ru-RU" sz="1600" dirty="0">
                <a:solidFill>
                  <a:srgbClr val="0000FF"/>
                </a:solidFill>
                <a:ea typeface="Calibri"/>
                <a:cs typeface="Times New Roman"/>
              </a:rPr>
              <a:t>ON</a:t>
            </a:r>
            <a:r>
              <a:rPr lang="ru-RU" sz="1600" dirty="0">
                <a:ea typeface="Calibri"/>
                <a:cs typeface="Times New Roman"/>
              </a:rPr>
              <a:t> </a:t>
            </a:r>
            <a:r>
              <a:rPr lang="ru-RU" sz="1600" dirty="0" err="1">
                <a:solidFill>
                  <a:srgbClr val="008080"/>
                </a:solidFill>
                <a:ea typeface="Calibri"/>
                <a:cs typeface="Times New Roman"/>
              </a:rPr>
              <a:t>s</a:t>
            </a:r>
            <a:r>
              <a:rPr lang="ru-RU" sz="1600" dirty="0" err="1">
                <a:solidFill>
                  <a:srgbClr val="808080"/>
                </a:solidFill>
                <a:ea typeface="Calibri"/>
                <a:cs typeface="Times New Roman"/>
              </a:rPr>
              <a:t>.</a:t>
            </a:r>
            <a:r>
              <a:rPr lang="ru-RU" sz="1600" dirty="0" err="1">
                <a:solidFill>
                  <a:srgbClr val="008080"/>
                </a:solidFill>
                <a:ea typeface="Calibri"/>
                <a:cs typeface="Times New Roman"/>
              </a:rPr>
              <a:t>Student_Id</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r>
              <a:rPr lang="ru-RU" sz="1600" dirty="0" err="1">
                <a:solidFill>
                  <a:srgbClr val="008080"/>
                </a:solidFill>
                <a:ea typeface="Calibri"/>
                <a:cs typeface="Times New Roman"/>
              </a:rPr>
              <a:t>e</a:t>
            </a:r>
            <a:r>
              <a:rPr lang="ru-RU" sz="1600" dirty="0" err="1">
                <a:solidFill>
                  <a:srgbClr val="808080"/>
                </a:solidFill>
                <a:ea typeface="Calibri"/>
                <a:cs typeface="Times New Roman"/>
              </a:rPr>
              <a:t>.</a:t>
            </a:r>
            <a:r>
              <a:rPr lang="ru-RU" sz="1600" dirty="0" err="1">
                <a:solidFill>
                  <a:srgbClr val="008080"/>
                </a:solidFill>
                <a:ea typeface="Calibri"/>
                <a:cs typeface="Times New Roman"/>
              </a:rPr>
              <a:t>Student_Id</a:t>
            </a:r>
            <a:endParaRPr lang="ru-RU" sz="1600" dirty="0">
              <a:ea typeface="Calibri"/>
              <a:cs typeface="Times New Roman"/>
            </a:endParaRPr>
          </a:p>
          <a:p>
            <a:pPr>
              <a:lnSpc>
                <a:spcPct val="115000"/>
              </a:lnSpc>
              <a:spcAft>
                <a:spcPts val="0"/>
              </a:spcAft>
            </a:pPr>
            <a:r>
              <a:rPr lang="ru-RU" sz="1600" dirty="0">
                <a:solidFill>
                  <a:srgbClr val="808080"/>
                </a:solidFill>
                <a:ea typeface="Calibri"/>
                <a:cs typeface="Times New Roman"/>
              </a:rPr>
              <a:t>	       </a:t>
            </a:r>
            <a:r>
              <a:rPr lang="en-US" sz="1600" dirty="0">
                <a:solidFill>
                  <a:srgbClr val="808080"/>
                </a:solidFill>
                <a:ea typeface="Calibri"/>
                <a:cs typeface="Times New Roman"/>
              </a:rPr>
              <a:t>I</a:t>
            </a:r>
            <a:r>
              <a:rPr lang="ru-RU" sz="1600" dirty="0">
                <a:solidFill>
                  <a:srgbClr val="808080"/>
                </a:solidFill>
                <a:ea typeface="Calibri"/>
                <a:cs typeface="Times New Roman"/>
              </a:rPr>
              <a:t>NNER</a:t>
            </a:r>
            <a:r>
              <a:rPr lang="ru-RU" sz="1600" dirty="0">
                <a:ea typeface="Calibri"/>
                <a:cs typeface="Times New Roman"/>
              </a:rPr>
              <a:t> </a:t>
            </a:r>
            <a:r>
              <a:rPr lang="ru-RU" sz="1600" dirty="0">
                <a:solidFill>
                  <a:srgbClr val="808080"/>
                </a:solidFill>
                <a:ea typeface="Calibri"/>
                <a:cs typeface="Times New Roman"/>
              </a:rPr>
              <a:t>JOIN</a:t>
            </a:r>
            <a:r>
              <a:rPr lang="ru-RU" sz="1600" dirty="0">
                <a:ea typeface="Calibri"/>
                <a:cs typeface="Times New Roman"/>
              </a:rPr>
              <a:t> </a:t>
            </a:r>
            <a:r>
              <a:rPr lang="ru-RU" sz="1600" dirty="0">
                <a:solidFill>
                  <a:srgbClr val="008080"/>
                </a:solidFill>
                <a:ea typeface="Calibri"/>
                <a:cs typeface="Times New Roman"/>
              </a:rPr>
              <a:t>SUBJECT</a:t>
            </a:r>
            <a:r>
              <a:rPr lang="ru-RU" sz="1600" dirty="0">
                <a:ea typeface="Calibri"/>
                <a:cs typeface="Times New Roman"/>
              </a:rPr>
              <a:t> </a:t>
            </a:r>
            <a:r>
              <a:rPr lang="ru-RU" sz="1600" dirty="0" err="1">
                <a:solidFill>
                  <a:srgbClr val="008080"/>
                </a:solidFill>
                <a:ea typeface="Calibri"/>
                <a:cs typeface="Times New Roman"/>
              </a:rPr>
              <a:t>sj</a:t>
            </a:r>
            <a:r>
              <a:rPr lang="ru-RU" sz="1600" dirty="0">
                <a:ea typeface="Calibri"/>
                <a:cs typeface="Times New Roman"/>
              </a:rPr>
              <a:t> </a:t>
            </a:r>
            <a:r>
              <a:rPr lang="ru-RU" sz="1600" dirty="0">
                <a:solidFill>
                  <a:srgbClr val="0000FF"/>
                </a:solidFill>
                <a:ea typeface="Calibri"/>
                <a:cs typeface="Times New Roman"/>
              </a:rPr>
              <a:t>ON</a:t>
            </a:r>
            <a:r>
              <a:rPr lang="ru-RU" sz="1600" dirty="0">
                <a:ea typeface="Calibri"/>
                <a:cs typeface="Times New Roman"/>
              </a:rPr>
              <a:t> </a:t>
            </a:r>
            <a:r>
              <a:rPr lang="ru-RU" sz="1600" dirty="0" err="1">
                <a:solidFill>
                  <a:srgbClr val="008080"/>
                </a:solidFill>
                <a:ea typeface="Calibri"/>
                <a:cs typeface="Times New Roman"/>
              </a:rPr>
              <a:t>e</a:t>
            </a:r>
            <a:r>
              <a:rPr lang="ru-RU" sz="1600" dirty="0" err="1">
                <a:solidFill>
                  <a:srgbClr val="808080"/>
                </a:solidFill>
                <a:ea typeface="Calibri"/>
                <a:cs typeface="Times New Roman"/>
              </a:rPr>
              <a:t>.</a:t>
            </a:r>
            <a:r>
              <a:rPr lang="ru-RU" sz="1600" dirty="0" err="1">
                <a:solidFill>
                  <a:srgbClr val="008080"/>
                </a:solidFill>
                <a:ea typeface="Calibri"/>
                <a:cs typeface="Times New Roman"/>
              </a:rPr>
              <a:t>Subj_Id</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r>
              <a:rPr lang="ru-RU" sz="1600" dirty="0" err="1">
                <a:solidFill>
                  <a:srgbClr val="008080"/>
                </a:solidFill>
                <a:ea typeface="Calibri"/>
                <a:cs typeface="Times New Roman"/>
              </a:rPr>
              <a:t>sj</a:t>
            </a:r>
            <a:r>
              <a:rPr lang="ru-RU" sz="1600" dirty="0" err="1">
                <a:solidFill>
                  <a:srgbClr val="808080"/>
                </a:solidFill>
                <a:ea typeface="Calibri"/>
                <a:cs typeface="Times New Roman"/>
              </a:rPr>
              <a:t>.</a:t>
            </a:r>
            <a:r>
              <a:rPr lang="ru-RU" sz="1600" dirty="0" err="1">
                <a:solidFill>
                  <a:srgbClr val="008080"/>
                </a:solidFill>
                <a:ea typeface="Calibri"/>
                <a:cs typeface="Times New Roman"/>
              </a:rPr>
              <a:t>Subj_Id</a:t>
            </a:r>
            <a:endParaRPr lang="ru-RU" sz="1600" dirty="0">
              <a:ea typeface="Calibri"/>
              <a:cs typeface="Times New Roman"/>
            </a:endParaRPr>
          </a:p>
          <a:p>
            <a:pPr>
              <a:lnSpc>
                <a:spcPct val="115000"/>
              </a:lnSpc>
              <a:spcAft>
                <a:spcPts val="1000"/>
              </a:spcAft>
            </a:pPr>
            <a:r>
              <a:rPr lang="ru-RU" sz="1600" dirty="0">
                <a:solidFill>
                  <a:srgbClr val="0000FF"/>
                </a:solidFill>
                <a:ea typeface="Calibri"/>
                <a:cs typeface="Times New Roman"/>
              </a:rPr>
              <a:t>WHERE</a:t>
            </a:r>
            <a:r>
              <a:rPr lang="ru-RU" sz="1600" dirty="0">
                <a:ea typeface="Calibri"/>
                <a:cs typeface="Times New Roman"/>
              </a:rPr>
              <a:t> </a:t>
            </a:r>
            <a:r>
              <a:rPr lang="ru-RU" sz="1600" dirty="0" err="1">
                <a:solidFill>
                  <a:srgbClr val="008080"/>
                </a:solidFill>
                <a:ea typeface="Calibri"/>
                <a:cs typeface="Times New Roman"/>
              </a:rPr>
              <a:t>Subj_Name</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008080"/>
                </a:solidFill>
                <a:ea typeface="Calibri"/>
                <a:cs typeface="Times New Roman"/>
              </a:rPr>
              <a:t>@</a:t>
            </a:r>
            <a:r>
              <a:rPr lang="ru-RU" sz="1600" dirty="0" err="1">
                <a:solidFill>
                  <a:srgbClr val="008080"/>
                </a:solidFill>
                <a:ea typeface="Calibri"/>
                <a:cs typeface="Times New Roman"/>
              </a:rPr>
              <a:t>Subject</a:t>
            </a:r>
            <a:r>
              <a:rPr lang="ru-RU" sz="1600" dirty="0">
                <a:ea typeface="Calibri"/>
                <a:cs typeface="Times New Roman"/>
              </a:rPr>
              <a:t> </a:t>
            </a:r>
            <a:r>
              <a:rPr lang="ru-RU" sz="1600" dirty="0">
                <a:solidFill>
                  <a:srgbClr val="808080"/>
                </a:solidFill>
                <a:ea typeface="Calibri"/>
                <a:cs typeface="Times New Roman"/>
              </a:rPr>
              <a:t>AND</a:t>
            </a:r>
            <a:r>
              <a:rPr lang="ru-RU" sz="1600" dirty="0">
                <a:ea typeface="Calibri"/>
                <a:cs typeface="Times New Roman"/>
              </a:rPr>
              <a:t> </a:t>
            </a:r>
            <a:r>
              <a:rPr lang="ru-RU" sz="1600" dirty="0">
                <a:solidFill>
                  <a:srgbClr val="008080"/>
                </a:solidFill>
                <a:ea typeface="Calibri"/>
                <a:cs typeface="Times New Roman"/>
              </a:rPr>
              <a:t>Mark</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008080"/>
                </a:solidFill>
                <a:ea typeface="Calibri"/>
                <a:cs typeface="Times New Roman"/>
              </a:rPr>
              <a:t>@Mark</a:t>
            </a:r>
            <a:endParaRPr lang="ru-RU" dirty="0"/>
          </a:p>
        </p:txBody>
      </p:sp>
      <p:pic>
        <p:nvPicPr>
          <p:cNvPr id="1030" name="Picture 6"/>
          <p:cNvPicPr>
            <a:picLocks noChangeAspect="1" noChangeArrowheads="1"/>
          </p:cNvPicPr>
          <p:nvPr/>
        </p:nvPicPr>
        <p:blipFill>
          <a:blip r:embed="rId2" cstate="print"/>
          <a:srcRect r="3661"/>
          <a:stretch>
            <a:fillRect/>
          </a:stretch>
        </p:blipFill>
        <p:spPr bwMode="auto">
          <a:xfrm>
            <a:off x="0" y="4572008"/>
            <a:ext cx="4143373" cy="857256"/>
          </a:xfrm>
          <a:prstGeom prst="rect">
            <a:avLst/>
          </a:prstGeom>
          <a:noFill/>
          <a:ln w="9525">
            <a:noFill/>
            <a:miter lim="800000"/>
            <a:headEnd/>
            <a:tailEnd/>
          </a:ln>
          <a:effectLst/>
        </p:spPr>
      </p:pic>
      <p:pic>
        <p:nvPicPr>
          <p:cNvPr id="1031" name="Picture 7"/>
          <p:cNvPicPr>
            <a:picLocks noChangeAspect="1" noChangeArrowheads="1"/>
          </p:cNvPicPr>
          <p:nvPr/>
        </p:nvPicPr>
        <p:blipFill>
          <a:blip r:embed="rId3" cstate="print"/>
          <a:srcRect r="7396"/>
          <a:stretch>
            <a:fillRect/>
          </a:stretch>
        </p:blipFill>
        <p:spPr bwMode="auto">
          <a:xfrm>
            <a:off x="121441" y="6072206"/>
            <a:ext cx="3857620" cy="642942"/>
          </a:xfrm>
          <a:prstGeom prst="rect">
            <a:avLst/>
          </a:prstGeom>
          <a:noFill/>
          <a:ln w="9525">
            <a:noFill/>
            <a:miter lim="800000"/>
            <a:headEnd/>
            <a:tailEnd/>
          </a:ln>
          <a:effectLst/>
        </p:spPr>
      </p:pic>
      <p:pic>
        <p:nvPicPr>
          <p:cNvPr id="1032" name="Picture 8"/>
          <p:cNvPicPr>
            <a:picLocks noChangeAspect="1" noChangeArrowheads="1"/>
          </p:cNvPicPr>
          <p:nvPr/>
        </p:nvPicPr>
        <p:blipFill>
          <a:blip r:embed="rId4" cstate="print"/>
          <a:srcRect/>
          <a:stretch>
            <a:fillRect/>
          </a:stretch>
        </p:blipFill>
        <p:spPr bwMode="auto">
          <a:xfrm>
            <a:off x="4231787" y="4714884"/>
            <a:ext cx="4912213" cy="571504"/>
          </a:xfrm>
          <a:prstGeom prst="rect">
            <a:avLst/>
          </a:prstGeom>
          <a:noFill/>
          <a:ln w="9525">
            <a:noFill/>
            <a:miter lim="800000"/>
            <a:headEnd/>
            <a:tailEnd/>
          </a:ln>
          <a:effectLst/>
        </p:spPr>
      </p:pic>
      <p:pic>
        <p:nvPicPr>
          <p:cNvPr id="1033" name="Picture 9"/>
          <p:cNvPicPr>
            <a:picLocks noChangeAspect="1" noChangeArrowheads="1"/>
          </p:cNvPicPr>
          <p:nvPr/>
        </p:nvPicPr>
        <p:blipFill>
          <a:blip r:embed="rId5" cstate="print"/>
          <a:srcRect/>
          <a:stretch>
            <a:fillRect/>
          </a:stretch>
        </p:blipFill>
        <p:spPr bwMode="auto">
          <a:xfrm>
            <a:off x="4143372" y="6072206"/>
            <a:ext cx="4622832" cy="571504"/>
          </a:xfrm>
          <a:prstGeom prst="rect">
            <a:avLst/>
          </a:prstGeom>
          <a:noFill/>
          <a:ln w="9525">
            <a:noFill/>
            <a:miter lim="800000"/>
            <a:headEnd/>
            <a:tailEnd/>
          </a:ln>
          <a:effectLst/>
        </p:spPr>
      </p:pic>
      <p:sp>
        <p:nvSpPr>
          <p:cNvPr id="15" name="TextBox 14"/>
          <p:cNvSpPr txBox="1"/>
          <p:nvPr/>
        </p:nvSpPr>
        <p:spPr>
          <a:xfrm>
            <a:off x="0" y="4071942"/>
            <a:ext cx="2486130" cy="375487"/>
          </a:xfrm>
          <a:prstGeom prst="rect">
            <a:avLst/>
          </a:prstGeom>
          <a:noFill/>
        </p:spPr>
        <p:txBody>
          <a:bodyPr wrap="none" rtlCol="0">
            <a:spAutoFit/>
          </a:bodyPr>
          <a:lstStyle/>
          <a:p>
            <a:pPr>
              <a:lnSpc>
                <a:spcPct val="115000"/>
              </a:lnSpc>
              <a:spcAft>
                <a:spcPts val="0"/>
              </a:spcAft>
            </a:pPr>
            <a:r>
              <a:rPr lang="ru-RU" sz="1600" dirty="0">
                <a:ea typeface="Calibri"/>
                <a:cs typeface="Times New Roman"/>
              </a:rPr>
              <a:t>1) </a:t>
            </a:r>
            <a:r>
              <a:rPr lang="en-US" sz="1600" dirty="0">
                <a:solidFill>
                  <a:srgbClr val="0000FF"/>
                </a:solidFill>
                <a:ea typeface="Calibri"/>
                <a:cs typeface="Times New Roman"/>
              </a:rPr>
              <a:t>EXEC</a:t>
            </a:r>
            <a:r>
              <a:rPr lang="en-US" sz="1600" dirty="0">
                <a:ea typeface="Calibri"/>
                <a:cs typeface="Times New Roman"/>
              </a:rPr>
              <a:t> </a:t>
            </a:r>
            <a:r>
              <a:rPr lang="en-US" sz="1600" dirty="0" err="1">
                <a:solidFill>
                  <a:srgbClr val="008080"/>
                </a:solidFill>
                <a:ea typeface="Calibri"/>
                <a:cs typeface="Times New Roman"/>
              </a:rPr>
              <a:t>Subject_procedure</a:t>
            </a:r>
            <a:r>
              <a:rPr lang="en-US" sz="1600" dirty="0">
                <a:solidFill>
                  <a:srgbClr val="0000FF"/>
                </a:solidFill>
                <a:ea typeface="Calibri"/>
                <a:cs typeface="Times New Roman"/>
              </a:rPr>
              <a:t> </a:t>
            </a:r>
            <a:endParaRPr lang="ru-RU" sz="1600" dirty="0"/>
          </a:p>
        </p:txBody>
      </p:sp>
      <p:cxnSp>
        <p:nvCxnSpPr>
          <p:cNvPr id="17" name="Прямая соединительная линия 16"/>
          <p:cNvCxnSpPr/>
          <p:nvPr/>
        </p:nvCxnSpPr>
        <p:spPr>
          <a:xfrm rot="5400000">
            <a:off x="2749549" y="5464971"/>
            <a:ext cx="2786852" cy="794"/>
          </a:xfrm>
          <a:prstGeom prst="line">
            <a:avLst/>
          </a:prstGeom>
          <a:ln>
            <a:solidFill>
              <a:schemeClr val="accent3">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0" y="3643314"/>
            <a:ext cx="4416915" cy="338554"/>
          </a:xfrm>
          <a:prstGeom prst="rect">
            <a:avLst/>
          </a:prstGeom>
          <a:noFill/>
        </p:spPr>
        <p:txBody>
          <a:bodyPr wrap="none" rtlCol="0">
            <a:spAutoFit/>
          </a:bodyPr>
          <a:lstStyle/>
          <a:p>
            <a:r>
              <a:rPr lang="ru-RU" sz="1600" dirty="0"/>
              <a:t>Варианты вызова процедуры </a:t>
            </a:r>
            <a:r>
              <a:rPr lang="ru-RU" sz="1600" dirty="0" err="1">
                <a:solidFill>
                  <a:srgbClr val="008080"/>
                </a:solidFill>
                <a:ea typeface="Calibri"/>
                <a:cs typeface="Times New Roman"/>
              </a:rPr>
              <a:t>Subject_procedure</a:t>
            </a:r>
            <a:r>
              <a:rPr lang="ru-RU" sz="1600" dirty="0">
                <a:solidFill>
                  <a:srgbClr val="008080"/>
                </a:solidFill>
                <a:ea typeface="Calibri"/>
                <a:cs typeface="Times New Roman"/>
              </a:rPr>
              <a:t>:</a:t>
            </a:r>
            <a:endParaRPr lang="ru-RU" sz="1600" dirty="0"/>
          </a:p>
        </p:txBody>
      </p:sp>
      <p:sp>
        <p:nvSpPr>
          <p:cNvPr id="21" name="TextBox 20"/>
          <p:cNvSpPr txBox="1"/>
          <p:nvPr/>
        </p:nvSpPr>
        <p:spPr>
          <a:xfrm>
            <a:off x="0" y="5572140"/>
            <a:ext cx="3452740" cy="358816"/>
          </a:xfrm>
          <a:prstGeom prst="rect">
            <a:avLst/>
          </a:prstGeom>
          <a:noFill/>
        </p:spPr>
        <p:txBody>
          <a:bodyPr wrap="none" rtlCol="0">
            <a:spAutoFit/>
          </a:bodyPr>
          <a:lstStyle/>
          <a:p>
            <a:pPr>
              <a:lnSpc>
                <a:spcPct val="115000"/>
              </a:lnSpc>
              <a:spcAft>
                <a:spcPts val="0"/>
              </a:spcAft>
            </a:pPr>
            <a:r>
              <a:rPr lang="ru-RU" sz="1600" dirty="0"/>
              <a:t>2) </a:t>
            </a:r>
            <a:r>
              <a:rPr lang="en-US" sz="1600" dirty="0">
                <a:solidFill>
                  <a:srgbClr val="0000FF"/>
                </a:solidFill>
                <a:ea typeface="Calibri"/>
                <a:cs typeface="Times New Roman"/>
              </a:rPr>
              <a:t>EXEC</a:t>
            </a:r>
            <a:r>
              <a:rPr lang="en-US" sz="1600" dirty="0">
                <a:ea typeface="Calibri"/>
                <a:cs typeface="Times New Roman"/>
              </a:rPr>
              <a:t> </a:t>
            </a:r>
            <a:r>
              <a:rPr lang="en-US" sz="1600" dirty="0" err="1">
                <a:solidFill>
                  <a:srgbClr val="008080"/>
                </a:solidFill>
                <a:ea typeface="Calibri"/>
                <a:cs typeface="Times New Roman"/>
              </a:rPr>
              <a:t>Subject_procedure</a:t>
            </a:r>
            <a:r>
              <a:rPr lang="en-US" sz="1600" dirty="0">
                <a:solidFill>
                  <a:srgbClr val="0000FF"/>
                </a:solidFill>
                <a:ea typeface="Calibri"/>
                <a:cs typeface="Times New Roman"/>
              </a:rPr>
              <a:t> </a:t>
            </a:r>
            <a:r>
              <a:rPr lang="en-US" sz="1600" dirty="0">
                <a:solidFill>
                  <a:srgbClr val="008080"/>
                </a:solidFill>
                <a:ea typeface="Calibri"/>
                <a:cs typeface="Times New Roman"/>
              </a:rPr>
              <a:t>@Mark</a:t>
            </a:r>
            <a:r>
              <a:rPr lang="en-US" sz="1600" dirty="0">
                <a:ea typeface="Calibri"/>
                <a:cs typeface="Times New Roman"/>
              </a:rPr>
              <a:t> </a:t>
            </a:r>
            <a:r>
              <a:rPr lang="en-US" sz="1600" dirty="0">
                <a:solidFill>
                  <a:srgbClr val="808080"/>
                </a:solidFill>
                <a:ea typeface="Calibri"/>
                <a:cs typeface="Times New Roman"/>
              </a:rPr>
              <a:t>=</a:t>
            </a:r>
            <a:r>
              <a:rPr lang="en-US" sz="1600" dirty="0">
                <a:ea typeface="Calibri"/>
                <a:cs typeface="Times New Roman"/>
              </a:rPr>
              <a:t> 3 </a:t>
            </a:r>
            <a:endParaRPr lang="ru-RU" dirty="0"/>
          </a:p>
        </p:txBody>
      </p:sp>
      <p:sp>
        <p:nvSpPr>
          <p:cNvPr id="22" name="TextBox 21"/>
          <p:cNvSpPr txBox="1"/>
          <p:nvPr/>
        </p:nvSpPr>
        <p:spPr>
          <a:xfrm>
            <a:off x="4143372" y="4000504"/>
            <a:ext cx="4857752" cy="694036"/>
          </a:xfrm>
          <a:prstGeom prst="rect">
            <a:avLst/>
          </a:prstGeom>
          <a:noFill/>
        </p:spPr>
        <p:txBody>
          <a:bodyPr wrap="square" rtlCol="0">
            <a:spAutoFit/>
          </a:bodyPr>
          <a:lstStyle/>
          <a:p>
            <a:pPr>
              <a:lnSpc>
                <a:spcPct val="115000"/>
              </a:lnSpc>
              <a:spcAft>
                <a:spcPts val="0"/>
              </a:spcAft>
            </a:pPr>
            <a:r>
              <a:rPr lang="ru-RU" sz="1600" dirty="0"/>
              <a:t>3) </a:t>
            </a:r>
            <a:r>
              <a:rPr lang="ru-RU" sz="1600" dirty="0">
                <a:solidFill>
                  <a:srgbClr val="0000FF"/>
                </a:solidFill>
                <a:ea typeface="Calibri"/>
                <a:cs typeface="Times New Roman"/>
              </a:rPr>
              <a:t>EXEC</a:t>
            </a:r>
            <a:r>
              <a:rPr lang="ru-RU" sz="1600" dirty="0">
                <a:ea typeface="Calibri"/>
                <a:cs typeface="Times New Roman"/>
              </a:rPr>
              <a:t> </a:t>
            </a:r>
            <a:r>
              <a:rPr lang="ru-RU" sz="1600" dirty="0" err="1">
                <a:solidFill>
                  <a:srgbClr val="008080"/>
                </a:solidFill>
                <a:ea typeface="Calibri"/>
                <a:cs typeface="Times New Roman"/>
              </a:rPr>
              <a:t>Subject_procedure</a:t>
            </a:r>
            <a:r>
              <a:rPr lang="ru-RU" sz="1600" dirty="0">
                <a:solidFill>
                  <a:srgbClr val="0000FF"/>
                </a:solidFill>
                <a:ea typeface="Calibri"/>
                <a:cs typeface="Times New Roman"/>
              </a:rPr>
              <a:t> </a:t>
            </a:r>
            <a:r>
              <a:rPr lang="ru-RU" sz="1600" dirty="0">
                <a:solidFill>
                  <a:srgbClr val="008080"/>
                </a:solidFill>
                <a:ea typeface="Calibri"/>
                <a:cs typeface="Times New Roman"/>
              </a:rPr>
              <a:t>@</a:t>
            </a:r>
            <a:r>
              <a:rPr lang="ru-RU" sz="1600" dirty="0" err="1">
                <a:solidFill>
                  <a:srgbClr val="008080"/>
                </a:solidFill>
                <a:ea typeface="Calibri"/>
                <a:cs typeface="Times New Roman"/>
              </a:rPr>
              <a:t>Subject</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r>
              <a:rPr lang="ru-RU" sz="1600" dirty="0">
                <a:solidFill>
                  <a:srgbClr val="FF0000"/>
                </a:solidFill>
                <a:ea typeface="Calibri"/>
                <a:cs typeface="Times New Roman"/>
              </a:rPr>
              <a:t>'Операционные системы</a:t>
            </a:r>
            <a:r>
              <a:rPr lang="ru-RU" dirty="0">
                <a:solidFill>
                  <a:srgbClr val="FF0000"/>
                </a:solidFill>
                <a:ea typeface="Calibri"/>
                <a:cs typeface="Times New Roman"/>
              </a:rPr>
              <a:t>'</a:t>
            </a:r>
            <a:endParaRPr lang="ru-RU" dirty="0"/>
          </a:p>
        </p:txBody>
      </p:sp>
      <p:sp>
        <p:nvSpPr>
          <p:cNvPr id="24" name="TextBox 23"/>
          <p:cNvSpPr txBox="1"/>
          <p:nvPr/>
        </p:nvSpPr>
        <p:spPr>
          <a:xfrm>
            <a:off x="4143372" y="5357826"/>
            <a:ext cx="5000628" cy="658642"/>
          </a:xfrm>
          <a:prstGeom prst="rect">
            <a:avLst/>
          </a:prstGeom>
          <a:noFill/>
        </p:spPr>
        <p:txBody>
          <a:bodyPr wrap="square" rtlCol="0">
            <a:spAutoFit/>
          </a:bodyPr>
          <a:lstStyle/>
          <a:p>
            <a:pPr>
              <a:lnSpc>
                <a:spcPct val="115000"/>
              </a:lnSpc>
              <a:spcAft>
                <a:spcPts val="1000"/>
              </a:spcAft>
            </a:pPr>
            <a:r>
              <a:rPr lang="ru-RU" sz="1600" dirty="0"/>
              <a:t>4) </a:t>
            </a:r>
            <a:r>
              <a:rPr lang="ru-RU" sz="1600" dirty="0">
                <a:solidFill>
                  <a:srgbClr val="0000FF"/>
                </a:solidFill>
                <a:ea typeface="Cambria Math" pitchFamily="18" charset="0"/>
                <a:cs typeface="Times New Roman"/>
              </a:rPr>
              <a:t>EXEC</a:t>
            </a:r>
            <a:r>
              <a:rPr lang="ru-RU" sz="1600" dirty="0">
                <a:ea typeface="Cambria Math" pitchFamily="18" charset="0"/>
                <a:cs typeface="Times New Roman"/>
              </a:rPr>
              <a:t> </a:t>
            </a:r>
            <a:r>
              <a:rPr lang="ru-RU" sz="1600" dirty="0" err="1">
                <a:solidFill>
                  <a:srgbClr val="008080"/>
                </a:solidFill>
                <a:ea typeface="Cambria Math" pitchFamily="18" charset="0"/>
                <a:cs typeface="Times New Roman"/>
              </a:rPr>
              <a:t>Subject_procedure</a:t>
            </a:r>
            <a:r>
              <a:rPr lang="ru-RU" sz="1600" dirty="0">
                <a:solidFill>
                  <a:srgbClr val="0000FF"/>
                </a:solidFill>
                <a:ea typeface="Cambria Math" pitchFamily="18" charset="0"/>
                <a:cs typeface="Times New Roman"/>
              </a:rPr>
              <a:t> </a:t>
            </a:r>
            <a:r>
              <a:rPr lang="ru-RU" sz="1600" dirty="0">
                <a:solidFill>
                  <a:srgbClr val="008080"/>
                </a:solidFill>
                <a:ea typeface="Cambria Math" pitchFamily="18" charset="0"/>
                <a:cs typeface="Times New Roman"/>
              </a:rPr>
              <a:t>@</a:t>
            </a:r>
            <a:r>
              <a:rPr lang="ru-RU" sz="1600" dirty="0" err="1">
                <a:solidFill>
                  <a:srgbClr val="008080"/>
                </a:solidFill>
                <a:ea typeface="Cambria Math" pitchFamily="18" charset="0"/>
                <a:cs typeface="Times New Roman"/>
              </a:rPr>
              <a:t>Subject</a:t>
            </a:r>
            <a:r>
              <a:rPr lang="ru-RU" sz="1600" dirty="0">
                <a:ea typeface="Cambria Math" pitchFamily="18" charset="0"/>
                <a:cs typeface="Times New Roman"/>
              </a:rPr>
              <a:t> </a:t>
            </a:r>
            <a:r>
              <a:rPr lang="ru-RU" sz="1600" dirty="0">
                <a:solidFill>
                  <a:srgbClr val="808080"/>
                </a:solidFill>
                <a:ea typeface="Cambria Math" pitchFamily="18" charset="0"/>
                <a:cs typeface="Times New Roman"/>
              </a:rPr>
              <a:t>=</a:t>
            </a:r>
            <a:r>
              <a:rPr lang="ru-RU" sz="1600" dirty="0">
                <a:ea typeface="Cambria Math" pitchFamily="18" charset="0"/>
                <a:cs typeface="Times New Roman"/>
              </a:rPr>
              <a:t> </a:t>
            </a:r>
            <a:r>
              <a:rPr lang="ru-RU" sz="1600" dirty="0">
                <a:solidFill>
                  <a:srgbClr val="FF0000"/>
                </a:solidFill>
                <a:ea typeface="Cambria Math" pitchFamily="18" charset="0"/>
                <a:cs typeface="Times New Roman"/>
              </a:rPr>
              <a:t>'Операционные системы'</a:t>
            </a:r>
            <a:r>
              <a:rPr lang="ru-RU" sz="1600" dirty="0">
                <a:solidFill>
                  <a:srgbClr val="808080"/>
                </a:solidFill>
                <a:ea typeface="Cambria Math" pitchFamily="18" charset="0"/>
                <a:cs typeface="Times New Roman"/>
              </a:rPr>
              <a:t>,</a:t>
            </a:r>
            <a:r>
              <a:rPr lang="ru-RU" sz="1600" dirty="0">
                <a:ea typeface="Cambria Math" pitchFamily="18" charset="0"/>
                <a:cs typeface="Times New Roman"/>
              </a:rPr>
              <a:t> </a:t>
            </a:r>
            <a:r>
              <a:rPr lang="ru-RU" sz="1600" dirty="0">
                <a:solidFill>
                  <a:srgbClr val="008080"/>
                </a:solidFill>
                <a:ea typeface="Cambria Math" pitchFamily="18" charset="0"/>
                <a:cs typeface="Times New Roman"/>
              </a:rPr>
              <a:t>@Mark</a:t>
            </a:r>
            <a:r>
              <a:rPr lang="ru-RU" sz="1600" dirty="0">
                <a:ea typeface="Cambria Math" pitchFamily="18" charset="0"/>
                <a:cs typeface="Times New Roman"/>
              </a:rPr>
              <a:t> </a:t>
            </a:r>
            <a:r>
              <a:rPr lang="ru-RU" sz="1600" dirty="0">
                <a:solidFill>
                  <a:srgbClr val="808080"/>
                </a:solidFill>
                <a:ea typeface="Cambria Math" pitchFamily="18" charset="0"/>
                <a:cs typeface="Times New Roman"/>
              </a:rPr>
              <a:t>=</a:t>
            </a:r>
            <a:r>
              <a:rPr lang="ru-RU" sz="1600" dirty="0">
                <a:ea typeface="Cambria Math" pitchFamily="18" charset="0"/>
                <a:cs typeface="Times New Roman"/>
              </a:rPr>
              <a:t>4</a:t>
            </a:r>
            <a:endParaRPr lang="ru-RU" dirty="0"/>
          </a:p>
        </p:txBody>
      </p:sp>
      <p:cxnSp>
        <p:nvCxnSpPr>
          <p:cNvPr id="18" name="Прямая соединительная линия 17"/>
          <p:cNvCxnSpPr/>
          <p:nvPr/>
        </p:nvCxnSpPr>
        <p:spPr>
          <a:xfrm rot="10800000">
            <a:off x="0" y="3643314"/>
            <a:ext cx="9144000" cy="1588"/>
          </a:xfrm>
          <a:prstGeom prst="line">
            <a:avLst/>
          </a:prstGeom>
          <a:ln>
            <a:solidFill>
              <a:schemeClr val="accent3">
                <a:lumMod val="75000"/>
              </a:schemeClr>
            </a:solidFill>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10</a:t>
            </a:fld>
            <a:endParaRPr lang="ru-RU"/>
          </a:p>
        </p:txBody>
      </p:sp>
      <p:sp>
        <p:nvSpPr>
          <p:cNvPr id="3" name="TextBox 2"/>
          <p:cNvSpPr txBox="1"/>
          <p:nvPr/>
        </p:nvSpPr>
        <p:spPr>
          <a:xfrm>
            <a:off x="285720" y="571480"/>
            <a:ext cx="8501122" cy="4770537"/>
          </a:xfrm>
          <a:prstGeom prst="rect">
            <a:avLst/>
          </a:prstGeom>
          <a:noFill/>
        </p:spPr>
        <p:txBody>
          <a:bodyPr wrap="square" rtlCol="0">
            <a:spAutoFit/>
          </a:bodyPr>
          <a:lstStyle/>
          <a:p>
            <a:pPr>
              <a:spcAft>
                <a:spcPts val="0"/>
              </a:spcAft>
            </a:pPr>
            <a:r>
              <a:rPr lang="ru-RU" sz="1600" dirty="0"/>
              <a:t>Создать процедуру для подсчета числа студентов, сдававших экзамен по дисциплине у преподавателя фамилия и имя которого передаются через входные параметры</a:t>
            </a:r>
          </a:p>
          <a:p>
            <a:pPr>
              <a:spcAft>
                <a:spcPts val="0"/>
              </a:spcAft>
            </a:pPr>
            <a:endParaRPr lang="ru-RU" sz="1600" dirty="0">
              <a:solidFill>
                <a:srgbClr val="0000FF"/>
              </a:solidFill>
              <a:ea typeface="Calibri"/>
              <a:cs typeface="Times New Roman"/>
            </a:endParaRPr>
          </a:p>
          <a:p>
            <a:pPr>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Procedure</a:t>
            </a:r>
            <a:r>
              <a:rPr lang="en-US" sz="1600" dirty="0">
                <a:ea typeface="Calibri"/>
                <a:cs typeface="Times New Roman"/>
              </a:rPr>
              <a:t> </a:t>
            </a:r>
            <a:r>
              <a:rPr lang="en-US" sz="1600" dirty="0" err="1">
                <a:solidFill>
                  <a:srgbClr val="008080"/>
                </a:solidFill>
                <a:ea typeface="Calibri"/>
                <a:cs typeface="Times New Roman"/>
              </a:rPr>
              <a:t>StudentNum</a:t>
            </a:r>
            <a:endParaRPr lang="ru-RU" sz="1600" dirty="0">
              <a:ea typeface="Calibri"/>
              <a:cs typeface="Times New Roman"/>
            </a:endParaRPr>
          </a:p>
          <a:p>
            <a:pPr>
              <a:spcAft>
                <a:spcPts val="0"/>
              </a:spcAft>
            </a:pPr>
            <a:r>
              <a:rPr lang="en-US" sz="1600" dirty="0">
                <a:solidFill>
                  <a:srgbClr val="008080"/>
                </a:solidFill>
                <a:ea typeface="Calibri"/>
                <a:cs typeface="Times New Roman"/>
              </a:rPr>
              <a:t>@Num</a:t>
            </a:r>
            <a:r>
              <a:rPr lang="en-US" sz="1600" dirty="0">
                <a:ea typeface="Calibri"/>
                <a:cs typeface="Times New Roman"/>
              </a:rPr>
              <a:t> </a:t>
            </a:r>
            <a:r>
              <a:rPr lang="en-US" sz="1600" dirty="0">
                <a:solidFill>
                  <a:srgbClr val="0000FF"/>
                </a:solidFill>
                <a:ea typeface="Calibri"/>
                <a:cs typeface="Times New Roman"/>
              </a:rPr>
              <a:t>SMALLINT</a:t>
            </a:r>
            <a:r>
              <a:rPr lang="en-US" sz="1600" dirty="0">
                <a:ea typeface="Calibri"/>
                <a:cs typeface="Times New Roman"/>
              </a:rPr>
              <a:t> </a:t>
            </a:r>
            <a:r>
              <a:rPr lang="en-US" sz="1600" dirty="0">
                <a:solidFill>
                  <a:srgbClr val="0000FF"/>
                </a:solidFill>
                <a:ea typeface="Calibri"/>
                <a:cs typeface="Times New Roman"/>
              </a:rPr>
              <a:t>OUTPUT</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8080"/>
                </a:solidFill>
                <a:ea typeface="Calibri"/>
                <a:cs typeface="Times New Roman"/>
              </a:rPr>
              <a:t>@</a:t>
            </a:r>
            <a:r>
              <a:rPr lang="en-US" sz="1600" dirty="0" err="1">
                <a:solidFill>
                  <a:srgbClr val="008080"/>
                </a:solidFill>
                <a:ea typeface="Calibri"/>
                <a:cs typeface="Times New Roman"/>
              </a:rPr>
              <a:t>Lecture_surname</a:t>
            </a:r>
            <a:r>
              <a:rPr lang="en-US" sz="1600" dirty="0">
                <a:ea typeface="Calibri"/>
                <a:cs typeface="Times New Roman"/>
              </a:rPr>
              <a:t> </a:t>
            </a:r>
            <a:r>
              <a:rPr lang="en-US" sz="1600" dirty="0">
                <a:solidFill>
                  <a:srgbClr val="0000FF"/>
                </a:solidFill>
                <a:ea typeface="Calibri"/>
                <a:cs typeface="Times New Roman"/>
              </a:rPr>
              <a:t>VARCHAR</a:t>
            </a:r>
            <a:r>
              <a:rPr lang="en-US" sz="1600" dirty="0">
                <a:solidFill>
                  <a:srgbClr val="808080"/>
                </a:solidFill>
                <a:ea typeface="Calibri"/>
                <a:cs typeface="Times New Roman"/>
              </a:rPr>
              <a:t>(</a:t>
            </a:r>
            <a:r>
              <a:rPr lang="en-US" sz="1600" dirty="0">
                <a:ea typeface="Calibri"/>
                <a:cs typeface="Times New Roman"/>
              </a:rPr>
              <a:t>20</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8080"/>
                </a:solidFill>
                <a:ea typeface="Calibri"/>
                <a:cs typeface="Times New Roman"/>
              </a:rPr>
              <a:t>@</a:t>
            </a:r>
            <a:r>
              <a:rPr lang="en-US" sz="1600" dirty="0" err="1">
                <a:solidFill>
                  <a:srgbClr val="008080"/>
                </a:solidFill>
                <a:ea typeface="Calibri"/>
                <a:cs typeface="Times New Roman"/>
              </a:rPr>
              <a:t>Lecture_name</a:t>
            </a:r>
            <a:r>
              <a:rPr lang="en-US" sz="1600" dirty="0">
                <a:ea typeface="Calibri"/>
                <a:cs typeface="Times New Roman"/>
              </a:rPr>
              <a:t> </a:t>
            </a:r>
            <a:r>
              <a:rPr lang="en-US" sz="1600" dirty="0">
                <a:solidFill>
                  <a:srgbClr val="0000FF"/>
                </a:solidFill>
                <a:ea typeface="Calibri"/>
                <a:cs typeface="Times New Roman"/>
              </a:rPr>
              <a:t>VARCHAR</a:t>
            </a:r>
            <a:r>
              <a:rPr lang="en-US" sz="1600" dirty="0">
                <a:solidFill>
                  <a:srgbClr val="808080"/>
                </a:solidFill>
                <a:ea typeface="Calibri"/>
                <a:cs typeface="Times New Roman"/>
              </a:rPr>
              <a:t>(</a:t>
            </a:r>
            <a:r>
              <a:rPr lang="en-US" sz="1600" dirty="0">
                <a:ea typeface="Calibri"/>
                <a:cs typeface="Times New Roman"/>
              </a:rPr>
              <a:t>20</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AS</a:t>
            </a:r>
            <a:endParaRPr lang="ru-RU" sz="1600" dirty="0">
              <a:ea typeface="Calibri"/>
              <a:cs typeface="Times New Roman"/>
            </a:endParaRPr>
          </a:p>
          <a:p>
            <a:pPr>
              <a:spcAft>
                <a:spcPts val="0"/>
              </a:spcAft>
            </a:pP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008080"/>
                </a:solidFill>
                <a:ea typeface="Calibri"/>
                <a:cs typeface="Times New Roman"/>
              </a:rPr>
              <a:t>@Num</a:t>
            </a:r>
            <a:r>
              <a:rPr lang="en-US" sz="1600" dirty="0">
                <a:ea typeface="Calibri"/>
                <a:cs typeface="Times New Roman"/>
              </a:rPr>
              <a:t> </a:t>
            </a:r>
            <a:r>
              <a:rPr lang="en-US" sz="1600" dirty="0">
                <a:solidFill>
                  <a:srgbClr val="808080"/>
                </a:solidFill>
                <a:ea typeface="Calibri"/>
                <a:cs typeface="Times New Roman"/>
              </a:rPr>
              <a:t>=</a:t>
            </a:r>
            <a:r>
              <a:rPr lang="en-US" sz="1600" dirty="0">
                <a:solidFill>
                  <a:srgbClr val="FF00FF"/>
                </a:solidFill>
                <a:ea typeface="Calibri"/>
                <a:cs typeface="Times New Roman"/>
              </a:rPr>
              <a:t>COUNT</a:t>
            </a:r>
            <a:r>
              <a:rPr lang="en-US" sz="1600" dirty="0">
                <a:solidFill>
                  <a:srgbClr val="808080"/>
                </a:solidFill>
                <a:ea typeface="Calibri"/>
                <a:cs typeface="Times New Roman"/>
              </a:rPr>
              <a:t>(</a:t>
            </a:r>
            <a:r>
              <a:rPr lang="en-US" sz="1600" dirty="0">
                <a:solidFill>
                  <a:srgbClr val="0000FF"/>
                </a:solidFill>
                <a:ea typeface="Calibri"/>
                <a:cs typeface="Times New Roman"/>
              </a:rPr>
              <a:t>DISTINCT</a:t>
            </a:r>
            <a:r>
              <a:rPr lang="en-US" sz="1600" dirty="0">
                <a:ea typeface="Calibri"/>
                <a:cs typeface="Times New Roman"/>
              </a:rPr>
              <a:t> </a:t>
            </a:r>
            <a:r>
              <a:rPr lang="en-US" sz="1600" dirty="0" err="1">
                <a:solidFill>
                  <a:srgbClr val="008080"/>
                </a:solidFill>
                <a:ea typeface="Calibri"/>
                <a:cs typeface="Times New Roman"/>
              </a:rPr>
              <a:t>Student_Id</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FROM</a:t>
            </a:r>
            <a:r>
              <a:rPr lang="en-US" sz="1600" dirty="0">
                <a:ea typeface="Calibri"/>
                <a:cs typeface="Times New Roman"/>
              </a:rPr>
              <a:t> </a:t>
            </a:r>
            <a:r>
              <a:rPr lang="en-US" sz="1600" dirty="0" err="1">
                <a:solidFill>
                  <a:srgbClr val="008080"/>
                </a:solidFill>
                <a:ea typeface="Calibri"/>
                <a:cs typeface="Times New Roman"/>
              </a:rPr>
              <a:t>Exam_marks</a:t>
            </a:r>
            <a:r>
              <a:rPr lang="en-US" sz="1600" dirty="0">
                <a:ea typeface="Calibri"/>
                <a:cs typeface="Times New Roman"/>
              </a:rPr>
              <a:t> </a:t>
            </a:r>
            <a:r>
              <a:rPr lang="en-US" sz="1600" dirty="0">
                <a:solidFill>
                  <a:srgbClr val="008080"/>
                </a:solidFill>
                <a:ea typeface="Calibri"/>
                <a:cs typeface="Times New Roman"/>
              </a:rPr>
              <a:t>e</a:t>
            </a:r>
            <a:r>
              <a:rPr lang="en-US" sz="1600" dirty="0">
                <a:ea typeface="Calibri"/>
                <a:cs typeface="Times New Roman"/>
              </a:rPr>
              <a:t> </a:t>
            </a:r>
            <a:r>
              <a:rPr lang="en-US" sz="1600" dirty="0">
                <a:solidFill>
                  <a:srgbClr val="808080"/>
                </a:solidFill>
                <a:ea typeface="Calibri"/>
                <a:cs typeface="Times New Roman"/>
              </a:rPr>
              <a:t>INNER</a:t>
            </a:r>
            <a:r>
              <a:rPr lang="en-US" sz="1600" dirty="0">
                <a:ea typeface="Calibri"/>
                <a:cs typeface="Times New Roman"/>
              </a:rPr>
              <a:t> </a:t>
            </a:r>
            <a:r>
              <a:rPr lang="en-US" sz="1600" dirty="0">
                <a:solidFill>
                  <a:srgbClr val="808080"/>
                </a:solidFill>
                <a:ea typeface="Calibri"/>
                <a:cs typeface="Times New Roman"/>
              </a:rPr>
              <a:t>JOIN</a:t>
            </a:r>
            <a:r>
              <a:rPr lang="en-US" sz="1600" dirty="0">
                <a:ea typeface="Calibri"/>
                <a:cs typeface="Times New Roman"/>
              </a:rPr>
              <a:t> </a:t>
            </a:r>
            <a:r>
              <a:rPr lang="en-US" sz="1600" dirty="0">
                <a:solidFill>
                  <a:srgbClr val="008080"/>
                </a:solidFill>
                <a:ea typeface="Calibri"/>
                <a:cs typeface="Times New Roman"/>
              </a:rPr>
              <a:t>Subject</a:t>
            </a:r>
            <a:r>
              <a:rPr lang="en-US" sz="1600" dirty="0">
                <a:ea typeface="Calibri"/>
                <a:cs typeface="Times New Roman"/>
              </a:rPr>
              <a:t> </a:t>
            </a:r>
            <a:r>
              <a:rPr lang="en-US" sz="1600" dirty="0">
                <a:solidFill>
                  <a:srgbClr val="008080"/>
                </a:solidFill>
                <a:ea typeface="Calibri"/>
                <a:cs typeface="Times New Roman"/>
              </a:rPr>
              <a:t>s</a:t>
            </a:r>
            <a:r>
              <a:rPr lang="en-US" sz="1600" dirty="0">
                <a:ea typeface="Calibri"/>
                <a:cs typeface="Times New Roman"/>
              </a:rPr>
              <a:t> </a:t>
            </a:r>
            <a:r>
              <a:rPr lang="en-US" sz="1600" dirty="0">
                <a:solidFill>
                  <a:srgbClr val="0000FF"/>
                </a:solidFill>
                <a:ea typeface="Calibri"/>
                <a:cs typeface="Times New Roman"/>
              </a:rPr>
              <a:t>ON</a:t>
            </a:r>
            <a:r>
              <a:rPr lang="en-US" sz="1600" dirty="0">
                <a:ea typeface="Calibri"/>
                <a:cs typeface="Times New Roman"/>
              </a:rPr>
              <a:t> </a:t>
            </a:r>
            <a:r>
              <a:rPr lang="en-US" sz="1600" dirty="0" err="1">
                <a:solidFill>
                  <a:srgbClr val="008080"/>
                </a:solidFill>
                <a:ea typeface="Calibri"/>
                <a:cs typeface="Times New Roman"/>
              </a:rPr>
              <a:t>e</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r>
              <a:rPr lang="en-US" sz="1600" dirty="0">
                <a:ea typeface="Calibri"/>
                <a:cs typeface="Times New Roman"/>
              </a:rPr>
              <a:t> </a:t>
            </a:r>
            <a:r>
              <a:rPr lang="en-US" sz="1600" dirty="0">
                <a:solidFill>
                  <a:srgbClr val="808080"/>
                </a:solidFill>
                <a:ea typeface="Calibri"/>
                <a:cs typeface="Times New Roman"/>
              </a:rPr>
              <a:t>=</a:t>
            </a:r>
            <a:r>
              <a:rPr lang="en-US" sz="1600" dirty="0">
                <a:ea typeface="Calibri"/>
                <a:cs typeface="Times New Roman"/>
              </a:rPr>
              <a:t> </a:t>
            </a:r>
            <a:r>
              <a:rPr lang="en-US" sz="1600" dirty="0" err="1">
                <a:solidFill>
                  <a:srgbClr val="008080"/>
                </a:solidFill>
                <a:ea typeface="Calibri"/>
                <a:cs typeface="Times New Roman"/>
              </a:rPr>
              <a:t>s</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808080"/>
                </a:solidFill>
                <a:ea typeface="Calibri"/>
                <a:cs typeface="Times New Roman"/>
              </a:rPr>
              <a:t>INNER</a:t>
            </a:r>
            <a:r>
              <a:rPr lang="en-US" sz="1600" dirty="0">
                <a:ea typeface="Calibri"/>
                <a:cs typeface="Times New Roman"/>
              </a:rPr>
              <a:t> </a:t>
            </a:r>
            <a:r>
              <a:rPr lang="en-US" sz="1600" dirty="0">
                <a:solidFill>
                  <a:srgbClr val="808080"/>
                </a:solidFill>
                <a:ea typeface="Calibri"/>
                <a:cs typeface="Times New Roman"/>
              </a:rPr>
              <a:t>JOIN</a:t>
            </a:r>
            <a:r>
              <a:rPr lang="en-US" sz="1600" dirty="0">
                <a:ea typeface="Calibri"/>
                <a:cs typeface="Times New Roman"/>
              </a:rPr>
              <a:t> </a:t>
            </a:r>
            <a:r>
              <a:rPr lang="en-US" sz="1600" dirty="0" err="1">
                <a:solidFill>
                  <a:srgbClr val="008080"/>
                </a:solidFill>
                <a:ea typeface="Calibri"/>
                <a:cs typeface="Times New Roman"/>
              </a:rPr>
              <a:t>Semester_plan</a:t>
            </a:r>
            <a:r>
              <a:rPr lang="en-US" sz="1600" dirty="0">
                <a:ea typeface="Calibri"/>
                <a:cs typeface="Times New Roman"/>
              </a:rPr>
              <a:t> </a:t>
            </a:r>
            <a:r>
              <a:rPr lang="en-US" sz="1600" dirty="0">
                <a:solidFill>
                  <a:srgbClr val="008080"/>
                </a:solidFill>
                <a:ea typeface="Calibri"/>
                <a:cs typeface="Times New Roman"/>
              </a:rPr>
              <a:t>sp</a:t>
            </a:r>
            <a:r>
              <a:rPr lang="en-US" sz="1600" dirty="0">
                <a:ea typeface="Calibri"/>
                <a:cs typeface="Times New Roman"/>
              </a:rPr>
              <a:t> </a:t>
            </a:r>
            <a:r>
              <a:rPr lang="en-US" sz="1600" dirty="0">
                <a:solidFill>
                  <a:srgbClr val="0000FF"/>
                </a:solidFill>
                <a:ea typeface="Calibri"/>
                <a:cs typeface="Times New Roman"/>
              </a:rPr>
              <a:t>ON</a:t>
            </a:r>
            <a:r>
              <a:rPr lang="en-US" sz="1600" dirty="0">
                <a:ea typeface="Calibri"/>
                <a:cs typeface="Times New Roman"/>
              </a:rPr>
              <a:t> </a:t>
            </a:r>
            <a:r>
              <a:rPr lang="en-US" sz="1600" dirty="0" err="1">
                <a:solidFill>
                  <a:srgbClr val="008080"/>
                </a:solidFill>
                <a:ea typeface="Calibri"/>
                <a:cs typeface="Times New Roman"/>
              </a:rPr>
              <a:t>s</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r>
              <a:rPr lang="en-US" sz="1600" dirty="0">
                <a:ea typeface="Calibri"/>
                <a:cs typeface="Times New Roman"/>
              </a:rPr>
              <a:t> </a:t>
            </a:r>
            <a:r>
              <a:rPr lang="en-US" sz="1600" dirty="0">
                <a:solidFill>
                  <a:srgbClr val="808080"/>
                </a:solidFill>
                <a:ea typeface="Calibri"/>
                <a:cs typeface="Times New Roman"/>
              </a:rPr>
              <a:t>=</a:t>
            </a:r>
            <a:r>
              <a:rPr lang="en-US" sz="1600" dirty="0" err="1">
                <a:solidFill>
                  <a:srgbClr val="008080"/>
                </a:solidFill>
                <a:ea typeface="Calibri"/>
                <a:cs typeface="Times New Roman"/>
              </a:rPr>
              <a:t>sp</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r>
              <a:rPr lang="en-US" sz="1600" dirty="0">
                <a:ea typeface="Calibri"/>
                <a:cs typeface="Times New Roman"/>
              </a:rPr>
              <a:t> </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808080"/>
                </a:solidFill>
                <a:ea typeface="Calibri"/>
                <a:cs typeface="Times New Roman"/>
              </a:rPr>
              <a:t>INNER</a:t>
            </a:r>
            <a:r>
              <a:rPr lang="en-US" sz="1600" dirty="0">
                <a:ea typeface="Calibri"/>
                <a:cs typeface="Times New Roman"/>
              </a:rPr>
              <a:t> </a:t>
            </a:r>
            <a:r>
              <a:rPr lang="en-US" sz="1600" dirty="0">
                <a:solidFill>
                  <a:srgbClr val="808080"/>
                </a:solidFill>
                <a:ea typeface="Calibri"/>
                <a:cs typeface="Times New Roman"/>
              </a:rPr>
              <a:t>JOIN</a:t>
            </a:r>
            <a:r>
              <a:rPr lang="en-US" sz="1600" dirty="0">
                <a:ea typeface="Calibri"/>
                <a:cs typeface="Times New Roman"/>
              </a:rPr>
              <a:t> </a:t>
            </a:r>
            <a:r>
              <a:rPr lang="en-US" sz="1600" dirty="0">
                <a:solidFill>
                  <a:srgbClr val="008080"/>
                </a:solidFill>
                <a:ea typeface="Calibri"/>
                <a:cs typeface="Times New Roman"/>
              </a:rPr>
              <a:t>Lecturer</a:t>
            </a:r>
            <a:r>
              <a:rPr lang="en-US" sz="1600" dirty="0">
                <a:ea typeface="Calibri"/>
                <a:cs typeface="Times New Roman"/>
              </a:rPr>
              <a:t> </a:t>
            </a:r>
            <a:r>
              <a:rPr lang="en-US" sz="1600" dirty="0">
                <a:solidFill>
                  <a:srgbClr val="008080"/>
                </a:solidFill>
                <a:ea typeface="Calibri"/>
                <a:cs typeface="Times New Roman"/>
              </a:rPr>
              <a:t>l</a:t>
            </a:r>
            <a:r>
              <a:rPr lang="en-US" sz="1600" dirty="0">
                <a:ea typeface="Calibri"/>
                <a:cs typeface="Times New Roman"/>
              </a:rPr>
              <a:t> </a:t>
            </a:r>
            <a:r>
              <a:rPr lang="en-US" sz="1600" dirty="0">
                <a:solidFill>
                  <a:srgbClr val="0000FF"/>
                </a:solidFill>
                <a:ea typeface="Calibri"/>
                <a:cs typeface="Times New Roman"/>
              </a:rPr>
              <a:t>ON</a:t>
            </a:r>
            <a:r>
              <a:rPr lang="en-US" sz="1600" dirty="0">
                <a:ea typeface="Calibri"/>
                <a:cs typeface="Times New Roman"/>
              </a:rPr>
              <a:t> </a:t>
            </a:r>
            <a:r>
              <a:rPr lang="en-US" sz="1600" dirty="0" err="1">
                <a:solidFill>
                  <a:srgbClr val="008080"/>
                </a:solidFill>
                <a:ea typeface="Calibri"/>
                <a:cs typeface="Times New Roman"/>
              </a:rPr>
              <a:t>sp</a:t>
            </a:r>
            <a:r>
              <a:rPr lang="en-US" sz="1600" dirty="0" err="1">
                <a:solidFill>
                  <a:srgbClr val="808080"/>
                </a:solidFill>
                <a:ea typeface="Calibri"/>
                <a:cs typeface="Times New Roman"/>
              </a:rPr>
              <a:t>.</a:t>
            </a:r>
            <a:r>
              <a:rPr lang="en-US" sz="1600" dirty="0" err="1">
                <a:solidFill>
                  <a:srgbClr val="008080"/>
                </a:solidFill>
                <a:ea typeface="Calibri"/>
                <a:cs typeface="Times New Roman"/>
              </a:rPr>
              <a:t>Lecturer_Id</a:t>
            </a:r>
            <a:r>
              <a:rPr lang="en-US" sz="1600" dirty="0">
                <a:ea typeface="Calibri"/>
                <a:cs typeface="Times New Roman"/>
              </a:rPr>
              <a:t> </a:t>
            </a:r>
            <a:r>
              <a:rPr lang="en-US" sz="1600" dirty="0">
                <a:solidFill>
                  <a:srgbClr val="808080"/>
                </a:solidFill>
                <a:ea typeface="Calibri"/>
                <a:cs typeface="Times New Roman"/>
              </a:rPr>
              <a:t>=</a:t>
            </a:r>
            <a:r>
              <a:rPr lang="en-US" sz="1600" dirty="0">
                <a:ea typeface="Calibri"/>
                <a:cs typeface="Times New Roman"/>
              </a:rPr>
              <a:t> </a:t>
            </a:r>
            <a:r>
              <a:rPr lang="en-US" sz="1600" dirty="0" err="1">
                <a:solidFill>
                  <a:srgbClr val="008080"/>
                </a:solidFill>
                <a:ea typeface="Calibri"/>
                <a:cs typeface="Times New Roman"/>
              </a:rPr>
              <a:t>l</a:t>
            </a:r>
            <a:r>
              <a:rPr lang="en-US" sz="1600" dirty="0" err="1">
                <a:solidFill>
                  <a:srgbClr val="808080"/>
                </a:solidFill>
                <a:ea typeface="Calibri"/>
                <a:cs typeface="Times New Roman"/>
              </a:rPr>
              <a:t>.</a:t>
            </a:r>
            <a:r>
              <a:rPr lang="en-US" sz="1600" dirty="0" err="1">
                <a:solidFill>
                  <a:srgbClr val="008080"/>
                </a:solidFill>
                <a:ea typeface="Calibri"/>
                <a:cs typeface="Times New Roman"/>
              </a:rPr>
              <a:t>Lecturer_Id</a:t>
            </a:r>
            <a:endParaRPr lang="ru-RU" sz="1600" dirty="0">
              <a:ea typeface="Calibri"/>
              <a:cs typeface="Times New Roman"/>
            </a:endParaRPr>
          </a:p>
          <a:p>
            <a:pPr>
              <a:spcAft>
                <a:spcPts val="0"/>
              </a:spcAft>
            </a:pPr>
            <a:r>
              <a:rPr lang="en-US" sz="1600" dirty="0">
                <a:solidFill>
                  <a:srgbClr val="0000FF"/>
                </a:solidFill>
                <a:ea typeface="Calibri"/>
                <a:cs typeface="Times New Roman"/>
              </a:rPr>
              <a:t>WHERE</a:t>
            </a:r>
            <a:r>
              <a:rPr lang="en-US" sz="1600" dirty="0">
                <a:ea typeface="Calibri"/>
                <a:cs typeface="Times New Roman"/>
              </a:rPr>
              <a:t> </a:t>
            </a:r>
            <a:r>
              <a:rPr lang="en-US" sz="1600" dirty="0">
                <a:solidFill>
                  <a:srgbClr val="008080"/>
                </a:solidFill>
                <a:ea typeface="Calibri"/>
                <a:cs typeface="Times New Roman"/>
              </a:rPr>
              <a:t>Surname</a:t>
            </a:r>
            <a:r>
              <a:rPr lang="en-US" sz="1600" dirty="0">
                <a:ea typeface="Calibri"/>
                <a:cs typeface="Times New Roman"/>
              </a:rPr>
              <a:t> </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Lecture_surname</a:t>
            </a:r>
            <a:r>
              <a:rPr lang="en-US" sz="1600" dirty="0">
                <a:ea typeface="Calibri"/>
                <a:cs typeface="Times New Roman"/>
              </a:rPr>
              <a:t>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Name</a:t>
            </a:r>
            <a:r>
              <a:rPr lang="en-US" sz="1600" dirty="0">
                <a:solidFill>
                  <a:srgbClr val="808080"/>
                </a:solidFill>
                <a:ea typeface="Calibri"/>
                <a:cs typeface="Times New Roman"/>
              </a:rPr>
              <a:t>=</a:t>
            </a:r>
            <a:r>
              <a:rPr lang="en-US" sz="1600" dirty="0">
                <a:solidFill>
                  <a:srgbClr val="008080"/>
                </a:solidFill>
                <a:ea typeface="Calibri"/>
                <a:cs typeface="Times New Roman"/>
              </a:rPr>
              <a:t>@</a:t>
            </a:r>
            <a:r>
              <a:rPr lang="en-US" sz="1600" dirty="0" err="1">
                <a:solidFill>
                  <a:srgbClr val="008080"/>
                </a:solidFill>
                <a:ea typeface="Calibri"/>
                <a:cs typeface="Times New Roman"/>
              </a:rPr>
              <a:t>Lecture_name</a:t>
            </a:r>
            <a:endParaRPr lang="ru-RU" sz="1600" dirty="0">
              <a:ea typeface="Calibri"/>
              <a:cs typeface="Times New Roman"/>
            </a:endParaRPr>
          </a:p>
          <a:p>
            <a:pPr>
              <a:spcAft>
                <a:spcPts val="0"/>
              </a:spcAft>
            </a:pPr>
            <a:r>
              <a:rPr lang="ru-RU" sz="1600" dirty="0">
                <a:ea typeface="Calibri"/>
                <a:cs typeface="Times New Roman"/>
              </a:rPr>
              <a:t> </a:t>
            </a:r>
          </a:p>
          <a:p>
            <a:pPr>
              <a:spcAft>
                <a:spcPts val="0"/>
              </a:spcAft>
            </a:pPr>
            <a:r>
              <a:rPr lang="ru-RU" sz="1600" dirty="0">
                <a:ea typeface="Calibri"/>
                <a:cs typeface="Times New Roman"/>
              </a:rPr>
              <a:t>Вызов процедуры:</a:t>
            </a:r>
            <a:r>
              <a:rPr lang="ru-RU" sz="1600" dirty="0">
                <a:solidFill>
                  <a:srgbClr val="0000FF"/>
                </a:solidFill>
                <a:ea typeface="Calibri"/>
                <a:cs typeface="Times New Roman"/>
              </a:rPr>
              <a:t> </a:t>
            </a:r>
            <a:endParaRPr lang="ru-RU" sz="1600" dirty="0">
              <a:ea typeface="Calibri"/>
              <a:cs typeface="Times New Roman"/>
            </a:endParaRPr>
          </a:p>
          <a:p>
            <a:pPr>
              <a:spcAft>
                <a:spcPts val="0"/>
              </a:spcAft>
            </a:pPr>
            <a:r>
              <a:rPr lang="en-US" sz="1600" dirty="0">
                <a:solidFill>
                  <a:srgbClr val="0000FF"/>
                </a:solidFill>
                <a:ea typeface="Calibri"/>
                <a:cs typeface="Times New Roman"/>
              </a:rPr>
              <a:t>DECLARE</a:t>
            </a:r>
            <a:r>
              <a:rPr lang="en-US" sz="1600" dirty="0">
                <a:ea typeface="Calibri"/>
                <a:cs typeface="Times New Roman"/>
              </a:rPr>
              <a:t> </a:t>
            </a:r>
            <a:r>
              <a:rPr lang="ru-RU" sz="1600" dirty="0">
                <a:solidFill>
                  <a:srgbClr val="008080"/>
                </a:solidFill>
                <a:ea typeface="Calibri"/>
                <a:cs typeface="Times New Roman"/>
              </a:rPr>
              <a:t>@</a:t>
            </a:r>
            <a:r>
              <a:rPr lang="en-US" sz="1600" dirty="0">
                <a:solidFill>
                  <a:srgbClr val="008080"/>
                </a:solidFill>
                <a:ea typeface="Calibri"/>
                <a:cs typeface="Times New Roman"/>
              </a:rPr>
              <a:t>Result</a:t>
            </a:r>
            <a:r>
              <a:rPr lang="en-US" sz="1600" dirty="0">
                <a:ea typeface="Calibri"/>
                <a:cs typeface="Times New Roman"/>
              </a:rPr>
              <a:t> </a:t>
            </a:r>
            <a:r>
              <a:rPr lang="en-US" sz="1600" dirty="0">
                <a:solidFill>
                  <a:srgbClr val="0000FF"/>
                </a:solidFill>
                <a:ea typeface="Calibri"/>
                <a:cs typeface="Times New Roman"/>
              </a:rPr>
              <a:t>SMALLINT</a:t>
            </a:r>
            <a:endParaRPr lang="ru-RU" sz="1600" dirty="0">
              <a:ea typeface="Calibri"/>
              <a:cs typeface="Times New Roman"/>
            </a:endParaRPr>
          </a:p>
          <a:p>
            <a:pPr>
              <a:spcAft>
                <a:spcPts val="0"/>
              </a:spcAft>
            </a:pPr>
            <a:r>
              <a:rPr lang="en-US" sz="1600" dirty="0">
                <a:solidFill>
                  <a:srgbClr val="0000FF"/>
                </a:solidFill>
                <a:ea typeface="Calibri"/>
                <a:cs typeface="Times New Roman"/>
              </a:rPr>
              <a:t>EXECUTE</a:t>
            </a:r>
            <a:r>
              <a:rPr lang="en-US" sz="1600" dirty="0">
                <a:ea typeface="Calibri"/>
                <a:cs typeface="Times New Roman"/>
              </a:rPr>
              <a:t> </a:t>
            </a:r>
            <a:r>
              <a:rPr lang="en-US" sz="1600" dirty="0" err="1">
                <a:solidFill>
                  <a:srgbClr val="008080"/>
                </a:solidFill>
                <a:ea typeface="Calibri"/>
                <a:cs typeface="Times New Roman"/>
              </a:rPr>
              <a:t>StudentNum</a:t>
            </a:r>
            <a:r>
              <a:rPr lang="en-US" sz="1600" dirty="0">
                <a:solidFill>
                  <a:srgbClr val="0000FF"/>
                </a:solidFill>
                <a:ea typeface="Calibri"/>
                <a:cs typeface="Times New Roman"/>
              </a:rPr>
              <a:t> </a:t>
            </a:r>
            <a:r>
              <a:rPr lang="en-US" sz="1600" dirty="0">
                <a:solidFill>
                  <a:srgbClr val="008080"/>
                </a:solidFill>
                <a:ea typeface="Calibri"/>
                <a:cs typeface="Times New Roman"/>
              </a:rPr>
              <a:t>@Result</a:t>
            </a:r>
            <a:r>
              <a:rPr lang="en-US" sz="1600" dirty="0">
                <a:ea typeface="Calibri"/>
                <a:cs typeface="Times New Roman"/>
              </a:rPr>
              <a:t> </a:t>
            </a:r>
            <a:r>
              <a:rPr lang="en-US" sz="1600" dirty="0">
                <a:solidFill>
                  <a:srgbClr val="0000FF"/>
                </a:solidFill>
                <a:ea typeface="Calibri"/>
                <a:cs typeface="Times New Roman"/>
              </a:rPr>
              <a:t>OUTPUT</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00"/>
                </a:solidFill>
                <a:ea typeface="Calibri"/>
                <a:cs typeface="Times New Roman"/>
              </a:rPr>
              <a:t>'C</a:t>
            </a:r>
            <a:r>
              <a:rPr lang="ru-RU" sz="1600" dirty="0" err="1">
                <a:solidFill>
                  <a:srgbClr val="FF0000"/>
                </a:solidFill>
                <a:ea typeface="Calibri"/>
                <a:cs typeface="Times New Roman"/>
              </a:rPr>
              <a:t>идорова</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Елена</a:t>
            </a:r>
            <a:r>
              <a:rPr lang="en-US" sz="1600" dirty="0">
                <a:solidFill>
                  <a:srgbClr val="FF000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PRINT</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Количество студентов</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en-US" sz="1600" dirty="0">
                <a:solidFill>
                  <a:srgbClr val="FF00FF"/>
                </a:solidFill>
                <a:ea typeface="Calibri"/>
                <a:cs typeface="Times New Roman"/>
              </a:rPr>
              <a:t>CAST</a:t>
            </a:r>
            <a:r>
              <a:rPr lang="en-US" sz="1600" dirty="0">
                <a:solidFill>
                  <a:srgbClr val="808080"/>
                </a:solidFill>
                <a:ea typeface="Calibri"/>
                <a:cs typeface="Times New Roman"/>
              </a:rPr>
              <a:t>(</a:t>
            </a:r>
            <a:r>
              <a:rPr lang="en-US" sz="1600" dirty="0">
                <a:solidFill>
                  <a:srgbClr val="008080"/>
                </a:solidFill>
                <a:ea typeface="Calibri"/>
                <a:cs typeface="Times New Roman"/>
              </a:rPr>
              <a:t>@Result</a:t>
            </a:r>
            <a:r>
              <a:rPr lang="en-US" sz="1600" dirty="0">
                <a:ea typeface="Calibri"/>
                <a:cs typeface="Times New Roman"/>
              </a:rPr>
              <a:t> </a:t>
            </a:r>
            <a:r>
              <a:rPr lang="en-US" sz="1600" dirty="0">
                <a:solidFill>
                  <a:srgbClr val="0000FF"/>
                </a:solidFill>
                <a:ea typeface="Calibri"/>
                <a:cs typeface="Times New Roman"/>
              </a:rPr>
              <a:t>AS</a:t>
            </a:r>
            <a:r>
              <a:rPr lang="en-US" sz="1600" dirty="0">
                <a:ea typeface="Calibri"/>
                <a:cs typeface="Times New Roman"/>
              </a:rPr>
              <a:t> </a:t>
            </a:r>
            <a:r>
              <a:rPr lang="en-US" sz="1600" dirty="0">
                <a:solidFill>
                  <a:srgbClr val="0000FF"/>
                </a:solidFill>
                <a:ea typeface="Calibri"/>
                <a:cs typeface="Times New Roman"/>
              </a:rPr>
              <a:t>VARCHAR</a:t>
            </a:r>
            <a:r>
              <a:rPr lang="en-US" sz="1600" dirty="0">
                <a:solidFill>
                  <a:srgbClr val="808080"/>
                </a:solidFill>
                <a:ea typeface="Calibri"/>
                <a:cs typeface="Times New Roman"/>
              </a:rPr>
              <a:t>(</a:t>
            </a:r>
            <a:r>
              <a:rPr lang="en-US" sz="1600" dirty="0">
                <a:ea typeface="Calibri"/>
                <a:cs typeface="Times New Roman"/>
              </a:rPr>
              <a:t>10</a:t>
            </a:r>
            <a:r>
              <a:rPr lang="en-US" sz="1600" dirty="0">
                <a:solidFill>
                  <a:srgbClr val="808080"/>
                </a:solidFill>
                <a:ea typeface="Calibri"/>
                <a:cs typeface="Times New Roman"/>
              </a:rPr>
              <a:t>))</a:t>
            </a:r>
            <a:endParaRPr lang="ru-RU" sz="1600" dirty="0">
              <a:ea typeface="Calibri"/>
              <a:cs typeface="Times New Roman"/>
            </a:endParaRPr>
          </a:p>
          <a:p>
            <a:endParaRPr lang="ru-RU" sz="1600" dirty="0"/>
          </a:p>
        </p:txBody>
      </p:sp>
      <p:sp>
        <p:nvSpPr>
          <p:cNvPr id="4" name="Заголовок 1"/>
          <p:cNvSpPr txBox="1">
            <a:spLocks/>
          </p:cNvSpPr>
          <p:nvPr/>
        </p:nvSpPr>
        <p:spPr>
          <a:xfrm>
            <a:off x="214282" y="142852"/>
            <a:ext cx="8572560" cy="428628"/>
          </a:xfrm>
          <a:prstGeom prst="rect">
            <a:avLst/>
          </a:prstGeom>
        </p:spPr>
        <p:txBody>
          <a:bodyPr>
            <a:normAutofit fontScale="85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500" dirty="0">
                <a:latin typeface="+mj-lt"/>
                <a:ea typeface="+mj-ea"/>
                <a:cs typeface="+mj-cs"/>
              </a:rPr>
              <a:t>Пример создания процедуры с входными и выходным параметрами</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pic>
        <p:nvPicPr>
          <p:cNvPr id="2049" name="Picture 1"/>
          <p:cNvPicPr>
            <a:picLocks noChangeAspect="1" noChangeArrowheads="1"/>
          </p:cNvPicPr>
          <p:nvPr/>
        </p:nvPicPr>
        <p:blipFill>
          <a:blip r:embed="rId2" cstate="print"/>
          <a:srcRect/>
          <a:stretch>
            <a:fillRect/>
          </a:stretch>
        </p:blipFill>
        <p:spPr bwMode="auto">
          <a:xfrm>
            <a:off x="357158" y="5500702"/>
            <a:ext cx="2703438" cy="71438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11</a:t>
            </a:fld>
            <a:endParaRPr lang="ru-RU" dirty="0"/>
          </a:p>
        </p:txBody>
      </p:sp>
      <p:sp>
        <p:nvSpPr>
          <p:cNvPr id="3" name="Заголовок 1"/>
          <p:cNvSpPr txBox="1">
            <a:spLocks/>
          </p:cNvSpPr>
          <p:nvPr/>
        </p:nvSpPr>
        <p:spPr>
          <a:xfrm>
            <a:off x="214282" y="0"/>
            <a:ext cx="8572560" cy="642942"/>
          </a:xfrm>
          <a:prstGeom prst="rect">
            <a:avLst/>
          </a:prstGeom>
        </p:spPr>
        <p:txBody>
          <a:bodyPr>
            <a:normAutofit/>
          </a:bodyPr>
          <a:lstStyle/>
          <a:p>
            <a:pPr lvl="0" algn="ctr">
              <a:spcBef>
                <a:spcPct val="0"/>
              </a:spcBef>
              <a:defRPr/>
            </a:pPr>
            <a:r>
              <a:rPr lang="ru-RU" sz="2400" dirty="0"/>
              <a:t>Получение информации о процедурах</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571472" y="642918"/>
            <a:ext cx="6143668" cy="923330"/>
          </a:xfrm>
          <a:prstGeom prst="rect">
            <a:avLst/>
          </a:prstGeom>
          <a:noFill/>
        </p:spPr>
        <p:txBody>
          <a:bodyPr wrap="square" rtlCol="0">
            <a:spAutoFit/>
          </a:bodyPr>
          <a:lstStyle/>
          <a:p>
            <a:r>
              <a:rPr lang="ru-RU" dirty="0"/>
              <a:t>Системные процедуры:</a:t>
            </a:r>
          </a:p>
          <a:p>
            <a:r>
              <a:rPr lang="ru-RU" dirty="0"/>
              <a:t>1) </a:t>
            </a:r>
            <a:r>
              <a:rPr lang="en-US" dirty="0" err="1"/>
              <a:t>sp_help</a:t>
            </a:r>
            <a:endParaRPr lang="ru-RU" dirty="0"/>
          </a:p>
          <a:p>
            <a:pPr marL="342900" indent="-342900"/>
            <a:r>
              <a:rPr lang="ru-RU" dirty="0"/>
              <a:t>Синтаксис: </a:t>
            </a:r>
            <a:r>
              <a:rPr lang="ru-RU" b="1" dirty="0"/>
              <a:t> </a:t>
            </a:r>
            <a:r>
              <a:rPr lang="en-US" b="1" dirty="0" err="1"/>
              <a:t>sp_help</a:t>
            </a:r>
            <a:r>
              <a:rPr lang="en-US" dirty="0"/>
              <a:t> proc1</a:t>
            </a:r>
            <a:endParaRPr lang="ru-RU" dirty="0"/>
          </a:p>
        </p:txBody>
      </p:sp>
      <p:sp>
        <p:nvSpPr>
          <p:cNvPr id="5" name="TextBox 4"/>
          <p:cNvSpPr txBox="1"/>
          <p:nvPr/>
        </p:nvSpPr>
        <p:spPr>
          <a:xfrm>
            <a:off x="428596" y="3714752"/>
            <a:ext cx="6143668" cy="1754326"/>
          </a:xfrm>
          <a:prstGeom prst="rect">
            <a:avLst/>
          </a:prstGeom>
          <a:noFill/>
        </p:spPr>
        <p:txBody>
          <a:bodyPr wrap="square" rtlCol="0">
            <a:spAutoFit/>
          </a:bodyPr>
          <a:lstStyle/>
          <a:p>
            <a:pPr marL="342900" indent="-342900"/>
            <a:r>
              <a:rPr lang="ru-RU" dirty="0"/>
              <a:t>2) </a:t>
            </a:r>
            <a:r>
              <a:rPr lang="en-US" dirty="0" err="1"/>
              <a:t>sp_helptext</a:t>
            </a:r>
            <a:endParaRPr lang="ru-RU" dirty="0"/>
          </a:p>
          <a:p>
            <a:pPr marL="342900" indent="-342900"/>
            <a:r>
              <a:rPr lang="ru-RU" dirty="0"/>
              <a:t>Синтаксис: </a:t>
            </a:r>
            <a:r>
              <a:rPr lang="en-US" b="1" dirty="0"/>
              <a:t>sp</a:t>
            </a:r>
            <a:r>
              <a:rPr lang="ru-RU" b="1" dirty="0"/>
              <a:t>_</a:t>
            </a:r>
            <a:r>
              <a:rPr lang="en-US" b="1" dirty="0" err="1"/>
              <a:t>helptext</a:t>
            </a:r>
            <a:r>
              <a:rPr lang="en-US" dirty="0"/>
              <a:t> proc</a:t>
            </a:r>
            <a:r>
              <a:rPr lang="ru-RU" dirty="0"/>
              <a:t>1</a:t>
            </a:r>
          </a:p>
          <a:p>
            <a:endParaRPr lang="ru-RU" dirty="0"/>
          </a:p>
          <a:p>
            <a:r>
              <a:rPr lang="ru-RU" dirty="0"/>
              <a:t>Например, </a:t>
            </a:r>
          </a:p>
          <a:p>
            <a:r>
              <a:rPr lang="en-US" dirty="0" err="1"/>
              <a:t>sp_helptext</a:t>
            </a:r>
            <a:r>
              <a:rPr lang="ru-RU" dirty="0"/>
              <a:t> </a:t>
            </a:r>
            <a:r>
              <a:rPr lang="en-US" dirty="0" err="1"/>
              <a:t>StudentNum</a:t>
            </a:r>
            <a:endParaRPr lang="ru-RU" dirty="0"/>
          </a:p>
          <a:p>
            <a:pPr marL="342900" indent="-342900"/>
            <a:endParaRPr lang="ru-RU" dirty="0"/>
          </a:p>
        </p:txBody>
      </p:sp>
      <p:sp>
        <p:nvSpPr>
          <p:cNvPr id="6" name="TextBox 5"/>
          <p:cNvSpPr txBox="1"/>
          <p:nvPr/>
        </p:nvSpPr>
        <p:spPr>
          <a:xfrm>
            <a:off x="642910" y="1571612"/>
            <a:ext cx="2170274" cy="646331"/>
          </a:xfrm>
          <a:prstGeom prst="rect">
            <a:avLst/>
          </a:prstGeom>
          <a:noFill/>
        </p:spPr>
        <p:txBody>
          <a:bodyPr wrap="none" rtlCol="0">
            <a:spAutoFit/>
          </a:bodyPr>
          <a:lstStyle/>
          <a:p>
            <a:r>
              <a:rPr lang="ru-RU" dirty="0"/>
              <a:t>Например, </a:t>
            </a:r>
          </a:p>
          <a:p>
            <a:r>
              <a:rPr lang="en-US" dirty="0" err="1"/>
              <a:t>sp_help</a:t>
            </a:r>
            <a:r>
              <a:rPr lang="en-US" dirty="0"/>
              <a:t> </a:t>
            </a:r>
            <a:r>
              <a:rPr lang="en-US" dirty="0" err="1"/>
              <a:t>StudentNum</a:t>
            </a:r>
            <a:endParaRPr lang="ru-RU" dirty="0"/>
          </a:p>
        </p:txBody>
      </p:sp>
      <p:pic>
        <p:nvPicPr>
          <p:cNvPr id="1026" name="Picture 2"/>
          <p:cNvPicPr>
            <a:picLocks noChangeAspect="1" noChangeArrowheads="1"/>
          </p:cNvPicPr>
          <p:nvPr/>
        </p:nvPicPr>
        <p:blipFill>
          <a:blip r:embed="rId2" cstate="print"/>
          <a:srcRect/>
          <a:stretch>
            <a:fillRect/>
          </a:stretch>
        </p:blipFill>
        <p:spPr bwMode="auto">
          <a:xfrm>
            <a:off x="3000364" y="1643050"/>
            <a:ext cx="5837287" cy="2044144"/>
          </a:xfrm>
          <a:prstGeom prst="rect">
            <a:avLst/>
          </a:prstGeom>
          <a:noFill/>
          <a:ln w="3175">
            <a:solidFill>
              <a:schemeClr val="tx1"/>
            </a:solid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3786182" y="4045641"/>
            <a:ext cx="4857784" cy="2598069"/>
          </a:xfrm>
          <a:prstGeom prst="rect">
            <a:avLst/>
          </a:prstGeom>
          <a:noFill/>
          <a:ln w="9525">
            <a:solidFill>
              <a:srgbClr val="677369"/>
            </a:solid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12</a:t>
            </a:fld>
            <a:endParaRPr lang="ru-RU"/>
          </a:p>
        </p:txBody>
      </p:sp>
      <p:sp>
        <p:nvSpPr>
          <p:cNvPr id="3" name="Заголовок 1"/>
          <p:cNvSpPr txBox="1">
            <a:spLocks/>
          </p:cNvSpPr>
          <p:nvPr/>
        </p:nvSpPr>
        <p:spPr>
          <a:xfrm>
            <a:off x="0" y="0"/>
            <a:ext cx="4929222" cy="928670"/>
          </a:xfrm>
          <a:prstGeom prst="rect">
            <a:avLst/>
          </a:prstGeom>
        </p:spPr>
        <p:txBody>
          <a:bodyPr>
            <a:normAutofit/>
          </a:bodyPr>
          <a:lstStyle/>
          <a:p>
            <a:pPr lvl="0">
              <a:spcBef>
                <a:spcPct val="0"/>
              </a:spcBef>
              <a:defRPr/>
            </a:pPr>
            <a:r>
              <a:rPr lang="ru-RU" sz="2200" dirty="0"/>
              <a:t>Пользовательские функции (</a:t>
            </a:r>
            <a:r>
              <a:rPr lang="en-US" sz="2200" dirty="0"/>
              <a:t>User Defined Functions, UDF</a:t>
            </a:r>
            <a:r>
              <a:rPr lang="ru-RU" sz="2200" dirty="0"/>
              <a:t>) в </a:t>
            </a:r>
            <a:r>
              <a:rPr lang="en-US" sz="2200" dirty="0"/>
              <a:t>Transact-SQL</a:t>
            </a:r>
            <a:endParaRPr kumimoji="0" lang="ru-RU" sz="22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 name="Прямая соединительная линия 4"/>
          <p:cNvCxnSpPr/>
          <p:nvPr/>
        </p:nvCxnSpPr>
        <p:spPr>
          <a:xfrm rot="5400000">
            <a:off x="2178839" y="4536277"/>
            <a:ext cx="4643446" cy="1588"/>
          </a:xfrm>
          <a:prstGeom prst="line">
            <a:avLst/>
          </a:prstGeom>
          <a:ln>
            <a:solidFill>
              <a:schemeClr val="accent5">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2357430"/>
            <a:ext cx="4429124" cy="3773341"/>
          </a:xfrm>
          <a:prstGeom prst="rect">
            <a:avLst/>
          </a:prstGeom>
          <a:noFill/>
        </p:spPr>
        <p:txBody>
          <a:bodyPr wrap="square" rtlCol="0">
            <a:spAutoFit/>
          </a:bodyPr>
          <a:lstStyle/>
          <a:p>
            <a:pPr>
              <a:lnSpc>
                <a:spcPct val="115000"/>
              </a:lnSpc>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PROCEDURE</a:t>
            </a:r>
            <a:r>
              <a:rPr lang="en-US" sz="1600" dirty="0">
                <a:ea typeface="Calibri"/>
                <a:cs typeface="Times New Roman"/>
              </a:rPr>
              <a:t> </a:t>
            </a:r>
            <a:r>
              <a:rPr lang="en-US" sz="1600" dirty="0" err="1">
                <a:solidFill>
                  <a:srgbClr val="008080"/>
                </a:solidFill>
                <a:ea typeface="Calibri"/>
                <a:cs typeface="Times New Roman"/>
              </a:rPr>
              <a:t>Count_student_proc</a:t>
            </a:r>
            <a:endParaRPr lang="ru-RU" sz="1600" dirty="0">
              <a:ea typeface="Calibri"/>
              <a:cs typeface="Times New Roman"/>
            </a:endParaRPr>
          </a:p>
          <a:p>
            <a:pPr>
              <a:lnSpc>
                <a:spcPct val="115000"/>
              </a:lnSpc>
              <a:spcAft>
                <a:spcPts val="0"/>
              </a:spcAft>
            </a:pPr>
            <a:r>
              <a:rPr lang="en-US" sz="1600" dirty="0">
                <a:solidFill>
                  <a:srgbClr val="008080"/>
                </a:solidFill>
                <a:ea typeface="Calibri"/>
                <a:cs typeface="Times New Roman"/>
              </a:rPr>
              <a:t>@count</a:t>
            </a:r>
            <a:r>
              <a:rPr lang="en-US" sz="1600" dirty="0">
                <a:ea typeface="Calibri"/>
                <a:cs typeface="Times New Roman"/>
              </a:rPr>
              <a:t> </a:t>
            </a:r>
            <a:r>
              <a:rPr lang="en-US" sz="1600" dirty="0">
                <a:solidFill>
                  <a:srgbClr val="0000FF"/>
                </a:solidFill>
                <a:ea typeface="Calibri"/>
                <a:cs typeface="Times New Roman"/>
              </a:rPr>
              <a:t>SMALLINT</a:t>
            </a:r>
            <a:r>
              <a:rPr lang="en-US" sz="1600" dirty="0">
                <a:ea typeface="Calibri"/>
                <a:cs typeface="Times New Roman"/>
              </a:rPr>
              <a:t> </a:t>
            </a:r>
            <a:r>
              <a:rPr lang="en-US" sz="1600" dirty="0">
                <a:solidFill>
                  <a:srgbClr val="0000FF"/>
                </a:solidFill>
                <a:ea typeface="Calibri"/>
                <a:cs typeface="Times New Roman"/>
              </a:rPr>
              <a:t>OUTPUT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AS</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008080"/>
                </a:solidFill>
                <a:ea typeface="Calibri"/>
                <a:cs typeface="Times New Roman"/>
              </a:rPr>
              <a:t>@count</a:t>
            </a:r>
            <a:r>
              <a:rPr lang="en-US" sz="1600" dirty="0">
                <a:solidFill>
                  <a:srgbClr val="808080"/>
                </a:solidFill>
                <a:ea typeface="Calibri"/>
                <a:cs typeface="Times New Roman"/>
              </a:rPr>
              <a:t>=</a:t>
            </a:r>
            <a:r>
              <a:rPr lang="en-US" sz="1600" dirty="0">
                <a:solidFill>
                  <a:srgbClr val="FF00FF"/>
                </a:solidFill>
                <a:ea typeface="Calibri"/>
                <a:cs typeface="Times New Roman"/>
              </a:rPr>
              <a:t>COUNT</a:t>
            </a:r>
            <a:r>
              <a:rPr lang="en-US" sz="1600" dirty="0">
                <a:solidFill>
                  <a:srgbClr val="808080"/>
                </a:solidFill>
                <a:ea typeface="Calibri"/>
                <a:cs typeface="Times New Roman"/>
              </a:rPr>
              <a:t>(</a:t>
            </a:r>
            <a:r>
              <a:rPr lang="en-US" sz="1600" dirty="0">
                <a:solidFill>
                  <a:srgbClr val="0000FF"/>
                </a:solidFill>
                <a:ea typeface="Calibri"/>
                <a:cs typeface="Times New Roman"/>
              </a:rPr>
              <a:t>DISTINCT</a:t>
            </a:r>
            <a:r>
              <a:rPr lang="en-US" sz="1600" dirty="0">
                <a:ea typeface="Calibri"/>
                <a:cs typeface="Times New Roman"/>
              </a:rPr>
              <a:t> </a:t>
            </a:r>
            <a:r>
              <a:rPr lang="en-US" sz="1600" dirty="0" err="1">
                <a:solidFill>
                  <a:srgbClr val="008080"/>
                </a:solidFill>
                <a:ea typeface="Calibri"/>
                <a:cs typeface="Times New Roman"/>
              </a:rPr>
              <a:t>e</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FROM</a:t>
            </a:r>
            <a:r>
              <a:rPr lang="en-US" sz="1600" dirty="0">
                <a:ea typeface="Calibri"/>
                <a:cs typeface="Times New Roman"/>
              </a:rPr>
              <a:t> </a:t>
            </a:r>
            <a:r>
              <a:rPr lang="en-US" sz="1600" dirty="0">
                <a:solidFill>
                  <a:srgbClr val="008080"/>
                </a:solidFill>
                <a:ea typeface="Calibri"/>
                <a:cs typeface="Times New Roman"/>
              </a:rPr>
              <a:t>Student</a:t>
            </a:r>
            <a:r>
              <a:rPr lang="en-US" sz="1600" dirty="0">
                <a:ea typeface="Calibri"/>
                <a:cs typeface="Times New Roman"/>
              </a:rPr>
              <a:t> </a:t>
            </a:r>
            <a:r>
              <a:rPr lang="en-US" sz="1600" dirty="0">
                <a:solidFill>
                  <a:srgbClr val="008080"/>
                </a:solidFill>
                <a:ea typeface="Calibri"/>
                <a:cs typeface="Times New Roman"/>
              </a:rPr>
              <a:t>s</a:t>
            </a:r>
            <a:r>
              <a:rPr lang="en-US" sz="1600" dirty="0">
                <a:solidFill>
                  <a:srgbClr val="808080"/>
                </a:solidFill>
                <a:ea typeface="Calibri"/>
                <a:cs typeface="Times New Roman"/>
              </a:rPr>
              <a:t>,</a:t>
            </a:r>
            <a:r>
              <a:rPr lang="en-US" sz="1600" dirty="0">
                <a:ea typeface="Calibri"/>
                <a:cs typeface="Times New Roman"/>
              </a:rPr>
              <a:t> </a:t>
            </a:r>
            <a:r>
              <a:rPr lang="en-US" sz="1600" dirty="0" err="1">
                <a:solidFill>
                  <a:srgbClr val="008080"/>
                </a:solidFill>
                <a:ea typeface="Calibri"/>
                <a:cs typeface="Times New Roman"/>
              </a:rPr>
              <a:t>Exam_marks</a:t>
            </a:r>
            <a:r>
              <a:rPr lang="en-US" sz="1600" dirty="0">
                <a:ea typeface="Calibri"/>
                <a:cs typeface="Times New Roman"/>
              </a:rPr>
              <a:t> </a:t>
            </a:r>
            <a:r>
              <a:rPr lang="en-US" sz="1600" dirty="0">
                <a:solidFill>
                  <a:srgbClr val="008080"/>
                </a:solidFill>
                <a:ea typeface="Calibri"/>
                <a:cs typeface="Times New Roman"/>
              </a:rPr>
              <a:t>e</a:t>
            </a:r>
            <a:r>
              <a:rPr lang="en-US" sz="1600" dirty="0">
                <a:ea typeface="Calibri"/>
                <a:cs typeface="Times New Roman"/>
              </a:rPr>
              <a:t> </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WHERE</a:t>
            </a:r>
            <a:r>
              <a:rPr lang="en-US" sz="1600" dirty="0">
                <a:ea typeface="Calibri"/>
                <a:cs typeface="Times New Roman"/>
              </a:rPr>
              <a:t> </a:t>
            </a:r>
            <a:r>
              <a:rPr lang="en-US" sz="1600" dirty="0" err="1">
                <a:solidFill>
                  <a:srgbClr val="008080"/>
                </a:solidFill>
                <a:ea typeface="Calibri"/>
                <a:cs typeface="Times New Roman"/>
              </a:rPr>
              <a:t>s</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solidFill>
                  <a:srgbClr val="808080"/>
                </a:solidFill>
                <a:ea typeface="Calibri"/>
                <a:cs typeface="Times New Roman"/>
              </a:rPr>
              <a:t>=</a:t>
            </a:r>
            <a:r>
              <a:rPr lang="en-US" sz="1600" dirty="0" err="1">
                <a:solidFill>
                  <a:srgbClr val="008080"/>
                </a:solidFill>
                <a:ea typeface="Calibri"/>
                <a:cs typeface="Times New Roman"/>
              </a:rPr>
              <a:t>e</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GROUP</a:t>
            </a:r>
            <a:r>
              <a:rPr lang="en-US" sz="1600" dirty="0">
                <a:ea typeface="Calibri"/>
                <a:cs typeface="Times New Roman"/>
              </a:rPr>
              <a:t> </a:t>
            </a:r>
            <a:r>
              <a:rPr lang="en-US" sz="1600" dirty="0">
                <a:solidFill>
                  <a:srgbClr val="0000FF"/>
                </a:solidFill>
                <a:ea typeface="Calibri"/>
                <a:cs typeface="Times New Roman"/>
              </a:rPr>
              <a:t>BY</a:t>
            </a:r>
            <a:r>
              <a:rPr lang="en-US" sz="1600" dirty="0">
                <a:ea typeface="Calibri"/>
                <a:cs typeface="Times New Roman"/>
              </a:rPr>
              <a:t> </a:t>
            </a:r>
            <a:r>
              <a:rPr lang="en-US" sz="1600" dirty="0" err="1">
                <a:solidFill>
                  <a:srgbClr val="008080"/>
                </a:solidFill>
                <a:ea typeface="Calibri"/>
                <a:cs typeface="Times New Roman"/>
              </a:rPr>
              <a:t>e</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HAVING</a:t>
            </a:r>
            <a:r>
              <a:rPr lang="en-US" sz="1600" dirty="0">
                <a:ea typeface="Calibri"/>
                <a:cs typeface="Times New Roman"/>
              </a:rPr>
              <a:t> </a:t>
            </a:r>
            <a:r>
              <a:rPr lang="en-US" sz="1600" dirty="0">
                <a:solidFill>
                  <a:srgbClr val="FF00FF"/>
                </a:solidFill>
                <a:ea typeface="Calibri"/>
                <a:cs typeface="Times New Roman"/>
              </a:rPr>
              <a:t>AVG</a:t>
            </a:r>
            <a:r>
              <a:rPr lang="en-US" sz="1600" dirty="0">
                <a:solidFill>
                  <a:srgbClr val="808080"/>
                </a:solidFill>
                <a:ea typeface="Calibri"/>
                <a:cs typeface="Times New Roman"/>
              </a:rPr>
              <a:t>(</a:t>
            </a:r>
            <a:r>
              <a:rPr lang="en-US" sz="1600" dirty="0">
                <a:solidFill>
                  <a:srgbClr val="008080"/>
                </a:solidFill>
                <a:ea typeface="Calibri"/>
                <a:cs typeface="Times New Roman"/>
              </a:rPr>
              <a:t>Mark</a:t>
            </a:r>
            <a:r>
              <a:rPr lang="en-US" sz="1600" dirty="0">
                <a:solidFill>
                  <a:srgbClr val="808080"/>
                </a:solidFill>
                <a:ea typeface="Calibri"/>
                <a:cs typeface="Times New Roman"/>
              </a:rPr>
              <a:t>)&gt;=</a:t>
            </a:r>
            <a:r>
              <a:rPr lang="en-US" sz="1600" dirty="0">
                <a:ea typeface="Calibri"/>
                <a:cs typeface="Times New Roman"/>
              </a:rPr>
              <a:t>4.75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FF00FF"/>
                </a:solidFill>
                <a:ea typeface="Calibri"/>
                <a:cs typeface="Times New Roman"/>
              </a:rPr>
              <a:t>MIN</a:t>
            </a:r>
            <a:r>
              <a:rPr lang="en-US" sz="1600" dirty="0">
                <a:solidFill>
                  <a:srgbClr val="808080"/>
                </a:solidFill>
                <a:ea typeface="Calibri"/>
                <a:cs typeface="Times New Roman"/>
              </a:rPr>
              <a:t>(</a:t>
            </a:r>
            <a:r>
              <a:rPr lang="en-US" sz="1600" dirty="0">
                <a:solidFill>
                  <a:srgbClr val="008080"/>
                </a:solidFill>
                <a:ea typeface="Calibri"/>
                <a:cs typeface="Times New Roman"/>
              </a:rPr>
              <a:t>Mark</a:t>
            </a:r>
            <a:r>
              <a:rPr lang="en-US" sz="1600" dirty="0">
                <a:solidFill>
                  <a:srgbClr val="808080"/>
                </a:solidFill>
                <a:ea typeface="Calibri"/>
                <a:cs typeface="Times New Roman"/>
              </a:rPr>
              <a:t>)&gt;</a:t>
            </a:r>
            <a:r>
              <a:rPr lang="en-US" sz="1600" dirty="0">
                <a:ea typeface="Calibri"/>
                <a:cs typeface="Times New Roman"/>
              </a:rPr>
              <a:t>3</a:t>
            </a:r>
            <a:endParaRPr lang="ru-RU" sz="1600" dirty="0">
              <a:ea typeface="Calibri"/>
              <a:cs typeface="Times New Roman"/>
            </a:endParaRPr>
          </a:p>
          <a:p>
            <a:pPr>
              <a:lnSpc>
                <a:spcPct val="115000"/>
              </a:lnSpc>
              <a:spcAft>
                <a:spcPts val="0"/>
              </a:spcAft>
            </a:pPr>
            <a:r>
              <a:rPr lang="ru-RU" sz="1600" dirty="0">
                <a:ea typeface="Calibri"/>
                <a:cs typeface="Times New Roman"/>
              </a:rPr>
              <a:t>Вызов процедуры:</a:t>
            </a:r>
            <a:r>
              <a:rPr lang="en-US" sz="1600" dirty="0">
                <a:ea typeface="Calibri"/>
                <a:cs typeface="Times New Roman"/>
              </a:rPr>
              <a:t> </a:t>
            </a:r>
          </a:p>
          <a:p>
            <a:pPr>
              <a:lnSpc>
                <a:spcPct val="115000"/>
              </a:lnSpc>
              <a:spcAft>
                <a:spcPts val="0"/>
              </a:spcAft>
            </a:pPr>
            <a:r>
              <a:rPr lang="en-US" sz="1600" dirty="0">
                <a:solidFill>
                  <a:srgbClr val="0000FF"/>
                </a:solidFill>
                <a:ea typeface="Calibri"/>
                <a:cs typeface="Times New Roman"/>
              </a:rPr>
              <a:t>DECLARE</a:t>
            </a:r>
            <a:r>
              <a:rPr lang="en-US" sz="1600" dirty="0">
                <a:ea typeface="Calibri"/>
                <a:cs typeface="Times New Roman"/>
              </a:rPr>
              <a:t> </a:t>
            </a:r>
            <a:r>
              <a:rPr lang="en-US" sz="1600" dirty="0">
                <a:solidFill>
                  <a:srgbClr val="008080"/>
                </a:solidFill>
                <a:ea typeface="Calibri"/>
                <a:cs typeface="Times New Roman"/>
              </a:rPr>
              <a:t>@result</a:t>
            </a:r>
            <a:r>
              <a:rPr lang="en-US" sz="1600" dirty="0">
                <a:ea typeface="Calibri"/>
                <a:cs typeface="Times New Roman"/>
              </a:rPr>
              <a:t> </a:t>
            </a:r>
            <a:r>
              <a:rPr lang="en-US" sz="1600" dirty="0">
                <a:solidFill>
                  <a:srgbClr val="0000FF"/>
                </a:solidFill>
                <a:ea typeface="Calibri"/>
                <a:cs typeface="Times New Roman"/>
              </a:rPr>
              <a:t>SMALLINT </a:t>
            </a:r>
          </a:p>
          <a:p>
            <a:pPr>
              <a:lnSpc>
                <a:spcPct val="115000"/>
              </a:lnSpc>
              <a:spcAft>
                <a:spcPts val="0"/>
              </a:spcAft>
            </a:pPr>
            <a:r>
              <a:rPr lang="en-US" sz="1600" dirty="0">
                <a:solidFill>
                  <a:srgbClr val="0000FF"/>
                </a:solidFill>
                <a:ea typeface="Calibri"/>
                <a:cs typeface="Times New Roman"/>
              </a:rPr>
              <a:t>EXECUTE</a:t>
            </a:r>
            <a:r>
              <a:rPr lang="en-US" sz="1600" dirty="0">
                <a:ea typeface="Calibri"/>
                <a:cs typeface="Times New Roman"/>
              </a:rPr>
              <a:t> </a:t>
            </a:r>
            <a:r>
              <a:rPr lang="en-US" sz="1600" dirty="0" err="1">
                <a:solidFill>
                  <a:srgbClr val="008080"/>
                </a:solidFill>
                <a:ea typeface="Calibri"/>
                <a:cs typeface="Times New Roman"/>
              </a:rPr>
              <a:t>Count_student_proc</a:t>
            </a:r>
            <a:r>
              <a:rPr lang="en-US" sz="1600" dirty="0">
                <a:solidFill>
                  <a:srgbClr val="0000FF"/>
                </a:solidFill>
                <a:ea typeface="Calibri"/>
                <a:cs typeface="Times New Roman"/>
              </a:rPr>
              <a:t> </a:t>
            </a:r>
            <a:r>
              <a:rPr lang="en-US" sz="1600" dirty="0">
                <a:solidFill>
                  <a:srgbClr val="008080"/>
                </a:solidFill>
                <a:ea typeface="Calibri"/>
                <a:cs typeface="Times New Roman"/>
              </a:rPr>
              <a:t>@result</a:t>
            </a:r>
            <a:r>
              <a:rPr lang="en-US" sz="1600" dirty="0">
                <a:ea typeface="Calibri"/>
                <a:cs typeface="Times New Roman"/>
              </a:rPr>
              <a:t> </a:t>
            </a:r>
            <a:r>
              <a:rPr lang="en-US" sz="1600" dirty="0">
                <a:solidFill>
                  <a:srgbClr val="0000FF"/>
                </a:solidFill>
                <a:ea typeface="Calibri"/>
                <a:cs typeface="Times New Roman"/>
              </a:rPr>
              <a:t>OUTPUT</a:t>
            </a:r>
            <a:endParaRPr lang="ru-RU" sz="1600" dirty="0">
              <a:ea typeface="Calibri"/>
              <a:cs typeface="Times New Roman"/>
            </a:endParaRPr>
          </a:p>
          <a:p>
            <a:pPr>
              <a:lnSpc>
                <a:spcPct val="115000"/>
              </a:lnSpc>
              <a:spcAft>
                <a:spcPts val="0"/>
              </a:spcAft>
            </a:pPr>
            <a:r>
              <a:rPr lang="ru-RU" sz="1600" dirty="0">
                <a:solidFill>
                  <a:srgbClr val="0000FF"/>
                </a:solidFill>
                <a:ea typeface="Calibri"/>
                <a:cs typeface="Times New Roman"/>
              </a:rPr>
              <a:t>PRINT</a:t>
            </a:r>
            <a:r>
              <a:rPr lang="ru-RU" sz="1600" dirty="0">
                <a:ea typeface="Calibri"/>
                <a:cs typeface="Times New Roman"/>
              </a:rPr>
              <a:t> </a:t>
            </a:r>
            <a:r>
              <a:rPr lang="ru-RU" sz="1600" dirty="0">
                <a:solidFill>
                  <a:srgbClr val="FF0000"/>
                </a:solidFill>
                <a:ea typeface="Calibri"/>
                <a:cs typeface="Times New Roman"/>
              </a:rPr>
              <a:t>'Возможно, количество красных дипломов :' </a:t>
            </a:r>
            <a:r>
              <a:rPr lang="ru-RU" sz="1600" dirty="0">
                <a:solidFill>
                  <a:srgbClr val="808080"/>
                </a:solidFill>
                <a:ea typeface="Calibri"/>
                <a:cs typeface="Times New Roman"/>
              </a:rPr>
              <a:t>+</a:t>
            </a:r>
            <a:r>
              <a:rPr lang="ru-RU" sz="1600" dirty="0">
                <a:solidFill>
                  <a:srgbClr val="FF00FF"/>
                </a:solidFill>
                <a:ea typeface="Calibri"/>
                <a:cs typeface="Times New Roman"/>
              </a:rPr>
              <a:t>CAST</a:t>
            </a:r>
            <a:r>
              <a:rPr lang="ru-RU" sz="1600" dirty="0">
                <a:solidFill>
                  <a:srgbClr val="808080"/>
                </a:solidFill>
                <a:ea typeface="Calibri"/>
                <a:cs typeface="Times New Roman"/>
              </a:rPr>
              <a:t>(</a:t>
            </a:r>
            <a:r>
              <a:rPr lang="ru-RU" sz="1600" dirty="0">
                <a:solidFill>
                  <a:srgbClr val="008080"/>
                </a:solidFill>
                <a:ea typeface="Calibri"/>
                <a:cs typeface="Times New Roman"/>
              </a:rPr>
              <a:t>@</a:t>
            </a:r>
            <a:r>
              <a:rPr lang="ru-RU" sz="1600" dirty="0" err="1">
                <a:solidFill>
                  <a:srgbClr val="008080"/>
                </a:solidFill>
                <a:ea typeface="Calibri"/>
                <a:cs typeface="Times New Roman"/>
              </a:rPr>
              <a:t>result</a:t>
            </a:r>
            <a:r>
              <a:rPr lang="ru-RU" sz="1600" dirty="0">
                <a:ea typeface="Calibri"/>
                <a:cs typeface="Times New Roman"/>
              </a:rPr>
              <a:t> </a:t>
            </a:r>
            <a:r>
              <a:rPr lang="ru-RU" sz="1600" dirty="0">
                <a:solidFill>
                  <a:srgbClr val="0000FF"/>
                </a:solidFill>
                <a:ea typeface="Calibri"/>
                <a:cs typeface="Times New Roman"/>
              </a:rPr>
              <a:t>AS</a:t>
            </a:r>
            <a:r>
              <a:rPr lang="ru-RU" sz="1600" dirty="0">
                <a:ea typeface="Calibri"/>
                <a:cs typeface="Times New Roman"/>
              </a:rPr>
              <a:t> </a:t>
            </a:r>
            <a:r>
              <a:rPr lang="ru-RU" sz="1600" dirty="0">
                <a:solidFill>
                  <a:srgbClr val="0000FF"/>
                </a:solidFill>
                <a:ea typeface="Calibri"/>
                <a:cs typeface="Times New Roman"/>
              </a:rPr>
              <a:t>VARCHAR</a:t>
            </a:r>
            <a:r>
              <a:rPr lang="ru-RU" sz="1600" dirty="0">
                <a:solidFill>
                  <a:srgbClr val="808080"/>
                </a:solidFill>
                <a:ea typeface="Calibri"/>
                <a:cs typeface="Times New Roman"/>
              </a:rPr>
              <a:t>(</a:t>
            </a:r>
            <a:r>
              <a:rPr lang="ru-RU" sz="1600" dirty="0">
                <a:ea typeface="Calibri"/>
                <a:cs typeface="Times New Roman"/>
              </a:rPr>
              <a:t>10</a:t>
            </a:r>
            <a:r>
              <a:rPr lang="ru-RU" sz="1600" dirty="0">
                <a:solidFill>
                  <a:srgbClr val="808080"/>
                </a:solidFill>
                <a:ea typeface="Calibri"/>
                <a:cs typeface="Times New Roman"/>
              </a:rPr>
              <a:t>))</a:t>
            </a:r>
            <a:endParaRPr lang="ru-RU" sz="1600" dirty="0"/>
          </a:p>
        </p:txBody>
      </p:sp>
      <p:sp>
        <p:nvSpPr>
          <p:cNvPr id="2049" name="Rectangle 1"/>
          <p:cNvSpPr>
            <a:spLocks noChangeArrowheads="1"/>
          </p:cNvSpPr>
          <p:nvPr/>
        </p:nvSpPr>
        <p:spPr bwMode="auto">
          <a:xfrm>
            <a:off x="4572000" y="2285992"/>
            <a:ext cx="45720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CREATE</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00FF"/>
                </a:solidFill>
                <a:effectLst/>
                <a:ea typeface="Calibri" pitchFamily="34" charset="0"/>
                <a:cs typeface="Courier New" pitchFamily="49" charset="0"/>
              </a:rPr>
              <a:t>FUNCTION</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err="1">
                <a:ln>
                  <a:noFill/>
                </a:ln>
                <a:solidFill>
                  <a:srgbClr val="008080"/>
                </a:solidFill>
                <a:effectLst/>
                <a:ea typeface="Calibri" pitchFamily="34" charset="0"/>
                <a:cs typeface="Courier New" pitchFamily="49" charset="0"/>
              </a:rPr>
              <a:t>dbo</a:t>
            </a:r>
            <a:r>
              <a:rPr kumimoji="0" lang="en-US" sz="1600" b="0" i="0" u="none" strike="noStrike" cap="none" normalizeH="0" baseline="0" dirty="0" err="1">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Count_student_func</a:t>
            </a:r>
            <a:r>
              <a:rPr kumimoji="0" lang="en-US" sz="1600" b="0" i="0" u="none" strike="noStrike" cap="none" normalizeH="0" baseline="0" dirty="0">
                <a:ln>
                  <a:noFill/>
                </a:ln>
                <a:solidFill>
                  <a:srgbClr val="808080"/>
                </a:solidFill>
                <a:effectLst/>
                <a:ea typeface="Calibri" pitchFamily="34" charset="0"/>
                <a:cs typeface="Courier New" pitchFamily="49" charset="0"/>
              </a:rPr>
              <a:t>()</a:t>
            </a:r>
            <a:endParaRPr kumimoji="0" lang="ru-RU" sz="1600" b="0" i="0" u="none" strike="noStrike" cap="none" normalizeH="0" baseline="0" dirty="0">
              <a:ln>
                <a:noFill/>
              </a:ln>
              <a:solidFill>
                <a:schemeClr val="tx1"/>
              </a:solidFill>
              <a:effectLst/>
              <a:cs typeface="Arial" pitchFamily="34" charset="0"/>
            </a:endParaRPr>
          </a:p>
          <a:p>
            <a:pPr lvl="0" eaLnBrk="0" fontAlgn="base" hangingPunct="0">
              <a:spcBef>
                <a:spcPct val="0"/>
              </a:spcBef>
              <a:spcAft>
                <a:spcPct val="0"/>
              </a:spcAft>
            </a:pPr>
            <a:r>
              <a:rPr kumimoji="0" lang="en-US" sz="1600" b="0" i="0" u="none" strike="noStrike" cap="none" normalizeH="0" baseline="0" dirty="0">
                <a:ln>
                  <a:noFill/>
                </a:ln>
                <a:solidFill>
                  <a:srgbClr val="0000FF"/>
                </a:solidFill>
                <a:effectLst/>
                <a:ea typeface="Calibri" pitchFamily="34" charset="0"/>
                <a:cs typeface="Courier New" pitchFamily="49" charset="0"/>
              </a:rPr>
              <a:t>RETURNS</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lang="en-US" sz="1600" dirty="0">
                <a:solidFill>
                  <a:srgbClr val="0000FF"/>
                </a:solidFill>
                <a:ea typeface="Calibri"/>
                <a:cs typeface="Times New Roman"/>
              </a:rPr>
              <a:t>SMALLINT </a:t>
            </a:r>
          </a:p>
          <a:p>
            <a:pPr lvl="0" eaLnBrk="0" fontAlgn="base" hangingPunct="0">
              <a:spcBef>
                <a:spcPct val="0"/>
              </a:spcBef>
              <a:spcAft>
                <a:spcPct val="0"/>
              </a:spcAft>
            </a:pPr>
            <a:r>
              <a:rPr kumimoji="0" lang="en-US" sz="1600" b="0" i="0" u="none" strike="noStrike" cap="none" normalizeH="0" baseline="0" dirty="0">
                <a:ln>
                  <a:noFill/>
                </a:ln>
                <a:solidFill>
                  <a:srgbClr val="0000FF"/>
                </a:solidFill>
                <a:effectLst/>
                <a:ea typeface="Calibri" pitchFamily="34" charset="0"/>
                <a:cs typeface="Courier New" pitchFamily="49" charset="0"/>
              </a:rPr>
              <a:t>AS</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BEGIN</a:t>
            </a:r>
            <a:endParaRPr kumimoji="0" lang="ru-RU" sz="1600" b="0" i="0" u="none" strike="noStrike" cap="none" normalizeH="0" baseline="0" dirty="0">
              <a:ln>
                <a:noFill/>
              </a:ln>
              <a:solidFill>
                <a:schemeClr val="tx1"/>
              </a:solidFill>
              <a:effectLst/>
              <a:cs typeface="Arial" pitchFamily="34" charset="0"/>
            </a:endParaRPr>
          </a:p>
          <a:p>
            <a:pPr lvl="0" eaLnBrk="0" fontAlgn="base" hangingPunct="0">
              <a:spcBef>
                <a:spcPct val="0"/>
              </a:spcBef>
              <a:spcAft>
                <a:spcPct val="0"/>
              </a:spcAft>
            </a:pPr>
            <a:r>
              <a:rPr kumimoji="0" lang="en-US" sz="1600" b="0" i="0" u="none" strike="noStrike" cap="none" normalizeH="0" baseline="0" dirty="0">
                <a:ln>
                  <a:noFill/>
                </a:ln>
                <a:solidFill>
                  <a:srgbClr val="0000FF"/>
                </a:solidFill>
                <a:effectLst/>
                <a:ea typeface="Calibri" pitchFamily="34" charset="0"/>
                <a:cs typeface="Courier New" pitchFamily="49" charset="0"/>
              </a:rPr>
              <a:t>DECLARE</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8080"/>
                </a:solidFill>
                <a:effectLst/>
                <a:ea typeface="Calibri" pitchFamily="34" charset="0"/>
                <a:cs typeface="Courier New" pitchFamily="49" charset="0"/>
              </a:rPr>
              <a:t>@count</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lang="en-US" sz="1600" dirty="0">
                <a:solidFill>
                  <a:srgbClr val="0000FF"/>
                </a:solidFill>
                <a:ea typeface="Calibri"/>
                <a:cs typeface="Times New Roman"/>
              </a:rPr>
              <a:t>SMALLINT </a:t>
            </a:r>
          </a:p>
          <a:p>
            <a:pPr lvl="0" eaLnBrk="0" fontAlgn="base" hangingPunct="0">
              <a:spcBef>
                <a:spcPct val="0"/>
              </a:spcBef>
              <a:spcAft>
                <a:spcPct val="0"/>
              </a:spcAft>
            </a:pPr>
            <a:r>
              <a:rPr kumimoji="0" lang="en-US" sz="1600" b="0" i="0" u="none" strike="noStrike" cap="none" normalizeH="0" baseline="0" dirty="0">
                <a:ln>
                  <a:noFill/>
                </a:ln>
                <a:solidFill>
                  <a:srgbClr val="0000FF"/>
                </a:solidFill>
                <a:effectLst/>
                <a:ea typeface="Calibri" pitchFamily="34" charset="0"/>
                <a:cs typeface="Courier New" pitchFamily="49" charset="0"/>
              </a:rPr>
              <a:t>SELECT</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8080"/>
                </a:solidFill>
                <a:effectLst/>
                <a:ea typeface="Calibri" pitchFamily="34" charset="0"/>
                <a:cs typeface="Courier New" pitchFamily="49" charset="0"/>
              </a:rPr>
              <a:t>@count</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a:ln>
                  <a:noFill/>
                </a:ln>
                <a:solidFill>
                  <a:srgbClr val="FF00FF"/>
                </a:solidFill>
                <a:effectLst/>
                <a:ea typeface="Calibri" pitchFamily="34" charset="0"/>
                <a:cs typeface="Courier New" pitchFamily="49" charset="0"/>
              </a:rPr>
              <a:t>COUNT</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a:ln>
                  <a:noFill/>
                </a:ln>
                <a:solidFill>
                  <a:srgbClr val="0000FF"/>
                </a:solidFill>
                <a:effectLst/>
                <a:ea typeface="Calibri" pitchFamily="34" charset="0"/>
                <a:cs typeface="Courier New" pitchFamily="49" charset="0"/>
              </a:rPr>
              <a:t>DISTINCT</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err="1">
                <a:ln>
                  <a:noFill/>
                </a:ln>
                <a:solidFill>
                  <a:srgbClr val="008080"/>
                </a:solidFill>
                <a:effectLst/>
                <a:ea typeface="Calibri" pitchFamily="34" charset="0"/>
                <a:cs typeface="Courier New" pitchFamily="49" charset="0"/>
              </a:rPr>
              <a:t>e</a:t>
            </a:r>
            <a:r>
              <a:rPr kumimoji="0" lang="en-US" sz="1600" b="0" i="0" u="none" strike="noStrike" cap="none" normalizeH="0" baseline="0" dirty="0" err="1">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Student_Id</a:t>
            </a:r>
            <a:r>
              <a:rPr kumimoji="0" lang="en-US" sz="1600" b="0" i="0" u="none" strike="noStrike" cap="none" normalizeH="0" baseline="0" dirty="0">
                <a:ln>
                  <a:noFill/>
                </a:ln>
                <a:solidFill>
                  <a:srgbClr val="808080"/>
                </a:solidFill>
                <a:effectLst/>
                <a:ea typeface="Calibri" pitchFamily="34" charset="0"/>
                <a:cs typeface="Courier New" pitchFamily="49" charset="0"/>
              </a:rPr>
              <a:t>)</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FROM</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8080"/>
                </a:solidFill>
                <a:effectLst/>
                <a:ea typeface="Calibri" pitchFamily="34" charset="0"/>
                <a:cs typeface="Courier New" pitchFamily="49" charset="0"/>
              </a:rPr>
              <a:t>Student</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8080"/>
                </a:solidFill>
                <a:effectLst/>
                <a:ea typeface="Calibri" pitchFamily="34" charset="0"/>
                <a:cs typeface="Courier New" pitchFamily="49" charset="0"/>
              </a:rPr>
              <a:t>s</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err="1">
                <a:ln>
                  <a:noFill/>
                </a:ln>
                <a:solidFill>
                  <a:srgbClr val="008080"/>
                </a:solidFill>
                <a:effectLst/>
                <a:ea typeface="Calibri" pitchFamily="34" charset="0"/>
                <a:cs typeface="Courier New" pitchFamily="49" charset="0"/>
              </a:rPr>
              <a:t>Exam_marks</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8080"/>
                </a:solidFill>
                <a:effectLst/>
                <a:ea typeface="Calibri" pitchFamily="34" charset="0"/>
                <a:cs typeface="Courier New" pitchFamily="49" charset="0"/>
              </a:rPr>
              <a:t>e</a:t>
            </a:r>
            <a:r>
              <a:rPr kumimoji="0" lang="en-US" sz="1600" b="0" i="0" u="none" strike="noStrike" cap="none" normalizeH="0" baseline="0" dirty="0">
                <a:ln>
                  <a:noFill/>
                </a:ln>
                <a:solidFill>
                  <a:schemeClr val="tx1"/>
                </a:solidFill>
                <a:effectLst/>
                <a:ea typeface="Calibri" pitchFamily="34" charset="0"/>
                <a:cs typeface="Courier New" pitchFamily="49" charset="0"/>
              </a:rPr>
              <a:t> </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WHERE</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err="1">
                <a:ln>
                  <a:noFill/>
                </a:ln>
                <a:solidFill>
                  <a:srgbClr val="008080"/>
                </a:solidFill>
                <a:effectLst/>
                <a:ea typeface="Calibri" pitchFamily="34" charset="0"/>
                <a:cs typeface="Courier New" pitchFamily="49" charset="0"/>
              </a:rPr>
              <a:t>s</a:t>
            </a:r>
            <a:r>
              <a:rPr kumimoji="0" lang="en-US" sz="1600" b="0" i="0" u="none" strike="noStrike" cap="none" normalizeH="0" baseline="0" dirty="0" err="1">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Student_Id</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e</a:t>
            </a:r>
            <a:r>
              <a:rPr kumimoji="0" lang="en-US" sz="1600" b="0" i="0" u="none" strike="noStrike" cap="none" normalizeH="0" baseline="0" dirty="0" err="1">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Student_Id</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GROUP</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0000FF"/>
                </a:solidFill>
                <a:effectLst/>
                <a:ea typeface="Calibri" pitchFamily="34" charset="0"/>
                <a:cs typeface="Courier New" pitchFamily="49" charset="0"/>
              </a:rPr>
              <a:t>BY</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err="1">
                <a:ln>
                  <a:noFill/>
                </a:ln>
                <a:solidFill>
                  <a:srgbClr val="008080"/>
                </a:solidFill>
                <a:effectLst/>
                <a:ea typeface="Calibri" pitchFamily="34" charset="0"/>
                <a:cs typeface="Courier New" pitchFamily="49" charset="0"/>
              </a:rPr>
              <a:t>e</a:t>
            </a:r>
            <a:r>
              <a:rPr kumimoji="0" lang="en-US" sz="1600" b="0" i="0" u="none" strike="noStrike" cap="none" normalizeH="0" baseline="0" dirty="0" err="1">
                <a:ln>
                  <a:noFill/>
                </a:ln>
                <a:solidFill>
                  <a:srgbClr val="808080"/>
                </a:solidFill>
                <a:effectLst/>
                <a:ea typeface="Calibri" pitchFamily="34" charset="0"/>
                <a:cs typeface="Courier New" pitchFamily="49" charset="0"/>
              </a:rPr>
              <a:t>.</a:t>
            </a:r>
            <a:r>
              <a:rPr kumimoji="0" lang="en-US" sz="1600" b="0" i="0" u="none" strike="noStrike" cap="none" normalizeH="0" baseline="0" dirty="0" err="1">
                <a:ln>
                  <a:noFill/>
                </a:ln>
                <a:solidFill>
                  <a:srgbClr val="008080"/>
                </a:solidFill>
                <a:effectLst/>
                <a:ea typeface="Calibri" pitchFamily="34" charset="0"/>
                <a:cs typeface="Courier New" pitchFamily="49" charset="0"/>
              </a:rPr>
              <a:t>Student_Id</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FF"/>
                </a:solidFill>
                <a:effectLst/>
                <a:ea typeface="Calibri" pitchFamily="34" charset="0"/>
                <a:cs typeface="Courier New" pitchFamily="49" charset="0"/>
              </a:rPr>
              <a:t>HAVING</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FF00FF"/>
                </a:solidFill>
                <a:effectLst/>
                <a:ea typeface="Calibri" pitchFamily="34" charset="0"/>
                <a:cs typeface="Courier New" pitchFamily="49" charset="0"/>
              </a:rPr>
              <a:t>AVG</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a:ln>
                  <a:noFill/>
                </a:ln>
                <a:solidFill>
                  <a:srgbClr val="008080"/>
                </a:solidFill>
                <a:effectLst/>
                <a:ea typeface="Calibri" pitchFamily="34" charset="0"/>
                <a:cs typeface="Courier New" pitchFamily="49" charset="0"/>
              </a:rPr>
              <a:t>Mark</a:t>
            </a:r>
            <a:r>
              <a:rPr kumimoji="0" lang="en-US" sz="1600" b="0" i="0" u="none" strike="noStrike" cap="none" normalizeH="0" baseline="0" dirty="0">
                <a:ln>
                  <a:noFill/>
                </a:ln>
                <a:solidFill>
                  <a:srgbClr val="808080"/>
                </a:solidFill>
                <a:effectLst/>
                <a:ea typeface="Calibri" pitchFamily="34" charset="0"/>
                <a:cs typeface="Courier New" pitchFamily="49" charset="0"/>
              </a:rPr>
              <a:t>)&gt;=</a:t>
            </a:r>
            <a:r>
              <a:rPr kumimoji="0" lang="en-US" sz="1600" b="0" i="0" u="none" strike="noStrike" cap="none" normalizeH="0" baseline="0" dirty="0">
                <a:ln>
                  <a:noFill/>
                </a:ln>
                <a:solidFill>
                  <a:schemeClr val="tx1"/>
                </a:solidFill>
                <a:effectLst/>
                <a:ea typeface="Calibri" pitchFamily="34" charset="0"/>
                <a:cs typeface="Courier New" pitchFamily="49" charset="0"/>
              </a:rPr>
              <a:t>4.75 </a:t>
            </a:r>
            <a:r>
              <a:rPr kumimoji="0" lang="en-US" sz="1600" b="0" i="0" u="none" strike="noStrike" cap="none" normalizeH="0" baseline="0" dirty="0">
                <a:ln>
                  <a:noFill/>
                </a:ln>
                <a:solidFill>
                  <a:srgbClr val="808080"/>
                </a:solidFill>
                <a:effectLst/>
                <a:ea typeface="Calibri" pitchFamily="34" charset="0"/>
                <a:cs typeface="Courier New" pitchFamily="49" charset="0"/>
              </a:rPr>
              <a:t>AND</a:t>
            </a:r>
            <a:r>
              <a:rPr kumimoji="0" lang="en-US" sz="1600" b="0" i="0" u="none" strike="noStrike" cap="none" normalizeH="0" baseline="0" dirty="0">
                <a:ln>
                  <a:noFill/>
                </a:ln>
                <a:solidFill>
                  <a:schemeClr val="tx1"/>
                </a:solidFill>
                <a:effectLst/>
                <a:ea typeface="Calibri" pitchFamily="34" charset="0"/>
                <a:cs typeface="Courier New" pitchFamily="49" charset="0"/>
              </a:rPr>
              <a:t> </a:t>
            </a:r>
            <a:r>
              <a:rPr kumimoji="0" lang="en-US" sz="1600" b="0" i="0" u="none" strike="noStrike" cap="none" normalizeH="0" baseline="0" dirty="0">
                <a:ln>
                  <a:noFill/>
                </a:ln>
                <a:solidFill>
                  <a:srgbClr val="FF00FF"/>
                </a:solidFill>
                <a:effectLst/>
                <a:ea typeface="Calibri" pitchFamily="34" charset="0"/>
                <a:cs typeface="Courier New" pitchFamily="49" charset="0"/>
              </a:rPr>
              <a:t>MIN</a:t>
            </a:r>
            <a:r>
              <a:rPr kumimoji="0" lang="en-US" sz="1600" b="0" i="0" u="none" strike="noStrike" cap="none" normalizeH="0" baseline="0" dirty="0">
                <a:ln>
                  <a:noFill/>
                </a:ln>
                <a:solidFill>
                  <a:srgbClr val="808080"/>
                </a:solidFill>
                <a:effectLst/>
                <a:ea typeface="Calibri" pitchFamily="34" charset="0"/>
                <a:cs typeface="Courier New" pitchFamily="49" charset="0"/>
              </a:rPr>
              <a:t>(</a:t>
            </a:r>
            <a:r>
              <a:rPr kumimoji="0" lang="en-US" sz="1600" b="0" i="0" u="none" strike="noStrike" cap="none" normalizeH="0" baseline="0" dirty="0">
                <a:ln>
                  <a:noFill/>
                </a:ln>
                <a:solidFill>
                  <a:srgbClr val="008080"/>
                </a:solidFill>
                <a:effectLst/>
                <a:ea typeface="Calibri" pitchFamily="34" charset="0"/>
                <a:cs typeface="Courier New" pitchFamily="49" charset="0"/>
              </a:rPr>
              <a:t>Mark</a:t>
            </a:r>
            <a:r>
              <a:rPr kumimoji="0" lang="en-US" sz="1600" b="0" i="0" u="none" strike="noStrike" cap="none" normalizeH="0" baseline="0" dirty="0">
                <a:ln>
                  <a:noFill/>
                </a:ln>
                <a:solidFill>
                  <a:srgbClr val="808080"/>
                </a:solidFill>
                <a:effectLst/>
                <a:ea typeface="Calibri" pitchFamily="34" charset="0"/>
                <a:cs typeface="Courier New" pitchFamily="49" charset="0"/>
              </a:rPr>
              <a:t>)&gt;</a:t>
            </a:r>
            <a:r>
              <a:rPr kumimoji="0" lang="en-US" sz="1600" b="0" i="0" u="none" strike="noStrike" cap="none" normalizeH="0" baseline="0" dirty="0">
                <a:ln>
                  <a:noFill/>
                </a:ln>
                <a:solidFill>
                  <a:schemeClr val="tx1"/>
                </a:solidFill>
                <a:effectLst/>
                <a:ea typeface="Calibri" pitchFamily="34" charset="0"/>
                <a:cs typeface="Courier New" pitchFamily="49" charset="0"/>
              </a:rPr>
              <a:t>3</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dirty="0">
                <a:ln>
                  <a:noFill/>
                </a:ln>
                <a:solidFill>
                  <a:srgbClr val="0000FF"/>
                </a:solidFill>
                <a:effectLst/>
                <a:ea typeface="Calibri" pitchFamily="34" charset="0"/>
                <a:cs typeface="Courier New" pitchFamily="49" charset="0"/>
              </a:rPr>
              <a:t>RETURN</a:t>
            </a:r>
            <a:r>
              <a:rPr kumimoji="0" lang="ru-RU" sz="1600" b="0" i="0" u="none" strike="noStrike" cap="none" normalizeH="0" baseline="0" dirty="0">
                <a:ln>
                  <a:noFill/>
                </a:ln>
                <a:solidFill>
                  <a:schemeClr val="tx1"/>
                </a:solidFill>
                <a:effectLst/>
                <a:ea typeface="Calibri" pitchFamily="34" charset="0"/>
                <a:cs typeface="Courier New" pitchFamily="49" charset="0"/>
              </a:rPr>
              <a:t> </a:t>
            </a:r>
            <a:r>
              <a:rPr kumimoji="0" lang="ru-RU" sz="1600" b="0" i="0" u="none" strike="noStrike" cap="none" normalizeH="0" baseline="0" dirty="0">
                <a:ln>
                  <a:noFill/>
                </a:ln>
                <a:solidFill>
                  <a:srgbClr val="008080"/>
                </a:solidFill>
                <a:effectLst/>
                <a:ea typeface="Calibri" pitchFamily="34" charset="0"/>
                <a:cs typeface="Courier New" pitchFamily="49" charset="0"/>
              </a:rPr>
              <a:t>@</a:t>
            </a:r>
            <a:r>
              <a:rPr kumimoji="0" lang="ru-RU" sz="1600" b="0" i="0" u="none" strike="noStrike" cap="none" normalizeH="0" baseline="0" dirty="0" err="1">
                <a:ln>
                  <a:noFill/>
                </a:ln>
                <a:solidFill>
                  <a:srgbClr val="008080"/>
                </a:solidFill>
                <a:effectLst/>
                <a:ea typeface="Calibri" pitchFamily="34" charset="0"/>
                <a:cs typeface="Courier New" pitchFamily="49" charset="0"/>
              </a:rPr>
              <a:t>count</a:t>
            </a:r>
            <a:endParaRPr kumimoji="0" lang="ru-RU"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dirty="0">
                <a:ln>
                  <a:noFill/>
                </a:ln>
                <a:solidFill>
                  <a:srgbClr val="0000FF"/>
                </a:solidFill>
                <a:effectLst/>
                <a:ea typeface="Calibri" pitchFamily="34" charset="0"/>
                <a:cs typeface="Courier New" pitchFamily="49" charset="0"/>
              </a:rPr>
              <a:t>END</a:t>
            </a:r>
            <a:endParaRPr kumimoji="0" lang="en-US" sz="1600" b="0" i="0" u="none" strike="noStrike" cap="none" normalizeH="0" baseline="0" dirty="0">
              <a:ln>
                <a:noFill/>
              </a:ln>
              <a:solidFill>
                <a:srgbClr val="0000FF"/>
              </a:solidFill>
              <a:effectLst/>
              <a:ea typeface="Calibri" pitchFamily="34" charset="0"/>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dirty="0">
                <a:ln>
                  <a:noFill/>
                </a:ln>
                <a:solidFill>
                  <a:schemeClr val="tx1"/>
                </a:solidFill>
                <a:effectLst/>
                <a:cs typeface="Arial" pitchFamily="34" charset="0"/>
              </a:rPr>
              <a:t>Вызов функции:</a:t>
            </a:r>
          </a:p>
          <a:p>
            <a:pPr lvl="0" eaLnBrk="0" fontAlgn="base" hangingPunct="0">
              <a:spcBef>
                <a:spcPct val="0"/>
              </a:spcBef>
              <a:spcAft>
                <a:spcPct val="0"/>
              </a:spcAft>
            </a:pPr>
            <a:r>
              <a:rPr kumimoji="0" lang="ru-RU" sz="1600" b="0" i="0" u="none" strike="noStrike" cap="none" normalizeH="0" baseline="0" dirty="0">
                <a:ln>
                  <a:noFill/>
                </a:ln>
                <a:solidFill>
                  <a:srgbClr val="0000FF"/>
                </a:solidFill>
                <a:effectLst/>
                <a:ea typeface="Calibri" pitchFamily="34" charset="0"/>
                <a:cs typeface="Courier New" pitchFamily="49" charset="0"/>
              </a:rPr>
              <a:t>PRINT</a:t>
            </a:r>
            <a:r>
              <a:rPr kumimoji="0" lang="ru-RU" sz="1600" b="0" i="0" u="none" strike="noStrike" cap="none" normalizeH="0" baseline="0" dirty="0">
                <a:ln>
                  <a:noFill/>
                </a:ln>
                <a:solidFill>
                  <a:schemeClr val="tx1"/>
                </a:solidFill>
                <a:effectLst/>
                <a:ea typeface="Calibri" pitchFamily="34" charset="0"/>
                <a:cs typeface="Courier New" pitchFamily="49" charset="0"/>
              </a:rPr>
              <a:t> </a:t>
            </a:r>
            <a:r>
              <a:rPr lang="ru-RU" sz="1600" dirty="0">
                <a:solidFill>
                  <a:srgbClr val="FF0000"/>
                </a:solidFill>
                <a:ea typeface="Calibri" pitchFamily="34" charset="0"/>
                <a:cs typeface="Courier New" pitchFamily="49" charset="0"/>
              </a:rPr>
              <a:t>'Возможно, количество красных дипломов:' </a:t>
            </a:r>
            <a:r>
              <a:rPr kumimoji="0" lang="ru-RU" sz="1600" b="0" i="0" u="none" strike="noStrike" cap="none" normalizeH="0" baseline="0" dirty="0">
                <a:ln>
                  <a:noFill/>
                </a:ln>
                <a:solidFill>
                  <a:srgbClr val="808080"/>
                </a:solidFill>
                <a:effectLst/>
                <a:ea typeface="Calibri" pitchFamily="34" charset="0"/>
                <a:cs typeface="Courier New" pitchFamily="49" charset="0"/>
              </a:rPr>
              <a:t>+</a:t>
            </a:r>
            <a:r>
              <a:rPr kumimoji="0" lang="ru-RU" sz="1600" b="0" i="0" u="none" strike="noStrike" cap="none" normalizeH="0" baseline="0" dirty="0">
                <a:ln>
                  <a:noFill/>
                </a:ln>
                <a:solidFill>
                  <a:srgbClr val="FF00FF"/>
                </a:solidFill>
                <a:effectLst/>
                <a:ea typeface="Calibri" pitchFamily="34" charset="0"/>
                <a:cs typeface="Courier New" pitchFamily="49" charset="0"/>
              </a:rPr>
              <a:t>CAST</a:t>
            </a:r>
            <a:r>
              <a:rPr kumimoji="0" lang="ru-RU" sz="1600" b="0" i="0" u="none" strike="noStrike" cap="none" normalizeH="0" baseline="0" dirty="0">
                <a:ln>
                  <a:noFill/>
                </a:ln>
                <a:solidFill>
                  <a:srgbClr val="808080"/>
                </a:solidFill>
                <a:effectLst/>
                <a:ea typeface="Calibri" pitchFamily="34" charset="0"/>
                <a:cs typeface="Courier New" pitchFamily="49" charset="0"/>
              </a:rPr>
              <a:t>(</a:t>
            </a:r>
            <a:r>
              <a:rPr kumimoji="0" lang="ru-RU" sz="1600" b="0" i="0" u="none" strike="noStrike" cap="none" normalizeH="0" baseline="0" dirty="0" err="1">
                <a:ln>
                  <a:noFill/>
                </a:ln>
                <a:solidFill>
                  <a:srgbClr val="008080"/>
                </a:solidFill>
                <a:effectLst/>
                <a:ea typeface="Calibri" pitchFamily="34" charset="0"/>
                <a:cs typeface="Courier New" pitchFamily="49" charset="0"/>
              </a:rPr>
              <a:t>dbo</a:t>
            </a:r>
            <a:r>
              <a:rPr kumimoji="0" lang="ru-RU" sz="1600" b="0" i="0" u="none" strike="noStrike" cap="none" normalizeH="0" baseline="0" dirty="0" err="1">
                <a:ln>
                  <a:noFill/>
                </a:ln>
                <a:solidFill>
                  <a:srgbClr val="808080"/>
                </a:solidFill>
                <a:effectLst/>
                <a:ea typeface="Calibri" pitchFamily="34" charset="0"/>
                <a:cs typeface="Courier New" pitchFamily="49" charset="0"/>
              </a:rPr>
              <a:t>.</a:t>
            </a:r>
            <a:r>
              <a:rPr kumimoji="0" lang="ru-RU" sz="1600" b="0" i="0" u="none" strike="noStrike" cap="none" normalizeH="0" baseline="0" dirty="0" err="1">
                <a:ln>
                  <a:noFill/>
                </a:ln>
                <a:solidFill>
                  <a:srgbClr val="008080"/>
                </a:solidFill>
                <a:effectLst/>
                <a:ea typeface="Calibri" pitchFamily="34" charset="0"/>
                <a:cs typeface="Courier New" pitchFamily="49" charset="0"/>
              </a:rPr>
              <a:t>Count_student_func</a:t>
            </a:r>
            <a:r>
              <a:rPr kumimoji="0" lang="ru-RU" sz="1600" b="0" i="0" u="none" strike="noStrike" cap="none" normalizeH="0" baseline="0" dirty="0">
                <a:ln>
                  <a:noFill/>
                </a:ln>
                <a:solidFill>
                  <a:srgbClr val="808080"/>
                </a:solidFill>
                <a:effectLst/>
                <a:ea typeface="Calibri" pitchFamily="34" charset="0"/>
                <a:cs typeface="Courier New" pitchFamily="49" charset="0"/>
              </a:rPr>
              <a:t>() </a:t>
            </a:r>
            <a:r>
              <a:rPr kumimoji="0" lang="ru-RU" sz="1600" b="0" i="0" u="none" strike="noStrike" cap="none" normalizeH="0" baseline="0" dirty="0">
                <a:ln>
                  <a:noFill/>
                </a:ln>
                <a:solidFill>
                  <a:srgbClr val="0000FF"/>
                </a:solidFill>
                <a:effectLst/>
                <a:ea typeface="Calibri" pitchFamily="34" charset="0"/>
                <a:cs typeface="Courier New" pitchFamily="49" charset="0"/>
              </a:rPr>
              <a:t>AS</a:t>
            </a:r>
            <a:r>
              <a:rPr kumimoji="0" lang="ru-RU" sz="1600" b="0" i="0" u="none" strike="noStrike" cap="none" normalizeH="0" baseline="0" dirty="0">
                <a:ln>
                  <a:noFill/>
                </a:ln>
                <a:solidFill>
                  <a:schemeClr val="tx1"/>
                </a:solidFill>
                <a:effectLst/>
                <a:ea typeface="Calibri" pitchFamily="34" charset="0"/>
                <a:cs typeface="Courier New" pitchFamily="49" charset="0"/>
              </a:rPr>
              <a:t> </a:t>
            </a:r>
            <a:r>
              <a:rPr kumimoji="0" lang="ru-RU" sz="1600" b="0" i="0" u="none" strike="noStrike" cap="none" normalizeH="0" baseline="0" dirty="0">
                <a:ln>
                  <a:noFill/>
                </a:ln>
                <a:solidFill>
                  <a:srgbClr val="0000FF"/>
                </a:solidFill>
                <a:effectLst/>
                <a:ea typeface="Calibri" pitchFamily="34" charset="0"/>
                <a:cs typeface="Courier New" pitchFamily="49" charset="0"/>
              </a:rPr>
              <a:t>VARCHAR</a:t>
            </a:r>
            <a:r>
              <a:rPr kumimoji="0" lang="ru-RU" sz="1600" b="0" i="0" u="none" strike="noStrike" cap="none" normalizeH="0" baseline="0" dirty="0">
                <a:ln>
                  <a:noFill/>
                </a:ln>
                <a:solidFill>
                  <a:srgbClr val="808080"/>
                </a:solidFill>
                <a:effectLst/>
                <a:ea typeface="Calibri" pitchFamily="34" charset="0"/>
                <a:cs typeface="Courier New" pitchFamily="49" charset="0"/>
              </a:rPr>
              <a:t>(</a:t>
            </a:r>
            <a:r>
              <a:rPr kumimoji="0" lang="ru-RU" sz="1600" b="0" i="0" u="none" strike="noStrike" cap="none" normalizeH="0" baseline="0" dirty="0">
                <a:ln>
                  <a:noFill/>
                </a:ln>
                <a:solidFill>
                  <a:schemeClr val="tx1"/>
                </a:solidFill>
                <a:effectLst/>
                <a:ea typeface="Calibri" pitchFamily="34" charset="0"/>
                <a:cs typeface="Courier New" pitchFamily="49" charset="0"/>
              </a:rPr>
              <a:t>10</a:t>
            </a:r>
            <a:r>
              <a:rPr kumimoji="0" lang="ru-RU" sz="1600" b="0" i="0" u="none" strike="noStrike" cap="none" normalizeH="0" baseline="0" dirty="0">
                <a:ln>
                  <a:noFill/>
                </a:ln>
                <a:solidFill>
                  <a:srgbClr val="808080"/>
                </a:solidFill>
                <a:effectLst/>
                <a:ea typeface="Calibri" pitchFamily="34" charset="0"/>
                <a:cs typeface="Courier New" pitchFamily="49" charset="0"/>
              </a:rPr>
              <a:t>))</a:t>
            </a:r>
            <a:endParaRPr kumimoji="0" lang="ru-RU" sz="1600" b="0" i="0" u="none" strike="noStrike" cap="none" normalizeH="0" baseline="0" dirty="0">
              <a:ln>
                <a:noFill/>
              </a:ln>
              <a:solidFill>
                <a:schemeClr val="tx1"/>
              </a:solidFill>
              <a:effectLst/>
              <a:cs typeface="Arial" pitchFamily="34" charset="0"/>
            </a:endParaRPr>
          </a:p>
        </p:txBody>
      </p:sp>
      <p:pic>
        <p:nvPicPr>
          <p:cNvPr id="2051" name="Picture 3"/>
          <p:cNvPicPr>
            <a:picLocks noChangeAspect="1" noChangeArrowheads="1"/>
          </p:cNvPicPr>
          <p:nvPr/>
        </p:nvPicPr>
        <p:blipFill>
          <a:blip r:embed="rId2" cstate="print"/>
          <a:srcRect/>
          <a:stretch>
            <a:fillRect/>
          </a:stretch>
        </p:blipFill>
        <p:spPr bwMode="auto">
          <a:xfrm>
            <a:off x="2786050" y="6111148"/>
            <a:ext cx="5000660" cy="746852"/>
          </a:xfrm>
          <a:prstGeom prst="rect">
            <a:avLst/>
          </a:prstGeom>
          <a:noFill/>
          <a:ln w="9525">
            <a:noFill/>
            <a:miter lim="800000"/>
            <a:headEnd/>
            <a:tailEnd/>
          </a:ln>
          <a:effectLst/>
        </p:spPr>
      </p:pic>
      <p:sp>
        <p:nvSpPr>
          <p:cNvPr id="11" name="TextBox 10"/>
          <p:cNvSpPr txBox="1"/>
          <p:nvPr/>
        </p:nvSpPr>
        <p:spPr>
          <a:xfrm>
            <a:off x="0" y="857232"/>
            <a:ext cx="6072198" cy="1323439"/>
          </a:xfrm>
          <a:prstGeom prst="rect">
            <a:avLst/>
          </a:prstGeom>
          <a:noFill/>
        </p:spPr>
        <p:txBody>
          <a:bodyPr wrap="square" rtlCol="0">
            <a:spAutoFit/>
          </a:bodyPr>
          <a:lstStyle/>
          <a:p>
            <a:r>
              <a:rPr lang="ru-RU" sz="1600" b="1" dirty="0"/>
              <a:t>Функция</a:t>
            </a:r>
            <a:r>
              <a:rPr lang="ru-RU" sz="1600" dirty="0"/>
              <a:t>, определенная пользователем – программа выполняющая действия, например, вычисления  и возвращающая результат этого действия в виде значения. </a:t>
            </a:r>
          </a:p>
          <a:p>
            <a:r>
              <a:rPr lang="ru-RU" sz="1600" dirty="0"/>
              <a:t>Функция может получать параметры или не получать и возвращать скалярное значение или таблицу. </a:t>
            </a:r>
          </a:p>
        </p:txBody>
      </p:sp>
      <p:pic>
        <p:nvPicPr>
          <p:cNvPr id="1026" name="Picture 2"/>
          <p:cNvPicPr>
            <a:picLocks noChangeAspect="1" noChangeArrowheads="1"/>
          </p:cNvPicPr>
          <p:nvPr/>
        </p:nvPicPr>
        <p:blipFill>
          <a:blip r:embed="rId3" cstate="print"/>
          <a:srcRect r="4236"/>
          <a:stretch>
            <a:fillRect/>
          </a:stretch>
        </p:blipFill>
        <p:spPr bwMode="auto">
          <a:xfrm>
            <a:off x="5914994" y="0"/>
            <a:ext cx="3229006" cy="16954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13</a:t>
            </a:fld>
            <a:endParaRPr lang="ru-RU"/>
          </a:p>
        </p:txBody>
      </p:sp>
      <p:sp>
        <p:nvSpPr>
          <p:cNvPr id="3" name="Заголовок 1"/>
          <p:cNvSpPr txBox="1">
            <a:spLocks/>
          </p:cNvSpPr>
          <p:nvPr/>
        </p:nvSpPr>
        <p:spPr>
          <a:xfrm>
            <a:off x="214282" y="0"/>
            <a:ext cx="8572560" cy="857232"/>
          </a:xfrm>
          <a:prstGeom prst="rect">
            <a:avLst/>
          </a:prstGeom>
        </p:spPr>
        <p:txBody>
          <a:bodyPr>
            <a:normAutofit/>
          </a:bodyPr>
          <a:lstStyle/>
          <a:p>
            <a:pPr algn="ctr">
              <a:spcBef>
                <a:spcPct val="0"/>
              </a:spcBef>
              <a:defRPr/>
            </a:pPr>
            <a:r>
              <a:rPr lang="ru-RU" sz="2400" dirty="0"/>
              <a:t>Пользовательские функции (</a:t>
            </a:r>
            <a:r>
              <a:rPr lang="en-US" sz="2400" dirty="0"/>
              <a:t>User defined functions, UDF</a:t>
            </a:r>
            <a:r>
              <a:rPr lang="ru-RU" sz="2400" dirty="0"/>
              <a:t>) </a:t>
            </a:r>
            <a:r>
              <a:rPr lang="en-US" sz="2400" dirty="0"/>
              <a:t>Transact-SQL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142844" y="928670"/>
            <a:ext cx="8715436" cy="3293209"/>
          </a:xfrm>
          <a:prstGeom prst="rect">
            <a:avLst/>
          </a:prstGeom>
          <a:noFill/>
        </p:spPr>
        <p:txBody>
          <a:bodyPr wrap="square" rtlCol="0">
            <a:spAutoFit/>
          </a:bodyPr>
          <a:lstStyle/>
          <a:p>
            <a:pPr>
              <a:lnSpc>
                <a:spcPct val="150000"/>
              </a:lnSpc>
            </a:pPr>
            <a:r>
              <a:rPr lang="ru-RU" sz="1600" dirty="0"/>
              <a:t>Поддерживаются следующие типы  пользовательских функций:</a:t>
            </a:r>
          </a:p>
          <a:p>
            <a:pPr>
              <a:lnSpc>
                <a:spcPct val="150000"/>
              </a:lnSpc>
            </a:pPr>
            <a:r>
              <a:rPr lang="ru-RU" sz="1600" dirty="0"/>
              <a:t>1) </a:t>
            </a:r>
            <a:r>
              <a:rPr lang="ru-RU" sz="1600" b="1" dirty="0"/>
              <a:t>Скалярная функция (</a:t>
            </a:r>
            <a:r>
              <a:rPr lang="ru-RU" sz="1600" b="1" dirty="0" err="1"/>
              <a:t>Scalar</a:t>
            </a:r>
            <a:r>
              <a:rPr lang="ru-RU" sz="1600" b="1" dirty="0"/>
              <a:t>) </a:t>
            </a:r>
            <a:r>
              <a:rPr lang="ru-RU" sz="1600" dirty="0"/>
              <a:t>– похожа на встроенную функцию, возвращает одно значение. Значение может иметь различный формат данных.</a:t>
            </a:r>
          </a:p>
          <a:p>
            <a:pPr>
              <a:lnSpc>
                <a:spcPct val="150000"/>
              </a:lnSpc>
            </a:pPr>
            <a:r>
              <a:rPr lang="ru-RU" sz="1600" dirty="0"/>
              <a:t>2) </a:t>
            </a:r>
            <a:r>
              <a:rPr lang="ru-RU" sz="1600" b="1" dirty="0"/>
              <a:t>Функция, возвращающая таблицу  (</a:t>
            </a:r>
            <a:r>
              <a:rPr lang="ru-RU" sz="1600" b="1" dirty="0" err="1"/>
              <a:t>Inline</a:t>
            </a:r>
            <a:r>
              <a:rPr lang="ru-RU" sz="1600" b="1" dirty="0"/>
              <a:t>)</a:t>
            </a:r>
            <a:r>
              <a:rPr lang="ru-RU" sz="1600" b="1" dirty="0">
                <a:sym typeface="Symbol"/>
              </a:rPr>
              <a:t> </a:t>
            </a:r>
            <a:r>
              <a:rPr lang="ru-RU" sz="1600" dirty="0"/>
              <a:t>возвращает результирующий набор данных (</a:t>
            </a:r>
            <a:r>
              <a:rPr lang="ru-RU" sz="1600"/>
              <a:t>таблицу), </a:t>
            </a:r>
            <a:r>
              <a:rPr lang="ru-RU" sz="1600" dirty="0"/>
              <a:t>полученный при выполнении SELECT. </a:t>
            </a:r>
          </a:p>
          <a:p>
            <a:pPr>
              <a:lnSpc>
                <a:spcPct val="150000"/>
              </a:lnSpc>
            </a:pPr>
            <a:r>
              <a:rPr lang="ru-RU" sz="1600" dirty="0"/>
              <a:t>3) </a:t>
            </a:r>
            <a:r>
              <a:rPr lang="ru-RU" sz="1600" b="1" dirty="0" err="1"/>
              <a:t>Многооператорная</a:t>
            </a:r>
            <a:r>
              <a:rPr lang="ru-RU" sz="1600" b="1" dirty="0"/>
              <a:t> функция (</a:t>
            </a:r>
            <a:r>
              <a:rPr lang="ru-RU" sz="1600" b="1" dirty="0" err="1"/>
              <a:t>Multi-statement</a:t>
            </a:r>
            <a:r>
              <a:rPr lang="ru-RU" sz="1600" dirty="0"/>
              <a:t> </a:t>
            </a:r>
            <a:r>
              <a:rPr lang="ru-RU" sz="1600" b="1" dirty="0"/>
              <a:t>)  </a:t>
            </a:r>
            <a:r>
              <a:rPr lang="ru-RU" sz="1600" b="1" dirty="0">
                <a:sym typeface="Symbol"/>
              </a:rPr>
              <a:t> </a:t>
            </a:r>
            <a:r>
              <a:rPr lang="ru-RU" sz="1600" dirty="0"/>
              <a:t> возвращает таблицу созданную одним или несколькими операторами </a:t>
            </a:r>
            <a:r>
              <a:rPr lang="ru-RU" sz="1600" dirty="0" err="1"/>
              <a:t>Transact-SQL</a:t>
            </a:r>
            <a:r>
              <a:rPr lang="ru-RU" sz="1600" dirty="0"/>
              <a:t>, чем напоминает хранимые процедуры. В отличие от процедур, на такие функции можно ссылаться в WHERE как на объект просмотра</a:t>
            </a:r>
          </a:p>
          <a:p>
            <a:endParaRPr lang="ru-RU"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868346"/>
          </a:xfrm>
        </p:spPr>
        <p:txBody>
          <a:bodyPr>
            <a:normAutofit/>
          </a:bodyPr>
          <a:lstStyle/>
          <a:p>
            <a:r>
              <a:rPr lang="ru-RU" sz="2500" dirty="0"/>
              <a:t>Скалярные функции (</a:t>
            </a:r>
            <a:r>
              <a:rPr lang="en-US" sz="2500" dirty="0"/>
              <a:t>Scalar) </a:t>
            </a:r>
            <a:r>
              <a:rPr lang="ru-RU" sz="2500" dirty="0"/>
              <a:t>в </a:t>
            </a:r>
            <a:r>
              <a:rPr lang="en-US" sz="2500" dirty="0"/>
              <a:t>Transact-SQL</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14</a:t>
            </a:fld>
            <a:endParaRPr lang="ru-RU"/>
          </a:p>
        </p:txBody>
      </p:sp>
      <p:sp>
        <p:nvSpPr>
          <p:cNvPr id="4" name="TextBox 3"/>
          <p:cNvSpPr txBox="1"/>
          <p:nvPr/>
        </p:nvSpPr>
        <p:spPr>
          <a:xfrm>
            <a:off x="714348" y="1214422"/>
            <a:ext cx="7786742" cy="2862322"/>
          </a:xfrm>
          <a:prstGeom prst="rect">
            <a:avLst/>
          </a:prstGeom>
          <a:solidFill>
            <a:schemeClr val="accent5">
              <a:lumMod val="20000"/>
              <a:lumOff val="80000"/>
            </a:schemeClr>
          </a:solidFill>
          <a:ln>
            <a:solidFill>
              <a:srgbClr val="000099"/>
            </a:solidFill>
          </a:ln>
        </p:spPr>
        <p:txBody>
          <a:bodyPr wrap="square" rtlCol="0">
            <a:spAutoFit/>
          </a:bodyPr>
          <a:lstStyle/>
          <a:p>
            <a:r>
              <a:rPr lang="ru-RU" dirty="0"/>
              <a:t>{CREATE | ALTER} FUNCTION [владелец.]  </a:t>
            </a:r>
            <a:r>
              <a:rPr lang="ru-RU" dirty="0" err="1"/>
              <a:t>имя_функции</a:t>
            </a:r>
            <a:r>
              <a:rPr lang="ru-RU" dirty="0"/>
              <a:t> </a:t>
            </a:r>
          </a:p>
          <a:p>
            <a:r>
              <a:rPr lang="ru-RU" dirty="0"/>
              <a:t>([{@</a:t>
            </a:r>
            <a:r>
              <a:rPr lang="ru-RU" dirty="0" err="1"/>
              <a:t>имя_параметра</a:t>
            </a:r>
            <a:r>
              <a:rPr lang="ru-RU" dirty="0">
                <a:solidFill>
                  <a:schemeClr val="bg1">
                    <a:lumMod val="50000"/>
                  </a:schemeClr>
                </a:solidFill>
              </a:rPr>
              <a:t> </a:t>
            </a:r>
            <a:r>
              <a:rPr lang="ru-RU" dirty="0" err="1">
                <a:solidFill>
                  <a:schemeClr val="bg1">
                    <a:lumMod val="50000"/>
                  </a:schemeClr>
                </a:solidFill>
              </a:rPr>
              <a:t>скалярный_тип_данных</a:t>
            </a:r>
            <a:r>
              <a:rPr lang="ru-RU" dirty="0">
                <a:solidFill>
                  <a:schemeClr val="bg1">
                    <a:lumMod val="50000"/>
                  </a:schemeClr>
                </a:solidFill>
              </a:rPr>
              <a:t>  </a:t>
            </a:r>
            <a:r>
              <a:rPr lang="ru-RU" dirty="0"/>
              <a:t>[=DEFAULT]}[,...n]])</a:t>
            </a:r>
          </a:p>
          <a:p>
            <a:r>
              <a:rPr lang="en-US" dirty="0"/>
              <a:t>RETURNS </a:t>
            </a:r>
            <a:r>
              <a:rPr lang="ru-RU" dirty="0" err="1">
                <a:solidFill>
                  <a:schemeClr val="bg1">
                    <a:lumMod val="50000"/>
                  </a:schemeClr>
                </a:solidFill>
              </a:rPr>
              <a:t>скалярный_тип_данных</a:t>
            </a:r>
            <a:endParaRPr lang="ru-RU" dirty="0">
              <a:solidFill>
                <a:schemeClr val="bg1">
                  <a:lumMod val="50000"/>
                </a:schemeClr>
              </a:solidFill>
            </a:endParaRPr>
          </a:p>
          <a:p>
            <a:r>
              <a:rPr lang="ru-RU" dirty="0"/>
              <a:t>[</a:t>
            </a:r>
            <a:r>
              <a:rPr lang="en-US" dirty="0"/>
              <a:t>WITH</a:t>
            </a:r>
            <a:r>
              <a:rPr lang="ru-RU" dirty="0"/>
              <a:t> {</a:t>
            </a:r>
            <a:r>
              <a:rPr lang="en-US" dirty="0"/>
              <a:t>ENCRYPTION</a:t>
            </a:r>
            <a:r>
              <a:rPr lang="ru-RU" dirty="0"/>
              <a:t> | </a:t>
            </a:r>
            <a:r>
              <a:rPr lang="en-US" dirty="0"/>
              <a:t>SCHEMABINDING</a:t>
            </a:r>
            <a:r>
              <a:rPr lang="ru-RU" dirty="0"/>
              <a:t>} [,...</a:t>
            </a:r>
            <a:r>
              <a:rPr lang="en-US" dirty="0"/>
              <a:t>n</a:t>
            </a:r>
            <a:r>
              <a:rPr lang="ru-RU" dirty="0"/>
              <a:t>] ]</a:t>
            </a:r>
          </a:p>
          <a:p>
            <a:r>
              <a:rPr lang="ru-RU" dirty="0"/>
              <a:t>[</a:t>
            </a:r>
            <a:r>
              <a:rPr lang="en-US" dirty="0"/>
              <a:t>AS</a:t>
            </a:r>
            <a:r>
              <a:rPr lang="ru-RU" dirty="0"/>
              <a:t>]</a:t>
            </a:r>
          </a:p>
          <a:p>
            <a:r>
              <a:rPr lang="ru-RU" dirty="0"/>
              <a:t>BEGIN</a:t>
            </a:r>
          </a:p>
          <a:p>
            <a:r>
              <a:rPr lang="ru-RU" dirty="0"/>
              <a:t>&lt;</a:t>
            </a:r>
            <a:r>
              <a:rPr lang="ru-RU" dirty="0" err="1"/>
              <a:t>тело_функции</a:t>
            </a:r>
            <a:r>
              <a:rPr lang="ru-RU" dirty="0"/>
              <a:t>&gt;</a:t>
            </a:r>
          </a:p>
          <a:p>
            <a:r>
              <a:rPr lang="ru-RU" dirty="0"/>
              <a:t>RETURN скалярное выражение</a:t>
            </a:r>
          </a:p>
          <a:p>
            <a:r>
              <a:rPr lang="ru-RU" dirty="0"/>
              <a:t>END </a:t>
            </a:r>
          </a:p>
          <a:p>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15</a:t>
            </a:fld>
            <a:endParaRPr lang="ru-RU" dirty="0"/>
          </a:p>
        </p:txBody>
      </p:sp>
      <p:sp>
        <p:nvSpPr>
          <p:cNvPr id="3" name="Заголовок 1"/>
          <p:cNvSpPr txBox="1">
            <a:spLocks/>
          </p:cNvSpPr>
          <p:nvPr/>
        </p:nvSpPr>
        <p:spPr>
          <a:xfrm>
            <a:off x="214282" y="0"/>
            <a:ext cx="8572560" cy="571480"/>
          </a:xfrm>
          <a:prstGeom prst="rect">
            <a:avLst/>
          </a:prstGeom>
        </p:spPr>
        <p:txBody>
          <a:bodyPr>
            <a:normAutofit/>
          </a:bodyPr>
          <a:lstStyle/>
          <a:p>
            <a:pPr algn="ctr">
              <a:spcBef>
                <a:spcPct val="0"/>
              </a:spcBef>
              <a:defRPr/>
            </a:pPr>
            <a:r>
              <a:rPr lang="ru-RU" sz="2400" dirty="0"/>
              <a:t>Скалярные функции (</a:t>
            </a:r>
            <a:r>
              <a:rPr lang="en-US" sz="2400" dirty="0"/>
              <a:t>Scalar) </a:t>
            </a:r>
            <a:r>
              <a:rPr lang="ru-RU" sz="2400" dirty="0"/>
              <a:t>в </a:t>
            </a:r>
            <a:r>
              <a:rPr lang="en-US" sz="2400" dirty="0"/>
              <a:t>Transact-SQL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TextBox 4"/>
          <p:cNvSpPr txBox="1"/>
          <p:nvPr/>
        </p:nvSpPr>
        <p:spPr>
          <a:xfrm>
            <a:off x="214282" y="571480"/>
            <a:ext cx="8501122" cy="3773341"/>
          </a:xfrm>
          <a:prstGeom prst="rect">
            <a:avLst/>
          </a:prstGeom>
          <a:noFill/>
        </p:spPr>
        <p:txBody>
          <a:bodyPr wrap="square" rtlCol="0">
            <a:spAutoFit/>
          </a:bodyPr>
          <a:lstStyle/>
          <a:p>
            <a:pPr>
              <a:lnSpc>
                <a:spcPct val="115000"/>
              </a:lnSpc>
              <a:spcAft>
                <a:spcPts val="0"/>
              </a:spcAft>
            </a:pPr>
            <a:r>
              <a:rPr lang="ru-RU" sz="1600" dirty="0">
                <a:ea typeface="Calibri"/>
                <a:cs typeface="Times New Roman"/>
              </a:rPr>
              <a:t>Например, создание скалярной функции для подсчета количества студентов, у которых дата рождения входит в заданный период:</a:t>
            </a:r>
          </a:p>
          <a:p>
            <a:pPr>
              <a:lnSpc>
                <a:spcPct val="115000"/>
              </a:lnSpc>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FUNCTION</a:t>
            </a:r>
            <a:r>
              <a:rPr lang="en-US" sz="1600" dirty="0">
                <a:ea typeface="Calibri"/>
                <a:cs typeface="Times New Roman"/>
              </a:rPr>
              <a:t> </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Count_student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   </a:t>
            </a:r>
            <a:r>
              <a:rPr lang="en-US" sz="1600" dirty="0">
                <a:solidFill>
                  <a:srgbClr val="808080"/>
                </a:solidFill>
                <a:ea typeface="Calibri"/>
                <a:cs typeface="Times New Roman"/>
              </a:rPr>
              <a:t>(</a:t>
            </a:r>
            <a:r>
              <a:rPr lang="en-US" sz="1600" dirty="0">
                <a:solidFill>
                  <a:srgbClr val="008080"/>
                </a:solidFill>
                <a:ea typeface="Calibri"/>
                <a:cs typeface="Times New Roman"/>
              </a:rPr>
              <a:t>@</a:t>
            </a:r>
            <a:r>
              <a:rPr lang="en-US" sz="1600" dirty="0" err="1">
                <a:solidFill>
                  <a:srgbClr val="008080"/>
                </a:solidFill>
                <a:ea typeface="Calibri"/>
                <a:cs typeface="Times New Roman"/>
              </a:rPr>
              <a:t>data_start</a:t>
            </a:r>
            <a:r>
              <a:rPr lang="en-US" sz="1600" dirty="0">
                <a:ea typeface="Calibri"/>
                <a:cs typeface="Times New Roman"/>
              </a:rPr>
              <a:t> </a:t>
            </a:r>
            <a:r>
              <a:rPr lang="en-US" sz="1600" dirty="0">
                <a:solidFill>
                  <a:srgbClr val="0000FF"/>
                </a:solidFill>
                <a:ea typeface="Calibri"/>
                <a:cs typeface="Times New Roman"/>
              </a:rPr>
              <a:t>DATETIME</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data_end</a:t>
            </a:r>
            <a:r>
              <a:rPr lang="en-US" sz="1600" dirty="0">
                <a:ea typeface="Calibri"/>
                <a:cs typeface="Times New Roman"/>
              </a:rPr>
              <a:t> </a:t>
            </a:r>
            <a:r>
              <a:rPr lang="en-US" sz="1600" dirty="0">
                <a:solidFill>
                  <a:srgbClr val="0000FF"/>
                </a:solidFill>
                <a:ea typeface="Calibri"/>
                <a:cs typeface="Times New Roman"/>
              </a:rPr>
              <a:t>DATETIME</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RETURNS</a:t>
            </a:r>
            <a:r>
              <a:rPr lang="en-US" sz="1600" dirty="0">
                <a:ea typeface="Calibri"/>
                <a:cs typeface="Times New Roman"/>
              </a:rPr>
              <a:t> </a:t>
            </a:r>
            <a:r>
              <a:rPr lang="en-US" sz="1600" dirty="0">
                <a:solidFill>
                  <a:srgbClr val="0000FF"/>
                </a:solidFill>
                <a:ea typeface="Calibri"/>
                <a:cs typeface="Times New Roman"/>
              </a:rPr>
              <a:t>INT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AS</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BEGIN</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DECLARE</a:t>
            </a:r>
            <a:r>
              <a:rPr lang="en-US" sz="1600" dirty="0">
                <a:ea typeface="Calibri"/>
                <a:cs typeface="Times New Roman"/>
              </a:rPr>
              <a:t> </a:t>
            </a:r>
            <a:r>
              <a:rPr lang="en-US" sz="1600" dirty="0">
                <a:solidFill>
                  <a:srgbClr val="008080"/>
                </a:solidFill>
                <a:ea typeface="Calibri"/>
                <a:cs typeface="Times New Roman"/>
              </a:rPr>
              <a:t>@count</a:t>
            </a:r>
            <a:r>
              <a:rPr lang="en-US" sz="1600" dirty="0">
                <a:ea typeface="Calibri"/>
                <a:cs typeface="Times New Roman"/>
              </a:rPr>
              <a:t> </a:t>
            </a:r>
            <a:r>
              <a:rPr lang="en-US" sz="1600" dirty="0">
                <a:solidFill>
                  <a:srgbClr val="0000FF"/>
                </a:solidFill>
                <a:ea typeface="Calibri"/>
                <a:cs typeface="Times New Roman"/>
              </a:rPr>
              <a:t>INT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SET</a:t>
            </a:r>
            <a:r>
              <a:rPr lang="en-US" sz="1600" dirty="0">
                <a:ea typeface="Calibri"/>
                <a:cs typeface="Times New Roman"/>
              </a:rPr>
              <a:t> </a:t>
            </a:r>
            <a:r>
              <a:rPr lang="en-US" sz="1600" dirty="0">
                <a:solidFill>
                  <a:srgbClr val="008080"/>
                </a:solidFill>
                <a:ea typeface="Calibri"/>
                <a:cs typeface="Times New Roman"/>
              </a:rPr>
              <a:t>@count</a:t>
            </a:r>
            <a:r>
              <a:rPr lang="en-US" sz="1600" dirty="0">
                <a:solidFill>
                  <a:srgbClr val="808080"/>
                </a:solidFill>
                <a:ea typeface="Calibri"/>
                <a:cs typeface="Times New Roman"/>
              </a:rPr>
              <a:t>=(</a:t>
            </a: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FF00FF"/>
                </a:solidFill>
                <a:ea typeface="Calibri"/>
                <a:cs typeface="Times New Roman"/>
              </a:rPr>
              <a:t>COUNT</a:t>
            </a:r>
            <a:r>
              <a:rPr lang="en-US" sz="1600" dirty="0">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FROM</a:t>
            </a:r>
            <a:r>
              <a:rPr lang="en-US" sz="1600" dirty="0">
                <a:ea typeface="Calibri"/>
                <a:cs typeface="Times New Roman"/>
              </a:rPr>
              <a:t> </a:t>
            </a:r>
            <a:r>
              <a:rPr lang="en-US" sz="1600" dirty="0">
                <a:solidFill>
                  <a:srgbClr val="008080"/>
                </a:solidFill>
                <a:ea typeface="Calibri"/>
                <a:cs typeface="Times New Roman"/>
              </a:rPr>
              <a:t>Student</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WHERE</a:t>
            </a:r>
            <a:r>
              <a:rPr lang="en-US" sz="1600" dirty="0">
                <a:ea typeface="Calibri"/>
                <a:cs typeface="Times New Roman"/>
              </a:rPr>
              <a:t> </a:t>
            </a:r>
            <a:r>
              <a:rPr lang="en-US" sz="1600" dirty="0">
                <a:solidFill>
                  <a:srgbClr val="008080"/>
                </a:solidFill>
                <a:ea typeface="Calibri"/>
                <a:cs typeface="Times New Roman"/>
              </a:rPr>
              <a:t>Birthday</a:t>
            </a:r>
            <a:r>
              <a:rPr lang="en-US" sz="1600" dirty="0">
                <a:ea typeface="Calibri"/>
                <a:cs typeface="Times New Roman"/>
              </a:rPr>
              <a:t> </a:t>
            </a:r>
            <a:r>
              <a:rPr lang="en-US" sz="1600" dirty="0">
                <a:solidFill>
                  <a:srgbClr val="808080"/>
                </a:solidFill>
                <a:ea typeface="Calibri"/>
                <a:cs typeface="Times New Roman"/>
              </a:rPr>
              <a:t>BETWEEN</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data_start</a:t>
            </a:r>
            <a:r>
              <a:rPr lang="en-US" sz="1600" dirty="0">
                <a:ea typeface="Calibri"/>
                <a:cs typeface="Times New Roman"/>
              </a:rPr>
              <a:t>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data_end</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a:t>
            </a:r>
            <a:r>
              <a:rPr lang="en-US" sz="1600" dirty="0">
                <a:ea typeface="Calibri"/>
                <a:cs typeface="Times New Roman"/>
              </a:rPr>
              <a:t> </a:t>
            </a:r>
            <a:r>
              <a:rPr lang="en-US" sz="1600" dirty="0">
                <a:solidFill>
                  <a:srgbClr val="008080"/>
                </a:solidFill>
                <a:ea typeface="Calibri"/>
                <a:cs typeface="Times New Roman"/>
              </a:rPr>
              <a:t>@count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END</a:t>
            </a:r>
            <a:endParaRPr lang="ru-RU" dirty="0"/>
          </a:p>
        </p:txBody>
      </p:sp>
      <p:sp>
        <p:nvSpPr>
          <p:cNvPr id="6" name="TextBox 5"/>
          <p:cNvSpPr txBox="1"/>
          <p:nvPr/>
        </p:nvSpPr>
        <p:spPr>
          <a:xfrm>
            <a:off x="285720" y="4714884"/>
            <a:ext cx="5846088" cy="1754326"/>
          </a:xfrm>
          <a:prstGeom prst="rect">
            <a:avLst/>
          </a:prstGeom>
          <a:noFill/>
        </p:spPr>
        <p:txBody>
          <a:bodyPr wrap="none" rtlCol="0">
            <a:spAutoFit/>
          </a:bodyPr>
          <a:lstStyle/>
          <a:p>
            <a:r>
              <a:rPr lang="ru-RU" sz="1600" dirty="0"/>
              <a:t>Вызов функции:</a:t>
            </a:r>
          </a:p>
          <a:p>
            <a:pPr>
              <a:lnSpc>
                <a:spcPct val="115000"/>
              </a:lnSpc>
              <a:spcAft>
                <a:spcPts val="0"/>
              </a:spcAft>
            </a:pPr>
            <a:r>
              <a:rPr lang="en-US" sz="1600" dirty="0">
                <a:solidFill>
                  <a:srgbClr val="0000FF"/>
                </a:solidFill>
                <a:ea typeface="Calibri"/>
                <a:cs typeface="Times New Roman"/>
              </a:rPr>
              <a:t>DECLARE</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kol</a:t>
            </a:r>
            <a:r>
              <a:rPr lang="en-US" sz="1600" dirty="0">
                <a:ea typeface="Calibri"/>
                <a:cs typeface="Times New Roman"/>
              </a:rPr>
              <a:t> </a:t>
            </a:r>
            <a:r>
              <a:rPr lang="en-US" sz="1600" dirty="0">
                <a:solidFill>
                  <a:srgbClr val="0000FF"/>
                </a:solidFill>
                <a:ea typeface="Calibri"/>
                <a:cs typeface="Times New Roman"/>
              </a:rPr>
              <a:t>INT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SET</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kol</a:t>
            </a:r>
            <a:r>
              <a:rPr lang="en-US" sz="1600" dirty="0">
                <a:solidFill>
                  <a:srgbClr val="808080"/>
                </a:solidFill>
                <a:ea typeface="Calibri"/>
                <a:cs typeface="Times New Roman"/>
              </a:rPr>
              <a:t>=</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Count_student</a:t>
            </a:r>
            <a:r>
              <a:rPr lang="en-US" sz="1600" dirty="0">
                <a:solidFill>
                  <a:srgbClr val="808080"/>
                </a:solidFill>
                <a:ea typeface="Calibri"/>
                <a:cs typeface="Times New Roman"/>
              </a:rPr>
              <a:t>(</a:t>
            </a:r>
            <a:r>
              <a:rPr lang="en-US" sz="1600" dirty="0">
                <a:solidFill>
                  <a:srgbClr val="FF0000"/>
                </a:solidFill>
                <a:ea typeface="Calibri"/>
                <a:cs typeface="Times New Roman"/>
              </a:rPr>
              <a:t>'01.01.1996'</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00"/>
                </a:solidFill>
                <a:ea typeface="Calibri"/>
                <a:cs typeface="Times New Roman"/>
              </a:rPr>
              <a:t>'31.12.1997'</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ru-RU" sz="1600" dirty="0">
                <a:solidFill>
                  <a:srgbClr val="0000FF"/>
                </a:solidFill>
                <a:ea typeface="Calibri"/>
                <a:cs typeface="Times New Roman"/>
              </a:rPr>
              <a:t>SELECT</a:t>
            </a:r>
            <a:r>
              <a:rPr lang="ru-RU" sz="1600" dirty="0">
                <a:ea typeface="Calibri"/>
                <a:cs typeface="Times New Roman"/>
              </a:rPr>
              <a:t> </a:t>
            </a:r>
            <a:r>
              <a:rPr lang="ru-RU" sz="1600" dirty="0">
                <a:solidFill>
                  <a:srgbClr val="008080"/>
                </a:solidFill>
                <a:ea typeface="Calibri"/>
                <a:cs typeface="Times New Roman"/>
              </a:rPr>
              <a:t>@</a:t>
            </a:r>
            <a:r>
              <a:rPr lang="ru-RU" sz="1600" dirty="0" err="1">
                <a:solidFill>
                  <a:srgbClr val="008080"/>
                </a:solidFill>
                <a:ea typeface="Calibri"/>
                <a:cs typeface="Times New Roman"/>
              </a:rPr>
              <a:t>kol</a:t>
            </a:r>
            <a:r>
              <a:rPr lang="ru-RU" sz="1600" dirty="0">
                <a:ea typeface="Calibri"/>
                <a:cs typeface="Times New Roman"/>
              </a:rPr>
              <a:t> </a:t>
            </a:r>
            <a:r>
              <a:rPr lang="ru-RU" sz="1600" dirty="0">
                <a:solidFill>
                  <a:srgbClr val="FF0000"/>
                </a:solidFill>
                <a:ea typeface="Calibri"/>
                <a:cs typeface="Times New Roman"/>
              </a:rPr>
              <a:t>'Количество'</a:t>
            </a:r>
            <a:endParaRPr lang="ru-RU" sz="1600" dirty="0">
              <a:ea typeface="Calibri"/>
              <a:cs typeface="Times New Roman"/>
            </a:endParaRPr>
          </a:p>
          <a:p>
            <a:pPr>
              <a:lnSpc>
                <a:spcPct val="115000"/>
              </a:lnSpc>
              <a:spcAft>
                <a:spcPts val="0"/>
              </a:spcAft>
            </a:pPr>
            <a:r>
              <a:rPr lang="ru-RU" sz="1600" dirty="0">
                <a:ea typeface="Calibri"/>
                <a:cs typeface="Times New Roman"/>
              </a:rPr>
              <a:t>или </a:t>
            </a:r>
          </a:p>
          <a:p>
            <a:pPr>
              <a:lnSpc>
                <a:spcPct val="115000"/>
              </a:lnSpc>
              <a:spcAft>
                <a:spcPts val="1000"/>
              </a:spcAft>
            </a:pPr>
            <a:r>
              <a:rPr lang="en-US" sz="1600" dirty="0">
                <a:solidFill>
                  <a:srgbClr val="0000FF"/>
                </a:solidFill>
                <a:ea typeface="Calibri"/>
                <a:cs typeface="Times New Roman"/>
              </a:rPr>
              <a:t>SELECT</a:t>
            </a:r>
            <a:r>
              <a:rPr lang="en-US" sz="1600" dirty="0">
                <a:ea typeface="Calibri"/>
                <a:cs typeface="Times New Roman"/>
              </a:rPr>
              <a:t> </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Count_student</a:t>
            </a:r>
            <a:r>
              <a:rPr lang="en-US" sz="1600" dirty="0">
                <a:solidFill>
                  <a:srgbClr val="808080"/>
                </a:solidFill>
                <a:ea typeface="Calibri"/>
                <a:cs typeface="Times New Roman"/>
              </a:rPr>
              <a:t>(</a:t>
            </a:r>
            <a:r>
              <a:rPr lang="en-US" sz="1600" dirty="0">
                <a:solidFill>
                  <a:srgbClr val="FF0000"/>
                </a:solidFill>
                <a:ea typeface="Calibri"/>
                <a:cs typeface="Times New Roman"/>
              </a:rPr>
              <a:t>'01.01.1996'</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00"/>
                </a:solidFill>
                <a:ea typeface="Calibri"/>
                <a:cs typeface="Times New Roman"/>
              </a:rPr>
              <a:t>'31.12.1997'</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Количество</a:t>
            </a:r>
            <a:r>
              <a:rPr lang="en-US" sz="1600" dirty="0">
                <a:solidFill>
                  <a:srgbClr val="FF0000"/>
                </a:solidFill>
                <a:ea typeface="Calibri"/>
                <a:cs typeface="Times New Roman"/>
              </a:rPr>
              <a:t> '</a:t>
            </a:r>
            <a:endParaRPr lang="ru-RU" sz="1600" dirty="0"/>
          </a:p>
        </p:txBody>
      </p:sp>
      <p:pic>
        <p:nvPicPr>
          <p:cNvPr id="247810" name="Picture 2"/>
          <p:cNvPicPr>
            <a:picLocks noChangeAspect="1" noChangeArrowheads="1"/>
          </p:cNvPicPr>
          <p:nvPr/>
        </p:nvPicPr>
        <p:blipFill>
          <a:blip r:embed="rId2" cstate="print"/>
          <a:srcRect/>
          <a:stretch>
            <a:fillRect/>
          </a:stretch>
        </p:blipFill>
        <p:spPr bwMode="auto">
          <a:xfrm>
            <a:off x="6357950" y="4929198"/>
            <a:ext cx="2305059" cy="1030906"/>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54032"/>
          </a:xfrm>
        </p:spPr>
        <p:txBody>
          <a:bodyPr>
            <a:normAutofit/>
          </a:bodyPr>
          <a:lstStyle/>
          <a:p>
            <a:r>
              <a:rPr lang="ru-RU" sz="2500" dirty="0"/>
              <a:t>Табличные функции (</a:t>
            </a:r>
            <a:r>
              <a:rPr lang="en-US" sz="2500" dirty="0"/>
              <a:t>Inline</a:t>
            </a:r>
            <a:r>
              <a:rPr lang="ru-RU" sz="2500" dirty="0"/>
              <a:t>)в </a:t>
            </a:r>
            <a:r>
              <a:rPr lang="en-US" sz="2500" dirty="0"/>
              <a:t>Transact-SQL</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16</a:t>
            </a:fld>
            <a:endParaRPr lang="ru-RU"/>
          </a:p>
        </p:txBody>
      </p:sp>
      <p:sp>
        <p:nvSpPr>
          <p:cNvPr id="4" name="TextBox 3"/>
          <p:cNvSpPr txBox="1"/>
          <p:nvPr/>
        </p:nvSpPr>
        <p:spPr>
          <a:xfrm>
            <a:off x="1142976" y="1142984"/>
            <a:ext cx="6715172" cy="2031325"/>
          </a:xfrm>
          <a:prstGeom prst="rect">
            <a:avLst/>
          </a:prstGeom>
          <a:solidFill>
            <a:schemeClr val="accent5">
              <a:lumMod val="20000"/>
              <a:lumOff val="80000"/>
            </a:schemeClr>
          </a:solidFill>
          <a:ln>
            <a:solidFill>
              <a:srgbClr val="000099"/>
            </a:solidFill>
          </a:ln>
        </p:spPr>
        <p:txBody>
          <a:bodyPr wrap="square" rtlCol="0">
            <a:spAutoFit/>
          </a:bodyPr>
          <a:lstStyle/>
          <a:p>
            <a:r>
              <a:rPr lang="ru-RU" dirty="0"/>
              <a:t>{CREATE | ALTER } FUNCTION [владелец.] </a:t>
            </a:r>
            <a:r>
              <a:rPr lang="ru-RU" dirty="0" err="1"/>
              <a:t>имя_функции</a:t>
            </a:r>
            <a:endParaRPr lang="ru-RU" dirty="0"/>
          </a:p>
          <a:p>
            <a:r>
              <a:rPr lang="ru-RU" dirty="0"/>
              <a:t>([{ @</a:t>
            </a:r>
            <a:r>
              <a:rPr lang="ru-RU" dirty="0" err="1"/>
              <a:t>имя_параметра</a:t>
            </a:r>
            <a:r>
              <a:rPr lang="ru-RU" dirty="0"/>
              <a:t> </a:t>
            </a:r>
            <a:r>
              <a:rPr lang="ru-RU" dirty="0" err="1"/>
              <a:t>скалярный_тип_данных</a:t>
            </a:r>
            <a:r>
              <a:rPr lang="ru-RU" dirty="0"/>
              <a:t> [=</a:t>
            </a:r>
            <a:r>
              <a:rPr lang="en-US" dirty="0"/>
              <a:t>DEFAULT</a:t>
            </a:r>
            <a:r>
              <a:rPr lang="ru-RU" dirty="0"/>
              <a:t>]}[,...</a:t>
            </a:r>
            <a:r>
              <a:rPr lang="en-US" dirty="0"/>
              <a:t>n</a:t>
            </a:r>
            <a:r>
              <a:rPr lang="ru-RU" dirty="0"/>
              <a:t>]])</a:t>
            </a:r>
          </a:p>
          <a:p>
            <a:r>
              <a:rPr lang="en-US" dirty="0"/>
              <a:t>RETURNS TABLE</a:t>
            </a:r>
            <a:endParaRPr lang="ru-RU" dirty="0"/>
          </a:p>
          <a:p>
            <a:r>
              <a:rPr lang="en-US" dirty="0"/>
              <a:t>[ WITH {ENCRYPTION | SCHEMABINDING} [,...n]]</a:t>
            </a:r>
            <a:endParaRPr lang="ru-RU" dirty="0"/>
          </a:p>
          <a:p>
            <a:r>
              <a:rPr lang="ru-RU" dirty="0"/>
              <a:t>[</a:t>
            </a:r>
            <a:r>
              <a:rPr lang="en-US" dirty="0"/>
              <a:t>AS</a:t>
            </a:r>
            <a:r>
              <a:rPr lang="ru-RU" dirty="0"/>
              <a:t>]</a:t>
            </a:r>
          </a:p>
          <a:p>
            <a:r>
              <a:rPr lang="en-US" dirty="0"/>
              <a:t>RETURN</a:t>
            </a:r>
            <a:r>
              <a:rPr lang="ru-RU" dirty="0"/>
              <a:t> [(] </a:t>
            </a:r>
            <a:r>
              <a:rPr lang="en-US" dirty="0"/>
              <a:t>SELECT</a:t>
            </a:r>
            <a:r>
              <a:rPr lang="ru-RU" dirty="0" err="1"/>
              <a:t>_оператор</a:t>
            </a:r>
            <a:r>
              <a:rPr lang="ru-RU" dirty="0"/>
              <a:t> [)]</a:t>
            </a:r>
          </a:p>
          <a:p>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1F87023B-4310-42C4-812D-874FAF4871B2}" type="slidenum">
              <a:rPr lang="ru-RU" smtClean="0"/>
              <a:pPr/>
              <a:t>17</a:t>
            </a:fld>
            <a:endParaRPr lang="ru-RU"/>
          </a:p>
        </p:txBody>
      </p:sp>
      <p:sp>
        <p:nvSpPr>
          <p:cNvPr id="3" name="Заголовок 1"/>
          <p:cNvSpPr txBox="1">
            <a:spLocks/>
          </p:cNvSpPr>
          <p:nvPr/>
        </p:nvSpPr>
        <p:spPr>
          <a:xfrm>
            <a:off x="214282" y="214290"/>
            <a:ext cx="8572560" cy="428604"/>
          </a:xfrm>
          <a:prstGeom prst="rect">
            <a:avLst/>
          </a:prstGeom>
        </p:spPr>
        <p:txBody>
          <a:bodyPr>
            <a:normAutofit lnSpcReduction="10000"/>
          </a:bodyPr>
          <a:lstStyle/>
          <a:p>
            <a:pPr algn="ctr">
              <a:spcBef>
                <a:spcPct val="0"/>
              </a:spcBef>
              <a:defRPr/>
            </a:pPr>
            <a:r>
              <a:rPr lang="ru-RU" sz="2400" dirty="0"/>
              <a:t>Табличные функции (</a:t>
            </a:r>
            <a:r>
              <a:rPr lang="en-US" sz="2400" dirty="0"/>
              <a:t>Inline</a:t>
            </a:r>
            <a:r>
              <a:rPr lang="ru-RU" sz="2400" dirty="0"/>
              <a:t>)в </a:t>
            </a:r>
            <a:r>
              <a:rPr lang="en-US" sz="2400" dirty="0"/>
              <a:t>Transact-SQL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357158" y="857232"/>
            <a:ext cx="8786842" cy="4842351"/>
          </a:xfrm>
          <a:prstGeom prst="rect">
            <a:avLst/>
          </a:prstGeom>
          <a:noFill/>
        </p:spPr>
        <p:txBody>
          <a:bodyPr wrap="square" rtlCol="0">
            <a:spAutoFit/>
          </a:bodyPr>
          <a:lstStyle/>
          <a:p>
            <a:pPr>
              <a:lnSpc>
                <a:spcPct val="115000"/>
              </a:lnSpc>
            </a:pPr>
            <a:r>
              <a:rPr lang="ru-RU" sz="1600" dirty="0">
                <a:ea typeface="Calibri"/>
                <a:cs typeface="Times New Roman"/>
              </a:rPr>
              <a:t>Пример, функции табличного типа для определения двух дисциплин с наибольшими оценками.</a:t>
            </a:r>
          </a:p>
          <a:p>
            <a:pPr>
              <a:lnSpc>
                <a:spcPct val="115000"/>
              </a:lnSpc>
            </a:pPr>
            <a:endParaRPr lang="ru-RU" sz="1600" dirty="0">
              <a:solidFill>
                <a:srgbClr val="0000FF"/>
              </a:solidFill>
              <a:ea typeface="Calibri"/>
              <a:cs typeface="Times New Roman"/>
            </a:endParaRPr>
          </a:p>
          <a:p>
            <a:pPr>
              <a:lnSpc>
                <a:spcPct val="115000"/>
              </a:lnSpc>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FUNCTION</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dbo</a:t>
            </a:r>
            <a:r>
              <a:rPr lang="en-US" sz="1600" dirty="0">
                <a:solidFill>
                  <a:srgbClr val="008080"/>
                </a:solidFill>
                <a:ea typeface="Calibri"/>
                <a:cs typeface="Times New Roman"/>
              </a:rPr>
              <a:t>]</a:t>
            </a:r>
            <a:r>
              <a:rPr lang="en-US" sz="1600" dirty="0">
                <a:solidFill>
                  <a:srgbClr val="808080"/>
                </a:solidFill>
                <a:ea typeface="Calibri"/>
                <a:cs typeface="Times New Roman"/>
              </a:rPr>
              <a:t>.</a:t>
            </a:r>
            <a:r>
              <a:rPr lang="en-US" sz="1600" dirty="0">
                <a:solidFill>
                  <a:srgbClr val="008080"/>
                </a:solidFill>
                <a:ea typeface="Calibri"/>
                <a:cs typeface="Times New Roman"/>
              </a:rPr>
              <a:t>[</a:t>
            </a:r>
            <a:r>
              <a:rPr lang="en-US" sz="1600" dirty="0" err="1">
                <a:solidFill>
                  <a:srgbClr val="008080"/>
                </a:solidFill>
                <a:ea typeface="Calibri"/>
                <a:cs typeface="Times New Roman"/>
              </a:rPr>
              <a:t>subj_name</a:t>
            </a:r>
            <a:r>
              <a:rPr lang="en-US" sz="1600" dirty="0">
                <a:solidFill>
                  <a:srgbClr val="008080"/>
                </a:solidFill>
                <a:ea typeface="Calibri"/>
                <a:cs typeface="Times New Roman"/>
              </a:rPr>
              <a:t>]</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RETURNS</a:t>
            </a:r>
            <a:r>
              <a:rPr lang="en-US" sz="1600" dirty="0">
                <a:ea typeface="Calibri"/>
                <a:cs typeface="Times New Roman"/>
              </a:rPr>
              <a:t> </a:t>
            </a:r>
            <a:r>
              <a:rPr lang="en-US" sz="1600" dirty="0">
                <a:solidFill>
                  <a:srgbClr val="0000FF"/>
                </a:solidFill>
                <a:ea typeface="Calibri"/>
                <a:cs typeface="Times New Roman"/>
              </a:rPr>
              <a:t>TABLE</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AS</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 </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0000FF"/>
                </a:solidFill>
                <a:ea typeface="Calibri"/>
                <a:cs typeface="Times New Roman"/>
              </a:rPr>
              <a:t>TOP</a:t>
            </a:r>
            <a:r>
              <a:rPr lang="en-US" sz="1600" dirty="0">
                <a:ea typeface="Calibri"/>
                <a:cs typeface="Times New Roman"/>
              </a:rPr>
              <a:t> 2 </a:t>
            </a:r>
            <a:r>
              <a:rPr lang="en-US" sz="1600" dirty="0" err="1">
                <a:solidFill>
                  <a:srgbClr val="008080"/>
                </a:solidFill>
                <a:ea typeface="Calibri"/>
                <a:cs typeface="Times New Roman"/>
              </a:rPr>
              <a:t>sj</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Subj_Name</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FF00FF"/>
                </a:solidFill>
                <a:ea typeface="Calibri"/>
                <a:cs typeface="Times New Roman"/>
              </a:rPr>
              <a:t>MAX</a:t>
            </a:r>
            <a:r>
              <a:rPr lang="en-US" sz="1600" dirty="0">
                <a:solidFill>
                  <a:srgbClr val="808080"/>
                </a:solidFill>
                <a:ea typeface="Calibri"/>
                <a:cs typeface="Times New Roman"/>
              </a:rPr>
              <a:t>(</a:t>
            </a:r>
            <a:r>
              <a:rPr lang="en-US" sz="1600" dirty="0">
                <a:solidFill>
                  <a:srgbClr val="008080"/>
                </a:solidFill>
                <a:ea typeface="Calibri"/>
                <a:cs typeface="Times New Roman"/>
              </a:rPr>
              <a:t>Mark</a:t>
            </a:r>
            <a:r>
              <a:rPr lang="en-US" sz="1600" dirty="0">
                <a:solidFill>
                  <a:srgbClr val="808080"/>
                </a:solidFill>
                <a:ea typeface="Calibri"/>
                <a:cs typeface="Times New Roman"/>
              </a:rPr>
              <a:t>)</a:t>
            </a:r>
            <a:r>
              <a:rPr lang="en-US" sz="1600" dirty="0">
                <a:ea typeface="Calibri"/>
                <a:cs typeface="Times New Roman"/>
              </a:rPr>
              <a:t> </a:t>
            </a:r>
            <a:r>
              <a:rPr lang="en-US" sz="1600" dirty="0">
                <a:solidFill>
                  <a:srgbClr val="0000FF"/>
                </a:solidFill>
                <a:ea typeface="Calibri"/>
                <a:cs typeface="Times New Roman"/>
              </a:rPr>
              <a:t>as</a:t>
            </a:r>
            <a:r>
              <a:rPr lang="en-US" sz="1600" dirty="0">
                <a:ea typeface="Calibri"/>
                <a:cs typeface="Times New Roman"/>
              </a:rPr>
              <a:t> </a:t>
            </a:r>
            <a:r>
              <a:rPr lang="en-US" sz="1600" dirty="0" err="1">
                <a:solidFill>
                  <a:srgbClr val="008080"/>
                </a:solidFill>
                <a:ea typeface="Calibri"/>
                <a:cs typeface="Times New Roman"/>
              </a:rPr>
              <a:t>max_mark</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en-US" sz="1600" dirty="0">
                <a:solidFill>
                  <a:srgbClr val="0000FF"/>
                </a:solidFill>
                <a:ea typeface="Calibri"/>
                <a:cs typeface="Times New Roman"/>
              </a:rPr>
              <a:t>FROM</a:t>
            </a:r>
            <a:r>
              <a:rPr lang="en-US" sz="1600" dirty="0">
                <a:ea typeface="Calibri"/>
                <a:cs typeface="Times New Roman"/>
              </a:rPr>
              <a:t> </a:t>
            </a:r>
            <a:r>
              <a:rPr lang="en-US" sz="1600" dirty="0" err="1">
                <a:solidFill>
                  <a:srgbClr val="008080"/>
                </a:solidFill>
                <a:ea typeface="Calibri"/>
                <a:cs typeface="Times New Roman"/>
              </a:rPr>
              <a:t>Exam_mark</a:t>
            </a:r>
            <a:r>
              <a:rPr lang="en-US" sz="1600" dirty="0">
                <a:ea typeface="Calibri"/>
                <a:cs typeface="Times New Roman"/>
              </a:rPr>
              <a:t> </a:t>
            </a:r>
            <a:r>
              <a:rPr lang="en-US" sz="1600" dirty="0">
                <a:solidFill>
                  <a:srgbClr val="008080"/>
                </a:solidFill>
                <a:ea typeface="Calibri"/>
                <a:cs typeface="Times New Roman"/>
              </a:rPr>
              <a:t>e</a:t>
            </a:r>
            <a:r>
              <a:rPr lang="ru-RU" sz="1600" dirty="0">
                <a:solidFill>
                  <a:srgbClr val="008080"/>
                </a:solidFill>
                <a:ea typeface="Calibri"/>
                <a:cs typeface="Times New Roman"/>
              </a:rPr>
              <a:t>  </a:t>
            </a:r>
            <a:r>
              <a:rPr lang="en-US" sz="1600" dirty="0">
                <a:solidFill>
                  <a:srgbClr val="808080"/>
                </a:solidFill>
                <a:ea typeface="Calibri"/>
                <a:cs typeface="Times New Roman"/>
              </a:rPr>
              <a:t>INNER</a:t>
            </a:r>
            <a:r>
              <a:rPr lang="en-US" sz="1600" dirty="0">
                <a:ea typeface="Calibri"/>
                <a:cs typeface="Times New Roman"/>
              </a:rPr>
              <a:t> </a:t>
            </a:r>
            <a:r>
              <a:rPr lang="en-US" sz="1600" dirty="0">
                <a:solidFill>
                  <a:srgbClr val="808080"/>
                </a:solidFill>
                <a:ea typeface="Calibri"/>
                <a:cs typeface="Times New Roman"/>
              </a:rPr>
              <a:t>JOIN</a:t>
            </a:r>
            <a:r>
              <a:rPr lang="en-US" sz="1600" dirty="0">
                <a:ea typeface="Calibri"/>
                <a:cs typeface="Times New Roman"/>
              </a:rPr>
              <a:t> </a:t>
            </a:r>
            <a:r>
              <a:rPr lang="en-US" sz="1600" dirty="0">
                <a:solidFill>
                  <a:srgbClr val="008080"/>
                </a:solidFill>
                <a:ea typeface="Calibri"/>
                <a:cs typeface="Times New Roman"/>
              </a:rPr>
              <a:t>Subject</a:t>
            </a:r>
            <a:r>
              <a:rPr lang="en-US" sz="1600" dirty="0">
                <a:ea typeface="Calibri"/>
                <a:cs typeface="Times New Roman"/>
              </a:rPr>
              <a:t> </a:t>
            </a:r>
            <a:r>
              <a:rPr lang="en-US" sz="1600" dirty="0" err="1">
                <a:solidFill>
                  <a:srgbClr val="008080"/>
                </a:solidFill>
                <a:ea typeface="Calibri"/>
                <a:cs typeface="Times New Roman"/>
              </a:rPr>
              <a:t>sj</a:t>
            </a:r>
            <a:r>
              <a:rPr lang="en-US" sz="1600" dirty="0">
                <a:ea typeface="Calibri"/>
                <a:cs typeface="Times New Roman"/>
              </a:rPr>
              <a:t> </a:t>
            </a:r>
            <a:r>
              <a:rPr lang="en-US" sz="1600" dirty="0">
                <a:solidFill>
                  <a:srgbClr val="0000FF"/>
                </a:solidFill>
                <a:ea typeface="Calibri"/>
                <a:cs typeface="Times New Roman"/>
              </a:rPr>
              <a:t>ON</a:t>
            </a:r>
            <a:r>
              <a:rPr lang="en-US" sz="1600" dirty="0">
                <a:ea typeface="Calibri"/>
                <a:cs typeface="Times New Roman"/>
              </a:rPr>
              <a:t> </a:t>
            </a:r>
            <a:r>
              <a:rPr lang="en-US" sz="1600" dirty="0" err="1">
                <a:solidFill>
                  <a:srgbClr val="008080"/>
                </a:solidFill>
                <a:ea typeface="Calibri"/>
                <a:cs typeface="Times New Roman"/>
              </a:rPr>
              <a:t>sj</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r>
              <a:rPr lang="en-US" sz="1600" dirty="0">
                <a:solidFill>
                  <a:srgbClr val="808080"/>
                </a:solidFill>
                <a:ea typeface="Calibri"/>
                <a:cs typeface="Times New Roman"/>
              </a:rPr>
              <a:t>=</a:t>
            </a:r>
            <a:r>
              <a:rPr lang="en-US" sz="1600" dirty="0" err="1">
                <a:solidFill>
                  <a:srgbClr val="008080"/>
                </a:solidFill>
                <a:ea typeface="Calibri"/>
                <a:cs typeface="Times New Roman"/>
              </a:rPr>
              <a:t>e</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Subj_Id</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en-US" sz="1600" dirty="0">
                <a:solidFill>
                  <a:srgbClr val="0000FF"/>
                </a:solidFill>
                <a:ea typeface="Calibri"/>
                <a:cs typeface="Times New Roman"/>
              </a:rPr>
              <a:t>GROUP</a:t>
            </a:r>
            <a:r>
              <a:rPr lang="en-US" sz="1600" dirty="0">
                <a:ea typeface="Calibri"/>
                <a:cs typeface="Times New Roman"/>
              </a:rPr>
              <a:t> </a:t>
            </a:r>
            <a:r>
              <a:rPr lang="en-US" sz="1600" dirty="0">
                <a:solidFill>
                  <a:srgbClr val="0000FF"/>
                </a:solidFill>
                <a:ea typeface="Calibri"/>
                <a:cs typeface="Times New Roman"/>
              </a:rPr>
              <a:t>BY</a:t>
            </a:r>
            <a:r>
              <a:rPr lang="en-US" sz="1600" dirty="0">
                <a:ea typeface="Calibri"/>
                <a:cs typeface="Times New Roman"/>
              </a:rPr>
              <a:t> </a:t>
            </a:r>
            <a:r>
              <a:rPr lang="en-US" sz="1600" dirty="0" err="1">
                <a:solidFill>
                  <a:srgbClr val="008080"/>
                </a:solidFill>
                <a:ea typeface="Calibri"/>
                <a:cs typeface="Times New Roman"/>
              </a:rPr>
              <a:t>sj</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Subj_Name</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en-US" sz="1600" dirty="0">
                <a:solidFill>
                  <a:srgbClr val="0000FF"/>
                </a:solidFill>
                <a:ea typeface="Calibri"/>
                <a:cs typeface="Times New Roman"/>
              </a:rPr>
              <a:t>ORDER</a:t>
            </a:r>
            <a:r>
              <a:rPr lang="en-US" sz="1600" dirty="0">
                <a:ea typeface="Calibri"/>
                <a:cs typeface="Times New Roman"/>
              </a:rPr>
              <a:t> </a:t>
            </a:r>
            <a:r>
              <a:rPr lang="en-US" sz="1600" dirty="0">
                <a:solidFill>
                  <a:srgbClr val="0000FF"/>
                </a:solidFill>
                <a:ea typeface="Calibri"/>
                <a:cs typeface="Times New Roman"/>
              </a:rPr>
              <a:t>BY</a:t>
            </a:r>
            <a:r>
              <a:rPr lang="en-US" sz="1600" dirty="0">
                <a:ea typeface="Calibri"/>
                <a:cs typeface="Times New Roman"/>
              </a:rPr>
              <a:t> </a:t>
            </a:r>
            <a:r>
              <a:rPr lang="en-US" sz="1600" dirty="0">
                <a:solidFill>
                  <a:srgbClr val="FF00FF"/>
                </a:solidFill>
                <a:ea typeface="Calibri"/>
                <a:cs typeface="Times New Roman"/>
              </a:rPr>
              <a:t>MAX</a:t>
            </a:r>
            <a:r>
              <a:rPr lang="en-US" sz="1600" dirty="0">
                <a:solidFill>
                  <a:srgbClr val="808080"/>
                </a:solidFill>
                <a:ea typeface="Calibri"/>
                <a:cs typeface="Times New Roman"/>
              </a:rPr>
              <a:t>(</a:t>
            </a:r>
            <a:r>
              <a:rPr lang="en-US" sz="1600" dirty="0">
                <a:solidFill>
                  <a:srgbClr val="008080"/>
                </a:solidFill>
                <a:ea typeface="Calibri"/>
                <a:cs typeface="Times New Roman"/>
              </a:rPr>
              <a:t>Mark</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a:solidFill>
                  <a:srgbClr val="0000FF"/>
                </a:solidFill>
                <a:ea typeface="Calibri"/>
                <a:cs typeface="Times New Roman"/>
              </a:rPr>
              <a:t>DESC</a:t>
            </a:r>
            <a:endParaRPr lang="ru-RU" sz="1600" dirty="0">
              <a:solidFill>
                <a:srgbClr val="0000FF"/>
              </a:solidFill>
              <a:ea typeface="Calibri"/>
              <a:cs typeface="Times New Roman"/>
            </a:endParaRPr>
          </a:p>
          <a:p>
            <a:pPr>
              <a:lnSpc>
                <a:spcPct val="115000"/>
              </a:lnSpc>
              <a:spcAft>
                <a:spcPts val="0"/>
              </a:spcAft>
            </a:pPr>
            <a:r>
              <a:rPr lang="ru-RU" sz="1600" dirty="0">
                <a:solidFill>
                  <a:srgbClr val="0000FF"/>
                </a:solidFill>
                <a:ea typeface="Calibri"/>
                <a:cs typeface="Times New Roman"/>
              </a:rPr>
              <a:t>	</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endParaRPr lang="ru-RU" sz="1600" dirty="0">
              <a:ea typeface="Calibri"/>
              <a:cs typeface="Times New Roman"/>
            </a:endParaRPr>
          </a:p>
          <a:p>
            <a:pPr>
              <a:lnSpc>
                <a:spcPct val="115000"/>
              </a:lnSpc>
              <a:spcAft>
                <a:spcPts val="0"/>
              </a:spcAft>
            </a:pPr>
            <a:r>
              <a:rPr lang="ru-RU" sz="1600" dirty="0">
                <a:ea typeface="Calibri"/>
                <a:cs typeface="Times New Roman"/>
              </a:rPr>
              <a:t>Вызов функции:</a:t>
            </a:r>
          </a:p>
          <a:p>
            <a:pPr>
              <a:lnSpc>
                <a:spcPct val="115000"/>
              </a:lnSpc>
              <a:spcAft>
                <a:spcPts val="1000"/>
              </a:spcAft>
            </a:pPr>
            <a:r>
              <a:rPr lang="en-US" sz="1600" kern="1000" dirty="0">
                <a:solidFill>
                  <a:srgbClr val="0000FF"/>
                </a:solidFill>
                <a:ea typeface="Calibri"/>
                <a:cs typeface="Times New Roman"/>
              </a:rPr>
              <a:t>SELECT</a:t>
            </a:r>
            <a:r>
              <a:rPr lang="en-US" sz="1600" kern="1000" dirty="0">
                <a:ea typeface="Calibri"/>
                <a:cs typeface="Times New Roman"/>
              </a:rPr>
              <a:t> </a:t>
            </a:r>
            <a:r>
              <a:rPr lang="en-US" sz="1600" kern="1000" dirty="0" err="1">
                <a:solidFill>
                  <a:srgbClr val="008080"/>
                </a:solidFill>
                <a:ea typeface="Calibri"/>
                <a:cs typeface="Times New Roman"/>
              </a:rPr>
              <a:t>Subj_Name</a:t>
            </a:r>
            <a:r>
              <a:rPr lang="en-US" sz="1600" kern="1000" dirty="0">
                <a:ea typeface="Calibri"/>
                <a:cs typeface="Times New Roman"/>
              </a:rPr>
              <a:t> </a:t>
            </a:r>
            <a:r>
              <a:rPr lang="en-US" sz="1600" kern="1000" dirty="0">
                <a:solidFill>
                  <a:srgbClr val="FF0000"/>
                </a:solidFill>
                <a:ea typeface="Calibri"/>
                <a:cs typeface="Times New Roman"/>
              </a:rPr>
              <a:t>'</a:t>
            </a:r>
            <a:r>
              <a:rPr lang="ru-RU" sz="1600" kern="1000" dirty="0">
                <a:solidFill>
                  <a:srgbClr val="FF0000"/>
                </a:solidFill>
                <a:ea typeface="Calibri"/>
                <a:cs typeface="Times New Roman"/>
              </a:rPr>
              <a:t>Название дисциплины</a:t>
            </a:r>
            <a:r>
              <a:rPr lang="en-US" sz="1600" kern="1000" dirty="0">
                <a:solidFill>
                  <a:srgbClr val="FF0000"/>
                </a:solidFill>
                <a:ea typeface="Calibri"/>
                <a:cs typeface="Times New Roman"/>
              </a:rPr>
              <a:t>'</a:t>
            </a:r>
            <a:r>
              <a:rPr lang="en-US" sz="1600" kern="1000" dirty="0">
                <a:ea typeface="Calibri"/>
                <a:cs typeface="Times New Roman"/>
              </a:rPr>
              <a:t> </a:t>
            </a:r>
          </a:p>
          <a:p>
            <a:pPr>
              <a:lnSpc>
                <a:spcPct val="115000"/>
              </a:lnSpc>
              <a:spcAft>
                <a:spcPts val="1000"/>
              </a:spcAft>
            </a:pPr>
            <a:r>
              <a:rPr lang="en-US" sz="1600" kern="1000" dirty="0">
                <a:solidFill>
                  <a:srgbClr val="0000FF"/>
                </a:solidFill>
                <a:ea typeface="Calibri"/>
                <a:cs typeface="Times New Roman"/>
              </a:rPr>
              <a:t>FROM</a:t>
            </a:r>
            <a:r>
              <a:rPr lang="en-US" sz="1600" kern="1000" dirty="0">
                <a:ea typeface="Calibri"/>
                <a:cs typeface="Times New Roman"/>
              </a:rPr>
              <a:t> </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subj_name</a:t>
            </a:r>
            <a:r>
              <a:rPr lang="en-US" sz="1600" dirty="0">
                <a:solidFill>
                  <a:srgbClr val="808080"/>
                </a:solidFill>
                <a:ea typeface="Calibri"/>
                <a:cs typeface="Times New Roman"/>
              </a:rPr>
              <a:t>()</a:t>
            </a:r>
            <a:endParaRPr lang="ru-RU" sz="1600" dirty="0">
              <a:ea typeface="Calibri"/>
              <a:cs typeface="Times New Roman"/>
            </a:endParaRPr>
          </a:p>
          <a:p>
            <a:endParaRPr lang="ru-RU" sz="1600" dirty="0"/>
          </a:p>
        </p:txBody>
      </p:sp>
      <p:pic>
        <p:nvPicPr>
          <p:cNvPr id="248834" name="Picture 2"/>
          <p:cNvPicPr>
            <a:picLocks noChangeAspect="1" noChangeArrowheads="1"/>
          </p:cNvPicPr>
          <p:nvPr/>
        </p:nvPicPr>
        <p:blipFill>
          <a:blip r:embed="rId2" cstate="print"/>
          <a:srcRect/>
          <a:stretch>
            <a:fillRect/>
          </a:stretch>
        </p:blipFill>
        <p:spPr bwMode="auto">
          <a:xfrm>
            <a:off x="3071802" y="5643578"/>
            <a:ext cx="2369763" cy="1057279"/>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472518" cy="654032"/>
          </a:xfrm>
        </p:spPr>
        <p:txBody>
          <a:bodyPr>
            <a:normAutofit/>
          </a:bodyPr>
          <a:lstStyle/>
          <a:p>
            <a:r>
              <a:rPr lang="ru-RU" sz="2500" dirty="0" err="1"/>
              <a:t>Многооператорные</a:t>
            </a:r>
            <a:r>
              <a:rPr lang="ru-RU" sz="2500" dirty="0"/>
              <a:t> функции (</a:t>
            </a:r>
            <a:r>
              <a:rPr lang="ru-RU" sz="2500" dirty="0" err="1"/>
              <a:t>Multi-statement</a:t>
            </a:r>
            <a:r>
              <a:rPr lang="ru-RU" sz="2500" dirty="0"/>
              <a:t>)в </a:t>
            </a:r>
            <a:r>
              <a:rPr lang="en-US" sz="2500" dirty="0"/>
              <a:t>Transact-SQL</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18</a:t>
            </a:fld>
            <a:endParaRPr lang="ru-RU"/>
          </a:p>
        </p:txBody>
      </p:sp>
      <p:sp>
        <p:nvSpPr>
          <p:cNvPr id="4" name="TextBox 3"/>
          <p:cNvSpPr txBox="1"/>
          <p:nvPr/>
        </p:nvSpPr>
        <p:spPr>
          <a:xfrm>
            <a:off x="1142976" y="1357298"/>
            <a:ext cx="6715172" cy="2585323"/>
          </a:xfrm>
          <a:prstGeom prst="rect">
            <a:avLst/>
          </a:prstGeom>
          <a:solidFill>
            <a:schemeClr val="accent5">
              <a:lumMod val="20000"/>
              <a:lumOff val="80000"/>
            </a:schemeClr>
          </a:solidFill>
          <a:ln>
            <a:solidFill>
              <a:srgbClr val="000099"/>
            </a:solidFill>
          </a:ln>
        </p:spPr>
        <p:txBody>
          <a:bodyPr wrap="square" rtlCol="0">
            <a:spAutoFit/>
          </a:bodyPr>
          <a:lstStyle/>
          <a:p>
            <a:r>
              <a:rPr lang="ru-RU" dirty="0"/>
              <a:t>{CREATE | ALTER }FUNCTION [владелец.] </a:t>
            </a:r>
            <a:r>
              <a:rPr lang="ru-RU" dirty="0" err="1"/>
              <a:t>имя_функции</a:t>
            </a:r>
            <a:endParaRPr lang="ru-RU" dirty="0"/>
          </a:p>
          <a:p>
            <a:r>
              <a:rPr lang="ru-RU" dirty="0"/>
              <a:t>([{ @</a:t>
            </a:r>
            <a:r>
              <a:rPr lang="ru-RU" dirty="0" err="1"/>
              <a:t>имя_параметра</a:t>
            </a:r>
            <a:r>
              <a:rPr lang="ru-RU" dirty="0"/>
              <a:t> </a:t>
            </a:r>
            <a:r>
              <a:rPr lang="ru-RU" dirty="0" err="1"/>
              <a:t>скалярый_тип_данных</a:t>
            </a:r>
            <a:r>
              <a:rPr lang="ru-RU" dirty="0"/>
              <a:t> [=</a:t>
            </a:r>
            <a:r>
              <a:rPr lang="en-US" dirty="0"/>
              <a:t>DEFAULT</a:t>
            </a:r>
            <a:r>
              <a:rPr lang="ru-RU" dirty="0"/>
              <a:t>]}[,...</a:t>
            </a:r>
            <a:r>
              <a:rPr lang="en-US" dirty="0"/>
              <a:t>n</a:t>
            </a:r>
            <a:r>
              <a:rPr lang="ru-RU" dirty="0"/>
              <a:t>]])</a:t>
            </a:r>
          </a:p>
          <a:p>
            <a:r>
              <a:rPr lang="en-US" dirty="0"/>
              <a:t>RETURNS</a:t>
            </a:r>
            <a:r>
              <a:rPr lang="ru-RU" dirty="0"/>
              <a:t> @</a:t>
            </a:r>
            <a:r>
              <a:rPr lang="ru-RU" dirty="0" err="1"/>
              <a:t>имя_параметра</a:t>
            </a:r>
            <a:r>
              <a:rPr lang="ru-RU" dirty="0"/>
              <a:t> </a:t>
            </a:r>
            <a:r>
              <a:rPr lang="en-US" dirty="0"/>
              <a:t>TABLE </a:t>
            </a:r>
            <a:r>
              <a:rPr lang="ru-RU" dirty="0"/>
              <a:t> &lt;</a:t>
            </a:r>
            <a:r>
              <a:rPr lang="ru-RU" dirty="0" err="1"/>
              <a:t>определение_таблицы</a:t>
            </a:r>
            <a:r>
              <a:rPr lang="ru-RU" dirty="0"/>
              <a:t>&gt; </a:t>
            </a:r>
          </a:p>
          <a:p>
            <a:r>
              <a:rPr lang="en-US" dirty="0"/>
              <a:t>[WITH {ENCRYPTION | SCHEMABINDING} [,...n]]</a:t>
            </a:r>
            <a:endParaRPr lang="ru-RU" dirty="0"/>
          </a:p>
          <a:p>
            <a:r>
              <a:rPr lang="en-US" dirty="0"/>
              <a:t>[AS]</a:t>
            </a:r>
            <a:endParaRPr lang="ru-RU" dirty="0"/>
          </a:p>
          <a:p>
            <a:r>
              <a:rPr lang="en-US" dirty="0"/>
              <a:t>BEGIN</a:t>
            </a:r>
            <a:endParaRPr lang="ru-RU" dirty="0"/>
          </a:p>
          <a:p>
            <a:r>
              <a:rPr lang="ru-RU" dirty="0"/>
              <a:t>&lt;</a:t>
            </a:r>
            <a:r>
              <a:rPr lang="ru-RU" dirty="0" err="1"/>
              <a:t>тело_функции</a:t>
            </a:r>
            <a:r>
              <a:rPr lang="ru-RU" dirty="0"/>
              <a:t>&gt;</a:t>
            </a:r>
          </a:p>
          <a:p>
            <a:r>
              <a:rPr lang="ru-RU" dirty="0"/>
              <a:t>RETURN </a:t>
            </a:r>
          </a:p>
          <a:p>
            <a:r>
              <a:rPr lang="ru-RU" dirty="0"/>
              <a:t>END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10400" y="6492875"/>
            <a:ext cx="2133600" cy="365125"/>
          </a:xfrm>
        </p:spPr>
        <p:txBody>
          <a:bodyPr/>
          <a:lstStyle/>
          <a:p>
            <a:fld id="{1F87023B-4310-42C4-812D-874FAF4871B2}" type="slidenum">
              <a:rPr lang="ru-RU" smtClean="0"/>
              <a:pPr/>
              <a:t>19</a:t>
            </a:fld>
            <a:endParaRPr lang="ru-RU" dirty="0"/>
          </a:p>
        </p:txBody>
      </p:sp>
      <p:sp>
        <p:nvSpPr>
          <p:cNvPr id="3" name="Заголовок 1"/>
          <p:cNvSpPr txBox="1">
            <a:spLocks/>
          </p:cNvSpPr>
          <p:nvPr/>
        </p:nvSpPr>
        <p:spPr>
          <a:xfrm>
            <a:off x="285720" y="142852"/>
            <a:ext cx="8572560" cy="428604"/>
          </a:xfrm>
          <a:prstGeom prst="rect">
            <a:avLst/>
          </a:prstGeom>
        </p:spPr>
        <p:txBody>
          <a:bodyPr>
            <a:normAutofit lnSpcReduction="10000"/>
          </a:bodyPr>
          <a:lstStyle/>
          <a:p>
            <a:pPr algn="ctr">
              <a:spcBef>
                <a:spcPct val="0"/>
              </a:spcBef>
              <a:defRPr/>
            </a:pPr>
            <a:r>
              <a:rPr lang="ru-RU" sz="2400" dirty="0" err="1"/>
              <a:t>Многооператорные</a:t>
            </a:r>
            <a:r>
              <a:rPr lang="ru-RU" sz="2400" dirty="0"/>
              <a:t> функции (</a:t>
            </a:r>
            <a:r>
              <a:rPr lang="ru-RU" sz="2400" dirty="0" err="1"/>
              <a:t>Multi-statement</a:t>
            </a:r>
            <a:r>
              <a:rPr lang="ru-RU" sz="2400" dirty="0"/>
              <a:t>)в </a:t>
            </a:r>
            <a:r>
              <a:rPr lang="en-US" sz="2400" dirty="0"/>
              <a:t>Transact-SQL</a:t>
            </a:r>
            <a:endParaRPr kumimoji="0" lang="ru-RU" sz="25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428596" y="1000108"/>
            <a:ext cx="6396944" cy="4430957"/>
          </a:xfrm>
          <a:prstGeom prst="rect">
            <a:avLst/>
          </a:prstGeom>
          <a:noFill/>
        </p:spPr>
        <p:txBody>
          <a:bodyPr wrap="none" rtlCol="0">
            <a:spAutoFit/>
          </a:bodyPr>
          <a:lstStyle/>
          <a:p>
            <a:pPr>
              <a:lnSpc>
                <a:spcPct val="115000"/>
              </a:lnSpc>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FUNCTION</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dbo</a:t>
            </a:r>
            <a:r>
              <a:rPr lang="en-US" sz="1600" dirty="0">
                <a:solidFill>
                  <a:srgbClr val="008080"/>
                </a:solidFill>
                <a:ea typeface="Calibri"/>
                <a:cs typeface="Times New Roman"/>
              </a:rPr>
              <a:t>]</a:t>
            </a:r>
            <a:r>
              <a:rPr lang="en-US" sz="1600" dirty="0">
                <a:solidFill>
                  <a:srgbClr val="808080"/>
                </a:solidFill>
                <a:ea typeface="Calibri"/>
                <a:cs typeface="Times New Roman"/>
              </a:rPr>
              <a:t>.</a:t>
            </a:r>
            <a:r>
              <a:rPr lang="en-US" sz="1600" dirty="0">
                <a:solidFill>
                  <a:srgbClr val="008080"/>
                </a:solidFill>
                <a:ea typeface="Calibri"/>
                <a:cs typeface="Times New Roman"/>
              </a:rPr>
              <a:t>[</a:t>
            </a:r>
            <a:r>
              <a:rPr lang="en-US" sz="1600" dirty="0" err="1">
                <a:solidFill>
                  <a:srgbClr val="008080"/>
                </a:solidFill>
                <a:ea typeface="Calibri"/>
                <a:cs typeface="Times New Roman"/>
              </a:rPr>
              <a:t>get_FIO_student</a:t>
            </a:r>
            <a:r>
              <a:rPr lang="en-US" sz="1600" dirty="0">
                <a:solidFill>
                  <a:srgbClr val="008080"/>
                </a:solidFill>
                <a:ea typeface="Calibri"/>
                <a:cs typeface="Times New Roman"/>
              </a:rPr>
              <a:t>]</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RETURNS</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fio_sudent</a:t>
            </a:r>
            <a:r>
              <a:rPr lang="en-US" sz="1600" dirty="0">
                <a:ea typeface="Calibri"/>
                <a:cs typeface="Times New Roman"/>
              </a:rPr>
              <a:t> </a:t>
            </a:r>
            <a:r>
              <a:rPr lang="en-US" sz="1600" dirty="0">
                <a:solidFill>
                  <a:srgbClr val="0000FF"/>
                </a:solidFill>
                <a:ea typeface="Calibri"/>
                <a:cs typeface="Times New Roman"/>
              </a:rPr>
              <a:t>TABLE</a:t>
            </a:r>
            <a:r>
              <a:rPr lang="en-US" sz="1600" dirty="0">
                <a:ea typeface="Calibri"/>
                <a:cs typeface="Times New Roman"/>
              </a:rPr>
              <a:t> </a:t>
            </a:r>
            <a:r>
              <a:rPr lang="en-US" sz="1600" dirty="0">
                <a:solidFill>
                  <a:srgbClr val="808080"/>
                </a:solidFill>
                <a:ea typeface="Calibri"/>
                <a:cs typeface="Times New Roman"/>
              </a:rPr>
              <a:t>(</a:t>
            </a:r>
            <a:r>
              <a:rPr lang="ru-RU" sz="1600" dirty="0">
                <a:solidFill>
                  <a:srgbClr val="008080"/>
                </a:solidFill>
                <a:ea typeface="Calibri"/>
                <a:cs typeface="Times New Roman"/>
              </a:rPr>
              <a:t>ФИО</a:t>
            </a:r>
            <a:r>
              <a:rPr lang="ru-RU" sz="1600" dirty="0">
                <a:ea typeface="Calibri"/>
                <a:cs typeface="Times New Roman"/>
              </a:rPr>
              <a:t> </a:t>
            </a:r>
            <a:r>
              <a:rPr lang="en-US" sz="1600" dirty="0" err="1">
                <a:solidFill>
                  <a:srgbClr val="0000FF"/>
                </a:solidFill>
                <a:ea typeface="Calibri"/>
                <a:cs typeface="Times New Roman"/>
              </a:rPr>
              <a:t>varchar</a:t>
            </a:r>
            <a:r>
              <a:rPr lang="en-US" sz="1600" dirty="0">
                <a:solidFill>
                  <a:srgbClr val="808080"/>
                </a:solidFill>
                <a:ea typeface="Calibri"/>
                <a:cs typeface="Times New Roman"/>
              </a:rPr>
              <a:t>(</a:t>
            </a:r>
            <a:r>
              <a:rPr lang="ru-RU" sz="1600" dirty="0">
                <a:ea typeface="Calibri"/>
                <a:cs typeface="Times New Roman"/>
              </a:rPr>
              <a:t>5</a:t>
            </a:r>
            <a:r>
              <a:rPr lang="en-US" sz="1600" dirty="0">
                <a:ea typeface="Calibri"/>
                <a:cs typeface="Times New Roman"/>
              </a:rPr>
              <a:t>0</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a:solidFill>
                  <a:srgbClr val="008080"/>
                </a:solidFill>
                <a:ea typeface="Calibri"/>
                <a:cs typeface="Times New Roman"/>
              </a:rPr>
              <a:t>[</a:t>
            </a:r>
            <a:r>
              <a:rPr lang="ru-RU" sz="1600" dirty="0">
                <a:solidFill>
                  <a:srgbClr val="008080"/>
                </a:solidFill>
                <a:ea typeface="Calibri"/>
                <a:cs typeface="Times New Roman"/>
              </a:rPr>
              <a:t>Дата рождения</a:t>
            </a:r>
            <a:r>
              <a:rPr lang="en-US" sz="1600" dirty="0">
                <a:solidFill>
                  <a:srgbClr val="008080"/>
                </a:solidFill>
                <a:ea typeface="Calibri"/>
                <a:cs typeface="Times New Roman"/>
              </a:rPr>
              <a:t>]</a:t>
            </a:r>
            <a:r>
              <a:rPr lang="en-US" sz="1600" dirty="0">
                <a:ea typeface="Calibri"/>
                <a:cs typeface="Times New Roman"/>
              </a:rPr>
              <a:t> </a:t>
            </a:r>
            <a:r>
              <a:rPr lang="en-US" sz="1600" dirty="0">
                <a:solidFill>
                  <a:srgbClr val="0000FF"/>
                </a:solidFill>
                <a:ea typeface="Calibri"/>
                <a:cs typeface="Times New Roman"/>
              </a:rPr>
              <a:t>DATE</a:t>
            </a:r>
            <a:r>
              <a:rPr lang="en-US" sz="1600" dirty="0">
                <a:solidFill>
                  <a:srgbClr val="808080"/>
                </a:solidFill>
                <a:ea typeface="Calibri"/>
                <a:cs typeface="Times New Roman"/>
              </a:rPr>
              <a:t>)</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AS</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en-US" sz="1600" dirty="0">
                <a:solidFill>
                  <a:srgbClr val="0000FF"/>
                </a:solidFill>
                <a:ea typeface="Calibri"/>
                <a:cs typeface="Times New Roman"/>
              </a:rPr>
              <a:t>BEGIN</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INSERT</a:t>
            </a:r>
            <a:r>
              <a:rPr lang="en-US" sz="1600" dirty="0">
                <a:ea typeface="Calibri"/>
                <a:cs typeface="Times New Roman"/>
              </a:rPr>
              <a:t> </a:t>
            </a:r>
            <a:r>
              <a:rPr lang="en-US" sz="1600" dirty="0">
                <a:solidFill>
                  <a:srgbClr val="008080"/>
                </a:solidFill>
                <a:ea typeface="Calibri"/>
                <a:cs typeface="Times New Roman"/>
              </a:rPr>
              <a:t>@</a:t>
            </a:r>
            <a:r>
              <a:rPr lang="en-US" sz="1600" dirty="0" err="1">
                <a:solidFill>
                  <a:srgbClr val="008080"/>
                </a:solidFill>
                <a:ea typeface="Calibri"/>
                <a:cs typeface="Times New Roman"/>
              </a:rPr>
              <a:t>fio_sudent</a:t>
            </a:r>
            <a:endParaRPr lang="ru-RU" sz="1600" dirty="0">
              <a:ea typeface="Calibri"/>
              <a:cs typeface="Times New Roman"/>
            </a:endParaRPr>
          </a:p>
          <a:p>
            <a:pPr lvl="1">
              <a:lnSpc>
                <a:spcPct val="115000"/>
              </a:lnSpc>
            </a:pPr>
            <a:r>
              <a:rPr lang="en-US" sz="1600" dirty="0">
                <a:ea typeface="Calibri"/>
                <a:cs typeface="Times New Roman"/>
              </a:rPr>
              <a:t>  </a:t>
            </a: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008080"/>
                </a:solidFill>
                <a:ea typeface="Calibri"/>
                <a:cs typeface="Times New Roman"/>
              </a:rPr>
              <a:t>Surname</a:t>
            </a:r>
            <a:r>
              <a:rPr lang="en-US" sz="1600" dirty="0">
                <a:solidFill>
                  <a:srgbClr val="808080"/>
                </a:solidFill>
                <a:ea typeface="Calibri"/>
                <a:cs typeface="Times New Roman"/>
              </a:rPr>
              <a:t>+</a:t>
            </a:r>
            <a:r>
              <a:rPr lang="en-US" sz="1600" dirty="0">
                <a:solidFill>
                  <a:srgbClr val="FF0000"/>
                </a:solidFill>
                <a:ea typeface="Calibri"/>
                <a:cs typeface="Times New Roman"/>
              </a:rPr>
              <a:t>' '</a:t>
            </a:r>
            <a:r>
              <a:rPr lang="en-US" sz="1600" dirty="0">
                <a:solidFill>
                  <a:srgbClr val="808080"/>
                </a:solidFill>
                <a:ea typeface="Calibri"/>
                <a:cs typeface="Times New Roman"/>
              </a:rPr>
              <a:t>+</a:t>
            </a:r>
            <a:r>
              <a:rPr lang="en-US" sz="1600" dirty="0">
                <a:solidFill>
                  <a:srgbClr val="008080"/>
                </a:solidFill>
                <a:ea typeface="Calibri"/>
                <a:cs typeface="Times New Roman"/>
              </a:rPr>
              <a:t>Name</a:t>
            </a:r>
            <a:r>
              <a:rPr lang="en-US" sz="1600" dirty="0">
                <a:solidFill>
                  <a:srgbClr val="808080"/>
                </a:solidFill>
                <a:ea typeface="Calibri"/>
                <a:cs typeface="Times New Roman"/>
              </a:rPr>
              <a:t>+</a:t>
            </a:r>
            <a:r>
              <a:rPr lang="en-US" sz="1600" dirty="0">
                <a:solidFill>
                  <a:srgbClr val="FF0000"/>
                </a:solidFill>
                <a:ea typeface="Calibri"/>
                <a:cs typeface="Times New Roman"/>
              </a:rPr>
              <a:t>' '</a:t>
            </a:r>
            <a:r>
              <a:rPr lang="en-US" sz="1600" dirty="0">
                <a:solidFill>
                  <a:srgbClr val="808080"/>
                </a:solidFill>
                <a:ea typeface="Calibri"/>
                <a:cs typeface="Times New Roman"/>
              </a:rPr>
              <a:t>+</a:t>
            </a:r>
            <a:r>
              <a:rPr lang="en-US" sz="1600" dirty="0" err="1">
                <a:solidFill>
                  <a:srgbClr val="008080"/>
                </a:solidFill>
                <a:ea typeface="Calibri"/>
                <a:cs typeface="Times New Roman"/>
              </a:rPr>
              <a:t>Middle_name</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a:solidFill>
                  <a:srgbClr val="008080"/>
                </a:solidFill>
                <a:ea typeface="Calibri"/>
                <a:cs typeface="Times New Roman"/>
              </a:rPr>
              <a:t>Birthday</a:t>
            </a:r>
            <a:endParaRPr lang="ru-RU" sz="1600" dirty="0">
              <a:ea typeface="Calibri"/>
              <a:cs typeface="Times New Roman"/>
            </a:endParaRPr>
          </a:p>
          <a:p>
            <a:pPr lvl="1">
              <a:lnSpc>
                <a:spcPct val="115000"/>
              </a:lnSpc>
            </a:pPr>
            <a:r>
              <a:rPr lang="en-US" sz="1600" dirty="0">
                <a:ea typeface="Calibri"/>
                <a:cs typeface="Times New Roman"/>
              </a:rPr>
              <a:t>  </a:t>
            </a:r>
            <a:r>
              <a:rPr lang="en-US" sz="1600" dirty="0">
                <a:solidFill>
                  <a:srgbClr val="0000FF"/>
                </a:solidFill>
                <a:ea typeface="Calibri"/>
                <a:cs typeface="Times New Roman"/>
              </a:rPr>
              <a:t>FROM</a:t>
            </a:r>
            <a:r>
              <a:rPr lang="en-US" sz="1600" dirty="0">
                <a:ea typeface="Calibri"/>
                <a:cs typeface="Times New Roman"/>
              </a:rPr>
              <a:t> </a:t>
            </a:r>
            <a:r>
              <a:rPr lang="en-US" sz="1600" dirty="0">
                <a:solidFill>
                  <a:srgbClr val="008080"/>
                </a:solidFill>
                <a:ea typeface="Calibri"/>
                <a:cs typeface="Times New Roman"/>
              </a:rPr>
              <a:t>Student</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ORDER</a:t>
            </a:r>
            <a:r>
              <a:rPr lang="en-US" sz="1600" dirty="0">
                <a:ea typeface="Calibri"/>
                <a:cs typeface="Times New Roman"/>
              </a:rPr>
              <a:t> </a:t>
            </a:r>
            <a:r>
              <a:rPr lang="en-US" sz="1600" dirty="0">
                <a:solidFill>
                  <a:srgbClr val="0000FF"/>
                </a:solidFill>
                <a:ea typeface="Calibri"/>
                <a:cs typeface="Times New Roman"/>
              </a:rPr>
              <a:t>BY</a:t>
            </a:r>
            <a:r>
              <a:rPr lang="en-US" sz="1600" dirty="0">
                <a:ea typeface="Calibri"/>
                <a:cs typeface="Times New Roman"/>
              </a:rPr>
              <a:t> </a:t>
            </a:r>
            <a:r>
              <a:rPr lang="en-US" sz="1600" dirty="0">
                <a:solidFill>
                  <a:srgbClr val="008080"/>
                </a:solidFill>
                <a:ea typeface="Calibri"/>
                <a:cs typeface="Times New Roman"/>
              </a:rPr>
              <a:t>Surname</a:t>
            </a:r>
            <a:endParaRPr lang="ru-RU" sz="1600" dirty="0">
              <a:ea typeface="Calibri"/>
              <a:cs typeface="Times New Roman"/>
            </a:endParaRPr>
          </a:p>
          <a:p>
            <a:pPr>
              <a:lnSpc>
                <a:spcPct val="115000"/>
              </a:lnSpc>
              <a:spcAft>
                <a:spcPts val="0"/>
              </a:spcAft>
            </a:pPr>
            <a:r>
              <a:rPr lang="en-US" sz="1600" dirty="0">
                <a:solidFill>
                  <a:srgbClr val="0000FF"/>
                </a:solidFill>
                <a:ea typeface="Calibri"/>
                <a:cs typeface="Times New Roman"/>
              </a:rPr>
              <a:t>RETURN</a:t>
            </a:r>
            <a:endParaRPr lang="ru-RU" sz="1600" dirty="0">
              <a:ea typeface="Calibri"/>
              <a:cs typeface="Times New Roman"/>
            </a:endParaRPr>
          </a:p>
          <a:p>
            <a:pPr>
              <a:lnSpc>
                <a:spcPct val="115000"/>
              </a:lnSpc>
              <a:spcAft>
                <a:spcPts val="0"/>
              </a:spcAft>
            </a:pPr>
            <a:r>
              <a:rPr lang="en-US" sz="1600" dirty="0">
                <a:ea typeface="Calibri"/>
                <a:cs typeface="Times New Roman"/>
              </a:rPr>
              <a:t> </a:t>
            </a:r>
            <a:r>
              <a:rPr lang="ru-RU" sz="1600" dirty="0">
                <a:solidFill>
                  <a:srgbClr val="0000FF"/>
                </a:solidFill>
                <a:ea typeface="Calibri"/>
                <a:cs typeface="Times New Roman"/>
              </a:rPr>
              <a:t>END</a:t>
            </a:r>
            <a:endParaRPr lang="ru-RU" sz="1600" dirty="0">
              <a:ea typeface="Calibri"/>
              <a:cs typeface="Times New Roman"/>
            </a:endParaRPr>
          </a:p>
          <a:p>
            <a:pPr>
              <a:lnSpc>
                <a:spcPct val="115000"/>
              </a:lnSpc>
              <a:spcAft>
                <a:spcPts val="0"/>
              </a:spcAft>
            </a:pPr>
            <a:r>
              <a:rPr lang="ru-RU" sz="1600" dirty="0">
                <a:solidFill>
                  <a:srgbClr val="0000FF"/>
                </a:solidFill>
                <a:ea typeface="Calibri"/>
                <a:cs typeface="Times New Roman"/>
              </a:rPr>
              <a:t> </a:t>
            </a:r>
          </a:p>
          <a:p>
            <a:pPr>
              <a:lnSpc>
                <a:spcPct val="115000"/>
              </a:lnSpc>
              <a:spcAft>
                <a:spcPts val="0"/>
              </a:spcAft>
            </a:pPr>
            <a:r>
              <a:rPr lang="ru-RU" sz="1600" dirty="0">
                <a:ea typeface="Calibri"/>
                <a:cs typeface="Times New Roman"/>
              </a:rPr>
              <a:t>Вызов функции </a:t>
            </a:r>
            <a:r>
              <a:rPr lang="en-US" sz="1600" dirty="0" err="1">
                <a:ea typeface="Calibri"/>
                <a:cs typeface="Times New Roman"/>
              </a:rPr>
              <a:t>get_FIO_student</a:t>
            </a:r>
            <a:r>
              <a:rPr lang="ru-RU" sz="1600" dirty="0">
                <a:ea typeface="Calibri"/>
                <a:cs typeface="Times New Roman"/>
              </a:rPr>
              <a:t>:</a:t>
            </a:r>
          </a:p>
          <a:p>
            <a:pPr>
              <a:lnSpc>
                <a:spcPct val="115000"/>
              </a:lnSpc>
              <a:spcAft>
                <a:spcPts val="0"/>
              </a:spcAft>
            </a:pPr>
            <a:r>
              <a:rPr lang="ru-RU" sz="1600" dirty="0">
                <a:solidFill>
                  <a:srgbClr val="0000FF"/>
                </a:solidFill>
                <a:ea typeface="Calibri"/>
                <a:cs typeface="Times New Roman"/>
              </a:rPr>
              <a:t>SELECT</a:t>
            </a:r>
            <a:r>
              <a:rPr lang="ru-RU" sz="1600" dirty="0">
                <a:ea typeface="Calibri"/>
                <a:cs typeface="Times New Roman"/>
              </a:rPr>
              <a:t> </a:t>
            </a:r>
            <a:r>
              <a:rPr lang="ru-RU" sz="1600" dirty="0">
                <a:solidFill>
                  <a:srgbClr val="808080"/>
                </a:solidFill>
                <a:ea typeface="Calibri"/>
                <a:cs typeface="Times New Roman"/>
              </a:rPr>
              <a:t>*</a:t>
            </a:r>
            <a:r>
              <a:rPr lang="ru-RU" sz="1600" dirty="0">
                <a:ea typeface="Calibri"/>
                <a:cs typeface="Times New Roman"/>
              </a:rPr>
              <a:t> </a:t>
            </a:r>
          </a:p>
          <a:p>
            <a:pPr>
              <a:lnSpc>
                <a:spcPct val="115000"/>
              </a:lnSpc>
              <a:spcAft>
                <a:spcPts val="1000"/>
              </a:spcAft>
            </a:pPr>
            <a:r>
              <a:rPr lang="ru-RU" sz="1600" dirty="0">
                <a:solidFill>
                  <a:srgbClr val="0000FF"/>
                </a:solidFill>
                <a:ea typeface="Calibri"/>
                <a:cs typeface="Times New Roman"/>
              </a:rPr>
              <a:t>FROM</a:t>
            </a:r>
            <a:r>
              <a:rPr lang="ru-RU" sz="1600" dirty="0">
                <a:ea typeface="Calibri"/>
                <a:cs typeface="Times New Roman"/>
              </a:rPr>
              <a:t> </a:t>
            </a:r>
            <a:r>
              <a:rPr lang="ru-RU" sz="1600" dirty="0" err="1">
                <a:solidFill>
                  <a:srgbClr val="008080"/>
                </a:solidFill>
                <a:ea typeface="Calibri"/>
                <a:cs typeface="Times New Roman"/>
              </a:rPr>
              <a:t>get_FIO_student</a:t>
            </a:r>
            <a:r>
              <a:rPr lang="ru-RU" sz="1600" dirty="0">
                <a:solidFill>
                  <a:srgbClr val="808080"/>
                </a:solidFill>
                <a:ea typeface="Calibri"/>
                <a:cs typeface="Times New Roman"/>
              </a:rPr>
              <a:t>()</a:t>
            </a:r>
            <a:endParaRPr lang="ru-RU" sz="1600" dirty="0">
              <a:ea typeface="Calibri"/>
              <a:cs typeface="Times New Roman"/>
            </a:endParaRPr>
          </a:p>
          <a:p>
            <a:endParaRPr lang="ru-RU" sz="1600" dirty="0"/>
          </a:p>
        </p:txBody>
      </p:sp>
      <p:pic>
        <p:nvPicPr>
          <p:cNvPr id="249858" name="Picture 2"/>
          <p:cNvPicPr>
            <a:picLocks noChangeAspect="1" noChangeArrowheads="1"/>
          </p:cNvPicPr>
          <p:nvPr/>
        </p:nvPicPr>
        <p:blipFill>
          <a:blip r:embed="rId2" cstate="print"/>
          <a:srcRect/>
          <a:stretch>
            <a:fillRect/>
          </a:stretch>
        </p:blipFill>
        <p:spPr bwMode="auto">
          <a:xfrm>
            <a:off x="3643306" y="4143380"/>
            <a:ext cx="4755734" cy="2329054"/>
          </a:xfrm>
          <a:prstGeom prst="rect">
            <a:avLst/>
          </a:prstGeom>
          <a:noFill/>
          <a:ln w="9525">
            <a:noFill/>
            <a:miter lim="800000"/>
            <a:headEnd/>
            <a:tailEnd/>
          </a:ln>
          <a:effectLst/>
        </p:spPr>
      </p:pic>
      <p:sp>
        <p:nvSpPr>
          <p:cNvPr id="6" name="TextBox 5"/>
          <p:cNvSpPr txBox="1"/>
          <p:nvPr/>
        </p:nvSpPr>
        <p:spPr>
          <a:xfrm>
            <a:off x="285720" y="642918"/>
            <a:ext cx="8684237" cy="338554"/>
          </a:xfrm>
          <a:prstGeom prst="rect">
            <a:avLst/>
          </a:prstGeom>
          <a:noFill/>
        </p:spPr>
        <p:txBody>
          <a:bodyPr wrap="none" rtlCol="0">
            <a:spAutoFit/>
          </a:bodyPr>
          <a:lstStyle/>
          <a:p>
            <a:r>
              <a:rPr lang="ru-RU" sz="1600" b="1" dirty="0"/>
              <a:t>Пример</a:t>
            </a:r>
            <a:r>
              <a:rPr lang="ru-RU" sz="1600" dirty="0"/>
              <a:t>. Функция (типа </a:t>
            </a:r>
            <a:r>
              <a:rPr lang="ru-RU" sz="1600" dirty="0" err="1"/>
              <a:t>multi-statement</a:t>
            </a:r>
            <a:r>
              <a:rPr lang="ru-RU" sz="1600" dirty="0"/>
              <a:t>), которая выведет список студентов и их даты рождения:</a:t>
            </a: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11156"/>
          </a:xfrm>
        </p:spPr>
        <p:txBody>
          <a:bodyPr>
            <a:normAutofit/>
          </a:bodyPr>
          <a:lstStyle/>
          <a:p>
            <a:pPr lvl="0"/>
            <a:r>
              <a:rPr lang="ru-RU" sz="2500" dirty="0"/>
              <a:t>Удаление пользовательской функции в </a:t>
            </a:r>
            <a:r>
              <a:rPr lang="en-US" sz="2500" dirty="0"/>
              <a:t>Transact</a:t>
            </a:r>
            <a:r>
              <a:rPr lang="en-US" sz="2500" dirty="0">
                <a:cs typeface="Calibri"/>
                <a:sym typeface="Symbol"/>
              </a:rPr>
              <a:t>−</a:t>
            </a:r>
            <a:r>
              <a:rPr lang="en-US" sz="2500" dirty="0"/>
              <a:t>SQL</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20</a:t>
            </a:fld>
            <a:endParaRPr lang="ru-RU"/>
          </a:p>
        </p:txBody>
      </p:sp>
      <p:sp>
        <p:nvSpPr>
          <p:cNvPr id="4" name="TextBox 3"/>
          <p:cNvSpPr txBox="1"/>
          <p:nvPr/>
        </p:nvSpPr>
        <p:spPr>
          <a:xfrm>
            <a:off x="857224" y="1285860"/>
            <a:ext cx="5715040" cy="646331"/>
          </a:xfrm>
          <a:prstGeom prst="rect">
            <a:avLst/>
          </a:prstGeom>
          <a:solidFill>
            <a:schemeClr val="accent5">
              <a:lumMod val="40000"/>
              <a:lumOff val="60000"/>
            </a:schemeClr>
          </a:solidFill>
          <a:ln>
            <a:solidFill>
              <a:schemeClr val="accent1"/>
            </a:solidFill>
          </a:ln>
        </p:spPr>
        <p:txBody>
          <a:bodyPr wrap="square" rtlCol="0">
            <a:spAutoFit/>
          </a:bodyPr>
          <a:lstStyle/>
          <a:p>
            <a:r>
              <a:rPr lang="ru-RU" dirty="0"/>
              <a:t>Синтаксис удаления функции:</a:t>
            </a:r>
          </a:p>
          <a:p>
            <a:r>
              <a:rPr lang="ru-RU" dirty="0"/>
              <a:t>DROP FUNCTION {[владелец.] </a:t>
            </a:r>
            <a:r>
              <a:rPr lang="ru-RU" dirty="0" err="1"/>
              <a:t>имя_функции</a:t>
            </a:r>
            <a:r>
              <a:rPr lang="ru-RU" dirty="0"/>
              <a:t>} [,...</a:t>
            </a:r>
            <a:r>
              <a:rPr lang="ru-RU" dirty="0" err="1"/>
              <a:t>n</a:t>
            </a:r>
            <a:r>
              <a:rPr lang="ru-RU" dirty="0"/>
              <a:t>]</a:t>
            </a:r>
            <a:r>
              <a:rPr lang="en-US" dirty="0"/>
              <a:t>]</a:t>
            </a:r>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654032"/>
          </a:xfrm>
        </p:spPr>
        <p:txBody>
          <a:bodyPr>
            <a:normAutofit/>
          </a:bodyPr>
          <a:lstStyle/>
          <a:p>
            <a:r>
              <a:rPr lang="ru-RU" sz="2500" dirty="0"/>
              <a:t>Пример создания табличной функции</a:t>
            </a:r>
          </a:p>
        </p:txBody>
      </p:sp>
      <p:sp>
        <p:nvSpPr>
          <p:cNvPr id="3" name="Номер слайда 2"/>
          <p:cNvSpPr>
            <a:spLocks noGrp="1"/>
          </p:cNvSpPr>
          <p:nvPr>
            <p:ph type="sldNum" sz="quarter" idx="12"/>
          </p:nvPr>
        </p:nvSpPr>
        <p:spPr/>
        <p:txBody>
          <a:bodyPr/>
          <a:lstStyle/>
          <a:p>
            <a:fld id="{1F87023B-4310-42C4-812D-874FAF4871B2}" type="slidenum">
              <a:rPr lang="ru-RU" smtClean="0"/>
              <a:pPr/>
              <a:t>21</a:t>
            </a:fld>
            <a:endParaRPr lang="ru-RU"/>
          </a:p>
        </p:txBody>
      </p:sp>
      <p:sp>
        <p:nvSpPr>
          <p:cNvPr id="4" name="TextBox 3"/>
          <p:cNvSpPr txBox="1"/>
          <p:nvPr/>
        </p:nvSpPr>
        <p:spPr>
          <a:xfrm>
            <a:off x="357159" y="642918"/>
            <a:ext cx="8501121" cy="5262979"/>
          </a:xfrm>
          <a:prstGeom prst="rect">
            <a:avLst/>
          </a:prstGeom>
          <a:noFill/>
        </p:spPr>
        <p:txBody>
          <a:bodyPr wrap="square" rtlCol="0">
            <a:spAutoFit/>
          </a:bodyPr>
          <a:lstStyle/>
          <a:p>
            <a:r>
              <a:rPr lang="ru-RU" sz="1600" dirty="0"/>
              <a:t>Создание функции для расчета количества различных оценок и определения их среднего значения по каждому студенту. </a:t>
            </a:r>
          </a:p>
          <a:p>
            <a:pPr>
              <a:spcAft>
                <a:spcPts val="0"/>
              </a:spcAft>
            </a:pPr>
            <a:endParaRPr lang="ru-RU" sz="1600" dirty="0">
              <a:solidFill>
                <a:srgbClr val="0000FF"/>
              </a:solidFill>
              <a:latin typeface="Times New Roman"/>
              <a:ea typeface="Calibri"/>
              <a:cs typeface="Times New Roman"/>
            </a:endParaRPr>
          </a:p>
          <a:p>
            <a:pPr>
              <a:spcAft>
                <a:spcPts val="0"/>
              </a:spcAft>
            </a:pPr>
            <a:r>
              <a:rPr lang="en-US" sz="1600" dirty="0">
                <a:solidFill>
                  <a:srgbClr val="0000FF"/>
                </a:solidFill>
                <a:latin typeface="Times New Roman"/>
                <a:ea typeface="Calibri"/>
                <a:cs typeface="Times New Roman"/>
              </a:rPr>
              <a:t>CREATE</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FUNCTION</a:t>
            </a:r>
            <a:r>
              <a:rPr lang="en-US" sz="1600" dirty="0">
                <a:latin typeface="Times New Roman"/>
                <a:ea typeface="Calibri"/>
                <a:cs typeface="Times New Roman"/>
              </a:rPr>
              <a:t> </a:t>
            </a:r>
            <a:r>
              <a:rPr lang="en-US" sz="1600" dirty="0" err="1">
                <a:solidFill>
                  <a:srgbClr val="008080"/>
                </a:solidFill>
                <a:latin typeface="Times New Roman"/>
                <a:ea typeface="Calibri"/>
                <a:cs typeface="Times New Roman"/>
              </a:rPr>
              <a:t>dbo</a:t>
            </a:r>
            <a:r>
              <a:rPr lang="en-US" sz="1600" dirty="0" err="1">
                <a:solidFill>
                  <a:srgbClr val="808080"/>
                </a:solidFill>
                <a:latin typeface="Times New Roman"/>
                <a:ea typeface="Calibri"/>
                <a:cs typeface="Times New Roman"/>
              </a:rPr>
              <a:t>.</a:t>
            </a:r>
            <a:r>
              <a:rPr lang="en-US" sz="1600" dirty="0" err="1">
                <a:solidFill>
                  <a:srgbClr val="008080"/>
                </a:solidFill>
                <a:latin typeface="Times New Roman"/>
                <a:ea typeface="Calibri"/>
                <a:cs typeface="Times New Roman"/>
              </a:rPr>
              <a:t>Avg_mark</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en-US" sz="1600" dirty="0">
                <a:solidFill>
                  <a:srgbClr val="0000FF"/>
                </a:solidFill>
                <a:latin typeface="Times New Roman"/>
                <a:ea typeface="Calibri"/>
                <a:cs typeface="Times New Roman"/>
              </a:rPr>
              <a:t>RETURNS</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TABLE</a:t>
            </a:r>
            <a:endParaRPr lang="ru-RU" sz="1600" dirty="0">
              <a:latin typeface="Times New Roman"/>
              <a:ea typeface="Calibri"/>
              <a:cs typeface="Times New Roman"/>
            </a:endParaRPr>
          </a:p>
          <a:p>
            <a:pPr>
              <a:spcAft>
                <a:spcPts val="0"/>
              </a:spcAft>
            </a:pPr>
            <a:r>
              <a:rPr lang="en-US" sz="1600" dirty="0">
                <a:solidFill>
                  <a:srgbClr val="0000FF"/>
                </a:solidFill>
                <a:latin typeface="Times New Roman"/>
                <a:ea typeface="Calibri"/>
                <a:cs typeface="Times New Roman"/>
              </a:rPr>
              <a:t>AS</a:t>
            </a:r>
            <a:endParaRPr lang="ru-RU" sz="1600" dirty="0">
              <a:latin typeface="Times New Roman"/>
              <a:ea typeface="Calibri"/>
              <a:cs typeface="Times New Roman"/>
            </a:endParaRPr>
          </a:p>
          <a:p>
            <a:pPr>
              <a:spcAft>
                <a:spcPts val="0"/>
              </a:spcAft>
            </a:pPr>
            <a:r>
              <a:rPr lang="en-US" sz="1600" dirty="0">
                <a:solidFill>
                  <a:srgbClr val="0000FF"/>
                </a:solidFill>
                <a:latin typeface="Times New Roman"/>
                <a:ea typeface="Calibri"/>
                <a:cs typeface="Times New Roman"/>
              </a:rPr>
              <a:t>RETURN</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ru-RU" sz="1600" dirty="0">
                <a:solidFill>
                  <a:srgbClr val="0000FF"/>
                </a:solidFill>
                <a:latin typeface="Times New Roman"/>
                <a:ea typeface="Calibri"/>
                <a:cs typeface="Times New Roman"/>
              </a:rPr>
              <a:t>	</a:t>
            </a:r>
            <a:r>
              <a:rPr lang="en-US" sz="1600" dirty="0">
                <a:solidFill>
                  <a:srgbClr val="0000FF"/>
                </a:solidFill>
                <a:latin typeface="Times New Roman"/>
                <a:ea typeface="Calibri"/>
                <a:cs typeface="Times New Roman"/>
              </a:rPr>
              <a:t>SELECT</a:t>
            </a:r>
            <a:r>
              <a:rPr lang="en-US" sz="1600" dirty="0">
                <a:latin typeface="Times New Roman"/>
                <a:ea typeface="Calibri"/>
                <a:cs typeface="Times New Roman"/>
              </a:rPr>
              <a:t> </a:t>
            </a:r>
            <a:r>
              <a:rPr lang="en-US" sz="1600" dirty="0" err="1">
                <a:solidFill>
                  <a:srgbClr val="008080"/>
                </a:solidFill>
                <a:latin typeface="Times New Roman"/>
                <a:ea typeface="Calibri"/>
                <a:cs typeface="Times New Roman"/>
              </a:rPr>
              <a:t>Student_Id</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r>
              <a:rPr lang="en-US" sz="1600" dirty="0">
                <a:solidFill>
                  <a:srgbClr val="FF00FF"/>
                </a:solidFill>
                <a:latin typeface="Times New Roman"/>
                <a:ea typeface="Calibri"/>
                <a:cs typeface="Times New Roman"/>
              </a:rPr>
              <a:t>AVG</a:t>
            </a:r>
            <a:r>
              <a:rPr lang="en-US" sz="1600" dirty="0">
                <a:solidFill>
                  <a:srgbClr val="808080"/>
                </a:solidFill>
                <a:latin typeface="Times New Roman"/>
                <a:ea typeface="Calibri"/>
                <a:cs typeface="Times New Roman"/>
              </a:rPr>
              <a:t>(</a:t>
            </a:r>
            <a:r>
              <a:rPr lang="en-US" sz="1600" dirty="0">
                <a:solidFill>
                  <a:srgbClr val="008080"/>
                </a:solidFill>
                <a:latin typeface="Times New Roman"/>
                <a:ea typeface="Calibri"/>
                <a:cs typeface="Times New Roman"/>
              </a:rPr>
              <a:t>Mark</a:t>
            </a:r>
            <a:r>
              <a:rPr lang="en-US" sz="1600" dirty="0">
                <a:solidFill>
                  <a:srgbClr val="808080"/>
                </a:solidFill>
                <a:latin typeface="Times New Roman"/>
                <a:ea typeface="Calibri"/>
                <a:cs typeface="Times New Roman"/>
              </a:rPr>
              <a:t>)</a:t>
            </a:r>
            <a:r>
              <a:rPr lang="ru-RU" sz="1600" dirty="0">
                <a:solidFill>
                  <a:srgbClr val="808080"/>
                </a:solidFill>
                <a:latin typeface="Times New Roman"/>
                <a:ea typeface="Calibri"/>
                <a:cs typeface="Times New Roman"/>
              </a:rPr>
              <a:t> </a:t>
            </a:r>
            <a:r>
              <a:rPr lang="en-US" sz="1600" dirty="0" err="1">
                <a:solidFill>
                  <a:srgbClr val="008080"/>
                </a:solidFill>
                <a:latin typeface="Times New Roman"/>
                <a:ea typeface="Calibri"/>
                <a:cs typeface="Times New Roman"/>
              </a:rPr>
              <a:t>AVG_mark</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en-US" sz="1600" dirty="0">
                <a:latin typeface="Times New Roman"/>
                <a:ea typeface="Calibri"/>
                <a:cs typeface="Times New Roman"/>
              </a:rPr>
              <a:t>	</a:t>
            </a:r>
            <a:r>
              <a:rPr lang="ru-RU" sz="1600" dirty="0">
                <a:latin typeface="Times New Roman"/>
                <a:ea typeface="Calibri"/>
                <a:cs typeface="Times New Roman"/>
              </a:rPr>
              <a:t>                </a:t>
            </a:r>
            <a:r>
              <a:rPr lang="en-US" sz="1600" dirty="0">
                <a:solidFill>
                  <a:srgbClr val="FF00FF"/>
                </a:solidFill>
                <a:latin typeface="Times New Roman"/>
                <a:ea typeface="Calibri"/>
                <a:cs typeface="Times New Roman"/>
              </a:rPr>
              <a:t>SUM</a:t>
            </a:r>
            <a:r>
              <a:rPr lang="en-US" sz="1600" dirty="0">
                <a:solidFill>
                  <a:srgbClr val="808080"/>
                </a:solidFill>
                <a:latin typeface="Times New Roman"/>
                <a:ea typeface="Calibri"/>
                <a:cs typeface="Times New Roman"/>
              </a:rPr>
              <a:t>(</a:t>
            </a:r>
            <a:r>
              <a:rPr lang="en-US" sz="1600" dirty="0">
                <a:solidFill>
                  <a:srgbClr val="0000FF"/>
                </a:solidFill>
                <a:latin typeface="Times New Roman"/>
                <a:ea typeface="Calibri"/>
                <a:cs typeface="Times New Roman"/>
              </a:rPr>
              <a:t>CASE</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WHEN</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Mark</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2 </a:t>
            </a:r>
            <a:r>
              <a:rPr lang="en-US" sz="1600" dirty="0">
                <a:solidFill>
                  <a:srgbClr val="0000FF"/>
                </a:solidFill>
                <a:latin typeface="Times New Roman"/>
                <a:ea typeface="Calibri"/>
                <a:cs typeface="Times New Roman"/>
              </a:rPr>
              <a:t>THEN</a:t>
            </a:r>
            <a:r>
              <a:rPr lang="en-US" sz="1600" dirty="0">
                <a:latin typeface="Times New Roman"/>
                <a:ea typeface="Calibri"/>
                <a:cs typeface="Times New Roman"/>
              </a:rPr>
              <a:t> 1 </a:t>
            </a:r>
            <a:r>
              <a:rPr lang="en-US" sz="1600" dirty="0">
                <a:solidFill>
                  <a:srgbClr val="0000FF"/>
                </a:solidFill>
                <a:latin typeface="Times New Roman"/>
                <a:ea typeface="Calibri"/>
                <a:cs typeface="Times New Roman"/>
              </a:rPr>
              <a:t>ELSE</a:t>
            </a:r>
            <a:r>
              <a:rPr lang="en-US" sz="1600" dirty="0">
                <a:latin typeface="Times New Roman"/>
                <a:ea typeface="Calibri"/>
                <a:cs typeface="Times New Roman"/>
              </a:rPr>
              <a:t> 0 </a:t>
            </a:r>
            <a:r>
              <a:rPr lang="en-US" sz="1600" dirty="0">
                <a:solidFill>
                  <a:srgbClr val="0000FF"/>
                </a:solidFill>
                <a:latin typeface="Times New Roman"/>
                <a:ea typeface="Calibri"/>
                <a:cs typeface="Times New Roman"/>
              </a:rPr>
              <a:t>END</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Count_2</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endParaRPr lang="ru-RU" sz="1600" dirty="0">
              <a:latin typeface="Times New Roman"/>
              <a:ea typeface="Calibri"/>
              <a:cs typeface="Times New Roman"/>
            </a:endParaRPr>
          </a:p>
          <a:p>
            <a:pPr>
              <a:spcAft>
                <a:spcPts val="0"/>
              </a:spcAft>
            </a:pPr>
            <a:r>
              <a:rPr lang="en-US" sz="1600" dirty="0">
                <a:latin typeface="Times New Roman"/>
                <a:ea typeface="Calibri"/>
                <a:cs typeface="Times New Roman"/>
              </a:rPr>
              <a:t>	</a:t>
            </a:r>
            <a:r>
              <a:rPr lang="ru-RU" sz="1600" dirty="0">
                <a:latin typeface="Times New Roman"/>
                <a:ea typeface="Calibri"/>
                <a:cs typeface="Times New Roman"/>
              </a:rPr>
              <a:t>                </a:t>
            </a:r>
            <a:r>
              <a:rPr lang="en-US" sz="1600" dirty="0">
                <a:solidFill>
                  <a:srgbClr val="FF00FF"/>
                </a:solidFill>
                <a:latin typeface="Times New Roman"/>
                <a:ea typeface="Calibri"/>
                <a:cs typeface="Times New Roman"/>
              </a:rPr>
              <a:t>SUM</a:t>
            </a:r>
            <a:r>
              <a:rPr lang="en-US" sz="1600" dirty="0">
                <a:solidFill>
                  <a:srgbClr val="808080"/>
                </a:solidFill>
                <a:latin typeface="Times New Roman"/>
                <a:ea typeface="Calibri"/>
                <a:cs typeface="Times New Roman"/>
              </a:rPr>
              <a:t>(</a:t>
            </a:r>
            <a:r>
              <a:rPr lang="en-US" sz="1600" dirty="0">
                <a:solidFill>
                  <a:srgbClr val="0000FF"/>
                </a:solidFill>
                <a:latin typeface="Times New Roman"/>
                <a:ea typeface="Calibri"/>
                <a:cs typeface="Times New Roman"/>
              </a:rPr>
              <a:t>CASE</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WHEN</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Mark</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3 </a:t>
            </a:r>
            <a:r>
              <a:rPr lang="en-US" sz="1600" dirty="0">
                <a:solidFill>
                  <a:srgbClr val="0000FF"/>
                </a:solidFill>
                <a:latin typeface="Times New Roman"/>
                <a:ea typeface="Calibri"/>
                <a:cs typeface="Times New Roman"/>
              </a:rPr>
              <a:t>THEN</a:t>
            </a:r>
            <a:r>
              <a:rPr lang="en-US" sz="1600" dirty="0">
                <a:latin typeface="Times New Roman"/>
                <a:ea typeface="Calibri"/>
                <a:cs typeface="Times New Roman"/>
              </a:rPr>
              <a:t> 1 </a:t>
            </a:r>
            <a:r>
              <a:rPr lang="en-US" sz="1600" dirty="0">
                <a:solidFill>
                  <a:srgbClr val="0000FF"/>
                </a:solidFill>
                <a:latin typeface="Times New Roman"/>
                <a:ea typeface="Calibri"/>
                <a:cs typeface="Times New Roman"/>
              </a:rPr>
              <a:t>ELSE</a:t>
            </a:r>
            <a:r>
              <a:rPr lang="en-US" sz="1600" dirty="0">
                <a:latin typeface="Times New Roman"/>
                <a:ea typeface="Calibri"/>
                <a:cs typeface="Times New Roman"/>
              </a:rPr>
              <a:t> 0 </a:t>
            </a:r>
            <a:r>
              <a:rPr lang="en-US" sz="1600" dirty="0">
                <a:solidFill>
                  <a:srgbClr val="0000FF"/>
                </a:solidFill>
                <a:latin typeface="Times New Roman"/>
                <a:ea typeface="Calibri"/>
                <a:cs typeface="Times New Roman"/>
              </a:rPr>
              <a:t>END</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Count_3</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ru-RU" sz="1600" dirty="0">
                <a:solidFill>
                  <a:srgbClr val="FF00FF"/>
                </a:solidFill>
                <a:latin typeface="Times New Roman"/>
                <a:ea typeface="Calibri"/>
                <a:cs typeface="Times New Roman"/>
              </a:rPr>
              <a:t>	                </a:t>
            </a:r>
            <a:r>
              <a:rPr lang="en-US" sz="1600" dirty="0">
                <a:solidFill>
                  <a:srgbClr val="FF00FF"/>
                </a:solidFill>
                <a:latin typeface="Times New Roman"/>
                <a:ea typeface="Calibri"/>
                <a:cs typeface="Times New Roman"/>
              </a:rPr>
              <a:t>SUM</a:t>
            </a:r>
            <a:r>
              <a:rPr lang="en-US" sz="1600" dirty="0">
                <a:solidFill>
                  <a:srgbClr val="808080"/>
                </a:solidFill>
                <a:latin typeface="Times New Roman"/>
                <a:ea typeface="Calibri"/>
                <a:cs typeface="Times New Roman"/>
              </a:rPr>
              <a:t>(</a:t>
            </a:r>
            <a:r>
              <a:rPr lang="en-US" sz="1600" dirty="0">
                <a:solidFill>
                  <a:srgbClr val="0000FF"/>
                </a:solidFill>
                <a:latin typeface="Times New Roman"/>
                <a:ea typeface="Calibri"/>
                <a:cs typeface="Times New Roman"/>
              </a:rPr>
              <a:t>CASE</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WHEN</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Mark</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4 </a:t>
            </a:r>
            <a:r>
              <a:rPr lang="en-US" sz="1600" dirty="0">
                <a:solidFill>
                  <a:srgbClr val="0000FF"/>
                </a:solidFill>
                <a:latin typeface="Times New Roman"/>
                <a:ea typeface="Calibri"/>
                <a:cs typeface="Times New Roman"/>
              </a:rPr>
              <a:t>THEN</a:t>
            </a:r>
            <a:r>
              <a:rPr lang="en-US" sz="1600" dirty="0">
                <a:latin typeface="Times New Roman"/>
                <a:ea typeface="Calibri"/>
                <a:cs typeface="Times New Roman"/>
              </a:rPr>
              <a:t> 1 </a:t>
            </a:r>
            <a:r>
              <a:rPr lang="en-US" sz="1600" dirty="0">
                <a:solidFill>
                  <a:srgbClr val="0000FF"/>
                </a:solidFill>
                <a:latin typeface="Times New Roman"/>
                <a:ea typeface="Calibri"/>
                <a:cs typeface="Times New Roman"/>
              </a:rPr>
              <a:t>ELSE</a:t>
            </a:r>
            <a:r>
              <a:rPr lang="en-US" sz="1600" dirty="0">
                <a:latin typeface="Times New Roman"/>
                <a:ea typeface="Calibri"/>
                <a:cs typeface="Times New Roman"/>
              </a:rPr>
              <a:t> 0 </a:t>
            </a:r>
            <a:r>
              <a:rPr lang="en-US" sz="1600" dirty="0">
                <a:solidFill>
                  <a:srgbClr val="0000FF"/>
                </a:solidFill>
                <a:latin typeface="Times New Roman"/>
                <a:ea typeface="Calibri"/>
                <a:cs typeface="Times New Roman"/>
              </a:rPr>
              <a:t>END</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Count_4</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en-US" sz="1600" dirty="0">
                <a:latin typeface="Times New Roman"/>
                <a:ea typeface="Calibri"/>
                <a:cs typeface="Times New Roman"/>
              </a:rPr>
              <a:t>	</a:t>
            </a:r>
            <a:r>
              <a:rPr lang="ru-RU" sz="1600" dirty="0">
                <a:latin typeface="Times New Roman"/>
                <a:ea typeface="Calibri"/>
                <a:cs typeface="Times New Roman"/>
              </a:rPr>
              <a:t>                </a:t>
            </a:r>
            <a:r>
              <a:rPr lang="en-US" sz="1600" dirty="0">
                <a:solidFill>
                  <a:srgbClr val="FF00FF"/>
                </a:solidFill>
                <a:latin typeface="Times New Roman"/>
                <a:ea typeface="Calibri"/>
                <a:cs typeface="Times New Roman"/>
              </a:rPr>
              <a:t>SUM</a:t>
            </a:r>
            <a:r>
              <a:rPr lang="en-US" sz="1600" dirty="0">
                <a:solidFill>
                  <a:srgbClr val="808080"/>
                </a:solidFill>
                <a:latin typeface="Times New Roman"/>
                <a:ea typeface="Calibri"/>
                <a:cs typeface="Times New Roman"/>
              </a:rPr>
              <a:t>(</a:t>
            </a:r>
            <a:r>
              <a:rPr lang="en-US" sz="1600" dirty="0">
                <a:solidFill>
                  <a:srgbClr val="0000FF"/>
                </a:solidFill>
                <a:latin typeface="Times New Roman"/>
                <a:ea typeface="Calibri"/>
                <a:cs typeface="Times New Roman"/>
              </a:rPr>
              <a:t>CASE</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WHEN</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Mark</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5 </a:t>
            </a:r>
            <a:r>
              <a:rPr lang="en-US" sz="1600" dirty="0">
                <a:solidFill>
                  <a:srgbClr val="0000FF"/>
                </a:solidFill>
                <a:latin typeface="Times New Roman"/>
                <a:ea typeface="Calibri"/>
                <a:cs typeface="Times New Roman"/>
              </a:rPr>
              <a:t>THEN</a:t>
            </a:r>
            <a:r>
              <a:rPr lang="en-US" sz="1600" dirty="0">
                <a:latin typeface="Times New Roman"/>
                <a:ea typeface="Calibri"/>
                <a:cs typeface="Times New Roman"/>
              </a:rPr>
              <a:t> 1 </a:t>
            </a:r>
            <a:r>
              <a:rPr lang="en-US" sz="1600" dirty="0">
                <a:solidFill>
                  <a:srgbClr val="0000FF"/>
                </a:solidFill>
                <a:latin typeface="Times New Roman"/>
                <a:ea typeface="Calibri"/>
                <a:cs typeface="Times New Roman"/>
              </a:rPr>
              <a:t>ELSE</a:t>
            </a:r>
            <a:r>
              <a:rPr lang="en-US" sz="1600" dirty="0">
                <a:latin typeface="Times New Roman"/>
                <a:ea typeface="Calibri"/>
                <a:cs typeface="Times New Roman"/>
              </a:rPr>
              <a:t> 0 </a:t>
            </a:r>
            <a:r>
              <a:rPr lang="en-US" sz="1600" dirty="0">
                <a:solidFill>
                  <a:srgbClr val="0000FF"/>
                </a:solidFill>
                <a:latin typeface="Times New Roman"/>
                <a:ea typeface="Calibri"/>
                <a:cs typeface="Times New Roman"/>
              </a:rPr>
              <a:t>END</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Count_5</a:t>
            </a:r>
            <a:r>
              <a:rPr lang="en-US" sz="1600" dirty="0">
                <a:latin typeface="Times New Roman"/>
                <a:ea typeface="Calibri"/>
                <a:cs typeface="Times New Roman"/>
              </a:rPr>
              <a:t>		           </a:t>
            </a:r>
            <a:endParaRPr lang="ru-RU" sz="1600" dirty="0">
              <a:latin typeface="Times New Roman"/>
              <a:ea typeface="Calibri"/>
              <a:cs typeface="Times New Roman"/>
            </a:endParaRPr>
          </a:p>
          <a:p>
            <a:pPr>
              <a:spcAft>
                <a:spcPts val="0"/>
              </a:spcAft>
            </a:pPr>
            <a:r>
              <a:rPr lang="ru-RU" sz="1600" dirty="0">
                <a:solidFill>
                  <a:srgbClr val="0000FF"/>
                </a:solidFill>
                <a:latin typeface="Times New Roman"/>
                <a:ea typeface="Calibri"/>
                <a:cs typeface="Times New Roman"/>
              </a:rPr>
              <a:t>	</a:t>
            </a:r>
            <a:r>
              <a:rPr lang="en-US" sz="1600" dirty="0">
                <a:solidFill>
                  <a:srgbClr val="0000FF"/>
                </a:solidFill>
                <a:latin typeface="Times New Roman"/>
                <a:ea typeface="Calibri"/>
                <a:cs typeface="Times New Roman"/>
              </a:rPr>
              <a:t>FROM</a:t>
            </a:r>
            <a:r>
              <a:rPr lang="en-US" sz="1600" dirty="0">
                <a:latin typeface="Times New Roman"/>
                <a:ea typeface="Calibri"/>
                <a:cs typeface="Times New Roman"/>
              </a:rPr>
              <a:t> </a:t>
            </a:r>
            <a:r>
              <a:rPr lang="en-US" sz="1600" dirty="0">
                <a:solidFill>
                  <a:srgbClr val="008080"/>
                </a:solidFill>
                <a:latin typeface="Times New Roman"/>
                <a:ea typeface="Calibri"/>
                <a:cs typeface="Times New Roman"/>
              </a:rPr>
              <a:t>Exam_mark</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GROUP</a:t>
            </a:r>
            <a:r>
              <a:rPr lang="en-US" sz="1600" dirty="0">
                <a:latin typeface="Times New Roman"/>
                <a:ea typeface="Calibri"/>
                <a:cs typeface="Times New Roman"/>
              </a:rPr>
              <a:t> </a:t>
            </a:r>
            <a:r>
              <a:rPr lang="en-US" sz="1600" dirty="0">
                <a:solidFill>
                  <a:srgbClr val="0000FF"/>
                </a:solidFill>
                <a:latin typeface="Times New Roman"/>
                <a:ea typeface="Calibri"/>
                <a:cs typeface="Times New Roman"/>
              </a:rPr>
              <a:t>BY</a:t>
            </a:r>
            <a:r>
              <a:rPr lang="en-US" sz="1600" dirty="0">
                <a:latin typeface="Times New Roman"/>
                <a:ea typeface="Calibri"/>
                <a:cs typeface="Times New Roman"/>
              </a:rPr>
              <a:t> </a:t>
            </a:r>
            <a:r>
              <a:rPr lang="en-US" sz="1600" dirty="0" err="1">
                <a:solidFill>
                  <a:srgbClr val="008080"/>
                </a:solidFill>
                <a:latin typeface="Times New Roman"/>
                <a:ea typeface="Calibri"/>
                <a:cs typeface="Times New Roman"/>
              </a:rPr>
              <a:t>Student_Id</a:t>
            </a:r>
            <a:endParaRPr lang="ru-RU" sz="1600" dirty="0">
              <a:solidFill>
                <a:srgbClr val="008080"/>
              </a:solidFill>
              <a:latin typeface="Times New Roman"/>
              <a:ea typeface="Calibri"/>
              <a:cs typeface="Times New Roman"/>
            </a:endParaRPr>
          </a:p>
          <a:p>
            <a:pPr>
              <a:spcAft>
                <a:spcPts val="0"/>
              </a:spcAft>
            </a:pPr>
            <a:r>
              <a:rPr lang="ru-RU" sz="1600" dirty="0">
                <a:solidFill>
                  <a:srgbClr val="008080"/>
                </a:solidFill>
                <a:latin typeface="Times New Roman"/>
                <a:ea typeface="Calibri"/>
                <a:cs typeface="Times New Roman"/>
              </a:rPr>
              <a:t>	</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pPr>
              <a:spcAft>
                <a:spcPts val="0"/>
              </a:spcAft>
            </a:pPr>
            <a:r>
              <a:rPr lang="en-US" sz="1600" dirty="0">
                <a:solidFill>
                  <a:srgbClr val="808080"/>
                </a:solidFill>
                <a:latin typeface="Times New Roman"/>
                <a:ea typeface="Calibri"/>
                <a:cs typeface="Times New Roman"/>
              </a:rPr>
              <a:t> </a:t>
            </a:r>
            <a:endParaRPr lang="ru-RU" sz="1600" dirty="0">
              <a:solidFill>
                <a:srgbClr val="808080"/>
              </a:solidFill>
              <a:latin typeface="Times New Roman"/>
              <a:ea typeface="Calibri"/>
              <a:cs typeface="Times New Roman"/>
            </a:endParaRPr>
          </a:p>
          <a:p>
            <a:pPr>
              <a:spcAft>
                <a:spcPts val="0"/>
              </a:spcAft>
            </a:pPr>
            <a:endParaRPr lang="ru-RU" sz="1600" dirty="0">
              <a:solidFill>
                <a:srgbClr val="808080"/>
              </a:solidFill>
              <a:latin typeface="Times New Roman"/>
              <a:ea typeface="Calibri"/>
              <a:cs typeface="Times New Roman"/>
            </a:endParaRPr>
          </a:p>
          <a:p>
            <a:pPr>
              <a:spcAft>
                <a:spcPts val="0"/>
              </a:spcAft>
            </a:pPr>
            <a:endParaRPr lang="ru-RU" sz="1600" dirty="0">
              <a:solidFill>
                <a:srgbClr val="808080"/>
              </a:solidFill>
              <a:latin typeface="Times New Roman"/>
              <a:ea typeface="Calibri"/>
              <a:cs typeface="Times New Roman"/>
            </a:endParaRPr>
          </a:p>
          <a:p>
            <a:pPr>
              <a:spcAft>
                <a:spcPts val="0"/>
              </a:spcAft>
            </a:pPr>
            <a:r>
              <a:rPr lang="ru-RU" sz="1600" dirty="0">
                <a:latin typeface="Times New Roman"/>
                <a:ea typeface="Calibri"/>
                <a:cs typeface="Times New Roman"/>
              </a:rPr>
              <a:t>Вызов функции:</a:t>
            </a:r>
          </a:p>
          <a:p>
            <a:pPr>
              <a:spcAft>
                <a:spcPts val="0"/>
              </a:spcAft>
            </a:pPr>
            <a:r>
              <a:rPr lang="en-US" sz="1600" dirty="0">
                <a:solidFill>
                  <a:srgbClr val="0000FF"/>
                </a:solidFill>
                <a:latin typeface="Times New Roman"/>
                <a:ea typeface="Calibri"/>
                <a:cs typeface="Times New Roman"/>
              </a:rPr>
              <a:t>SELECT</a:t>
            </a:r>
            <a:r>
              <a:rPr lang="en-US" sz="1600" dirty="0">
                <a:latin typeface="Times New Roman"/>
                <a:ea typeface="Calibri"/>
                <a:cs typeface="Times New Roman"/>
              </a:rPr>
              <a:t> </a:t>
            </a:r>
            <a:r>
              <a:rPr lang="en-US" sz="1600" dirty="0">
                <a:solidFill>
                  <a:srgbClr val="808080"/>
                </a:solidFill>
                <a:latin typeface="Times New Roman"/>
                <a:ea typeface="Calibri"/>
                <a:cs typeface="Times New Roman"/>
              </a:rPr>
              <a:t>*</a:t>
            </a:r>
            <a:r>
              <a:rPr lang="en-US" sz="1600" dirty="0">
                <a:latin typeface="Times New Roman"/>
                <a:ea typeface="Calibri"/>
                <a:cs typeface="Times New Roman"/>
              </a:rPr>
              <a:t> </a:t>
            </a:r>
            <a:endParaRPr lang="ru-RU" sz="1600" dirty="0">
              <a:latin typeface="Times New Roman"/>
              <a:ea typeface="Calibri"/>
              <a:cs typeface="Times New Roman"/>
            </a:endParaRPr>
          </a:p>
          <a:p>
            <a:pPr>
              <a:spcAft>
                <a:spcPts val="0"/>
              </a:spcAft>
            </a:pPr>
            <a:r>
              <a:rPr lang="en-US" sz="1600" dirty="0">
                <a:solidFill>
                  <a:srgbClr val="0000FF"/>
                </a:solidFill>
                <a:latin typeface="Times New Roman"/>
                <a:ea typeface="Calibri"/>
                <a:cs typeface="Times New Roman"/>
              </a:rPr>
              <a:t>FROM</a:t>
            </a:r>
            <a:r>
              <a:rPr lang="en-US" sz="1600" dirty="0">
                <a:latin typeface="Times New Roman"/>
                <a:ea typeface="Calibri"/>
                <a:cs typeface="Times New Roman"/>
              </a:rPr>
              <a:t> </a:t>
            </a:r>
            <a:r>
              <a:rPr lang="en-US" sz="1600" dirty="0" err="1">
                <a:solidFill>
                  <a:srgbClr val="008080"/>
                </a:solidFill>
                <a:latin typeface="Times New Roman"/>
                <a:ea typeface="Calibri"/>
                <a:cs typeface="Times New Roman"/>
              </a:rPr>
              <a:t>dbo</a:t>
            </a:r>
            <a:r>
              <a:rPr lang="en-US" sz="1600" dirty="0" err="1">
                <a:solidFill>
                  <a:srgbClr val="808080"/>
                </a:solidFill>
                <a:latin typeface="Times New Roman"/>
                <a:ea typeface="Calibri"/>
                <a:cs typeface="Times New Roman"/>
              </a:rPr>
              <a:t>.</a:t>
            </a:r>
            <a:r>
              <a:rPr lang="en-US" sz="1600" dirty="0" err="1">
                <a:solidFill>
                  <a:srgbClr val="008080"/>
                </a:solidFill>
                <a:latin typeface="Times New Roman"/>
                <a:ea typeface="Calibri"/>
                <a:cs typeface="Times New Roman"/>
              </a:rPr>
              <a:t>Avg_mark</a:t>
            </a:r>
            <a:r>
              <a:rPr lang="en-US" sz="1600" dirty="0">
                <a:solidFill>
                  <a:srgbClr val="808080"/>
                </a:solidFill>
                <a:latin typeface="Times New Roman"/>
                <a:ea typeface="Calibri"/>
                <a:cs typeface="Times New Roman"/>
              </a:rPr>
              <a:t>()</a:t>
            </a:r>
            <a:endParaRPr lang="ru-RU" sz="1600" dirty="0">
              <a:latin typeface="Times New Roman"/>
              <a:ea typeface="Calibri"/>
              <a:cs typeface="Times New Roman"/>
            </a:endParaRPr>
          </a:p>
          <a:p>
            <a:endParaRPr lang="ru-RU" sz="1600" dirty="0"/>
          </a:p>
        </p:txBody>
      </p:sp>
      <p:pic>
        <p:nvPicPr>
          <p:cNvPr id="2050" name="Picture 2"/>
          <p:cNvPicPr>
            <a:picLocks noChangeAspect="1" noChangeArrowheads="1"/>
          </p:cNvPicPr>
          <p:nvPr/>
        </p:nvPicPr>
        <p:blipFill>
          <a:blip r:embed="rId2" cstate="print"/>
          <a:srcRect/>
          <a:stretch>
            <a:fillRect/>
          </a:stretch>
        </p:blipFill>
        <p:spPr bwMode="auto">
          <a:xfrm>
            <a:off x="3071802" y="4572008"/>
            <a:ext cx="5103885" cy="161925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582594"/>
          </a:xfrm>
        </p:spPr>
        <p:txBody>
          <a:bodyPr>
            <a:normAutofit/>
          </a:bodyPr>
          <a:lstStyle/>
          <a:p>
            <a:r>
              <a:rPr lang="ru-RU" sz="2500" dirty="0"/>
              <a:t>Пример вызова функции из хранимой процедуры</a:t>
            </a:r>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22</a:t>
            </a:fld>
            <a:endParaRPr lang="ru-RU" dirty="0"/>
          </a:p>
        </p:txBody>
      </p:sp>
      <p:sp>
        <p:nvSpPr>
          <p:cNvPr id="4" name="TextBox 3"/>
          <p:cNvSpPr txBox="1"/>
          <p:nvPr/>
        </p:nvSpPr>
        <p:spPr>
          <a:xfrm>
            <a:off x="214282" y="714356"/>
            <a:ext cx="8715436" cy="5509200"/>
          </a:xfrm>
          <a:prstGeom prst="rect">
            <a:avLst/>
          </a:prstGeom>
          <a:noFill/>
        </p:spPr>
        <p:txBody>
          <a:bodyPr wrap="square" rtlCol="0">
            <a:spAutoFit/>
          </a:bodyPr>
          <a:lstStyle/>
          <a:p>
            <a:pPr>
              <a:spcAft>
                <a:spcPts val="0"/>
              </a:spcAft>
            </a:pPr>
            <a:r>
              <a:rPr lang="ru-RU" sz="1600" dirty="0">
                <a:ea typeface="Calibri"/>
                <a:cs typeface="Times New Roman"/>
              </a:rPr>
              <a:t>Создание процедуры для определения кандидатов на получение красного диплома. Название группы передается через входной параметр. Процедура вызывает ранее созданную функцию </a:t>
            </a:r>
            <a:r>
              <a:rPr lang="en-US" sz="1600" b="1" dirty="0" err="1">
                <a:ln w="1905"/>
                <a:solidFill>
                  <a:srgbClr val="00B050"/>
                </a:solidFill>
                <a:effectLst>
                  <a:innerShdw blurRad="69850" dist="43180" dir="5400000">
                    <a:srgbClr val="000000">
                      <a:alpha val="65000"/>
                    </a:srgbClr>
                  </a:innerShdw>
                </a:effectLst>
                <a:ea typeface="Calibri"/>
                <a:cs typeface="Times New Roman"/>
              </a:rPr>
              <a:t>dbo.Avg_mark</a:t>
            </a:r>
            <a:r>
              <a:rPr lang="en-US" sz="1600" b="1" dirty="0">
                <a:ln w="1905"/>
                <a:solidFill>
                  <a:srgbClr val="00B050"/>
                </a:solidFill>
                <a:effectLst>
                  <a:innerShdw blurRad="69850" dist="43180" dir="5400000">
                    <a:srgbClr val="000000">
                      <a:alpha val="65000"/>
                    </a:srgbClr>
                  </a:innerShdw>
                </a:effectLst>
                <a:ea typeface="Calibri"/>
                <a:cs typeface="Times New Roman"/>
              </a:rPr>
              <a:t>()</a:t>
            </a:r>
            <a:r>
              <a:rPr lang="ru-RU" sz="1600" dirty="0">
                <a:solidFill>
                  <a:srgbClr val="808080"/>
                </a:solidFill>
                <a:ea typeface="Calibri"/>
                <a:cs typeface="Times New Roman"/>
              </a:rPr>
              <a:t>. </a:t>
            </a:r>
            <a:endParaRPr lang="ru-RU" sz="1600" dirty="0">
              <a:ea typeface="Calibri"/>
              <a:cs typeface="Times New Roman"/>
            </a:endParaRPr>
          </a:p>
          <a:p>
            <a:pPr>
              <a:spcAft>
                <a:spcPts val="0"/>
              </a:spcAft>
            </a:pPr>
            <a:r>
              <a:rPr lang="en-US" sz="1600" dirty="0">
                <a:ea typeface="Calibri"/>
                <a:cs typeface="Times New Roman"/>
              </a:rPr>
              <a:t> </a:t>
            </a:r>
            <a:endParaRPr lang="ru-RU" sz="1600" dirty="0">
              <a:ea typeface="Calibri"/>
              <a:cs typeface="Times New Roman"/>
            </a:endParaRPr>
          </a:p>
          <a:p>
            <a:pPr>
              <a:spcAft>
                <a:spcPts val="0"/>
              </a:spcAft>
            </a:pP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PROCEDURE</a:t>
            </a:r>
            <a:r>
              <a:rPr lang="en-US" sz="1600" dirty="0">
                <a:ea typeface="Calibri"/>
                <a:cs typeface="Times New Roman"/>
              </a:rPr>
              <a:t> </a:t>
            </a:r>
            <a:r>
              <a:rPr lang="en-US" sz="1600" dirty="0" err="1">
                <a:solidFill>
                  <a:srgbClr val="008080"/>
                </a:solidFill>
                <a:ea typeface="Calibri"/>
                <a:cs typeface="Times New Roman"/>
              </a:rPr>
              <a:t>Information_red_diploma</a:t>
            </a:r>
            <a:endParaRPr lang="ru-RU" sz="1600" dirty="0">
              <a:ea typeface="Calibri"/>
              <a:cs typeface="Times New Roman"/>
            </a:endParaRPr>
          </a:p>
          <a:p>
            <a:pPr>
              <a:spcAft>
                <a:spcPts val="0"/>
              </a:spcAft>
            </a:pPr>
            <a:r>
              <a:rPr lang="en-US" sz="1600" dirty="0">
                <a:solidFill>
                  <a:srgbClr val="008080"/>
                </a:solidFill>
                <a:ea typeface="Calibri"/>
                <a:cs typeface="Times New Roman"/>
              </a:rPr>
              <a:t>@group</a:t>
            </a:r>
            <a:r>
              <a:rPr lang="en-US" sz="1600" dirty="0">
                <a:ea typeface="Calibri"/>
                <a:cs typeface="Times New Roman"/>
              </a:rPr>
              <a:t> </a:t>
            </a:r>
            <a:r>
              <a:rPr lang="en-US" sz="1600" dirty="0">
                <a:solidFill>
                  <a:srgbClr val="0000FF"/>
                </a:solidFill>
                <a:ea typeface="Calibri"/>
                <a:cs typeface="Times New Roman"/>
              </a:rPr>
              <a:t>VARCHAR</a:t>
            </a:r>
            <a:r>
              <a:rPr lang="en-US" sz="1600" dirty="0">
                <a:solidFill>
                  <a:srgbClr val="808080"/>
                </a:solidFill>
                <a:ea typeface="Calibri"/>
                <a:cs typeface="Times New Roman"/>
              </a:rPr>
              <a:t>(</a:t>
            </a:r>
            <a:r>
              <a:rPr lang="en-US" sz="1600" dirty="0">
                <a:ea typeface="Calibri"/>
                <a:cs typeface="Times New Roman"/>
              </a:rPr>
              <a:t>5</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AS</a:t>
            </a:r>
            <a:endParaRPr lang="ru-RU" sz="1600" dirty="0">
              <a:ea typeface="Calibri"/>
              <a:cs typeface="Times New Roman"/>
            </a:endParaRPr>
          </a:p>
          <a:p>
            <a:pPr>
              <a:spcAft>
                <a:spcPts val="0"/>
              </a:spcAft>
            </a:pPr>
            <a:r>
              <a:rPr lang="en-US" sz="1600" dirty="0">
                <a:solidFill>
                  <a:srgbClr val="0000FF"/>
                </a:solidFill>
                <a:ea typeface="Calibri"/>
                <a:cs typeface="Times New Roman"/>
              </a:rPr>
              <a:t>SELECT</a:t>
            </a:r>
            <a:r>
              <a:rPr lang="en-US" sz="1600" dirty="0">
                <a:ea typeface="Calibri"/>
                <a:cs typeface="Times New Roman"/>
              </a:rPr>
              <a:t> </a:t>
            </a:r>
            <a:r>
              <a:rPr lang="en-US" sz="1600" dirty="0">
                <a:solidFill>
                  <a:srgbClr val="008080"/>
                </a:solidFill>
                <a:ea typeface="Calibri"/>
                <a:cs typeface="Times New Roman"/>
              </a:rPr>
              <a:t>Surname</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Фамилия</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a:solidFill>
                  <a:srgbClr val="008080"/>
                </a:solidFill>
                <a:ea typeface="Calibri"/>
                <a:cs typeface="Times New Roman"/>
              </a:rPr>
              <a:t>Name</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Имя</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en-US" sz="1600" dirty="0" err="1">
                <a:solidFill>
                  <a:srgbClr val="008080"/>
                </a:solidFill>
                <a:ea typeface="Calibri"/>
                <a:cs typeface="Times New Roman"/>
              </a:rPr>
              <a:t>AVG_mark</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Средний балл</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ru-RU" sz="1600" dirty="0">
                <a:solidFill>
                  <a:srgbClr val="808080"/>
                </a:solidFill>
                <a:ea typeface="Calibri"/>
                <a:cs typeface="Times New Roman"/>
              </a:rPr>
              <a:t> </a:t>
            </a:r>
            <a:r>
              <a:rPr lang="ru-RU" sz="1600" dirty="0">
                <a:solidFill>
                  <a:srgbClr val="008080"/>
                </a:solidFill>
                <a:ea typeface="Calibri"/>
                <a:cs typeface="Times New Roman"/>
              </a:rPr>
              <a:t>Комментарий</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ru-RU" sz="1600" dirty="0">
                <a:solidFill>
                  <a:srgbClr val="808080"/>
                </a:solidFill>
                <a:ea typeface="Calibri"/>
                <a:cs typeface="Times New Roman"/>
              </a:rPr>
              <a:t>	</a:t>
            </a:r>
            <a:r>
              <a:rPr lang="en-US" sz="1600" dirty="0">
                <a:solidFill>
                  <a:srgbClr val="808080"/>
                </a:solidFill>
                <a:ea typeface="Calibri"/>
                <a:cs typeface="Times New Roman"/>
              </a:rPr>
              <a:t>(</a:t>
            </a:r>
            <a:r>
              <a:rPr lang="en-US" sz="1600" dirty="0">
                <a:solidFill>
                  <a:srgbClr val="0000FF"/>
                </a:solidFill>
                <a:ea typeface="Calibri"/>
                <a:cs typeface="Times New Roman"/>
              </a:rPr>
              <a:t>CASE</a:t>
            </a:r>
            <a:r>
              <a:rPr lang="en-US" sz="1600" dirty="0">
                <a:ea typeface="Calibri"/>
                <a:cs typeface="Times New Roman"/>
              </a:rPr>
              <a:t> </a:t>
            </a:r>
            <a:endParaRPr lang="ru-RU" sz="1600" dirty="0">
              <a:ea typeface="Calibri"/>
              <a:cs typeface="Times New Roman"/>
            </a:endParaRPr>
          </a:p>
          <a:p>
            <a:pPr>
              <a:spcAft>
                <a:spcPts val="0"/>
              </a:spcAft>
            </a:pPr>
            <a:r>
              <a:rPr lang="ru-RU" sz="1600" dirty="0">
                <a:ea typeface="Calibri"/>
                <a:cs typeface="Times New Roman"/>
              </a:rPr>
              <a:t>	  </a:t>
            </a:r>
            <a:r>
              <a:rPr lang="en-US" sz="1600" dirty="0">
                <a:solidFill>
                  <a:srgbClr val="0000FF"/>
                </a:solidFill>
                <a:ea typeface="Calibri"/>
                <a:cs typeface="Times New Roman"/>
              </a:rPr>
              <a:t>WHEN</a:t>
            </a:r>
            <a:r>
              <a:rPr lang="en-US" sz="1600" dirty="0">
                <a:ea typeface="Calibri"/>
                <a:cs typeface="Times New Roman"/>
              </a:rPr>
              <a:t> </a:t>
            </a:r>
            <a:r>
              <a:rPr lang="en-US" sz="1600" dirty="0">
                <a:solidFill>
                  <a:srgbClr val="008080"/>
                </a:solidFill>
                <a:ea typeface="Calibri"/>
                <a:cs typeface="Times New Roman"/>
              </a:rPr>
              <a:t>Count_2</a:t>
            </a:r>
            <a:r>
              <a:rPr lang="en-US" sz="1600" dirty="0">
                <a:solidFill>
                  <a:srgbClr val="808080"/>
                </a:solidFill>
                <a:ea typeface="Calibri"/>
                <a:cs typeface="Times New Roman"/>
              </a:rPr>
              <a:t>=</a:t>
            </a:r>
            <a:r>
              <a:rPr lang="en-US" sz="1600" dirty="0">
                <a:ea typeface="Calibri"/>
                <a:cs typeface="Times New Roman"/>
              </a:rPr>
              <a:t>0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Count_3</a:t>
            </a:r>
            <a:r>
              <a:rPr lang="en-US" sz="1600" dirty="0">
                <a:solidFill>
                  <a:srgbClr val="808080"/>
                </a:solidFill>
                <a:ea typeface="Calibri"/>
                <a:cs typeface="Times New Roman"/>
              </a:rPr>
              <a:t>=</a:t>
            </a:r>
            <a:r>
              <a:rPr lang="en-US" sz="1600" dirty="0">
                <a:ea typeface="Calibri"/>
                <a:cs typeface="Times New Roman"/>
              </a:rPr>
              <a:t>0 </a:t>
            </a:r>
            <a:r>
              <a:rPr lang="en-US" sz="1600" dirty="0">
                <a:solidFill>
                  <a:srgbClr val="808080"/>
                </a:solidFill>
                <a:ea typeface="Calibri"/>
                <a:cs typeface="Times New Roman"/>
              </a:rPr>
              <a:t>AND</a:t>
            </a:r>
            <a:r>
              <a:rPr lang="en-US" sz="1600" dirty="0">
                <a:ea typeface="Calibri"/>
                <a:cs typeface="Times New Roman"/>
              </a:rPr>
              <a:t> </a:t>
            </a:r>
            <a:r>
              <a:rPr lang="en-US" sz="1600" dirty="0" err="1">
                <a:solidFill>
                  <a:srgbClr val="008080"/>
                </a:solidFill>
                <a:ea typeface="Calibri"/>
                <a:cs typeface="Times New Roman"/>
              </a:rPr>
              <a:t>AVG_mark</a:t>
            </a:r>
            <a:r>
              <a:rPr lang="en-US" sz="1600" dirty="0">
                <a:solidFill>
                  <a:srgbClr val="808080"/>
                </a:solidFill>
                <a:ea typeface="Calibri"/>
                <a:cs typeface="Times New Roman"/>
              </a:rPr>
              <a:t>&gt;=</a:t>
            </a:r>
            <a:r>
              <a:rPr lang="en-US" sz="1600" dirty="0">
                <a:ea typeface="Calibri"/>
                <a:cs typeface="Times New Roman"/>
              </a:rPr>
              <a:t>4.75 </a:t>
            </a:r>
            <a:endParaRPr lang="ru-RU" sz="1600" dirty="0">
              <a:ea typeface="Calibri"/>
              <a:cs typeface="Times New Roman"/>
            </a:endParaRPr>
          </a:p>
          <a:p>
            <a:pPr>
              <a:spcAft>
                <a:spcPts val="0"/>
              </a:spcAft>
            </a:pPr>
            <a:r>
              <a:rPr lang="ru-RU" sz="1600" dirty="0">
                <a:ea typeface="Calibri"/>
                <a:cs typeface="Times New Roman"/>
              </a:rPr>
              <a:t>		</a:t>
            </a:r>
            <a:r>
              <a:rPr lang="en-US" sz="1600" dirty="0">
                <a:solidFill>
                  <a:srgbClr val="0000FF"/>
                </a:solidFill>
                <a:ea typeface="Calibri"/>
                <a:cs typeface="Times New Roman"/>
              </a:rPr>
              <a:t>THEN</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может быть красный диплом</a:t>
            </a:r>
            <a:r>
              <a:rPr lang="en-US" sz="1600" dirty="0">
                <a:solidFill>
                  <a:srgbClr val="FF0000"/>
                </a:solidFill>
                <a:ea typeface="Calibri"/>
                <a:cs typeface="Times New Roman"/>
              </a:rPr>
              <a:t>'</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WHEN</a:t>
            </a:r>
            <a:r>
              <a:rPr lang="en-US" sz="1600" dirty="0">
                <a:ea typeface="Calibri"/>
                <a:cs typeface="Times New Roman"/>
              </a:rPr>
              <a:t> </a:t>
            </a:r>
            <a:r>
              <a:rPr lang="en-US" sz="1600" dirty="0">
                <a:solidFill>
                  <a:srgbClr val="008080"/>
                </a:solidFill>
                <a:ea typeface="Calibri"/>
                <a:cs typeface="Times New Roman"/>
              </a:rPr>
              <a:t>Count_2</a:t>
            </a:r>
            <a:r>
              <a:rPr lang="en-US" sz="1600" dirty="0">
                <a:solidFill>
                  <a:srgbClr val="808080"/>
                </a:solidFill>
                <a:ea typeface="Calibri"/>
                <a:cs typeface="Times New Roman"/>
              </a:rPr>
              <a:t>=</a:t>
            </a:r>
            <a:r>
              <a:rPr lang="en-US" sz="1600" dirty="0">
                <a:ea typeface="Calibri"/>
                <a:cs typeface="Times New Roman"/>
              </a:rPr>
              <a:t>0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Count_3</a:t>
            </a:r>
            <a:r>
              <a:rPr lang="en-US" sz="1600" dirty="0">
                <a:solidFill>
                  <a:srgbClr val="808080"/>
                </a:solidFill>
                <a:ea typeface="Calibri"/>
                <a:cs typeface="Times New Roman"/>
              </a:rPr>
              <a:t>&gt;</a:t>
            </a:r>
            <a:r>
              <a:rPr lang="en-US" sz="1600" dirty="0">
                <a:ea typeface="Calibri"/>
                <a:cs typeface="Times New Roman"/>
              </a:rPr>
              <a:t>0 </a:t>
            </a:r>
            <a:r>
              <a:rPr lang="en-US" sz="1600" dirty="0">
                <a:solidFill>
                  <a:srgbClr val="808080"/>
                </a:solidFill>
                <a:ea typeface="Calibri"/>
                <a:cs typeface="Times New Roman"/>
              </a:rPr>
              <a:t>AND</a:t>
            </a:r>
            <a:r>
              <a:rPr lang="en-US" sz="1600" dirty="0">
                <a:ea typeface="Calibri"/>
                <a:cs typeface="Times New Roman"/>
              </a:rPr>
              <a:t> </a:t>
            </a:r>
            <a:r>
              <a:rPr lang="en-US" sz="1600" dirty="0" err="1">
                <a:solidFill>
                  <a:srgbClr val="008080"/>
                </a:solidFill>
                <a:ea typeface="Calibri"/>
                <a:cs typeface="Times New Roman"/>
              </a:rPr>
              <a:t>AVG_mark</a:t>
            </a:r>
            <a:r>
              <a:rPr lang="en-US" sz="1600" dirty="0">
                <a:solidFill>
                  <a:srgbClr val="808080"/>
                </a:solidFill>
                <a:ea typeface="Calibri"/>
                <a:cs typeface="Times New Roman"/>
              </a:rPr>
              <a:t>&gt;=</a:t>
            </a:r>
            <a:r>
              <a:rPr lang="en-US" sz="1600" dirty="0">
                <a:ea typeface="Calibri"/>
                <a:cs typeface="Times New Roman"/>
              </a:rPr>
              <a:t>4.75 </a:t>
            </a:r>
            <a:endParaRPr lang="ru-RU" sz="1600" dirty="0">
              <a:ea typeface="Calibri"/>
              <a:cs typeface="Times New Roman"/>
            </a:endParaRPr>
          </a:p>
          <a:p>
            <a:pPr>
              <a:spcAft>
                <a:spcPts val="0"/>
              </a:spcAft>
            </a:pPr>
            <a:r>
              <a:rPr lang="ru-RU" sz="1600" dirty="0">
                <a:ea typeface="Calibri"/>
                <a:cs typeface="Times New Roman"/>
              </a:rPr>
              <a:t>		</a:t>
            </a:r>
            <a:r>
              <a:rPr lang="en-US" sz="1600" dirty="0">
                <a:solidFill>
                  <a:srgbClr val="0000FF"/>
                </a:solidFill>
                <a:ea typeface="Calibri"/>
                <a:cs typeface="Times New Roman"/>
              </a:rPr>
              <a:t>THEN</a:t>
            </a:r>
            <a:r>
              <a:rPr lang="en-US" sz="1600" dirty="0">
                <a:ea typeface="Calibri"/>
                <a:cs typeface="Times New Roman"/>
              </a:rPr>
              <a:t> </a:t>
            </a:r>
            <a:r>
              <a:rPr lang="en-US" sz="1600" dirty="0">
                <a:solidFill>
                  <a:srgbClr val="FF0000"/>
                </a:solidFill>
                <a:ea typeface="Calibri"/>
                <a:cs typeface="Times New Roman"/>
              </a:rPr>
              <a:t>'</a:t>
            </a:r>
            <a:r>
              <a:rPr lang="ru-RU" sz="1600" dirty="0">
                <a:solidFill>
                  <a:srgbClr val="FF0000"/>
                </a:solidFill>
                <a:ea typeface="Calibri"/>
                <a:cs typeface="Times New Roman"/>
              </a:rPr>
              <a:t>нужно исправить</a:t>
            </a:r>
            <a:r>
              <a:rPr lang="en-US" sz="1600" dirty="0">
                <a:solidFill>
                  <a:srgbClr val="FF0000"/>
                </a:solidFill>
                <a:ea typeface="Calibri"/>
                <a:cs typeface="Times New Roman"/>
              </a:rPr>
              <a:t> 3-</a:t>
            </a:r>
            <a:r>
              <a:rPr lang="ru-RU" sz="1600" dirty="0" err="1">
                <a:solidFill>
                  <a:srgbClr val="FF0000"/>
                </a:solidFill>
                <a:ea typeface="Calibri"/>
                <a:cs typeface="Times New Roman"/>
              </a:rPr>
              <a:t>ки</a:t>
            </a:r>
            <a:r>
              <a:rPr lang="en-US" sz="1600" dirty="0">
                <a:solidFill>
                  <a:srgbClr val="FF0000"/>
                </a:solidFill>
                <a:ea typeface="Calibri"/>
                <a:cs typeface="Times New Roman"/>
              </a:rPr>
              <a:t>, </a:t>
            </a:r>
            <a:r>
              <a:rPr lang="ru-RU" sz="1600" dirty="0" err="1">
                <a:solidFill>
                  <a:srgbClr val="FF0000"/>
                </a:solidFill>
                <a:ea typeface="Calibri"/>
                <a:cs typeface="Times New Roman"/>
              </a:rPr>
              <a:t>количесво</a:t>
            </a:r>
            <a:r>
              <a:rPr lang="en-US" sz="1600" dirty="0">
                <a:solidFill>
                  <a:srgbClr val="FF0000"/>
                </a:solidFill>
                <a:ea typeface="Calibri"/>
                <a:cs typeface="Times New Roman"/>
              </a:rPr>
              <a:t>:'</a:t>
            </a:r>
            <a:r>
              <a:rPr lang="en-US" sz="1600" dirty="0">
                <a:solidFill>
                  <a:srgbClr val="808080"/>
                </a:solidFill>
                <a:ea typeface="Calibri"/>
                <a:cs typeface="Times New Roman"/>
              </a:rPr>
              <a:t>+</a:t>
            </a:r>
            <a:r>
              <a:rPr lang="en-US" sz="1600" dirty="0">
                <a:solidFill>
                  <a:srgbClr val="FF00FF"/>
                </a:solidFill>
                <a:ea typeface="Calibri"/>
                <a:cs typeface="Times New Roman"/>
              </a:rPr>
              <a:t>CAST</a:t>
            </a:r>
            <a:r>
              <a:rPr lang="en-US" sz="1600" dirty="0">
                <a:solidFill>
                  <a:srgbClr val="808080"/>
                </a:solidFill>
                <a:ea typeface="Calibri"/>
                <a:cs typeface="Times New Roman"/>
              </a:rPr>
              <a:t>(</a:t>
            </a:r>
            <a:r>
              <a:rPr lang="en-US" sz="1600" dirty="0">
                <a:solidFill>
                  <a:srgbClr val="008080"/>
                </a:solidFill>
                <a:ea typeface="Calibri"/>
                <a:cs typeface="Times New Roman"/>
              </a:rPr>
              <a:t>Count_3</a:t>
            </a:r>
            <a:r>
              <a:rPr lang="en-US" sz="1600" dirty="0">
                <a:ea typeface="Calibri"/>
                <a:cs typeface="Times New Roman"/>
              </a:rPr>
              <a:t> </a:t>
            </a:r>
            <a:r>
              <a:rPr lang="en-US" sz="1600" dirty="0">
                <a:solidFill>
                  <a:srgbClr val="0000FF"/>
                </a:solidFill>
                <a:ea typeface="Calibri"/>
                <a:cs typeface="Times New Roman"/>
              </a:rPr>
              <a:t>AS</a:t>
            </a:r>
            <a:r>
              <a:rPr lang="en-US" sz="1600" dirty="0">
                <a:ea typeface="Calibri"/>
                <a:cs typeface="Times New Roman"/>
              </a:rPr>
              <a:t> </a:t>
            </a:r>
            <a:r>
              <a:rPr lang="en-US" sz="1600" dirty="0">
                <a:solidFill>
                  <a:srgbClr val="0000FF"/>
                </a:solidFill>
                <a:ea typeface="Calibri"/>
                <a:cs typeface="Times New Roman"/>
              </a:rPr>
              <a:t>VARCHAR</a:t>
            </a:r>
            <a:r>
              <a:rPr lang="en-US" sz="1600" dirty="0">
                <a:solidFill>
                  <a:srgbClr val="808080"/>
                </a:solidFill>
                <a:ea typeface="Calibri"/>
                <a:cs typeface="Times New Roman"/>
              </a:rPr>
              <a:t>(</a:t>
            </a:r>
            <a:r>
              <a:rPr lang="en-US" sz="1600" dirty="0">
                <a:ea typeface="Calibri"/>
                <a:cs typeface="Times New Roman"/>
              </a:rPr>
              <a:t>1</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ea typeface="Calibri"/>
                <a:cs typeface="Times New Roman"/>
              </a:rPr>
              <a:t>	 </a:t>
            </a:r>
            <a:r>
              <a:rPr lang="en-US" sz="1600" dirty="0">
                <a:solidFill>
                  <a:srgbClr val="0000FF"/>
                </a:solidFill>
                <a:ea typeface="Calibri"/>
                <a:cs typeface="Times New Roman"/>
              </a:rPr>
              <a:t>ELSE</a:t>
            </a:r>
            <a:r>
              <a:rPr lang="en-US" sz="1600" dirty="0">
                <a:ea typeface="Calibri"/>
                <a:cs typeface="Times New Roman"/>
              </a:rPr>
              <a:t> </a:t>
            </a:r>
            <a:r>
              <a:rPr lang="en-US" sz="1600" dirty="0">
                <a:solidFill>
                  <a:srgbClr val="FF0000"/>
                </a:solidFill>
                <a:ea typeface="Calibri"/>
                <a:cs typeface="Times New Roman"/>
              </a:rPr>
              <a:t>' '</a:t>
            </a:r>
            <a:r>
              <a:rPr lang="en-US" sz="1600" dirty="0">
                <a:ea typeface="Calibri"/>
                <a:cs typeface="Times New Roman"/>
              </a:rPr>
              <a:t>	</a:t>
            </a:r>
            <a:endParaRPr lang="ru-RU" sz="1600" dirty="0">
              <a:ea typeface="Calibri"/>
              <a:cs typeface="Times New Roman"/>
            </a:endParaRPr>
          </a:p>
          <a:p>
            <a:pPr>
              <a:spcAft>
                <a:spcPts val="0"/>
              </a:spcAft>
            </a:pPr>
            <a:r>
              <a:rPr lang="ru-RU" sz="1600" dirty="0">
                <a:solidFill>
                  <a:srgbClr val="0000FF"/>
                </a:solidFill>
                <a:ea typeface="Calibri"/>
                <a:cs typeface="Times New Roman"/>
              </a:rPr>
              <a:t>	</a:t>
            </a:r>
            <a:r>
              <a:rPr lang="en-US" sz="1600" dirty="0">
                <a:solidFill>
                  <a:srgbClr val="0000FF"/>
                </a:solidFill>
                <a:ea typeface="Calibri"/>
                <a:cs typeface="Times New Roman"/>
              </a:rPr>
              <a:t>END</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FROM</a:t>
            </a:r>
            <a:r>
              <a:rPr lang="en-US" sz="1600" dirty="0">
                <a:ea typeface="Calibri"/>
                <a:cs typeface="Times New Roman"/>
              </a:rPr>
              <a:t> </a:t>
            </a:r>
            <a:r>
              <a:rPr lang="en-US" sz="1600" dirty="0">
                <a:solidFill>
                  <a:srgbClr val="008080"/>
                </a:solidFill>
                <a:ea typeface="Calibri"/>
                <a:cs typeface="Times New Roman"/>
              </a:rPr>
              <a:t>Student</a:t>
            </a:r>
            <a:r>
              <a:rPr lang="en-US" sz="1600" dirty="0">
                <a:solidFill>
                  <a:srgbClr val="808080"/>
                </a:solidFill>
                <a:ea typeface="Calibri"/>
                <a:cs typeface="Times New Roman"/>
              </a:rPr>
              <a:t>,</a:t>
            </a:r>
            <a:r>
              <a:rPr lang="en-US" sz="1600" dirty="0">
                <a:solidFill>
                  <a:srgbClr val="008080"/>
                </a:solidFill>
                <a:ea typeface="Calibri"/>
                <a:cs typeface="Times New Roman"/>
              </a:rPr>
              <a:t>[Group]</a:t>
            </a:r>
            <a:r>
              <a:rPr lang="en-US" sz="1600" dirty="0">
                <a:solidFill>
                  <a:srgbClr val="808080"/>
                </a:solidFill>
                <a:ea typeface="Calibri"/>
                <a:cs typeface="Times New Roman"/>
              </a:rPr>
              <a:t>,</a:t>
            </a:r>
            <a:r>
              <a:rPr lang="en-US" sz="1600" dirty="0">
                <a:ea typeface="Calibri"/>
                <a:cs typeface="Times New Roman"/>
              </a:rPr>
              <a:t> </a:t>
            </a:r>
            <a:r>
              <a:rPr lang="en-US" sz="1600" b="1" dirty="0" err="1">
                <a:ln w="1905"/>
                <a:solidFill>
                  <a:srgbClr val="00B050"/>
                </a:solidFill>
                <a:effectLst>
                  <a:innerShdw blurRad="69850" dist="43180" dir="5400000">
                    <a:srgbClr val="000000">
                      <a:alpha val="65000"/>
                    </a:srgbClr>
                  </a:innerShdw>
                </a:effectLst>
                <a:ea typeface="Calibri"/>
                <a:cs typeface="Times New Roman"/>
              </a:rPr>
              <a:t>dbo.Avg_mark</a:t>
            </a:r>
            <a:r>
              <a:rPr lang="en-US" sz="1600" b="1" dirty="0">
                <a:ln w="1905"/>
                <a:solidFill>
                  <a:srgbClr val="00B050"/>
                </a:solidFill>
                <a:effectLst>
                  <a:innerShdw blurRad="69850" dist="43180" dir="5400000">
                    <a:srgbClr val="000000">
                      <a:alpha val="65000"/>
                    </a:srgbClr>
                  </a:innerShdw>
                </a:effectLst>
                <a:ea typeface="Calibri"/>
                <a:cs typeface="Times New Roman"/>
              </a:rPr>
              <a:t>()</a:t>
            </a:r>
            <a:endParaRPr lang="ru-RU" sz="1600" dirty="0">
              <a:ln>
                <a:solidFill>
                  <a:srgbClr val="00B050"/>
                </a:solidFill>
              </a:ln>
              <a:solidFill>
                <a:srgbClr val="00B050"/>
              </a:solidFill>
              <a:ea typeface="Calibri"/>
              <a:cs typeface="Times New Roman"/>
            </a:endParaRPr>
          </a:p>
          <a:p>
            <a:pPr>
              <a:spcAft>
                <a:spcPts val="0"/>
              </a:spcAft>
            </a:pPr>
            <a:r>
              <a:rPr lang="en-US" sz="1600" dirty="0">
                <a:solidFill>
                  <a:srgbClr val="0000FF"/>
                </a:solidFill>
                <a:ea typeface="Calibri"/>
                <a:cs typeface="Times New Roman"/>
              </a:rPr>
              <a:t>WHERE</a:t>
            </a:r>
            <a:r>
              <a:rPr lang="en-US" sz="1600" dirty="0">
                <a:ea typeface="Calibri"/>
                <a:cs typeface="Times New Roman"/>
              </a:rPr>
              <a:t> </a:t>
            </a:r>
            <a:r>
              <a:rPr lang="en-US" sz="1600" dirty="0">
                <a:solidFill>
                  <a:srgbClr val="008080"/>
                </a:solidFill>
                <a:ea typeface="Calibri"/>
                <a:cs typeface="Times New Roman"/>
              </a:rPr>
              <a:t>[Group]</a:t>
            </a:r>
            <a:r>
              <a:rPr lang="en-US" sz="1600" dirty="0">
                <a:solidFill>
                  <a:srgbClr val="808080"/>
                </a:solidFill>
                <a:ea typeface="Calibri"/>
                <a:cs typeface="Times New Roman"/>
              </a:rPr>
              <a:t>.</a:t>
            </a:r>
            <a:r>
              <a:rPr lang="en-US" sz="1600" dirty="0" err="1">
                <a:solidFill>
                  <a:srgbClr val="008080"/>
                </a:solidFill>
                <a:ea typeface="Calibri"/>
                <a:cs typeface="Times New Roman"/>
              </a:rPr>
              <a:t>Id_Group</a:t>
            </a:r>
            <a:r>
              <a:rPr lang="en-US" sz="1600" dirty="0">
                <a:solidFill>
                  <a:srgbClr val="808080"/>
                </a:solidFill>
                <a:ea typeface="Calibri"/>
                <a:cs typeface="Times New Roman"/>
              </a:rPr>
              <a:t>=</a:t>
            </a:r>
            <a:r>
              <a:rPr lang="en-US" sz="1600" dirty="0" err="1">
                <a:solidFill>
                  <a:srgbClr val="008080"/>
                </a:solidFill>
                <a:ea typeface="Calibri"/>
                <a:cs typeface="Times New Roman"/>
              </a:rPr>
              <a:t>Student</a:t>
            </a:r>
            <a:r>
              <a:rPr lang="en-US" sz="1600" dirty="0" err="1">
                <a:solidFill>
                  <a:srgbClr val="808080"/>
                </a:solidFill>
                <a:ea typeface="Calibri"/>
                <a:cs typeface="Times New Roman"/>
              </a:rPr>
              <a:t>.</a:t>
            </a:r>
            <a:r>
              <a:rPr lang="en-US" sz="1600" dirty="0" err="1">
                <a:solidFill>
                  <a:srgbClr val="008080"/>
                </a:solidFill>
                <a:ea typeface="Calibri"/>
                <a:cs typeface="Times New Roman"/>
              </a:rPr>
              <a:t>Id_group</a:t>
            </a:r>
            <a:r>
              <a:rPr lang="ru-RU" sz="1600" dirty="0">
                <a:solidFill>
                  <a:srgbClr val="008080"/>
                </a:solidFill>
                <a:ea typeface="Calibri"/>
                <a:cs typeface="Times New Roman"/>
              </a:rPr>
              <a:t> </a:t>
            </a:r>
            <a:r>
              <a:rPr lang="en-US" sz="1600" dirty="0">
                <a:solidFill>
                  <a:srgbClr val="808080"/>
                </a:solidFill>
                <a:ea typeface="Calibri"/>
                <a:cs typeface="Times New Roman"/>
              </a:rPr>
              <a:t>AND</a:t>
            </a:r>
            <a:r>
              <a:rPr lang="ru-RU" sz="1600" dirty="0">
                <a:solidFill>
                  <a:srgbClr val="808080"/>
                </a:solidFill>
                <a:ea typeface="Calibri"/>
                <a:cs typeface="Times New Roman"/>
              </a:rPr>
              <a:t> </a:t>
            </a:r>
            <a:r>
              <a:rPr lang="en-US" sz="1600" dirty="0" err="1">
                <a:solidFill>
                  <a:srgbClr val="008080"/>
                </a:solidFill>
                <a:ea typeface="Calibri"/>
                <a:cs typeface="Times New Roman"/>
              </a:rPr>
              <a:t>Student</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ea typeface="Calibri"/>
                <a:cs typeface="Times New Roman"/>
              </a:rPr>
              <a:t> </a:t>
            </a:r>
            <a:r>
              <a:rPr lang="en-US" sz="1600" dirty="0">
                <a:solidFill>
                  <a:srgbClr val="808080"/>
                </a:solidFill>
                <a:ea typeface="Calibri"/>
                <a:cs typeface="Times New Roman"/>
              </a:rPr>
              <a:t>=</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Avg_mark</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ea typeface="Calibri"/>
                <a:cs typeface="Times New Roman"/>
              </a:rPr>
              <a:t> </a:t>
            </a:r>
            <a:endParaRPr lang="ru-RU" sz="1600" dirty="0">
              <a:ea typeface="Calibri"/>
              <a:cs typeface="Times New Roman"/>
            </a:endParaRPr>
          </a:p>
          <a:p>
            <a:pPr>
              <a:spcAft>
                <a:spcPts val="0"/>
              </a:spcAft>
            </a:pPr>
            <a:r>
              <a:rPr lang="ru-RU" sz="1600" dirty="0">
                <a:solidFill>
                  <a:srgbClr val="808080"/>
                </a:solidFill>
                <a:ea typeface="Calibri"/>
                <a:cs typeface="Times New Roman"/>
              </a:rPr>
              <a:t>					</a:t>
            </a:r>
            <a:r>
              <a:rPr lang="en-US" sz="1600" dirty="0">
                <a:solidFill>
                  <a:srgbClr val="808080"/>
                </a:solidFill>
                <a:ea typeface="Calibri"/>
                <a:cs typeface="Times New Roman"/>
              </a:rPr>
              <a:t>AND</a:t>
            </a:r>
            <a:r>
              <a:rPr lang="en-US" sz="1600" dirty="0">
                <a:ea typeface="Calibri"/>
                <a:cs typeface="Times New Roman"/>
              </a:rPr>
              <a:t> </a:t>
            </a:r>
            <a:r>
              <a:rPr lang="en-US" sz="1600" dirty="0" err="1">
                <a:solidFill>
                  <a:srgbClr val="008080"/>
                </a:solidFill>
                <a:ea typeface="Calibri"/>
                <a:cs typeface="Times New Roman"/>
              </a:rPr>
              <a:t>Name_group</a:t>
            </a:r>
            <a:r>
              <a:rPr lang="en-US" sz="1600" dirty="0">
                <a:solidFill>
                  <a:srgbClr val="808080"/>
                </a:solidFill>
                <a:ea typeface="Calibri"/>
                <a:cs typeface="Times New Roman"/>
              </a:rPr>
              <a:t>=</a:t>
            </a:r>
            <a:r>
              <a:rPr lang="en-US" sz="1600" dirty="0">
                <a:solidFill>
                  <a:srgbClr val="008080"/>
                </a:solidFill>
                <a:ea typeface="Calibri"/>
                <a:cs typeface="Times New Roman"/>
              </a:rPr>
              <a:t>@group</a:t>
            </a:r>
            <a:endParaRPr lang="ru-RU" sz="1600" dirty="0">
              <a:ea typeface="Calibri"/>
              <a:cs typeface="Times New Roman"/>
            </a:endParaRPr>
          </a:p>
          <a:p>
            <a:pPr>
              <a:spcAft>
                <a:spcPts val="0"/>
              </a:spcAft>
            </a:pPr>
            <a:r>
              <a:rPr lang="en-US" sz="1600" dirty="0">
                <a:solidFill>
                  <a:srgbClr val="008080"/>
                </a:solidFill>
                <a:ea typeface="Calibri"/>
                <a:cs typeface="Times New Roman"/>
              </a:rPr>
              <a:t> </a:t>
            </a:r>
            <a:endParaRPr lang="ru-RU" sz="1600" dirty="0">
              <a:solidFill>
                <a:srgbClr val="008080"/>
              </a:solidFill>
              <a:ea typeface="Calibri"/>
              <a:cs typeface="Times New Roman"/>
            </a:endParaRPr>
          </a:p>
          <a:p>
            <a:pPr>
              <a:spcAft>
                <a:spcPts val="0"/>
              </a:spcAft>
            </a:pPr>
            <a:r>
              <a:rPr lang="ru-RU" sz="1600" dirty="0">
                <a:ea typeface="Calibri"/>
                <a:cs typeface="Times New Roman"/>
              </a:rPr>
              <a:t>Вызов процедуры:</a:t>
            </a:r>
          </a:p>
          <a:p>
            <a:pPr>
              <a:spcAft>
                <a:spcPts val="0"/>
              </a:spcAft>
            </a:pPr>
            <a:r>
              <a:rPr lang="ru-RU" sz="1600" dirty="0" err="1">
                <a:solidFill>
                  <a:srgbClr val="008080"/>
                </a:solidFill>
                <a:ea typeface="Calibri"/>
                <a:cs typeface="Times New Roman"/>
              </a:rPr>
              <a:t>Information_red_diploma</a:t>
            </a:r>
            <a:r>
              <a:rPr lang="ru-RU" sz="1600" dirty="0">
                <a:ea typeface="Calibri"/>
                <a:cs typeface="Times New Roman"/>
              </a:rPr>
              <a:t> </a:t>
            </a:r>
            <a:r>
              <a:rPr lang="ru-RU" sz="1600" dirty="0">
                <a:solidFill>
                  <a:srgbClr val="FF0000"/>
                </a:solidFill>
                <a:ea typeface="Calibri"/>
                <a:cs typeface="Times New Roman"/>
              </a:rPr>
              <a:t>'БПО'</a:t>
            </a:r>
            <a:endParaRPr lang="ru-RU" sz="1600" dirty="0">
              <a:ea typeface="Calibri"/>
              <a:cs typeface="Times New Roman"/>
            </a:endParaRPr>
          </a:p>
          <a:p>
            <a:endParaRPr lang="ru-RU" sz="1600" dirty="0"/>
          </a:p>
        </p:txBody>
      </p:sp>
      <p:pic>
        <p:nvPicPr>
          <p:cNvPr id="5" name="Рисунок 4"/>
          <p:cNvPicPr/>
          <p:nvPr/>
        </p:nvPicPr>
        <p:blipFill>
          <a:blip r:embed="rId2" cstate="print"/>
          <a:srcRect r="-1246" b="17567"/>
          <a:stretch>
            <a:fillRect/>
          </a:stretch>
        </p:blipFill>
        <p:spPr bwMode="auto">
          <a:xfrm>
            <a:off x="3071802" y="5429240"/>
            <a:ext cx="5572164" cy="142876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582594"/>
          </a:xfrm>
        </p:spPr>
        <p:txBody>
          <a:bodyPr>
            <a:normAutofit/>
          </a:bodyPr>
          <a:lstStyle/>
          <a:p>
            <a:r>
              <a:rPr lang="ru-RU" sz="2500" dirty="0"/>
              <a:t>Пример вызова функции из хранимой процедуры</a:t>
            </a:r>
          </a:p>
        </p:txBody>
      </p:sp>
      <p:sp>
        <p:nvSpPr>
          <p:cNvPr id="3" name="Номер слайда 2"/>
          <p:cNvSpPr>
            <a:spLocks noGrp="1"/>
          </p:cNvSpPr>
          <p:nvPr>
            <p:ph type="sldNum" sz="quarter" idx="12"/>
          </p:nvPr>
        </p:nvSpPr>
        <p:spPr/>
        <p:txBody>
          <a:bodyPr/>
          <a:lstStyle/>
          <a:p>
            <a:fld id="{1F87023B-4310-42C4-812D-874FAF4871B2}" type="slidenum">
              <a:rPr lang="ru-RU" smtClean="0"/>
              <a:pPr/>
              <a:t>23</a:t>
            </a:fld>
            <a:endParaRPr lang="ru-RU"/>
          </a:p>
        </p:txBody>
      </p:sp>
      <p:sp>
        <p:nvSpPr>
          <p:cNvPr id="4" name="TextBox 3"/>
          <p:cNvSpPr txBox="1"/>
          <p:nvPr/>
        </p:nvSpPr>
        <p:spPr>
          <a:xfrm>
            <a:off x="428596" y="785794"/>
            <a:ext cx="8358246" cy="5016758"/>
          </a:xfrm>
          <a:prstGeom prst="rect">
            <a:avLst/>
          </a:prstGeom>
          <a:noFill/>
        </p:spPr>
        <p:txBody>
          <a:bodyPr wrap="square" rtlCol="0">
            <a:spAutoFit/>
          </a:bodyPr>
          <a:lstStyle/>
          <a:p>
            <a:pPr>
              <a:spcAft>
                <a:spcPts val="0"/>
              </a:spcAft>
            </a:pPr>
            <a:r>
              <a:rPr lang="ru-RU" sz="1600" dirty="0">
                <a:ea typeface="Calibri"/>
                <a:cs typeface="Times New Roman"/>
              </a:rPr>
              <a:t>Создание процедуры для увеличения стипендии тем студентом у которых ср.оценка больше или </a:t>
            </a:r>
            <a:r>
              <a:rPr lang="ru-RU" sz="1600">
                <a:ea typeface="Calibri"/>
                <a:cs typeface="Times New Roman"/>
              </a:rPr>
              <a:t>равна 4.75 </a:t>
            </a:r>
            <a:r>
              <a:rPr lang="ru-RU" sz="1600" dirty="0">
                <a:ea typeface="Calibri"/>
                <a:cs typeface="Times New Roman"/>
              </a:rPr>
              <a:t>и нет троек. Значение процента увеличения стипендия передается через входной параметр. Процедура вызывает ранее созданную функцию </a:t>
            </a:r>
            <a:r>
              <a:rPr lang="en-US" sz="1600" b="1" dirty="0" err="1">
                <a:ln w="1905"/>
                <a:solidFill>
                  <a:srgbClr val="00B050"/>
                </a:solidFill>
                <a:effectLst>
                  <a:innerShdw blurRad="69850" dist="43180" dir="5400000">
                    <a:srgbClr val="000000">
                      <a:alpha val="65000"/>
                    </a:srgbClr>
                  </a:innerShdw>
                </a:effectLst>
                <a:ea typeface="Calibri"/>
                <a:cs typeface="Times New Roman"/>
              </a:rPr>
              <a:t>dbo.Avg_mark</a:t>
            </a:r>
            <a:r>
              <a:rPr lang="en-US" sz="1600" b="1" dirty="0">
                <a:ln w="1905"/>
                <a:solidFill>
                  <a:srgbClr val="00B050"/>
                </a:solidFill>
                <a:effectLst>
                  <a:innerShdw blurRad="69850" dist="43180" dir="5400000">
                    <a:srgbClr val="000000">
                      <a:alpha val="65000"/>
                    </a:srgbClr>
                  </a:innerShdw>
                </a:effectLst>
                <a:ea typeface="Calibri"/>
                <a:cs typeface="Times New Roman"/>
              </a:rPr>
              <a:t>()</a:t>
            </a:r>
            <a:r>
              <a:rPr lang="ru-RU" sz="1600" dirty="0">
                <a:solidFill>
                  <a:srgbClr val="808080"/>
                </a:solidFill>
                <a:ea typeface="Calibri"/>
                <a:cs typeface="Times New Roman"/>
              </a:rPr>
              <a:t>. </a:t>
            </a:r>
            <a:endParaRPr lang="ru-RU" sz="1600" dirty="0">
              <a:ea typeface="Calibri"/>
              <a:cs typeface="Times New Roman"/>
            </a:endParaRPr>
          </a:p>
          <a:p>
            <a:pPr>
              <a:spcAft>
                <a:spcPts val="0"/>
              </a:spcAft>
            </a:pPr>
            <a:endParaRPr lang="ru-RU" sz="1600" dirty="0">
              <a:ea typeface="Calibri"/>
              <a:cs typeface="Times New Roman"/>
            </a:endParaRPr>
          </a:p>
          <a:p>
            <a:pPr>
              <a:spcAft>
                <a:spcPts val="0"/>
              </a:spcAft>
            </a:pPr>
            <a:r>
              <a:rPr lang="ru-RU" sz="1600" dirty="0">
                <a:ea typeface="Calibri"/>
                <a:cs typeface="Times New Roman"/>
              </a:rPr>
              <a:t> </a:t>
            </a:r>
            <a:r>
              <a:rPr lang="en-US" sz="1600" dirty="0">
                <a:solidFill>
                  <a:srgbClr val="0000FF"/>
                </a:solidFill>
                <a:ea typeface="Calibri"/>
                <a:cs typeface="Times New Roman"/>
              </a:rPr>
              <a:t>CREATE</a:t>
            </a:r>
            <a:r>
              <a:rPr lang="en-US" sz="1600" dirty="0">
                <a:ea typeface="Calibri"/>
                <a:cs typeface="Times New Roman"/>
              </a:rPr>
              <a:t> </a:t>
            </a:r>
            <a:r>
              <a:rPr lang="en-US" sz="1600" dirty="0">
                <a:solidFill>
                  <a:srgbClr val="0000FF"/>
                </a:solidFill>
                <a:ea typeface="Calibri"/>
                <a:cs typeface="Times New Roman"/>
              </a:rPr>
              <a:t>PROCEDURE</a:t>
            </a:r>
            <a:r>
              <a:rPr lang="en-US" sz="1600" dirty="0">
                <a:ea typeface="Calibri"/>
                <a:cs typeface="Times New Roman"/>
              </a:rPr>
              <a:t> </a:t>
            </a:r>
            <a:r>
              <a:rPr lang="en-US" sz="1600" dirty="0">
                <a:solidFill>
                  <a:srgbClr val="008080"/>
                </a:solidFill>
                <a:ea typeface="Calibri"/>
                <a:cs typeface="Times New Roman"/>
              </a:rPr>
              <a:t>Update</a:t>
            </a:r>
            <a:r>
              <a:rPr lang="ru-RU" sz="1600" dirty="0">
                <a:solidFill>
                  <a:srgbClr val="008080"/>
                </a:solidFill>
                <a:ea typeface="Calibri"/>
                <a:cs typeface="Times New Roman"/>
              </a:rPr>
              <a:t>_</a:t>
            </a:r>
            <a:r>
              <a:rPr lang="en-US" sz="1600" dirty="0">
                <a:solidFill>
                  <a:srgbClr val="008080"/>
                </a:solidFill>
                <a:ea typeface="Calibri"/>
                <a:cs typeface="Times New Roman"/>
              </a:rPr>
              <a:t>stipend</a:t>
            </a:r>
            <a:endParaRPr lang="ru-RU" sz="1600" dirty="0">
              <a:ea typeface="Calibri"/>
              <a:cs typeface="Times New Roman"/>
            </a:endParaRPr>
          </a:p>
          <a:p>
            <a:pPr>
              <a:spcAft>
                <a:spcPts val="0"/>
              </a:spcAft>
            </a:pPr>
            <a:r>
              <a:rPr lang="en-US" sz="1600" dirty="0">
                <a:solidFill>
                  <a:srgbClr val="008080"/>
                </a:solidFill>
                <a:ea typeface="Calibri"/>
                <a:cs typeface="Times New Roman"/>
              </a:rPr>
              <a:t>@</a:t>
            </a:r>
            <a:r>
              <a:rPr lang="en-US" sz="1600" dirty="0" err="1">
                <a:solidFill>
                  <a:srgbClr val="008080"/>
                </a:solidFill>
                <a:ea typeface="Calibri"/>
                <a:cs typeface="Times New Roman"/>
              </a:rPr>
              <a:t>Persent</a:t>
            </a:r>
            <a:r>
              <a:rPr lang="en-US" sz="1600" dirty="0">
                <a:ea typeface="Calibri"/>
                <a:cs typeface="Times New Roman"/>
              </a:rPr>
              <a:t> </a:t>
            </a:r>
            <a:r>
              <a:rPr lang="en-US" sz="1600" dirty="0">
                <a:solidFill>
                  <a:srgbClr val="0000FF"/>
                </a:solidFill>
                <a:ea typeface="Calibri"/>
                <a:cs typeface="Times New Roman"/>
              </a:rPr>
              <a:t>FLOAT</a:t>
            </a:r>
            <a:endParaRPr lang="ru-RU" sz="1600" dirty="0">
              <a:ea typeface="Calibri"/>
              <a:cs typeface="Times New Roman"/>
            </a:endParaRPr>
          </a:p>
          <a:p>
            <a:pPr>
              <a:spcAft>
                <a:spcPts val="0"/>
              </a:spcAft>
            </a:pPr>
            <a:r>
              <a:rPr lang="en-US" sz="1600" dirty="0">
                <a:solidFill>
                  <a:srgbClr val="0000FF"/>
                </a:solidFill>
                <a:ea typeface="Calibri"/>
                <a:cs typeface="Times New Roman"/>
              </a:rPr>
              <a:t>AS</a:t>
            </a:r>
            <a:endParaRPr lang="ru-RU" sz="1600" dirty="0">
              <a:ea typeface="Calibri"/>
              <a:cs typeface="Times New Roman"/>
            </a:endParaRPr>
          </a:p>
          <a:p>
            <a:pPr>
              <a:spcAft>
                <a:spcPts val="0"/>
              </a:spcAft>
            </a:pPr>
            <a:r>
              <a:rPr lang="en-US" sz="1600" dirty="0">
                <a:solidFill>
                  <a:srgbClr val="0000FF"/>
                </a:solidFill>
                <a:ea typeface="Calibri"/>
                <a:cs typeface="Times New Roman"/>
              </a:rPr>
              <a:t>UPDATE</a:t>
            </a:r>
            <a:r>
              <a:rPr lang="en-US" sz="1600" dirty="0">
                <a:ea typeface="Calibri"/>
                <a:cs typeface="Times New Roman"/>
              </a:rPr>
              <a:t> </a:t>
            </a:r>
            <a:r>
              <a:rPr lang="en-US" sz="1600" dirty="0">
                <a:solidFill>
                  <a:srgbClr val="008080"/>
                </a:solidFill>
                <a:ea typeface="Calibri"/>
                <a:cs typeface="Times New Roman"/>
              </a:rPr>
              <a:t>Student</a:t>
            </a:r>
            <a:endParaRPr lang="ru-RU" sz="1600" dirty="0">
              <a:ea typeface="Calibri"/>
              <a:cs typeface="Times New Roman"/>
            </a:endParaRPr>
          </a:p>
          <a:p>
            <a:pPr>
              <a:spcAft>
                <a:spcPts val="0"/>
              </a:spcAft>
            </a:pPr>
            <a:r>
              <a:rPr lang="en-US" sz="1600" dirty="0">
                <a:solidFill>
                  <a:srgbClr val="0000FF"/>
                </a:solidFill>
                <a:ea typeface="Calibri"/>
                <a:cs typeface="Times New Roman"/>
              </a:rPr>
              <a:t>SET</a:t>
            </a:r>
            <a:r>
              <a:rPr lang="en-US" sz="1600" dirty="0">
                <a:ea typeface="Calibri"/>
                <a:cs typeface="Times New Roman"/>
              </a:rPr>
              <a:t> </a:t>
            </a:r>
            <a:r>
              <a:rPr lang="en-US" sz="1600" dirty="0">
                <a:solidFill>
                  <a:srgbClr val="008080"/>
                </a:solidFill>
                <a:ea typeface="Calibri"/>
                <a:cs typeface="Times New Roman"/>
              </a:rPr>
              <a:t>Stipend</a:t>
            </a:r>
            <a:r>
              <a:rPr lang="en-US" sz="1600" dirty="0">
                <a:solidFill>
                  <a:srgbClr val="808080"/>
                </a:solidFill>
                <a:ea typeface="Calibri"/>
                <a:cs typeface="Times New Roman"/>
              </a:rPr>
              <a:t>=(</a:t>
            </a:r>
            <a:r>
              <a:rPr lang="en-US" sz="1600" dirty="0">
                <a:solidFill>
                  <a:srgbClr val="0000FF"/>
                </a:solidFill>
                <a:ea typeface="Calibri"/>
                <a:cs typeface="Times New Roman"/>
              </a:rPr>
              <a:t>CASE</a:t>
            </a:r>
            <a:r>
              <a:rPr lang="en-US" sz="1600" dirty="0">
                <a:ea typeface="Calibri"/>
                <a:cs typeface="Times New Roman"/>
              </a:rPr>
              <a:t> </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WHEN</a:t>
            </a:r>
            <a:r>
              <a:rPr lang="en-US" sz="1600" dirty="0">
                <a:ea typeface="Calibri"/>
                <a:cs typeface="Times New Roman"/>
              </a:rPr>
              <a:t> </a:t>
            </a:r>
            <a:r>
              <a:rPr lang="en-US" sz="1600" dirty="0" err="1">
                <a:solidFill>
                  <a:srgbClr val="008080"/>
                </a:solidFill>
                <a:ea typeface="Calibri"/>
                <a:cs typeface="Times New Roman"/>
              </a:rPr>
              <a:t>AVG_mark</a:t>
            </a:r>
            <a:r>
              <a:rPr lang="en-US" sz="1600" dirty="0">
                <a:solidFill>
                  <a:srgbClr val="808080"/>
                </a:solidFill>
                <a:ea typeface="Calibri"/>
                <a:cs typeface="Times New Roman"/>
              </a:rPr>
              <a:t>&gt;=</a:t>
            </a:r>
            <a:r>
              <a:rPr lang="en-US" sz="1600" dirty="0">
                <a:ea typeface="Calibri"/>
                <a:cs typeface="Times New Roman"/>
              </a:rPr>
              <a:t>4.75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Count_2</a:t>
            </a:r>
            <a:r>
              <a:rPr lang="en-US" sz="1600" dirty="0">
                <a:solidFill>
                  <a:srgbClr val="808080"/>
                </a:solidFill>
                <a:ea typeface="Calibri"/>
                <a:cs typeface="Times New Roman"/>
              </a:rPr>
              <a:t>=</a:t>
            </a:r>
            <a:r>
              <a:rPr lang="en-US" sz="1600" dirty="0">
                <a:ea typeface="Calibri"/>
                <a:cs typeface="Times New Roman"/>
              </a:rPr>
              <a:t>0 </a:t>
            </a:r>
            <a:r>
              <a:rPr lang="en-US" sz="1600" dirty="0">
                <a:solidFill>
                  <a:srgbClr val="808080"/>
                </a:solidFill>
                <a:ea typeface="Calibri"/>
                <a:cs typeface="Times New Roman"/>
              </a:rPr>
              <a:t>AND</a:t>
            </a:r>
            <a:r>
              <a:rPr lang="en-US" sz="1600" dirty="0">
                <a:ea typeface="Calibri"/>
                <a:cs typeface="Times New Roman"/>
              </a:rPr>
              <a:t> </a:t>
            </a:r>
            <a:r>
              <a:rPr lang="en-US" sz="1600" dirty="0">
                <a:solidFill>
                  <a:srgbClr val="008080"/>
                </a:solidFill>
                <a:ea typeface="Calibri"/>
                <a:cs typeface="Times New Roman"/>
              </a:rPr>
              <a:t>Count_3</a:t>
            </a:r>
            <a:r>
              <a:rPr lang="en-US" sz="1600" dirty="0">
                <a:solidFill>
                  <a:srgbClr val="808080"/>
                </a:solidFill>
                <a:ea typeface="Calibri"/>
                <a:cs typeface="Times New Roman"/>
              </a:rPr>
              <a:t>=</a:t>
            </a:r>
            <a:r>
              <a:rPr lang="en-US" sz="1600" dirty="0">
                <a:ea typeface="Calibri"/>
                <a:cs typeface="Times New Roman"/>
              </a:rPr>
              <a:t>0 </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THEN</a:t>
            </a:r>
            <a:r>
              <a:rPr lang="en-US" sz="1600" dirty="0">
                <a:ea typeface="Calibri"/>
                <a:cs typeface="Times New Roman"/>
              </a:rPr>
              <a:t> </a:t>
            </a:r>
            <a:r>
              <a:rPr lang="en-US" sz="1600" dirty="0">
                <a:solidFill>
                  <a:srgbClr val="008080"/>
                </a:solidFill>
                <a:ea typeface="Calibri"/>
                <a:cs typeface="Times New Roman"/>
              </a:rPr>
              <a:t>Stipend</a:t>
            </a:r>
            <a:r>
              <a:rPr lang="en-US" sz="1600" dirty="0">
                <a:solidFill>
                  <a:srgbClr val="808080"/>
                </a:solidFill>
                <a:ea typeface="Calibri"/>
                <a:cs typeface="Times New Roman"/>
              </a:rPr>
              <a:t>*(</a:t>
            </a:r>
            <a:r>
              <a:rPr lang="en-US" sz="1600" dirty="0">
                <a:ea typeface="Calibri"/>
                <a:cs typeface="Times New Roman"/>
              </a:rPr>
              <a:t>100</a:t>
            </a:r>
            <a:r>
              <a:rPr lang="en-US" sz="1600" dirty="0">
                <a:solidFill>
                  <a:srgbClr val="808080"/>
                </a:solidFill>
                <a:ea typeface="Calibri"/>
                <a:cs typeface="Times New Roman"/>
              </a:rPr>
              <a:t>+</a:t>
            </a:r>
            <a:r>
              <a:rPr lang="en-US" sz="1600" dirty="0">
                <a:solidFill>
                  <a:srgbClr val="008080"/>
                </a:solidFill>
                <a:ea typeface="Calibri"/>
                <a:cs typeface="Times New Roman"/>
              </a:rPr>
              <a:t>@</a:t>
            </a:r>
            <a:r>
              <a:rPr lang="en-US" sz="1600" dirty="0" err="1">
                <a:solidFill>
                  <a:srgbClr val="008080"/>
                </a:solidFill>
                <a:ea typeface="Calibri"/>
                <a:cs typeface="Times New Roman"/>
              </a:rPr>
              <a:t>Persent</a:t>
            </a:r>
            <a:r>
              <a:rPr lang="en-US" sz="1600" dirty="0">
                <a:solidFill>
                  <a:srgbClr val="808080"/>
                </a:solidFill>
                <a:ea typeface="Calibri"/>
                <a:cs typeface="Times New Roman"/>
              </a:rPr>
              <a:t>)/</a:t>
            </a:r>
            <a:r>
              <a:rPr lang="en-US" sz="1600" dirty="0">
                <a:ea typeface="Calibri"/>
                <a:cs typeface="Times New Roman"/>
              </a:rPr>
              <a:t>100</a:t>
            </a:r>
            <a:endParaRPr lang="ru-RU" sz="1600" dirty="0">
              <a:ea typeface="Calibri"/>
              <a:cs typeface="Times New Roman"/>
            </a:endParaRPr>
          </a:p>
          <a:p>
            <a:pPr>
              <a:spcAft>
                <a:spcPts val="0"/>
              </a:spcAft>
            </a:pPr>
            <a:r>
              <a:rPr lang="en-US" sz="1600" dirty="0">
                <a:ea typeface="Calibri"/>
                <a:cs typeface="Times New Roman"/>
              </a:rPr>
              <a:t>	 </a:t>
            </a:r>
            <a:r>
              <a:rPr lang="ru-RU" sz="1600" dirty="0">
                <a:ea typeface="Calibri"/>
                <a:cs typeface="Times New Roman"/>
              </a:rPr>
              <a:t>    </a:t>
            </a:r>
            <a:r>
              <a:rPr lang="en-US" sz="1600" dirty="0">
                <a:solidFill>
                  <a:srgbClr val="0000FF"/>
                </a:solidFill>
                <a:ea typeface="Calibri"/>
                <a:cs typeface="Times New Roman"/>
              </a:rPr>
              <a:t>ELSE</a:t>
            </a:r>
            <a:r>
              <a:rPr lang="en-US" sz="1600" dirty="0">
                <a:ea typeface="Calibri"/>
                <a:cs typeface="Times New Roman"/>
              </a:rPr>
              <a:t> </a:t>
            </a:r>
            <a:r>
              <a:rPr lang="en-US" sz="1600" dirty="0">
                <a:solidFill>
                  <a:srgbClr val="008080"/>
                </a:solidFill>
                <a:ea typeface="Calibri"/>
                <a:cs typeface="Times New Roman"/>
              </a:rPr>
              <a:t>Stipend</a:t>
            </a:r>
            <a:endParaRPr lang="ru-RU" sz="1600" dirty="0">
              <a:ea typeface="Calibri"/>
              <a:cs typeface="Times New Roman"/>
            </a:endParaRPr>
          </a:p>
          <a:p>
            <a:pPr>
              <a:spcAft>
                <a:spcPts val="0"/>
              </a:spcAft>
            </a:pPr>
            <a:r>
              <a:rPr lang="ru-RU" sz="1600" dirty="0">
                <a:solidFill>
                  <a:srgbClr val="0000FF"/>
                </a:solidFill>
                <a:ea typeface="Calibri"/>
                <a:cs typeface="Times New Roman"/>
              </a:rPr>
              <a:t>	     </a:t>
            </a:r>
            <a:r>
              <a:rPr lang="en-US" sz="1600" dirty="0">
                <a:solidFill>
                  <a:srgbClr val="0000FF"/>
                </a:solidFill>
                <a:ea typeface="Calibri"/>
                <a:cs typeface="Times New Roman"/>
              </a:rPr>
              <a:t>END</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FROM</a:t>
            </a:r>
            <a:r>
              <a:rPr lang="en-US" sz="1600" dirty="0">
                <a:ea typeface="Calibri"/>
                <a:cs typeface="Times New Roman"/>
              </a:rPr>
              <a:t> </a:t>
            </a:r>
            <a:r>
              <a:rPr lang="en-US" sz="1600" dirty="0">
                <a:solidFill>
                  <a:srgbClr val="008080"/>
                </a:solidFill>
                <a:ea typeface="Calibri"/>
                <a:cs typeface="Times New Roman"/>
              </a:rPr>
              <a:t>Student</a:t>
            </a:r>
            <a:r>
              <a:rPr lang="en-US" sz="1600" dirty="0">
                <a:solidFill>
                  <a:srgbClr val="808080"/>
                </a:solidFill>
                <a:ea typeface="Calibri"/>
                <a:cs typeface="Times New Roman"/>
              </a:rPr>
              <a:t>,</a:t>
            </a:r>
            <a:r>
              <a:rPr lang="en-US" sz="1600" dirty="0">
                <a:ea typeface="Calibri"/>
                <a:cs typeface="Times New Roman"/>
              </a:rPr>
              <a:t> </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Avg_mark</a:t>
            </a:r>
            <a:r>
              <a:rPr lang="en-US" sz="1600" dirty="0">
                <a:solidFill>
                  <a:srgbClr val="808080"/>
                </a:solidFill>
                <a:ea typeface="Calibri"/>
                <a:cs typeface="Times New Roman"/>
              </a:rPr>
              <a:t>()</a:t>
            </a:r>
            <a:endParaRPr lang="ru-RU" sz="1600" dirty="0">
              <a:ea typeface="Calibri"/>
              <a:cs typeface="Times New Roman"/>
            </a:endParaRPr>
          </a:p>
          <a:p>
            <a:pPr>
              <a:spcAft>
                <a:spcPts val="0"/>
              </a:spcAft>
            </a:pPr>
            <a:r>
              <a:rPr lang="en-US" sz="1600" dirty="0">
                <a:solidFill>
                  <a:srgbClr val="0000FF"/>
                </a:solidFill>
                <a:ea typeface="Calibri"/>
                <a:cs typeface="Times New Roman"/>
              </a:rPr>
              <a:t>WHERE</a:t>
            </a:r>
            <a:r>
              <a:rPr lang="en-US" sz="1600" dirty="0">
                <a:ea typeface="Calibri"/>
                <a:cs typeface="Times New Roman"/>
              </a:rPr>
              <a:t> </a:t>
            </a:r>
            <a:r>
              <a:rPr lang="en-US" sz="1600" dirty="0" err="1">
                <a:solidFill>
                  <a:srgbClr val="008080"/>
                </a:solidFill>
                <a:ea typeface="Calibri"/>
                <a:cs typeface="Times New Roman"/>
              </a:rPr>
              <a:t>Student</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ea typeface="Calibri"/>
                <a:cs typeface="Times New Roman"/>
              </a:rPr>
              <a:t> </a:t>
            </a:r>
            <a:r>
              <a:rPr lang="en-US" sz="1600" dirty="0">
                <a:solidFill>
                  <a:srgbClr val="808080"/>
                </a:solidFill>
                <a:ea typeface="Calibri"/>
                <a:cs typeface="Times New Roman"/>
              </a:rPr>
              <a:t>=</a:t>
            </a:r>
            <a:r>
              <a:rPr lang="en-US" sz="1600" dirty="0" err="1">
                <a:solidFill>
                  <a:srgbClr val="008080"/>
                </a:solidFill>
                <a:ea typeface="Calibri"/>
                <a:cs typeface="Times New Roman"/>
              </a:rPr>
              <a:t>dbo</a:t>
            </a:r>
            <a:r>
              <a:rPr lang="en-US" sz="1600" dirty="0" err="1">
                <a:solidFill>
                  <a:srgbClr val="808080"/>
                </a:solidFill>
                <a:ea typeface="Calibri"/>
                <a:cs typeface="Times New Roman"/>
              </a:rPr>
              <a:t>.</a:t>
            </a:r>
            <a:r>
              <a:rPr lang="en-US" sz="1600" dirty="0" err="1">
                <a:solidFill>
                  <a:srgbClr val="008080"/>
                </a:solidFill>
                <a:ea typeface="Calibri"/>
                <a:cs typeface="Times New Roman"/>
              </a:rPr>
              <a:t>Avg_mark</a:t>
            </a:r>
            <a:r>
              <a:rPr lang="en-US" sz="1600" dirty="0" err="1">
                <a:solidFill>
                  <a:srgbClr val="808080"/>
                </a:solidFill>
                <a:ea typeface="Calibri"/>
                <a:cs typeface="Times New Roman"/>
              </a:rPr>
              <a:t>.</a:t>
            </a:r>
            <a:r>
              <a:rPr lang="en-US" sz="1600" dirty="0" err="1">
                <a:solidFill>
                  <a:srgbClr val="008080"/>
                </a:solidFill>
                <a:ea typeface="Calibri"/>
                <a:cs typeface="Times New Roman"/>
              </a:rPr>
              <a:t>Student_Id</a:t>
            </a:r>
            <a:r>
              <a:rPr lang="en-US" sz="1600" dirty="0">
                <a:ea typeface="Calibri"/>
                <a:cs typeface="Times New Roman"/>
              </a:rPr>
              <a:t> </a:t>
            </a:r>
            <a:endParaRPr lang="ru-RU" sz="1600" dirty="0">
              <a:ea typeface="Calibri"/>
              <a:cs typeface="Times New Roman"/>
            </a:endParaRPr>
          </a:p>
          <a:p>
            <a:pPr>
              <a:spcAft>
                <a:spcPts val="0"/>
              </a:spcAft>
            </a:pPr>
            <a:r>
              <a:rPr lang="en-US" sz="1600" dirty="0">
                <a:ea typeface="Calibri"/>
                <a:cs typeface="Times New Roman"/>
              </a:rPr>
              <a:t> </a:t>
            </a:r>
            <a:endParaRPr lang="ru-RU" sz="1600" dirty="0">
              <a:ea typeface="Calibri"/>
              <a:cs typeface="Times New Roman"/>
            </a:endParaRPr>
          </a:p>
          <a:p>
            <a:pPr>
              <a:spcAft>
                <a:spcPts val="0"/>
              </a:spcAft>
            </a:pPr>
            <a:endParaRPr lang="ru-RU" sz="1600" dirty="0">
              <a:ea typeface="Calibri"/>
              <a:cs typeface="Times New Roman"/>
            </a:endParaRPr>
          </a:p>
          <a:p>
            <a:pPr>
              <a:spcAft>
                <a:spcPts val="0"/>
              </a:spcAft>
            </a:pPr>
            <a:r>
              <a:rPr lang="ru-RU" sz="1600" dirty="0">
                <a:ea typeface="Calibri"/>
                <a:cs typeface="Times New Roman"/>
              </a:rPr>
              <a:t>Вызов процедуры:</a:t>
            </a:r>
          </a:p>
          <a:p>
            <a:pPr>
              <a:spcAft>
                <a:spcPts val="0"/>
              </a:spcAft>
            </a:pPr>
            <a:r>
              <a:rPr lang="en-US" sz="1600" dirty="0">
                <a:solidFill>
                  <a:srgbClr val="008080"/>
                </a:solidFill>
                <a:ea typeface="Calibri"/>
                <a:cs typeface="Times New Roman"/>
              </a:rPr>
              <a:t>Update</a:t>
            </a:r>
            <a:r>
              <a:rPr lang="ru-RU" sz="1600" dirty="0">
                <a:solidFill>
                  <a:srgbClr val="008080"/>
                </a:solidFill>
                <a:ea typeface="Calibri"/>
                <a:cs typeface="Times New Roman"/>
              </a:rPr>
              <a:t>_</a:t>
            </a:r>
            <a:r>
              <a:rPr lang="en-US" sz="1600" dirty="0">
                <a:solidFill>
                  <a:srgbClr val="008080"/>
                </a:solidFill>
                <a:ea typeface="Calibri"/>
                <a:cs typeface="Times New Roman"/>
              </a:rPr>
              <a:t>stipend</a:t>
            </a:r>
            <a:r>
              <a:rPr lang="ru-RU" sz="1600" dirty="0">
                <a:ea typeface="Calibri"/>
                <a:cs typeface="Times New Roman"/>
              </a:rPr>
              <a:t> 10</a:t>
            </a:r>
          </a:p>
          <a:p>
            <a:endParaRPr lang="ru-RU" sz="1600" dirty="0"/>
          </a:p>
        </p:txBody>
      </p:sp>
      <p:pic>
        <p:nvPicPr>
          <p:cNvPr id="5" name="Рисунок 4"/>
          <p:cNvPicPr/>
          <p:nvPr/>
        </p:nvPicPr>
        <p:blipFill>
          <a:blip r:embed="rId2" cstate="print"/>
          <a:srcRect/>
          <a:stretch>
            <a:fillRect/>
          </a:stretch>
        </p:blipFill>
        <p:spPr bwMode="auto">
          <a:xfrm>
            <a:off x="3000364" y="5072074"/>
            <a:ext cx="2319347" cy="83344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4282" y="0"/>
            <a:ext cx="5329246" cy="714356"/>
          </a:xfrm>
        </p:spPr>
        <p:txBody>
          <a:bodyPr>
            <a:normAutofit/>
          </a:bodyPr>
          <a:lstStyle/>
          <a:p>
            <a:pPr algn="l"/>
            <a:r>
              <a:rPr lang="ru-RU" sz="2500" dirty="0"/>
              <a:t>Триггеры </a:t>
            </a:r>
            <a:r>
              <a:rPr lang="en-US" sz="2500" dirty="0"/>
              <a:t>(Triggers) </a:t>
            </a:r>
            <a:r>
              <a:rPr lang="ru-RU" sz="2500" dirty="0"/>
              <a:t> в </a:t>
            </a:r>
            <a:r>
              <a:rPr lang="en-US" sz="2500" dirty="0"/>
              <a:t>Transact</a:t>
            </a:r>
            <a:r>
              <a:rPr lang="en-US" sz="2500" dirty="0">
                <a:cs typeface="Calibri"/>
                <a:sym typeface="Symbol"/>
              </a:rPr>
              <a:t>−</a:t>
            </a:r>
            <a:r>
              <a:rPr lang="en-US" sz="2500" dirty="0"/>
              <a:t>SQL</a:t>
            </a:r>
            <a:endParaRPr lang="ru-RU" sz="2500" dirty="0"/>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24</a:t>
            </a:fld>
            <a:endParaRPr lang="ru-RU" dirty="0"/>
          </a:p>
        </p:txBody>
      </p:sp>
      <p:pic>
        <p:nvPicPr>
          <p:cNvPr id="4" name="Picture 3"/>
          <p:cNvPicPr>
            <a:picLocks noChangeAspect="1" noChangeArrowheads="1"/>
          </p:cNvPicPr>
          <p:nvPr/>
        </p:nvPicPr>
        <p:blipFill>
          <a:blip r:embed="rId2" cstate="print"/>
          <a:srcRect/>
          <a:stretch>
            <a:fillRect/>
          </a:stretch>
        </p:blipFill>
        <p:spPr bwMode="auto">
          <a:xfrm>
            <a:off x="5715008" y="0"/>
            <a:ext cx="3220073" cy="1357298"/>
          </a:xfrm>
          <a:prstGeom prst="rect">
            <a:avLst/>
          </a:prstGeom>
          <a:noFill/>
          <a:ln w="9525">
            <a:noFill/>
            <a:miter lim="800000"/>
            <a:headEnd/>
            <a:tailEnd/>
          </a:ln>
          <a:effectLst/>
        </p:spPr>
      </p:pic>
      <p:sp>
        <p:nvSpPr>
          <p:cNvPr id="5" name="TextBox 4"/>
          <p:cNvSpPr txBox="1"/>
          <p:nvPr/>
        </p:nvSpPr>
        <p:spPr>
          <a:xfrm>
            <a:off x="214282" y="642918"/>
            <a:ext cx="6000792" cy="923330"/>
          </a:xfrm>
          <a:prstGeom prst="rect">
            <a:avLst/>
          </a:prstGeom>
          <a:noFill/>
        </p:spPr>
        <p:txBody>
          <a:bodyPr wrap="square" rtlCol="0">
            <a:spAutoFit/>
          </a:bodyPr>
          <a:lstStyle/>
          <a:p>
            <a:r>
              <a:rPr lang="ru-RU" b="1" dirty="0">
                <a:solidFill>
                  <a:schemeClr val="accent4">
                    <a:lumMod val="75000"/>
                  </a:schemeClr>
                </a:solidFill>
              </a:rPr>
              <a:t>Триггер</a:t>
            </a:r>
            <a:r>
              <a:rPr lang="ru-RU" b="1" dirty="0"/>
              <a:t> </a:t>
            </a:r>
            <a:r>
              <a:rPr lang="ru-RU" dirty="0"/>
              <a:t>–это специальный вид хранимой процедуры, который выполняется автоматически при наступлении определенного события (действия) внутри БД.</a:t>
            </a:r>
          </a:p>
        </p:txBody>
      </p:sp>
      <p:sp>
        <p:nvSpPr>
          <p:cNvPr id="6" name="Прямоугольник 5"/>
          <p:cNvSpPr/>
          <p:nvPr/>
        </p:nvSpPr>
        <p:spPr>
          <a:xfrm>
            <a:off x="214282" y="3071810"/>
            <a:ext cx="1571668" cy="914400"/>
          </a:xfrm>
          <a:prstGeom prst="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4">
                    <a:lumMod val="50000"/>
                  </a:schemeClr>
                </a:solidFill>
              </a:rPr>
              <a:t>Триггер</a:t>
            </a:r>
          </a:p>
        </p:txBody>
      </p:sp>
      <p:sp>
        <p:nvSpPr>
          <p:cNvPr id="7" name="Скругленный прямоугольник 6"/>
          <p:cNvSpPr/>
          <p:nvPr/>
        </p:nvSpPr>
        <p:spPr>
          <a:xfrm>
            <a:off x="2857488" y="2500282"/>
            <a:ext cx="6072230" cy="642942"/>
          </a:xfrm>
          <a:prstGeom prst="round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4">
                    <a:lumMod val="50000"/>
                  </a:schemeClr>
                </a:solidFill>
              </a:rPr>
              <a:t>выполняется неявно в каждом случае возникновения </a:t>
            </a:r>
            <a:r>
              <a:rPr lang="ru-RU" dirty="0" err="1">
                <a:solidFill>
                  <a:schemeClr val="accent4">
                    <a:lumMod val="50000"/>
                  </a:schemeClr>
                </a:solidFill>
              </a:rPr>
              <a:t>триггерного</a:t>
            </a:r>
            <a:r>
              <a:rPr lang="ru-RU" dirty="0">
                <a:solidFill>
                  <a:schemeClr val="accent4">
                    <a:lumMod val="50000"/>
                  </a:schemeClr>
                </a:solidFill>
              </a:rPr>
              <a:t> события</a:t>
            </a:r>
          </a:p>
        </p:txBody>
      </p:sp>
      <p:sp>
        <p:nvSpPr>
          <p:cNvPr id="8" name="Скругленный прямоугольник 7"/>
          <p:cNvSpPr/>
          <p:nvPr/>
        </p:nvSpPr>
        <p:spPr>
          <a:xfrm>
            <a:off x="2786082" y="1571588"/>
            <a:ext cx="6143636" cy="642942"/>
          </a:xfrm>
          <a:prstGeom prst="round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700" dirty="0">
                <a:solidFill>
                  <a:schemeClr val="accent4">
                    <a:lumMod val="50000"/>
                  </a:schemeClr>
                </a:solidFill>
              </a:rPr>
              <a:t>хранится на сервере БД; привязан к таблице (или представлению) и срабатывает на одно или несколько событий</a:t>
            </a:r>
          </a:p>
        </p:txBody>
      </p:sp>
      <p:sp>
        <p:nvSpPr>
          <p:cNvPr id="9" name="Скругленный прямоугольник 8"/>
          <p:cNvSpPr/>
          <p:nvPr/>
        </p:nvSpPr>
        <p:spPr>
          <a:xfrm>
            <a:off x="2928926" y="3643314"/>
            <a:ext cx="5929354" cy="642942"/>
          </a:xfrm>
          <a:prstGeom prst="round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4">
                    <a:lumMod val="50000"/>
                  </a:schemeClr>
                </a:solidFill>
              </a:rPr>
              <a:t>обеспечивают проверку изменений на корректность, прежде чем эти изменения будут приняты</a:t>
            </a:r>
          </a:p>
        </p:txBody>
      </p:sp>
      <p:sp>
        <p:nvSpPr>
          <p:cNvPr id="10" name="Скругленный прямоугольник 9"/>
          <p:cNvSpPr/>
          <p:nvPr/>
        </p:nvSpPr>
        <p:spPr>
          <a:xfrm>
            <a:off x="3000396" y="4714860"/>
            <a:ext cx="5857884" cy="642942"/>
          </a:xfrm>
          <a:prstGeom prst="round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4">
                    <a:lumMod val="50000"/>
                  </a:schemeClr>
                </a:solidFill>
              </a:rPr>
              <a:t>может вызывать хранимые процедуры и функции</a:t>
            </a:r>
          </a:p>
        </p:txBody>
      </p:sp>
      <p:sp>
        <p:nvSpPr>
          <p:cNvPr id="11" name="Скругленный прямоугольник 10"/>
          <p:cNvSpPr/>
          <p:nvPr/>
        </p:nvSpPr>
        <p:spPr>
          <a:xfrm>
            <a:off x="3000396" y="5786430"/>
            <a:ext cx="5857884" cy="642942"/>
          </a:xfrm>
          <a:prstGeom prst="round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4">
                    <a:lumMod val="50000"/>
                  </a:schemeClr>
                </a:solidFill>
              </a:rPr>
              <a:t>не получает или не принимает параметры</a:t>
            </a:r>
            <a:endParaRPr lang="ru-RU" dirty="0">
              <a:solidFill>
                <a:schemeClr val="accent6">
                  <a:lumMod val="50000"/>
                </a:schemeClr>
              </a:solidFill>
            </a:endParaRPr>
          </a:p>
        </p:txBody>
      </p:sp>
      <p:cxnSp>
        <p:nvCxnSpPr>
          <p:cNvPr id="12" name="Прямая со стрелкой 11"/>
          <p:cNvCxnSpPr>
            <a:endCxn id="8" idx="1"/>
          </p:cNvCxnSpPr>
          <p:nvPr/>
        </p:nvCxnSpPr>
        <p:spPr>
          <a:xfrm rot="5400000" flipH="1" flipV="1">
            <a:off x="1660934" y="2018076"/>
            <a:ext cx="1250165" cy="1000132"/>
          </a:xfrm>
          <a:prstGeom prst="straightConnector1">
            <a:avLst/>
          </a:prstGeom>
          <a:ln w="28575">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1"/>
          </p:cNvCxnSpPr>
          <p:nvPr/>
        </p:nvCxnSpPr>
        <p:spPr>
          <a:xfrm flipV="1">
            <a:off x="1785950" y="2821753"/>
            <a:ext cx="1071538" cy="607224"/>
          </a:xfrm>
          <a:prstGeom prst="straightConnector1">
            <a:avLst/>
          </a:prstGeom>
          <a:ln w="28575">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p:nvPr/>
        </p:nvCxnSpPr>
        <p:spPr>
          <a:xfrm>
            <a:off x="1785950" y="3571876"/>
            <a:ext cx="1142976" cy="357190"/>
          </a:xfrm>
          <a:prstGeom prst="straightConnector1">
            <a:avLst/>
          </a:prstGeom>
          <a:ln w="28575">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endCxn id="10" idx="1"/>
          </p:cNvCxnSpPr>
          <p:nvPr/>
        </p:nvCxnSpPr>
        <p:spPr>
          <a:xfrm rot="16200000" flipH="1">
            <a:off x="1768090" y="3804025"/>
            <a:ext cx="1250166" cy="1214446"/>
          </a:xfrm>
          <a:prstGeom prst="straightConnector1">
            <a:avLst/>
          </a:prstGeom>
          <a:ln w="28575">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endCxn id="11" idx="1"/>
          </p:cNvCxnSpPr>
          <p:nvPr/>
        </p:nvCxnSpPr>
        <p:spPr>
          <a:xfrm rot="16200000" flipH="1">
            <a:off x="1339462" y="4446967"/>
            <a:ext cx="2107422" cy="1214446"/>
          </a:xfrm>
          <a:prstGeom prst="straightConnector1">
            <a:avLst/>
          </a:prstGeom>
          <a:ln w="28575">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571480"/>
          </a:xfrm>
        </p:spPr>
        <p:txBody>
          <a:bodyPr>
            <a:normAutofit/>
          </a:bodyPr>
          <a:lstStyle/>
          <a:p>
            <a:pPr lvl="0">
              <a:defRPr/>
            </a:pPr>
            <a:r>
              <a:rPr lang="ru-RU" sz="2500" dirty="0">
                <a:solidFill>
                  <a:prstClr val="black"/>
                </a:solidFill>
                <a:ea typeface="+mn-ea"/>
                <a:cs typeface="+mn-cs"/>
              </a:rPr>
              <a:t>Триггеры </a:t>
            </a:r>
            <a:r>
              <a:rPr lang="en-US" sz="2500" dirty="0">
                <a:solidFill>
                  <a:prstClr val="black"/>
                </a:solidFill>
                <a:ea typeface="+mn-ea"/>
                <a:cs typeface="+mn-cs"/>
              </a:rPr>
              <a:t>(Triggers) </a:t>
            </a:r>
            <a:r>
              <a:rPr lang="ru-RU" sz="2500" dirty="0">
                <a:solidFill>
                  <a:prstClr val="black"/>
                </a:solidFill>
                <a:ea typeface="+mn-ea"/>
                <a:cs typeface="+mn-cs"/>
              </a:rPr>
              <a:t> в </a:t>
            </a:r>
            <a:r>
              <a:rPr lang="en-US" sz="2500" dirty="0">
                <a:solidFill>
                  <a:prstClr val="black"/>
                </a:solidFill>
                <a:ea typeface="+mn-ea"/>
                <a:cs typeface="+mn-cs"/>
              </a:rPr>
              <a:t>Transact</a:t>
            </a:r>
            <a:r>
              <a:rPr lang="en-US" sz="2500" dirty="0">
                <a:solidFill>
                  <a:prstClr val="black"/>
                </a:solidFill>
                <a:ea typeface="+mn-ea"/>
                <a:cs typeface="Calibri"/>
                <a:sym typeface="Symbol"/>
              </a:rPr>
              <a:t>−</a:t>
            </a:r>
            <a:r>
              <a:rPr lang="en-US" sz="2500" dirty="0">
                <a:solidFill>
                  <a:prstClr val="black"/>
                </a:solidFill>
                <a:ea typeface="+mn-ea"/>
                <a:cs typeface="+mn-cs"/>
              </a:rPr>
              <a:t>SQL</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25</a:t>
            </a:fld>
            <a:endParaRPr lang="ru-RU"/>
          </a:p>
        </p:txBody>
      </p:sp>
      <p:sp>
        <p:nvSpPr>
          <p:cNvPr id="4" name="TextBox 3"/>
          <p:cNvSpPr txBox="1"/>
          <p:nvPr/>
        </p:nvSpPr>
        <p:spPr>
          <a:xfrm>
            <a:off x="285720" y="4057233"/>
            <a:ext cx="8643998" cy="2800767"/>
          </a:xfrm>
          <a:prstGeom prst="rect">
            <a:avLst/>
          </a:prstGeom>
          <a:noFill/>
        </p:spPr>
        <p:txBody>
          <a:bodyPr wrap="square" rtlCol="0">
            <a:spAutoFit/>
          </a:bodyPr>
          <a:lstStyle/>
          <a:p>
            <a:pPr fontAlgn="base"/>
            <a:r>
              <a:rPr lang="ru-RU" sz="1600" b="1" dirty="0"/>
              <a:t>События:</a:t>
            </a:r>
            <a:endParaRPr lang="ru-RU" sz="1600" dirty="0"/>
          </a:p>
          <a:p>
            <a:pPr fontAlgn="base"/>
            <a:r>
              <a:rPr lang="ru-RU" sz="1600" b="1" dirty="0">
                <a:solidFill>
                  <a:schemeClr val="accent4">
                    <a:lumMod val="50000"/>
                  </a:schemeClr>
                </a:solidFill>
              </a:rPr>
              <a:t>INSERT</a:t>
            </a:r>
            <a:r>
              <a:rPr lang="ru-RU" sz="1600" dirty="0">
                <a:solidFill>
                  <a:schemeClr val="accent4">
                    <a:lumMod val="50000"/>
                  </a:schemeClr>
                </a:solidFill>
              </a:rPr>
              <a:t> </a:t>
            </a:r>
            <a:r>
              <a:rPr lang="ru-RU" sz="1600" dirty="0"/>
              <a:t>– определяет действия, которые будут выполняться после добавления новой записи в таблицу;</a:t>
            </a:r>
          </a:p>
          <a:p>
            <a:pPr fontAlgn="base"/>
            <a:r>
              <a:rPr lang="ru-RU" sz="1600" b="1" dirty="0">
                <a:solidFill>
                  <a:schemeClr val="accent4">
                    <a:lumMod val="50000"/>
                  </a:schemeClr>
                </a:solidFill>
              </a:rPr>
              <a:t>UPDATE</a:t>
            </a:r>
            <a:r>
              <a:rPr lang="ru-RU" sz="1600" dirty="0"/>
              <a:t> – определяет действия, которые будут выполняться после изменения записи таблицы;</a:t>
            </a:r>
          </a:p>
          <a:p>
            <a:pPr fontAlgn="base"/>
            <a:r>
              <a:rPr lang="ru-RU" sz="1600" b="1" dirty="0">
                <a:solidFill>
                  <a:schemeClr val="accent4">
                    <a:lumMod val="50000"/>
                  </a:schemeClr>
                </a:solidFill>
              </a:rPr>
              <a:t>DELETE</a:t>
            </a:r>
            <a:r>
              <a:rPr lang="ru-RU" sz="1600" dirty="0"/>
              <a:t> – определяет действия, которые будут выполняться после удаления записи из таблиц.</a:t>
            </a:r>
          </a:p>
          <a:p>
            <a:pPr fontAlgn="base"/>
            <a:endParaRPr lang="ru-RU" sz="1600" b="1" dirty="0"/>
          </a:p>
          <a:p>
            <a:pPr fontAlgn="base"/>
            <a:r>
              <a:rPr lang="ru-RU" sz="1600" b="1" dirty="0"/>
              <a:t>Время срабатывания:</a:t>
            </a:r>
            <a:br>
              <a:rPr lang="ru-RU" sz="1600" dirty="0"/>
            </a:br>
            <a:r>
              <a:rPr lang="ru-RU" sz="1600" b="1" dirty="0">
                <a:solidFill>
                  <a:schemeClr val="accent4">
                    <a:lumMod val="50000"/>
                  </a:schemeClr>
                </a:solidFill>
              </a:rPr>
              <a:t>FOR</a:t>
            </a:r>
            <a:r>
              <a:rPr lang="ru-RU" sz="1600" dirty="0"/>
              <a:t> – срабатывает до изменения данных;</a:t>
            </a:r>
            <a:br>
              <a:rPr lang="ru-RU" sz="1600" dirty="0"/>
            </a:br>
            <a:r>
              <a:rPr lang="ru-RU" sz="1600" b="1" dirty="0">
                <a:solidFill>
                  <a:schemeClr val="accent4">
                    <a:lumMod val="50000"/>
                  </a:schemeClr>
                </a:solidFill>
              </a:rPr>
              <a:t>AFTER</a:t>
            </a:r>
            <a:r>
              <a:rPr lang="ru-RU" sz="1600" dirty="0"/>
              <a:t> – срабатывает после изменения данных;</a:t>
            </a:r>
            <a:br>
              <a:rPr lang="ru-RU" sz="1600" dirty="0"/>
            </a:br>
            <a:r>
              <a:rPr lang="ru-RU" sz="1600" b="1" dirty="0">
                <a:solidFill>
                  <a:schemeClr val="accent4">
                    <a:lumMod val="50000"/>
                  </a:schemeClr>
                </a:solidFill>
              </a:rPr>
              <a:t>INSTEAD OF </a:t>
            </a:r>
            <a:r>
              <a:rPr lang="ru-RU" sz="1600" dirty="0"/>
              <a:t>– срабатывает в место указанного события, только для команд DML.</a:t>
            </a:r>
          </a:p>
          <a:p>
            <a:endParaRPr lang="ru-RU" sz="1600" dirty="0"/>
          </a:p>
        </p:txBody>
      </p:sp>
      <p:graphicFrame>
        <p:nvGraphicFramePr>
          <p:cNvPr id="7" name="Схема 6"/>
          <p:cNvGraphicFramePr/>
          <p:nvPr/>
        </p:nvGraphicFramePr>
        <p:xfrm>
          <a:off x="857224" y="-285776"/>
          <a:ext cx="7858180" cy="5143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214290"/>
            <a:ext cx="8229600" cy="725470"/>
          </a:xfrm>
        </p:spPr>
        <p:txBody>
          <a:bodyPr>
            <a:normAutofit/>
          </a:bodyPr>
          <a:lstStyle/>
          <a:p>
            <a:r>
              <a:rPr lang="ru-RU" sz="2500" dirty="0"/>
              <a:t>Синтаксис создания/изменения триггера</a:t>
            </a:r>
          </a:p>
        </p:txBody>
      </p:sp>
      <p:sp>
        <p:nvSpPr>
          <p:cNvPr id="3" name="Номер слайда 2"/>
          <p:cNvSpPr>
            <a:spLocks noGrp="1"/>
          </p:cNvSpPr>
          <p:nvPr>
            <p:ph type="sldNum" sz="quarter" idx="12"/>
          </p:nvPr>
        </p:nvSpPr>
        <p:spPr>
          <a:xfrm>
            <a:off x="6500826" y="6356350"/>
            <a:ext cx="2133600" cy="365125"/>
          </a:xfrm>
        </p:spPr>
        <p:txBody>
          <a:bodyPr/>
          <a:lstStyle/>
          <a:p>
            <a:fld id="{1F87023B-4310-42C4-812D-874FAF4871B2}" type="slidenum">
              <a:rPr lang="ru-RU" smtClean="0"/>
              <a:pPr/>
              <a:t>26</a:t>
            </a:fld>
            <a:endParaRPr lang="ru-RU"/>
          </a:p>
        </p:txBody>
      </p:sp>
      <p:sp>
        <p:nvSpPr>
          <p:cNvPr id="4" name="TextBox 3"/>
          <p:cNvSpPr txBox="1"/>
          <p:nvPr/>
        </p:nvSpPr>
        <p:spPr>
          <a:xfrm>
            <a:off x="571472" y="1142984"/>
            <a:ext cx="7858180" cy="4801314"/>
          </a:xfrm>
          <a:prstGeom prst="rect">
            <a:avLst/>
          </a:prstGeom>
          <a:solidFill>
            <a:schemeClr val="accent4">
              <a:lumMod val="40000"/>
              <a:lumOff val="60000"/>
            </a:schemeClr>
          </a:solidFill>
          <a:ln>
            <a:solidFill>
              <a:schemeClr val="accent4">
                <a:lumMod val="50000"/>
              </a:schemeClr>
            </a:solidFill>
          </a:ln>
        </p:spPr>
        <p:txBody>
          <a:bodyPr wrap="square" rtlCol="0">
            <a:spAutoFit/>
          </a:bodyPr>
          <a:lstStyle/>
          <a:p>
            <a:r>
              <a:rPr lang="ru-RU" dirty="0"/>
              <a:t>Основной формат команды: </a:t>
            </a:r>
          </a:p>
          <a:p>
            <a:r>
              <a:rPr lang="en-US" b="1" dirty="0"/>
              <a:t>{CREATE | ALTER} TRIGGER</a:t>
            </a:r>
            <a:r>
              <a:rPr lang="en-US" dirty="0"/>
              <a:t> [</a:t>
            </a:r>
            <a:r>
              <a:rPr lang="ru-RU" dirty="0"/>
              <a:t>имя</a:t>
            </a:r>
            <a:r>
              <a:rPr lang="en-US" dirty="0"/>
              <a:t>_</a:t>
            </a:r>
            <a:r>
              <a:rPr lang="ru-RU" dirty="0"/>
              <a:t>триггера</a:t>
            </a:r>
            <a:r>
              <a:rPr lang="en-US" dirty="0"/>
              <a:t>]</a:t>
            </a:r>
            <a:endParaRPr lang="ru-RU" dirty="0"/>
          </a:p>
          <a:p>
            <a:r>
              <a:rPr lang="en-US" b="1" dirty="0"/>
              <a:t>ON</a:t>
            </a:r>
            <a:r>
              <a:rPr lang="en-US" dirty="0"/>
              <a:t> </a:t>
            </a:r>
            <a:r>
              <a:rPr lang="ru-RU" dirty="0"/>
              <a:t>имя</a:t>
            </a:r>
            <a:r>
              <a:rPr lang="en-US" dirty="0"/>
              <a:t>_</a:t>
            </a:r>
            <a:r>
              <a:rPr lang="ru-RU" dirty="0"/>
              <a:t>таблицы</a:t>
            </a:r>
          </a:p>
          <a:p>
            <a:r>
              <a:rPr lang="en-US" b="1" dirty="0"/>
              <a:t>{FOR | AFTER | INSTEAD OF} {[INSERT] [,] [UPDATE] [,] [ DELETE]}</a:t>
            </a:r>
            <a:endParaRPr lang="ru-RU" dirty="0"/>
          </a:p>
          <a:p>
            <a:r>
              <a:rPr lang="ru-RU" b="1" dirty="0"/>
              <a:t>[</a:t>
            </a:r>
            <a:r>
              <a:rPr lang="en-US" b="1" dirty="0"/>
              <a:t>WITH ENCRYPTION</a:t>
            </a:r>
            <a:r>
              <a:rPr lang="ru-RU" b="1" dirty="0"/>
              <a:t>]</a:t>
            </a:r>
            <a:endParaRPr lang="ru-RU" dirty="0"/>
          </a:p>
          <a:p>
            <a:r>
              <a:rPr lang="en-US" b="1" dirty="0"/>
              <a:t>AS</a:t>
            </a:r>
            <a:r>
              <a:rPr lang="en-US" dirty="0"/>
              <a:t> SQL</a:t>
            </a:r>
            <a:r>
              <a:rPr lang="ru-RU" dirty="0" err="1"/>
              <a:t>_операторы</a:t>
            </a:r>
            <a:endParaRPr lang="ru-RU" dirty="0"/>
          </a:p>
          <a:p>
            <a:r>
              <a:rPr lang="ru-RU" dirty="0"/>
              <a:t> </a:t>
            </a:r>
          </a:p>
          <a:p>
            <a:r>
              <a:rPr lang="ru-RU" dirty="0"/>
              <a:t>Или используя предложение </a:t>
            </a:r>
            <a:r>
              <a:rPr lang="ru-RU" b="1" dirty="0"/>
              <a:t>IF UPDATE</a:t>
            </a:r>
            <a:r>
              <a:rPr lang="ru-RU" dirty="0"/>
              <a:t>:</a:t>
            </a:r>
          </a:p>
          <a:p>
            <a:r>
              <a:rPr lang="en-US" b="1" dirty="0"/>
              <a:t>CREATE TRIGGER</a:t>
            </a:r>
            <a:r>
              <a:rPr lang="en-US" dirty="0"/>
              <a:t> [</a:t>
            </a:r>
            <a:r>
              <a:rPr lang="ru-RU" dirty="0"/>
              <a:t>имя</a:t>
            </a:r>
            <a:r>
              <a:rPr lang="en-US" dirty="0"/>
              <a:t>_</a:t>
            </a:r>
            <a:r>
              <a:rPr lang="ru-RU" dirty="0"/>
              <a:t>триггера</a:t>
            </a:r>
            <a:r>
              <a:rPr lang="en-US" dirty="0"/>
              <a:t>]</a:t>
            </a:r>
            <a:endParaRPr lang="ru-RU" dirty="0"/>
          </a:p>
          <a:p>
            <a:r>
              <a:rPr lang="en-US" b="1" dirty="0"/>
              <a:t>ON</a:t>
            </a:r>
            <a:r>
              <a:rPr lang="en-US" dirty="0"/>
              <a:t> </a:t>
            </a:r>
            <a:r>
              <a:rPr lang="ru-RU" dirty="0"/>
              <a:t>имя</a:t>
            </a:r>
            <a:r>
              <a:rPr lang="en-US" dirty="0"/>
              <a:t>_</a:t>
            </a:r>
            <a:r>
              <a:rPr lang="ru-RU" dirty="0"/>
              <a:t>таблицы</a:t>
            </a:r>
          </a:p>
          <a:p>
            <a:r>
              <a:rPr lang="en-US" b="1" dirty="0"/>
              <a:t>{FOR | AFTER | INSTEAD OF} {[INSERT] [,] [UPDATE]}</a:t>
            </a:r>
            <a:endParaRPr lang="ru-RU" dirty="0"/>
          </a:p>
          <a:p>
            <a:r>
              <a:rPr lang="en-US" b="1" dirty="0"/>
              <a:t>[WITH ENCRYPTION]</a:t>
            </a:r>
            <a:endParaRPr lang="ru-RU" dirty="0"/>
          </a:p>
          <a:p>
            <a:r>
              <a:rPr lang="en-US" b="1" dirty="0"/>
              <a:t>AS</a:t>
            </a:r>
            <a:endParaRPr lang="ru-RU" dirty="0"/>
          </a:p>
          <a:p>
            <a:r>
              <a:rPr lang="en-US" b="1" dirty="0">
                <a:solidFill>
                  <a:schemeClr val="bg2">
                    <a:lumMod val="25000"/>
                  </a:schemeClr>
                </a:solidFill>
              </a:rPr>
              <a:t>IF UPDATE</a:t>
            </a:r>
            <a:r>
              <a:rPr lang="en-US" dirty="0">
                <a:solidFill>
                  <a:schemeClr val="bg2">
                    <a:lumMod val="25000"/>
                  </a:schemeClr>
                </a:solidFill>
              </a:rPr>
              <a:t> (</a:t>
            </a:r>
            <a:r>
              <a:rPr lang="ru-RU" dirty="0">
                <a:solidFill>
                  <a:schemeClr val="bg2">
                    <a:lumMod val="25000"/>
                  </a:schemeClr>
                </a:solidFill>
              </a:rPr>
              <a:t>имя</a:t>
            </a:r>
            <a:r>
              <a:rPr lang="en-US" dirty="0">
                <a:solidFill>
                  <a:schemeClr val="bg2">
                    <a:lumMod val="25000"/>
                  </a:schemeClr>
                </a:solidFill>
              </a:rPr>
              <a:t>_</a:t>
            </a:r>
            <a:r>
              <a:rPr lang="ru-RU" dirty="0">
                <a:solidFill>
                  <a:schemeClr val="bg2">
                    <a:lumMod val="25000"/>
                  </a:schemeClr>
                </a:solidFill>
              </a:rPr>
              <a:t>столбца</a:t>
            </a:r>
            <a:r>
              <a:rPr lang="en-US" dirty="0">
                <a:solidFill>
                  <a:schemeClr val="bg2">
                    <a:lumMod val="25000"/>
                  </a:schemeClr>
                </a:solidFill>
              </a:rPr>
              <a:t>)</a:t>
            </a:r>
            <a:endParaRPr lang="ru-RU" dirty="0">
              <a:solidFill>
                <a:schemeClr val="bg2">
                  <a:lumMod val="25000"/>
                </a:schemeClr>
              </a:solidFill>
            </a:endParaRPr>
          </a:p>
          <a:p>
            <a:r>
              <a:rPr lang="en-US" b="1" dirty="0">
                <a:solidFill>
                  <a:schemeClr val="bg2">
                    <a:lumMod val="25000"/>
                  </a:schemeClr>
                </a:solidFill>
              </a:rPr>
              <a:t>[{AND |OR} UPDATE (</a:t>
            </a:r>
            <a:r>
              <a:rPr lang="ru-RU" b="1" dirty="0">
                <a:solidFill>
                  <a:schemeClr val="bg2">
                    <a:lumMod val="25000"/>
                  </a:schemeClr>
                </a:solidFill>
              </a:rPr>
              <a:t>имя</a:t>
            </a:r>
            <a:r>
              <a:rPr lang="en-US" b="1" dirty="0">
                <a:solidFill>
                  <a:schemeClr val="bg2">
                    <a:lumMod val="25000"/>
                  </a:schemeClr>
                </a:solidFill>
              </a:rPr>
              <a:t>_</a:t>
            </a:r>
            <a:r>
              <a:rPr lang="ru-RU" b="1" dirty="0">
                <a:solidFill>
                  <a:schemeClr val="bg2">
                    <a:lumMod val="25000"/>
                  </a:schemeClr>
                </a:solidFill>
              </a:rPr>
              <a:t>столбца</a:t>
            </a:r>
            <a:r>
              <a:rPr lang="en-US" b="1" dirty="0">
                <a:solidFill>
                  <a:schemeClr val="bg2">
                    <a:lumMod val="25000"/>
                  </a:schemeClr>
                </a:solidFill>
              </a:rPr>
              <a:t>)...]</a:t>
            </a:r>
            <a:endParaRPr lang="ru-RU" dirty="0">
              <a:solidFill>
                <a:schemeClr val="bg2">
                  <a:lumMod val="25000"/>
                </a:schemeClr>
              </a:solidFill>
            </a:endParaRPr>
          </a:p>
          <a:p>
            <a:r>
              <a:rPr lang="ru-RU" dirty="0" err="1">
                <a:solidFill>
                  <a:schemeClr val="bg2">
                    <a:lumMod val="25000"/>
                  </a:schemeClr>
                </a:solidFill>
              </a:rPr>
              <a:t>SQL_операторы</a:t>
            </a:r>
            <a:r>
              <a:rPr lang="ru-RU" dirty="0">
                <a:solidFill>
                  <a:schemeClr val="bg2">
                    <a:lumMod val="25000"/>
                  </a:schemeClr>
                </a:solidFill>
              </a:rPr>
              <a:t>;</a:t>
            </a:r>
          </a:p>
          <a:p>
            <a:endParaRPr lang="ru-R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654032"/>
          </a:xfrm>
        </p:spPr>
        <p:txBody>
          <a:bodyPr>
            <a:normAutofit/>
          </a:bodyPr>
          <a:lstStyle/>
          <a:p>
            <a:r>
              <a:rPr lang="ru-RU" sz="2500" dirty="0"/>
              <a:t>Триггеры и виртуальные таблицы </a:t>
            </a:r>
            <a:r>
              <a:rPr lang="ru-RU" sz="2500" dirty="0" err="1"/>
              <a:t>deleted</a:t>
            </a:r>
            <a:r>
              <a:rPr lang="ru-RU" sz="2500" dirty="0"/>
              <a:t> и </a:t>
            </a:r>
            <a:r>
              <a:rPr lang="ru-RU" sz="2500" dirty="0" err="1"/>
              <a:t>inserted</a:t>
            </a:r>
            <a:endParaRPr lang="ru-RU" sz="2500" dirty="0"/>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27</a:t>
            </a:fld>
            <a:endParaRPr lang="ru-RU" dirty="0"/>
          </a:p>
        </p:txBody>
      </p:sp>
      <p:sp>
        <p:nvSpPr>
          <p:cNvPr id="4" name="TextBox 3"/>
          <p:cNvSpPr txBox="1"/>
          <p:nvPr/>
        </p:nvSpPr>
        <p:spPr>
          <a:xfrm>
            <a:off x="22262" y="476672"/>
            <a:ext cx="9121738" cy="6463308"/>
          </a:xfrm>
          <a:prstGeom prst="rect">
            <a:avLst/>
          </a:prstGeom>
          <a:noFill/>
        </p:spPr>
        <p:txBody>
          <a:bodyPr wrap="square" rtlCol="0">
            <a:spAutoFit/>
          </a:bodyPr>
          <a:lstStyle/>
          <a:p>
            <a:r>
              <a:rPr lang="ru-RU" dirty="0"/>
              <a:t>Таблицы </a:t>
            </a:r>
            <a:r>
              <a:rPr lang="ru-RU" b="1" dirty="0" err="1"/>
              <a:t>deleted</a:t>
            </a:r>
            <a:r>
              <a:rPr lang="ru-RU" dirty="0"/>
              <a:t> и </a:t>
            </a:r>
            <a:r>
              <a:rPr lang="ru-RU" b="1" dirty="0" err="1"/>
              <a:t>inserted</a:t>
            </a:r>
            <a:r>
              <a:rPr lang="ru-RU" dirty="0"/>
              <a:t> создаются автоматически.</a:t>
            </a:r>
          </a:p>
          <a:p>
            <a:endParaRPr lang="ru-RU" dirty="0"/>
          </a:p>
          <a:p>
            <a:r>
              <a:rPr lang="ru-RU" dirty="0"/>
              <a:t>Таблицы </a:t>
            </a:r>
            <a:r>
              <a:rPr lang="ru-RU" b="1" dirty="0" err="1"/>
              <a:t>deleted</a:t>
            </a:r>
            <a:r>
              <a:rPr lang="ru-RU" dirty="0"/>
              <a:t> и </a:t>
            </a:r>
            <a:r>
              <a:rPr lang="ru-RU" b="1" dirty="0" err="1"/>
              <a:t>inserted</a:t>
            </a:r>
            <a:r>
              <a:rPr lang="ru-RU" dirty="0"/>
              <a:t> всегда имеют такую же структуру, что и у таблицы, на которую установлен триггер.</a:t>
            </a:r>
          </a:p>
          <a:p>
            <a:endParaRPr lang="ru-RU" dirty="0"/>
          </a:p>
          <a:p>
            <a:r>
              <a:rPr lang="ru-RU" dirty="0"/>
              <a:t>Содержимое таблиц </a:t>
            </a:r>
            <a:r>
              <a:rPr lang="ru-RU" b="1" dirty="0" err="1"/>
              <a:t>inserted</a:t>
            </a:r>
            <a:r>
              <a:rPr lang="ru-RU" dirty="0"/>
              <a:t> и </a:t>
            </a:r>
            <a:r>
              <a:rPr lang="ru-RU" b="1" dirty="0" err="1"/>
              <a:t>deleted</a:t>
            </a:r>
            <a:r>
              <a:rPr lang="ru-RU" b="1" dirty="0"/>
              <a:t> </a:t>
            </a:r>
            <a:r>
              <a:rPr lang="ru-RU" dirty="0"/>
              <a:t> при разных событиях:</a:t>
            </a:r>
          </a:p>
          <a:p>
            <a:r>
              <a:rPr lang="ru-RU" dirty="0"/>
              <a:t>1) Если триггер  срабатывает на событие </a:t>
            </a:r>
            <a:r>
              <a:rPr lang="en-US" b="1" dirty="0"/>
              <a:t>INSERT</a:t>
            </a:r>
            <a:r>
              <a:rPr lang="ru-RU" dirty="0"/>
              <a:t>: таблица</a:t>
            </a:r>
            <a:r>
              <a:rPr lang="ru-RU" b="1" dirty="0"/>
              <a:t> </a:t>
            </a:r>
            <a:r>
              <a:rPr lang="ru-RU" b="1" dirty="0" err="1"/>
              <a:t>inserted</a:t>
            </a:r>
            <a:r>
              <a:rPr lang="ru-RU" b="1" dirty="0"/>
              <a:t> </a:t>
            </a:r>
            <a:r>
              <a:rPr lang="ru-RU" dirty="0"/>
              <a:t>содержит копию строк, которые должны быть вставлены в таблицу.</a:t>
            </a:r>
          </a:p>
          <a:p>
            <a:endParaRPr lang="ru-RU" dirty="0"/>
          </a:p>
          <a:p>
            <a:r>
              <a:rPr lang="ru-RU" dirty="0"/>
              <a:t>2) Если триггер срабатывает на событие </a:t>
            </a:r>
            <a:r>
              <a:rPr lang="en-US" b="1" dirty="0"/>
              <a:t>DELETE</a:t>
            </a:r>
            <a:r>
              <a:rPr lang="ru-RU" dirty="0"/>
              <a:t>:</a:t>
            </a:r>
            <a:r>
              <a:rPr lang="en-US" dirty="0"/>
              <a:t> </a:t>
            </a:r>
            <a:r>
              <a:rPr lang="ru-RU" dirty="0"/>
              <a:t>удаляемые строки помещаются в таблицу </a:t>
            </a:r>
            <a:r>
              <a:rPr lang="ru-RU" b="1" dirty="0" err="1"/>
              <a:t>deleted</a:t>
            </a:r>
            <a:r>
              <a:rPr lang="ru-RU" dirty="0"/>
              <a:t>.</a:t>
            </a:r>
          </a:p>
          <a:p>
            <a:endParaRPr lang="ru-RU" dirty="0"/>
          </a:p>
          <a:p>
            <a:r>
              <a:rPr lang="ru-RU" dirty="0"/>
              <a:t>3) Если триггер срабатывает на событие </a:t>
            </a:r>
            <a:r>
              <a:rPr lang="en-US" b="1" dirty="0"/>
              <a:t>UPDATE</a:t>
            </a:r>
            <a:r>
              <a:rPr lang="ru-RU" dirty="0"/>
              <a:t>: обновление происходит в два этапа – удаление и вставка. Исходные строки помещаются в таблицу </a:t>
            </a:r>
            <a:r>
              <a:rPr lang="ru-RU" b="1" dirty="0" err="1"/>
              <a:t>deleted</a:t>
            </a:r>
            <a:r>
              <a:rPr lang="ru-RU" dirty="0"/>
              <a:t>, а новые данные помещаются в таблицу </a:t>
            </a:r>
            <a:r>
              <a:rPr lang="ru-RU" b="1" dirty="0" err="1"/>
              <a:t>inserted</a:t>
            </a:r>
            <a:r>
              <a:rPr lang="ru-RU" b="1" dirty="0"/>
              <a:t>.</a:t>
            </a:r>
            <a:r>
              <a:rPr lang="ru-RU" dirty="0"/>
              <a:t> </a:t>
            </a:r>
          </a:p>
          <a:p>
            <a:endParaRPr lang="ru-RU" dirty="0"/>
          </a:p>
          <a:p>
            <a:r>
              <a:rPr lang="ru-RU" dirty="0"/>
              <a:t>Для получения информации о количестве строк, которое будет изменено при успешном завершении </a:t>
            </a:r>
            <a:r>
              <a:rPr lang="ru-RU" i="1" dirty="0"/>
              <a:t>триггера</a:t>
            </a:r>
            <a:r>
              <a:rPr lang="ru-RU" dirty="0"/>
              <a:t>, можно использовать функцию </a:t>
            </a:r>
            <a:r>
              <a:rPr lang="ru-RU" b="1" dirty="0"/>
              <a:t>@@ROWCOUNT. </a:t>
            </a:r>
            <a:r>
              <a:rPr lang="ru-RU" dirty="0"/>
              <a:t>Функция </a:t>
            </a:r>
            <a:r>
              <a:rPr lang="ru-RU" b="1" dirty="0"/>
              <a:t>@@ROWCOUNT </a:t>
            </a:r>
            <a:r>
              <a:rPr lang="ru-RU" dirty="0"/>
              <a:t> возвращает количество строк, обработанных последней командой. </a:t>
            </a:r>
          </a:p>
          <a:p>
            <a:r>
              <a:rPr lang="ru-RU" dirty="0"/>
              <a:t>Для отмены всех изменений, которые внес пользователь, необходимо использовать команду </a:t>
            </a:r>
            <a:r>
              <a:rPr lang="ru-RU" b="1" dirty="0"/>
              <a:t>ROLLBACK TRANSACTION</a:t>
            </a:r>
            <a:r>
              <a:rPr lang="ru-RU" dirty="0"/>
              <a:t>. Для фиксации изменений применяется команда </a:t>
            </a:r>
            <a:r>
              <a:rPr lang="ru-RU" b="1" dirty="0"/>
              <a:t>COMMIT TRANSACTION</a:t>
            </a:r>
            <a:r>
              <a:rPr lang="ru-RU"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214290"/>
            <a:ext cx="8229600" cy="725470"/>
          </a:xfrm>
        </p:spPr>
        <p:txBody>
          <a:bodyPr>
            <a:normAutofit/>
          </a:bodyPr>
          <a:lstStyle/>
          <a:p>
            <a:r>
              <a:rPr lang="ru-RU" sz="2500" dirty="0"/>
              <a:t>Синтаксис удаления триггера</a:t>
            </a:r>
          </a:p>
        </p:txBody>
      </p:sp>
      <p:sp>
        <p:nvSpPr>
          <p:cNvPr id="3" name="Номер слайда 2"/>
          <p:cNvSpPr>
            <a:spLocks noGrp="1"/>
          </p:cNvSpPr>
          <p:nvPr>
            <p:ph type="sldNum" sz="quarter" idx="12"/>
          </p:nvPr>
        </p:nvSpPr>
        <p:spPr/>
        <p:txBody>
          <a:bodyPr/>
          <a:lstStyle/>
          <a:p>
            <a:fld id="{1F87023B-4310-42C4-812D-874FAF4871B2}" type="slidenum">
              <a:rPr lang="ru-RU" smtClean="0"/>
              <a:pPr/>
              <a:t>28</a:t>
            </a:fld>
            <a:endParaRPr lang="ru-RU"/>
          </a:p>
        </p:txBody>
      </p:sp>
      <p:sp>
        <p:nvSpPr>
          <p:cNvPr id="4" name="TextBox 3"/>
          <p:cNvSpPr txBox="1"/>
          <p:nvPr/>
        </p:nvSpPr>
        <p:spPr>
          <a:xfrm>
            <a:off x="642910" y="1285860"/>
            <a:ext cx="7858180" cy="369332"/>
          </a:xfrm>
          <a:prstGeom prst="rect">
            <a:avLst/>
          </a:prstGeom>
          <a:solidFill>
            <a:schemeClr val="accent4">
              <a:lumMod val="40000"/>
              <a:lumOff val="60000"/>
            </a:schemeClr>
          </a:solidFill>
          <a:ln>
            <a:solidFill>
              <a:schemeClr val="accent4">
                <a:lumMod val="50000"/>
              </a:schemeClr>
            </a:solidFill>
          </a:ln>
        </p:spPr>
        <p:txBody>
          <a:bodyPr wrap="square" rtlCol="0">
            <a:spAutoFit/>
          </a:bodyPr>
          <a:lstStyle/>
          <a:p>
            <a:r>
              <a:rPr lang="en-US" b="1" dirty="0"/>
              <a:t>DROP TRIGGER</a:t>
            </a:r>
            <a:r>
              <a:rPr lang="ru-RU" dirty="0"/>
              <a:t> {</a:t>
            </a:r>
            <a:r>
              <a:rPr lang="ru-RU" dirty="0" err="1"/>
              <a:t>имя_триггера</a:t>
            </a:r>
            <a:r>
              <a:rPr lang="ru-RU" dirty="0"/>
              <a:t>} [,...</a:t>
            </a:r>
            <a:r>
              <a:rPr lang="en-US" dirty="0"/>
              <a:t>n</a:t>
            </a:r>
            <a:r>
              <a:rPr lang="ru-RU"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939784"/>
          </a:xfrm>
        </p:spPr>
        <p:txBody>
          <a:bodyPr>
            <a:normAutofit/>
          </a:bodyPr>
          <a:lstStyle/>
          <a:p>
            <a:r>
              <a:rPr lang="ru-RU" sz="2500" dirty="0"/>
              <a:t>Реализовать ограничение на вводимое значение</a:t>
            </a:r>
          </a:p>
        </p:txBody>
      </p:sp>
      <p:sp>
        <p:nvSpPr>
          <p:cNvPr id="3" name="Номер слайда 2"/>
          <p:cNvSpPr>
            <a:spLocks noGrp="1"/>
          </p:cNvSpPr>
          <p:nvPr>
            <p:ph type="sldNum" sz="quarter" idx="12"/>
          </p:nvPr>
        </p:nvSpPr>
        <p:spPr/>
        <p:txBody>
          <a:bodyPr/>
          <a:lstStyle/>
          <a:p>
            <a:fld id="{1F87023B-4310-42C4-812D-874FAF4871B2}" type="slidenum">
              <a:rPr lang="ru-RU" smtClean="0"/>
              <a:pPr/>
              <a:t>29</a:t>
            </a:fld>
            <a:endParaRPr lang="ru-RU"/>
          </a:p>
        </p:txBody>
      </p:sp>
      <p:sp>
        <p:nvSpPr>
          <p:cNvPr id="4" name="TextBox 3"/>
          <p:cNvSpPr txBox="1"/>
          <p:nvPr/>
        </p:nvSpPr>
        <p:spPr>
          <a:xfrm>
            <a:off x="285720" y="1071546"/>
            <a:ext cx="8858280" cy="3785652"/>
          </a:xfrm>
          <a:prstGeom prst="rect">
            <a:avLst/>
          </a:prstGeom>
          <a:noFill/>
        </p:spPr>
        <p:txBody>
          <a:bodyPr wrap="square" rtlCol="0">
            <a:spAutoFit/>
          </a:bodyPr>
          <a:lstStyle/>
          <a:p>
            <a:pPr>
              <a:spcAft>
                <a:spcPts val="0"/>
              </a:spcAft>
            </a:pPr>
            <a:r>
              <a:rPr lang="ru-RU" sz="1600" dirty="0">
                <a:ea typeface="Calibri"/>
                <a:cs typeface="Times New Roman"/>
              </a:rPr>
              <a:t>Создание триггера проверки возраста студента при добавления записи в таблицу </a:t>
            </a:r>
            <a:r>
              <a:rPr lang="en-US" sz="1600" dirty="0">
                <a:ea typeface="Calibri"/>
                <a:cs typeface="Times New Roman"/>
              </a:rPr>
              <a:t>Student</a:t>
            </a:r>
            <a:r>
              <a:rPr lang="ru-RU" sz="1600" dirty="0">
                <a:ea typeface="Calibri"/>
                <a:cs typeface="Times New Roman"/>
              </a:rPr>
              <a:t>. Триггер выполняет вместо команды добавление.</a:t>
            </a:r>
          </a:p>
          <a:p>
            <a:pPr>
              <a:spcAft>
                <a:spcPts val="0"/>
              </a:spcAft>
            </a:pPr>
            <a:endParaRPr lang="ru-RU" sz="1600" dirty="0">
              <a:ea typeface="Calibri"/>
              <a:cs typeface="Times New Roman"/>
            </a:endParaRPr>
          </a:p>
          <a:p>
            <a:r>
              <a:rPr lang="en-US" sz="1600" dirty="0">
                <a:solidFill>
                  <a:srgbClr val="0000FF"/>
                </a:solidFill>
              </a:rPr>
              <a:t>CREATE TRIGGER </a:t>
            </a:r>
            <a:r>
              <a:rPr lang="en-US" sz="1600" dirty="0" err="1">
                <a:solidFill>
                  <a:srgbClr val="008080"/>
                </a:solidFill>
              </a:rPr>
              <a:t>Age_verification</a:t>
            </a:r>
            <a:r>
              <a:rPr lang="en-US" sz="1600" dirty="0">
                <a:solidFill>
                  <a:srgbClr val="008080"/>
                </a:solidFill>
              </a:rPr>
              <a:t> </a:t>
            </a:r>
          </a:p>
          <a:p>
            <a:r>
              <a:rPr lang="en-US" sz="1600" dirty="0">
                <a:solidFill>
                  <a:srgbClr val="0000FF"/>
                </a:solidFill>
              </a:rPr>
              <a:t>ON </a:t>
            </a:r>
            <a:r>
              <a:rPr lang="en-US" sz="1600" dirty="0">
                <a:solidFill>
                  <a:srgbClr val="008080"/>
                </a:solidFill>
              </a:rPr>
              <a:t>Student </a:t>
            </a:r>
          </a:p>
          <a:p>
            <a:r>
              <a:rPr lang="en-US" sz="1600" dirty="0">
                <a:solidFill>
                  <a:srgbClr val="0000FF"/>
                </a:solidFill>
              </a:rPr>
              <a:t>INSTEAD OF INSERT </a:t>
            </a:r>
          </a:p>
          <a:p>
            <a:r>
              <a:rPr lang="en-US" sz="1600" dirty="0">
                <a:solidFill>
                  <a:srgbClr val="0000FF"/>
                </a:solidFill>
              </a:rPr>
              <a:t>AS </a:t>
            </a:r>
          </a:p>
          <a:p>
            <a:r>
              <a:rPr lang="en-US" sz="1600" dirty="0">
                <a:solidFill>
                  <a:srgbClr val="0000FF"/>
                </a:solidFill>
              </a:rPr>
              <a:t>BEGIN </a:t>
            </a:r>
          </a:p>
          <a:p>
            <a:r>
              <a:rPr lang="en-US" sz="1600" dirty="0">
                <a:solidFill>
                  <a:srgbClr val="0000FF"/>
                </a:solidFill>
              </a:rPr>
              <a:t>     IF</a:t>
            </a:r>
            <a:r>
              <a:rPr lang="en-US" sz="1600" dirty="0">
                <a:solidFill>
                  <a:srgbClr val="808080"/>
                </a:solidFill>
              </a:rPr>
              <a:t>(</a:t>
            </a:r>
            <a:r>
              <a:rPr lang="en-US" sz="1600" dirty="0">
                <a:solidFill>
                  <a:srgbClr val="0000FF"/>
                </a:solidFill>
              </a:rPr>
              <a:t>SELECT </a:t>
            </a:r>
            <a:r>
              <a:rPr lang="en-US" sz="1600" dirty="0">
                <a:solidFill>
                  <a:srgbClr val="FF00FF"/>
                </a:solidFill>
              </a:rPr>
              <a:t>DATEDIFF</a:t>
            </a:r>
            <a:r>
              <a:rPr lang="en-US" sz="1600" dirty="0">
                <a:solidFill>
                  <a:srgbClr val="808080"/>
                </a:solidFill>
              </a:rPr>
              <a:t>(</a:t>
            </a:r>
            <a:r>
              <a:rPr lang="en-US" sz="1600" dirty="0">
                <a:solidFill>
                  <a:srgbClr val="FF00FF"/>
                </a:solidFill>
              </a:rPr>
              <a:t>YEAR</a:t>
            </a:r>
            <a:r>
              <a:rPr lang="en-US" sz="1600" dirty="0">
                <a:solidFill>
                  <a:srgbClr val="808080"/>
                </a:solidFill>
              </a:rPr>
              <a:t>, </a:t>
            </a:r>
            <a:r>
              <a:rPr lang="en-US" sz="1600" dirty="0">
                <a:solidFill>
                  <a:srgbClr val="008080"/>
                </a:solidFill>
              </a:rPr>
              <a:t>Birthday</a:t>
            </a:r>
            <a:r>
              <a:rPr lang="en-US" sz="1600" dirty="0">
                <a:solidFill>
                  <a:srgbClr val="808080"/>
                </a:solidFill>
              </a:rPr>
              <a:t>, </a:t>
            </a:r>
            <a:r>
              <a:rPr lang="en-US" sz="1600" dirty="0">
                <a:solidFill>
                  <a:srgbClr val="FF00FF"/>
                </a:solidFill>
              </a:rPr>
              <a:t>GETDATE</a:t>
            </a:r>
            <a:r>
              <a:rPr lang="en-US" sz="1600" dirty="0">
                <a:solidFill>
                  <a:srgbClr val="808080"/>
                </a:solidFill>
              </a:rPr>
              <a:t>()) </a:t>
            </a:r>
            <a:r>
              <a:rPr lang="en-US" sz="1600" dirty="0">
                <a:solidFill>
                  <a:srgbClr val="0000FF"/>
                </a:solidFill>
              </a:rPr>
              <a:t>FROM </a:t>
            </a:r>
            <a:r>
              <a:rPr lang="en-US" sz="1600" dirty="0">
                <a:solidFill>
                  <a:srgbClr val="008080"/>
                </a:solidFill>
              </a:rPr>
              <a:t>INSERTED</a:t>
            </a:r>
            <a:r>
              <a:rPr lang="en-US" sz="1600" dirty="0">
                <a:solidFill>
                  <a:srgbClr val="808080"/>
                </a:solidFill>
              </a:rPr>
              <a:t>)&gt;=17 </a:t>
            </a:r>
          </a:p>
          <a:p>
            <a:r>
              <a:rPr lang="en-US" sz="1600" dirty="0">
                <a:solidFill>
                  <a:srgbClr val="808080"/>
                </a:solidFill>
              </a:rPr>
              <a:t>        </a:t>
            </a:r>
            <a:r>
              <a:rPr lang="en-US" sz="1600" dirty="0">
                <a:solidFill>
                  <a:srgbClr val="0000FF"/>
                </a:solidFill>
              </a:rPr>
              <a:t>INSERT INTO </a:t>
            </a:r>
            <a:r>
              <a:rPr lang="en-US" sz="1600" dirty="0">
                <a:solidFill>
                  <a:srgbClr val="008080"/>
                </a:solidFill>
              </a:rPr>
              <a:t>Student </a:t>
            </a:r>
          </a:p>
          <a:p>
            <a:r>
              <a:rPr lang="en-US" sz="1600" dirty="0">
                <a:solidFill>
                  <a:srgbClr val="008080"/>
                </a:solidFill>
              </a:rPr>
              <a:t>        </a:t>
            </a:r>
            <a:r>
              <a:rPr lang="en-US" sz="1600" dirty="0">
                <a:solidFill>
                  <a:srgbClr val="0000FF"/>
                </a:solidFill>
              </a:rPr>
              <a:t>SELECT </a:t>
            </a:r>
            <a:r>
              <a:rPr lang="en-US" sz="1600" dirty="0">
                <a:solidFill>
                  <a:srgbClr val="008080"/>
                </a:solidFill>
              </a:rPr>
              <a:t>Stipend</a:t>
            </a:r>
            <a:r>
              <a:rPr lang="en-US" sz="1600" dirty="0">
                <a:solidFill>
                  <a:srgbClr val="808080"/>
                </a:solidFill>
              </a:rPr>
              <a:t>, </a:t>
            </a:r>
            <a:r>
              <a:rPr lang="en-US" sz="1600" dirty="0">
                <a:solidFill>
                  <a:srgbClr val="008080"/>
                </a:solidFill>
              </a:rPr>
              <a:t>Surname</a:t>
            </a:r>
            <a:r>
              <a:rPr lang="en-US" sz="1600" dirty="0">
                <a:solidFill>
                  <a:srgbClr val="808080"/>
                </a:solidFill>
              </a:rPr>
              <a:t>, </a:t>
            </a:r>
            <a:r>
              <a:rPr lang="en-US" sz="1600" dirty="0">
                <a:solidFill>
                  <a:srgbClr val="008080"/>
                </a:solidFill>
              </a:rPr>
              <a:t>Name</a:t>
            </a:r>
            <a:r>
              <a:rPr lang="en-US" sz="1600" dirty="0">
                <a:solidFill>
                  <a:srgbClr val="808080"/>
                </a:solidFill>
              </a:rPr>
              <a:t>, </a:t>
            </a:r>
            <a:r>
              <a:rPr lang="en-US" sz="1600" dirty="0" err="1">
                <a:solidFill>
                  <a:srgbClr val="008080"/>
                </a:solidFill>
              </a:rPr>
              <a:t>Middle_name</a:t>
            </a:r>
            <a:r>
              <a:rPr lang="en-US" sz="1600" dirty="0">
                <a:solidFill>
                  <a:srgbClr val="808080"/>
                </a:solidFill>
              </a:rPr>
              <a:t>, </a:t>
            </a:r>
            <a:r>
              <a:rPr lang="en-US" sz="1600" dirty="0">
                <a:solidFill>
                  <a:srgbClr val="008080"/>
                </a:solidFill>
              </a:rPr>
              <a:t>Birthday</a:t>
            </a:r>
            <a:r>
              <a:rPr lang="en-US" sz="1600" dirty="0">
                <a:solidFill>
                  <a:srgbClr val="808080"/>
                </a:solidFill>
              </a:rPr>
              <a:t>, </a:t>
            </a:r>
            <a:r>
              <a:rPr lang="en-US" sz="1600" dirty="0">
                <a:solidFill>
                  <a:srgbClr val="008080"/>
                </a:solidFill>
              </a:rPr>
              <a:t>City</a:t>
            </a:r>
            <a:r>
              <a:rPr lang="en-US" sz="1600" dirty="0">
                <a:solidFill>
                  <a:srgbClr val="808080"/>
                </a:solidFill>
              </a:rPr>
              <a:t>, </a:t>
            </a:r>
            <a:r>
              <a:rPr lang="en-US" sz="1600" dirty="0" err="1">
                <a:solidFill>
                  <a:srgbClr val="008080"/>
                </a:solidFill>
              </a:rPr>
              <a:t>Univ_Id</a:t>
            </a:r>
            <a:r>
              <a:rPr lang="en-US" sz="1600" dirty="0">
                <a:solidFill>
                  <a:srgbClr val="808080"/>
                </a:solidFill>
              </a:rPr>
              <a:t>, </a:t>
            </a:r>
            <a:r>
              <a:rPr lang="en-US" sz="1600" dirty="0" err="1">
                <a:solidFill>
                  <a:srgbClr val="008080"/>
                </a:solidFill>
              </a:rPr>
              <a:t>Id_group</a:t>
            </a:r>
            <a:r>
              <a:rPr lang="en-US" sz="1600" dirty="0">
                <a:solidFill>
                  <a:srgbClr val="808080"/>
                </a:solidFill>
              </a:rPr>
              <a:t>, </a:t>
            </a:r>
            <a:r>
              <a:rPr lang="en-US" sz="1600" dirty="0" err="1">
                <a:solidFill>
                  <a:srgbClr val="008080"/>
                </a:solidFill>
              </a:rPr>
              <a:t>data_input</a:t>
            </a:r>
            <a:r>
              <a:rPr lang="en-US" sz="1600" dirty="0">
                <a:solidFill>
                  <a:srgbClr val="808080"/>
                </a:solidFill>
              </a:rPr>
              <a:t>, </a:t>
            </a:r>
            <a:r>
              <a:rPr lang="en-US" sz="1600" dirty="0" err="1">
                <a:solidFill>
                  <a:srgbClr val="008080"/>
                </a:solidFill>
              </a:rPr>
              <a:t>Kurse</a:t>
            </a:r>
            <a:endParaRPr lang="en-US" sz="1600" dirty="0">
              <a:solidFill>
                <a:srgbClr val="008080"/>
              </a:solidFill>
            </a:endParaRPr>
          </a:p>
          <a:p>
            <a:r>
              <a:rPr lang="en-US" sz="1600" dirty="0">
                <a:solidFill>
                  <a:srgbClr val="008080"/>
                </a:solidFill>
              </a:rPr>
              <a:t>        </a:t>
            </a:r>
            <a:r>
              <a:rPr lang="en-US" sz="1600" dirty="0">
                <a:solidFill>
                  <a:srgbClr val="0000FF"/>
                </a:solidFill>
              </a:rPr>
              <a:t>FROM </a:t>
            </a:r>
            <a:r>
              <a:rPr lang="en-US" sz="1600" dirty="0">
                <a:solidFill>
                  <a:srgbClr val="008080"/>
                </a:solidFill>
              </a:rPr>
              <a:t>inserted    </a:t>
            </a:r>
          </a:p>
          <a:p>
            <a:r>
              <a:rPr lang="en-US" sz="1600" dirty="0">
                <a:solidFill>
                  <a:srgbClr val="008080"/>
                </a:solidFill>
              </a:rPr>
              <a:t>     </a:t>
            </a:r>
            <a:r>
              <a:rPr lang="en-US" sz="1600" dirty="0">
                <a:solidFill>
                  <a:srgbClr val="0000FF"/>
                </a:solidFill>
              </a:rPr>
              <a:t>ELSE </a:t>
            </a:r>
          </a:p>
          <a:p>
            <a:r>
              <a:rPr lang="ru-RU" sz="1600" dirty="0">
                <a:solidFill>
                  <a:srgbClr val="0000FF"/>
                </a:solidFill>
              </a:rPr>
              <a:t>        PRINT </a:t>
            </a:r>
            <a:r>
              <a:rPr lang="ru-RU" sz="1600" dirty="0">
                <a:solidFill>
                  <a:srgbClr val="FF0000"/>
                </a:solidFill>
              </a:rPr>
              <a:t>'Студент не может быть младше 17 лет'</a:t>
            </a:r>
          </a:p>
          <a:p>
            <a:r>
              <a:rPr lang="en-US" sz="1600" dirty="0">
                <a:solidFill>
                  <a:srgbClr val="0000FF"/>
                </a:solidFill>
              </a:rPr>
              <a:t>END</a:t>
            </a:r>
            <a:endParaRPr lang="ru-RU" sz="1600" dirty="0"/>
          </a:p>
        </p:txBody>
      </p:sp>
      <p:pic>
        <p:nvPicPr>
          <p:cNvPr id="1026" name="Picture 2"/>
          <p:cNvPicPr>
            <a:picLocks noChangeAspect="1" noChangeArrowheads="1"/>
          </p:cNvPicPr>
          <p:nvPr/>
        </p:nvPicPr>
        <p:blipFill>
          <a:blip r:embed="rId2" cstate="print"/>
          <a:srcRect/>
          <a:stretch>
            <a:fillRect/>
          </a:stretch>
        </p:blipFill>
        <p:spPr bwMode="auto">
          <a:xfrm>
            <a:off x="2643174" y="4857760"/>
            <a:ext cx="3847510" cy="178595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7158" y="0"/>
            <a:ext cx="8229600" cy="1143000"/>
          </a:xfrm>
        </p:spPr>
        <p:txBody>
          <a:bodyPr>
            <a:normAutofit/>
          </a:bodyPr>
          <a:lstStyle/>
          <a:p>
            <a:r>
              <a:rPr lang="ru-RU" sz="2500" dirty="0"/>
              <a:t>Триггер сохраняющий дату последнего изменения записи в таблице </a:t>
            </a:r>
            <a:r>
              <a:rPr lang="en-US" sz="2500" dirty="0"/>
              <a:t>Student</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30</a:t>
            </a:fld>
            <a:endParaRPr lang="ru-RU"/>
          </a:p>
        </p:txBody>
      </p:sp>
      <p:sp>
        <p:nvSpPr>
          <p:cNvPr id="6" name="TextBox 5"/>
          <p:cNvSpPr txBox="1"/>
          <p:nvPr/>
        </p:nvSpPr>
        <p:spPr>
          <a:xfrm>
            <a:off x="714348" y="2643182"/>
            <a:ext cx="4754443" cy="3693319"/>
          </a:xfrm>
          <a:prstGeom prst="rect">
            <a:avLst/>
          </a:prstGeom>
          <a:noFill/>
        </p:spPr>
        <p:txBody>
          <a:bodyPr wrap="none" rtlCol="0">
            <a:spAutoFit/>
          </a:bodyPr>
          <a:lstStyle/>
          <a:p>
            <a:pPr>
              <a:spcAft>
                <a:spcPts val="0"/>
              </a:spcAft>
            </a:pPr>
            <a:r>
              <a:rPr lang="en-US" dirty="0">
                <a:solidFill>
                  <a:srgbClr val="0000FF"/>
                </a:solidFill>
                <a:ea typeface="Calibri"/>
                <a:cs typeface="Times New Roman"/>
              </a:rPr>
              <a:t>CREATE</a:t>
            </a:r>
            <a:r>
              <a:rPr lang="en-US" dirty="0">
                <a:ea typeface="Calibri"/>
                <a:cs typeface="Times New Roman"/>
              </a:rPr>
              <a:t> </a:t>
            </a:r>
            <a:r>
              <a:rPr lang="en-US" dirty="0">
                <a:solidFill>
                  <a:srgbClr val="0000FF"/>
                </a:solidFill>
                <a:ea typeface="Calibri"/>
                <a:cs typeface="Times New Roman"/>
              </a:rPr>
              <a:t>TRIGGER</a:t>
            </a:r>
            <a:r>
              <a:rPr lang="en-US" dirty="0">
                <a:ea typeface="Calibri"/>
                <a:cs typeface="Times New Roman"/>
              </a:rPr>
              <a:t> </a:t>
            </a:r>
            <a:r>
              <a:rPr lang="en-US" dirty="0" err="1">
                <a:solidFill>
                  <a:srgbClr val="008080"/>
                </a:solidFill>
                <a:ea typeface="Calibri"/>
                <a:cs typeface="Times New Roman"/>
              </a:rPr>
              <a:t>Update_time_in_the_column</a:t>
            </a:r>
            <a:endParaRPr lang="ru-RU" sz="2400" dirty="0">
              <a:ea typeface="Calibri"/>
              <a:cs typeface="Times New Roman"/>
            </a:endParaRPr>
          </a:p>
          <a:p>
            <a:pPr>
              <a:spcAft>
                <a:spcPts val="0"/>
              </a:spcAft>
            </a:pPr>
            <a:r>
              <a:rPr lang="en-US" dirty="0">
                <a:solidFill>
                  <a:srgbClr val="0000FF"/>
                </a:solidFill>
                <a:ea typeface="Calibri"/>
                <a:cs typeface="Times New Roman"/>
              </a:rPr>
              <a:t>ON</a:t>
            </a:r>
            <a:r>
              <a:rPr lang="en-US" dirty="0">
                <a:ea typeface="Calibri"/>
                <a:cs typeface="Times New Roman"/>
              </a:rPr>
              <a:t> </a:t>
            </a:r>
            <a:r>
              <a:rPr lang="en-US" dirty="0">
                <a:solidFill>
                  <a:srgbClr val="008080"/>
                </a:solidFill>
                <a:ea typeface="Calibri"/>
                <a:cs typeface="Times New Roman"/>
              </a:rPr>
              <a:t>Student</a:t>
            </a:r>
            <a:endParaRPr lang="ru-RU" sz="2400" dirty="0">
              <a:ea typeface="Calibri"/>
              <a:cs typeface="Times New Roman"/>
            </a:endParaRPr>
          </a:p>
          <a:p>
            <a:pPr>
              <a:spcAft>
                <a:spcPts val="0"/>
              </a:spcAft>
            </a:pPr>
            <a:r>
              <a:rPr lang="en-US" dirty="0">
                <a:solidFill>
                  <a:srgbClr val="0000FF"/>
                </a:solidFill>
                <a:ea typeface="Calibri"/>
                <a:cs typeface="Times New Roman"/>
              </a:rPr>
              <a:t>AFTER</a:t>
            </a:r>
            <a:r>
              <a:rPr lang="en-US" dirty="0">
                <a:ea typeface="Calibri"/>
                <a:cs typeface="Times New Roman"/>
              </a:rPr>
              <a:t> </a:t>
            </a:r>
            <a:r>
              <a:rPr lang="en-US" dirty="0">
                <a:solidFill>
                  <a:srgbClr val="0000FF"/>
                </a:solidFill>
                <a:ea typeface="Calibri"/>
                <a:cs typeface="Times New Roman"/>
              </a:rPr>
              <a:t>UPDATE</a:t>
            </a:r>
            <a:endParaRPr lang="ru-RU" sz="2400" dirty="0">
              <a:ea typeface="Calibri"/>
              <a:cs typeface="Times New Roman"/>
            </a:endParaRPr>
          </a:p>
          <a:p>
            <a:pPr>
              <a:spcAft>
                <a:spcPts val="0"/>
              </a:spcAft>
            </a:pPr>
            <a:r>
              <a:rPr lang="en-US" dirty="0">
                <a:solidFill>
                  <a:srgbClr val="0000FF"/>
                </a:solidFill>
                <a:ea typeface="Calibri"/>
                <a:cs typeface="Times New Roman"/>
              </a:rPr>
              <a:t>AS</a:t>
            </a:r>
            <a:endParaRPr lang="ru-RU" sz="2400" dirty="0">
              <a:ea typeface="Calibri"/>
              <a:cs typeface="Times New Roman"/>
            </a:endParaRPr>
          </a:p>
          <a:p>
            <a:pPr>
              <a:spcAft>
                <a:spcPts val="0"/>
              </a:spcAft>
            </a:pPr>
            <a:r>
              <a:rPr lang="en-US" dirty="0">
                <a:solidFill>
                  <a:srgbClr val="0000FF"/>
                </a:solidFill>
                <a:ea typeface="Calibri"/>
                <a:cs typeface="Times New Roman"/>
              </a:rPr>
              <a:t>DECLARE</a:t>
            </a:r>
            <a:r>
              <a:rPr lang="en-US" dirty="0">
                <a:ea typeface="Calibri"/>
                <a:cs typeface="Times New Roman"/>
              </a:rPr>
              <a:t> </a:t>
            </a:r>
            <a:r>
              <a:rPr lang="en-US" dirty="0">
                <a:solidFill>
                  <a:srgbClr val="008080"/>
                </a:solidFill>
                <a:ea typeface="Calibri"/>
                <a:cs typeface="Times New Roman"/>
              </a:rPr>
              <a:t>@Id</a:t>
            </a:r>
            <a:r>
              <a:rPr lang="en-US" dirty="0">
                <a:ea typeface="Calibri"/>
                <a:cs typeface="Times New Roman"/>
              </a:rPr>
              <a:t> </a:t>
            </a:r>
            <a:r>
              <a:rPr lang="en-US" dirty="0">
                <a:solidFill>
                  <a:srgbClr val="0000FF"/>
                </a:solidFill>
                <a:ea typeface="Calibri"/>
                <a:cs typeface="Times New Roman"/>
              </a:rPr>
              <a:t>INT</a:t>
            </a:r>
            <a:endParaRPr lang="ru-RU" sz="2400" dirty="0">
              <a:ea typeface="Calibri"/>
              <a:cs typeface="Times New Roman"/>
            </a:endParaRPr>
          </a:p>
          <a:p>
            <a:pPr>
              <a:spcAft>
                <a:spcPts val="0"/>
              </a:spcAft>
            </a:pPr>
            <a:r>
              <a:rPr lang="en-US" dirty="0">
                <a:solidFill>
                  <a:srgbClr val="0000FF"/>
                </a:solidFill>
                <a:ea typeface="Calibri"/>
                <a:cs typeface="Times New Roman"/>
              </a:rPr>
              <a:t>BEGIN </a:t>
            </a:r>
          </a:p>
          <a:p>
            <a:pPr>
              <a:spcAft>
                <a:spcPts val="0"/>
              </a:spcAft>
            </a:pPr>
            <a:r>
              <a:rPr lang="en-US" dirty="0">
                <a:solidFill>
                  <a:srgbClr val="0000FF"/>
                </a:solidFill>
                <a:ea typeface="Calibri"/>
                <a:cs typeface="Times New Roman"/>
              </a:rPr>
              <a:t>SET NOCOUNT ON</a:t>
            </a:r>
            <a:endParaRPr lang="ru-RU" dirty="0">
              <a:solidFill>
                <a:srgbClr val="0000FF"/>
              </a:solidFill>
              <a:ea typeface="Calibri"/>
              <a:cs typeface="Times New Roman"/>
            </a:endParaRPr>
          </a:p>
          <a:p>
            <a:pPr>
              <a:spcAft>
                <a:spcPts val="0"/>
              </a:spcAft>
            </a:pPr>
            <a:r>
              <a:rPr lang="en-US" dirty="0">
                <a:ea typeface="Calibri"/>
                <a:cs typeface="Times New Roman"/>
              </a:rPr>
              <a:t>	</a:t>
            </a:r>
            <a:r>
              <a:rPr lang="en-US" dirty="0">
                <a:solidFill>
                  <a:srgbClr val="0000FF"/>
                </a:solidFill>
                <a:ea typeface="Calibri"/>
                <a:cs typeface="Times New Roman"/>
              </a:rPr>
              <a:t>SELECT</a:t>
            </a:r>
            <a:r>
              <a:rPr lang="en-US" dirty="0">
                <a:ea typeface="Calibri"/>
                <a:cs typeface="Times New Roman"/>
              </a:rPr>
              <a:t> </a:t>
            </a:r>
            <a:r>
              <a:rPr lang="en-US" dirty="0">
                <a:solidFill>
                  <a:srgbClr val="008080"/>
                </a:solidFill>
                <a:ea typeface="Calibri"/>
                <a:cs typeface="Times New Roman"/>
              </a:rPr>
              <a:t>@Id</a:t>
            </a:r>
            <a:r>
              <a:rPr lang="en-US" dirty="0">
                <a:solidFill>
                  <a:srgbClr val="808080"/>
                </a:solidFill>
                <a:ea typeface="Calibri"/>
                <a:cs typeface="Times New Roman"/>
              </a:rPr>
              <a:t>=</a:t>
            </a:r>
            <a:r>
              <a:rPr lang="en-US" dirty="0" err="1">
                <a:solidFill>
                  <a:srgbClr val="008080"/>
                </a:solidFill>
                <a:ea typeface="Calibri"/>
                <a:cs typeface="Times New Roman"/>
              </a:rPr>
              <a:t>Student_Id</a:t>
            </a:r>
            <a:endParaRPr lang="ru-RU" sz="2400" dirty="0">
              <a:ea typeface="Calibri"/>
              <a:cs typeface="Times New Roman"/>
            </a:endParaRPr>
          </a:p>
          <a:p>
            <a:pPr>
              <a:spcAft>
                <a:spcPts val="0"/>
              </a:spcAft>
            </a:pPr>
            <a:r>
              <a:rPr lang="en-US" dirty="0">
                <a:ea typeface="Calibri"/>
                <a:cs typeface="Times New Roman"/>
              </a:rPr>
              <a:t>	</a:t>
            </a:r>
            <a:r>
              <a:rPr lang="en-US" dirty="0">
                <a:solidFill>
                  <a:srgbClr val="0000FF"/>
                </a:solidFill>
                <a:ea typeface="Calibri"/>
                <a:cs typeface="Times New Roman"/>
              </a:rPr>
              <a:t>FROM</a:t>
            </a:r>
            <a:r>
              <a:rPr lang="en-US" dirty="0">
                <a:ea typeface="Calibri"/>
                <a:cs typeface="Times New Roman"/>
              </a:rPr>
              <a:t> </a:t>
            </a:r>
            <a:r>
              <a:rPr lang="en-US" dirty="0">
                <a:solidFill>
                  <a:srgbClr val="008080"/>
                </a:solidFill>
                <a:ea typeface="Calibri"/>
                <a:cs typeface="Times New Roman"/>
              </a:rPr>
              <a:t>inserted</a:t>
            </a:r>
            <a:endParaRPr lang="ru-RU" sz="2400" dirty="0">
              <a:ea typeface="Calibri"/>
              <a:cs typeface="Times New Roman"/>
            </a:endParaRPr>
          </a:p>
          <a:p>
            <a:pPr>
              <a:spcAft>
                <a:spcPts val="0"/>
              </a:spcAft>
            </a:pPr>
            <a:r>
              <a:rPr lang="en-US" dirty="0">
                <a:ea typeface="Calibri"/>
                <a:cs typeface="Times New Roman"/>
              </a:rPr>
              <a:t>	</a:t>
            </a:r>
            <a:r>
              <a:rPr lang="ru-RU" dirty="0">
                <a:ea typeface="Calibri"/>
                <a:cs typeface="Times New Roman"/>
              </a:rPr>
              <a:t>    	</a:t>
            </a:r>
            <a:r>
              <a:rPr lang="ru-RU" dirty="0">
                <a:solidFill>
                  <a:srgbClr val="0000FF"/>
                </a:solidFill>
                <a:ea typeface="Calibri"/>
                <a:cs typeface="Times New Roman"/>
              </a:rPr>
              <a:t>UPDATE</a:t>
            </a:r>
            <a:r>
              <a:rPr lang="ru-RU" dirty="0">
                <a:ea typeface="Calibri"/>
                <a:cs typeface="Times New Roman"/>
              </a:rPr>
              <a:t> </a:t>
            </a:r>
            <a:r>
              <a:rPr lang="ru-RU" dirty="0" err="1">
                <a:solidFill>
                  <a:srgbClr val="008080"/>
                </a:solidFill>
                <a:ea typeface="Calibri"/>
                <a:cs typeface="Times New Roman"/>
              </a:rPr>
              <a:t>Student</a:t>
            </a:r>
            <a:endParaRPr lang="ru-RU" sz="2400" dirty="0">
              <a:ea typeface="Calibri"/>
              <a:cs typeface="Times New Roman"/>
            </a:endParaRPr>
          </a:p>
          <a:p>
            <a:pPr>
              <a:spcAft>
                <a:spcPts val="0"/>
              </a:spcAft>
            </a:pPr>
            <a:r>
              <a:rPr lang="ru-RU" dirty="0">
                <a:ea typeface="Calibri"/>
                <a:cs typeface="Times New Roman"/>
              </a:rPr>
              <a:t>		</a:t>
            </a:r>
            <a:r>
              <a:rPr lang="ru-RU" dirty="0">
                <a:solidFill>
                  <a:srgbClr val="0000FF"/>
                </a:solidFill>
                <a:ea typeface="Calibri"/>
                <a:cs typeface="Times New Roman"/>
              </a:rPr>
              <a:t>SET</a:t>
            </a:r>
            <a:r>
              <a:rPr lang="ru-RU" dirty="0">
                <a:ea typeface="Calibri"/>
                <a:cs typeface="Times New Roman"/>
              </a:rPr>
              <a:t> </a:t>
            </a:r>
            <a:r>
              <a:rPr lang="ru-RU" dirty="0" err="1">
                <a:solidFill>
                  <a:srgbClr val="008080"/>
                </a:solidFill>
                <a:ea typeface="Calibri"/>
                <a:cs typeface="Times New Roman"/>
              </a:rPr>
              <a:t>Update_time</a:t>
            </a:r>
            <a:r>
              <a:rPr lang="ru-RU" dirty="0" err="1">
                <a:solidFill>
                  <a:srgbClr val="808080"/>
                </a:solidFill>
                <a:ea typeface="Calibri"/>
                <a:cs typeface="Times New Roman"/>
              </a:rPr>
              <a:t>=</a:t>
            </a:r>
            <a:r>
              <a:rPr lang="ru-RU" dirty="0" err="1">
                <a:solidFill>
                  <a:srgbClr val="FF00FF"/>
                </a:solidFill>
                <a:ea typeface="Calibri"/>
                <a:cs typeface="Times New Roman"/>
              </a:rPr>
              <a:t>GETDATE</a:t>
            </a:r>
            <a:r>
              <a:rPr lang="ru-RU" dirty="0">
                <a:solidFill>
                  <a:srgbClr val="808080"/>
                </a:solidFill>
                <a:ea typeface="Calibri"/>
                <a:cs typeface="Times New Roman"/>
              </a:rPr>
              <a:t>()</a:t>
            </a:r>
            <a:endParaRPr lang="ru-RU" sz="2400" dirty="0">
              <a:ea typeface="Calibri"/>
              <a:cs typeface="Times New Roman"/>
            </a:endParaRPr>
          </a:p>
          <a:p>
            <a:pPr>
              <a:spcAft>
                <a:spcPts val="0"/>
              </a:spcAft>
            </a:pPr>
            <a:r>
              <a:rPr lang="ru-RU" dirty="0">
                <a:ea typeface="Calibri"/>
                <a:cs typeface="Times New Roman"/>
              </a:rPr>
              <a:t>		</a:t>
            </a:r>
            <a:r>
              <a:rPr lang="ru-RU" dirty="0">
                <a:solidFill>
                  <a:srgbClr val="0000FF"/>
                </a:solidFill>
                <a:ea typeface="Calibri"/>
                <a:cs typeface="Times New Roman"/>
              </a:rPr>
              <a:t>WHERE</a:t>
            </a:r>
            <a:r>
              <a:rPr lang="ru-RU" dirty="0">
                <a:ea typeface="Calibri"/>
                <a:cs typeface="Times New Roman"/>
              </a:rPr>
              <a:t> </a:t>
            </a:r>
            <a:r>
              <a:rPr lang="ru-RU" dirty="0" err="1">
                <a:solidFill>
                  <a:srgbClr val="008080"/>
                </a:solidFill>
                <a:ea typeface="Calibri"/>
                <a:cs typeface="Times New Roman"/>
              </a:rPr>
              <a:t>Student_Id</a:t>
            </a:r>
            <a:r>
              <a:rPr lang="ru-RU" dirty="0" err="1">
                <a:solidFill>
                  <a:srgbClr val="808080"/>
                </a:solidFill>
                <a:ea typeface="Calibri"/>
                <a:cs typeface="Times New Roman"/>
              </a:rPr>
              <a:t>=</a:t>
            </a:r>
            <a:r>
              <a:rPr lang="ru-RU" dirty="0" err="1">
                <a:solidFill>
                  <a:srgbClr val="008080"/>
                </a:solidFill>
                <a:ea typeface="Calibri"/>
                <a:cs typeface="Times New Roman"/>
              </a:rPr>
              <a:t>@Id</a:t>
            </a:r>
            <a:endParaRPr lang="ru-RU" sz="2400" dirty="0">
              <a:ea typeface="Calibri"/>
              <a:cs typeface="Times New Roman"/>
            </a:endParaRPr>
          </a:p>
          <a:p>
            <a:pPr>
              <a:spcAft>
                <a:spcPts val="0"/>
              </a:spcAft>
            </a:pPr>
            <a:r>
              <a:rPr lang="ru-RU" dirty="0">
                <a:solidFill>
                  <a:srgbClr val="0000FF"/>
                </a:solidFill>
                <a:ea typeface="Calibri"/>
                <a:cs typeface="Times New Roman"/>
              </a:rPr>
              <a:t>END</a:t>
            </a:r>
            <a:endParaRPr lang="ru-RU" dirty="0"/>
          </a:p>
        </p:txBody>
      </p:sp>
      <p:sp>
        <p:nvSpPr>
          <p:cNvPr id="5" name="TextBox 4"/>
          <p:cNvSpPr txBox="1"/>
          <p:nvPr/>
        </p:nvSpPr>
        <p:spPr>
          <a:xfrm>
            <a:off x="285720" y="1071546"/>
            <a:ext cx="8441862" cy="1200329"/>
          </a:xfrm>
          <a:prstGeom prst="rect">
            <a:avLst/>
          </a:prstGeom>
          <a:noFill/>
        </p:spPr>
        <p:txBody>
          <a:bodyPr wrap="square" rtlCol="0">
            <a:spAutoFit/>
          </a:bodyPr>
          <a:lstStyle/>
          <a:p>
            <a:r>
              <a:rPr lang="en-US" dirty="0"/>
              <a:t>C</a:t>
            </a:r>
            <a:r>
              <a:rPr lang="ru-RU" dirty="0"/>
              <a:t>создание триггер сохраняющего дату последнего изменения записи в таблице </a:t>
            </a:r>
            <a:r>
              <a:rPr lang="en-US" dirty="0"/>
              <a:t>Student.</a:t>
            </a:r>
            <a:r>
              <a:rPr lang="ru-RU" dirty="0"/>
              <a:t> Для написания подобного триггера в таблице должно быть поле, в которое будет записываться дата и время внесенного изменения. В примере это поле </a:t>
            </a:r>
            <a:r>
              <a:rPr lang="ru-RU" dirty="0" err="1">
                <a:ea typeface="Calibri"/>
                <a:cs typeface="Times New Roman"/>
              </a:rPr>
              <a:t>Update_time</a:t>
            </a:r>
            <a:r>
              <a:rPr lang="ru-RU" dirty="0">
                <a:ea typeface="Calibri"/>
                <a:cs typeface="Times New Roman"/>
              </a:rPr>
              <a:t>. Если такого поля в таблице </a:t>
            </a:r>
            <a:r>
              <a:rPr lang="en-US" dirty="0">
                <a:ea typeface="Calibri"/>
                <a:cs typeface="Times New Roman"/>
              </a:rPr>
              <a:t>Student</a:t>
            </a:r>
            <a:r>
              <a:rPr lang="ru-RU" dirty="0">
                <a:ea typeface="Calibri"/>
                <a:cs typeface="Times New Roman"/>
              </a:rPr>
              <a:t> нет, тогда нужно добавить.</a:t>
            </a:r>
            <a:endParaRPr lang="ru-R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85720" y="214290"/>
            <a:ext cx="8686800" cy="582594"/>
          </a:xfrm>
        </p:spPr>
        <p:txBody>
          <a:bodyPr>
            <a:normAutofit fontScale="90000"/>
          </a:bodyPr>
          <a:lstStyle/>
          <a:p>
            <a:r>
              <a:rPr lang="ru-RU" sz="2500" dirty="0"/>
              <a:t>Триггер запрещающий изменение значения поля </a:t>
            </a:r>
            <a:r>
              <a:rPr lang="en-US" sz="2500" dirty="0"/>
              <a:t>Mark</a:t>
            </a:r>
            <a:r>
              <a:rPr lang="ru-RU" sz="2500" dirty="0"/>
              <a:t> и </a:t>
            </a:r>
            <a:r>
              <a:rPr lang="en-US" sz="2500" dirty="0" err="1"/>
              <a:t>Exam_Date</a:t>
            </a:r>
            <a:endParaRPr lang="ru-RU" sz="2500" dirty="0"/>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31</a:t>
            </a:fld>
            <a:endParaRPr lang="ru-RU"/>
          </a:p>
        </p:txBody>
      </p:sp>
      <p:sp>
        <p:nvSpPr>
          <p:cNvPr id="4" name="TextBox 3"/>
          <p:cNvSpPr txBox="1"/>
          <p:nvPr/>
        </p:nvSpPr>
        <p:spPr>
          <a:xfrm>
            <a:off x="214282" y="5643578"/>
            <a:ext cx="8572560" cy="954107"/>
          </a:xfrm>
          <a:prstGeom prst="rect">
            <a:avLst/>
          </a:prstGeom>
          <a:noFill/>
        </p:spPr>
        <p:txBody>
          <a:bodyPr wrap="square" rtlCol="0">
            <a:spAutoFit/>
          </a:bodyPr>
          <a:lstStyle/>
          <a:p>
            <a:r>
              <a:rPr lang="en-US" sz="1400" b="1" dirty="0"/>
              <a:t>RAISERROR</a:t>
            </a:r>
            <a:r>
              <a:rPr lang="en-US" sz="1400" dirty="0"/>
              <a:t> </a:t>
            </a:r>
            <a:r>
              <a:rPr lang="ru-RU" sz="1400" dirty="0"/>
              <a:t>– системная функция, позволяющая создавать сообщение об ошибке и возвращать его как сообщение об ошибке сервера вызывающему приложению .</a:t>
            </a:r>
          </a:p>
          <a:p>
            <a:r>
              <a:rPr lang="ru-RU" sz="1400" dirty="0"/>
              <a:t>Синтаксис:</a:t>
            </a:r>
          </a:p>
          <a:p>
            <a:r>
              <a:rPr lang="ru-RU" sz="1400" dirty="0"/>
              <a:t>RAISERROR ( сообщение или номер ошибки, </a:t>
            </a:r>
            <a:r>
              <a:rPr lang="ru-RU" sz="1400" dirty="0" err="1"/>
              <a:t>степень_серьезности</a:t>
            </a:r>
            <a:r>
              <a:rPr lang="ru-RU" sz="1400" dirty="0"/>
              <a:t>, состояние)</a:t>
            </a:r>
          </a:p>
        </p:txBody>
      </p:sp>
      <p:sp>
        <p:nvSpPr>
          <p:cNvPr id="5" name="TextBox 4"/>
          <p:cNvSpPr txBox="1"/>
          <p:nvPr/>
        </p:nvSpPr>
        <p:spPr>
          <a:xfrm>
            <a:off x="428596" y="1214422"/>
            <a:ext cx="7589642" cy="2868478"/>
          </a:xfrm>
          <a:prstGeom prst="rect">
            <a:avLst/>
          </a:prstGeom>
          <a:noFill/>
        </p:spPr>
        <p:txBody>
          <a:bodyPr wrap="none" rtlCol="0">
            <a:spAutoFit/>
          </a:bodyPr>
          <a:lstStyle/>
          <a:p>
            <a:pPr>
              <a:lnSpc>
                <a:spcPct val="115000"/>
              </a:lnSpc>
              <a:spcAft>
                <a:spcPts val="0"/>
              </a:spcAft>
            </a:pPr>
            <a:r>
              <a:rPr lang="ru-RU" sz="1600" dirty="0">
                <a:ea typeface="Calibri"/>
                <a:cs typeface="Times New Roman"/>
              </a:rPr>
              <a:t> </a:t>
            </a:r>
          </a:p>
          <a:p>
            <a:r>
              <a:rPr lang="en-US" dirty="0">
                <a:solidFill>
                  <a:srgbClr val="0000FF"/>
                </a:solidFill>
              </a:rPr>
              <a:t>CREATE TRIGGER </a:t>
            </a:r>
            <a:r>
              <a:rPr lang="en-US" dirty="0" err="1">
                <a:solidFill>
                  <a:srgbClr val="008080"/>
                </a:solidFill>
              </a:rPr>
              <a:t>Disallow_update_Mark_Exam_Date</a:t>
            </a:r>
            <a:endParaRPr lang="en-US" dirty="0">
              <a:solidFill>
                <a:srgbClr val="008080"/>
              </a:solidFill>
            </a:endParaRPr>
          </a:p>
          <a:p>
            <a:r>
              <a:rPr lang="en-US" dirty="0">
                <a:solidFill>
                  <a:srgbClr val="0000FF"/>
                </a:solidFill>
              </a:rPr>
              <a:t>ON </a:t>
            </a:r>
            <a:r>
              <a:rPr lang="en-US" dirty="0">
                <a:solidFill>
                  <a:srgbClr val="008080"/>
                </a:solidFill>
              </a:rPr>
              <a:t>Exam_mark</a:t>
            </a:r>
          </a:p>
          <a:p>
            <a:r>
              <a:rPr lang="en-US" dirty="0">
                <a:solidFill>
                  <a:srgbClr val="0000FF"/>
                </a:solidFill>
              </a:rPr>
              <a:t>AFTER UPDATE</a:t>
            </a:r>
          </a:p>
          <a:p>
            <a:r>
              <a:rPr lang="en-US" dirty="0">
                <a:solidFill>
                  <a:srgbClr val="0000FF"/>
                </a:solidFill>
              </a:rPr>
              <a:t>AS</a:t>
            </a:r>
          </a:p>
          <a:p>
            <a:r>
              <a:rPr lang="en-US" dirty="0">
                <a:solidFill>
                  <a:srgbClr val="0000FF"/>
                </a:solidFill>
              </a:rPr>
              <a:t>IF UPDATE </a:t>
            </a:r>
            <a:r>
              <a:rPr lang="en-US" dirty="0">
                <a:solidFill>
                  <a:srgbClr val="808080"/>
                </a:solidFill>
              </a:rPr>
              <a:t>(</a:t>
            </a:r>
            <a:r>
              <a:rPr lang="en-US" dirty="0">
                <a:solidFill>
                  <a:srgbClr val="008080"/>
                </a:solidFill>
              </a:rPr>
              <a:t>Mark</a:t>
            </a:r>
            <a:r>
              <a:rPr lang="en-US" dirty="0">
                <a:solidFill>
                  <a:srgbClr val="808080"/>
                </a:solidFill>
              </a:rPr>
              <a:t>)</a:t>
            </a:r>
            <a:r>
              <a:rPr lang="ru-RU" dirty="0">
                <a:solidFill>
                  <a:srgbClr val="808080"/>
                </a:solidFill>
              </a:rPr>
              <a:t> </a:t>
            </a:r>
            <a:r>
              <a:rPr lang="en-US" dirty="0">
                <a:solidFill>
                  <a:srgbClr val="808080"/>
                </a:solidFill>
              </a:rPr>
              <a:t>OR </a:t>
            </a:r>
            <a:r>
              <a:rPr lang="en-US" dirty="0">
                <a:solidFill>
                  <a:srgbClr val="0000FF"/>
                </a:solidFill>
              </a:rPr>
              <a:t>UPDATE</a:t>
            </a:r>
            <a:r>
              <a:rPr lang="en-US" dirty="0">
                <a:solidFill>
                  <a:srgbClr val="808080"/>
                </a:solidFill>
              </a:rPr>
              <a:t>(</a:t>
            </a:r>
            <a:r>
              <a:rPr lang="en-US" dirty="0" err="1">
                <a:solidFill>
                  <a:srgbClr val="008080"/>
                </a:solidFill>
              </a:rPr>
              <a:t>Exam_Date</a:t>
            </a:r>
            <a:r>
              <a:rPr lang="en-US" dirty="0">
                <a:solidFill>
                  <a:srgbClr val="808080"/>
                </a:solidFill>
              </a:rPr>
              <a:t>)</a:t>
            </a:r>
          </a:p>
          <a:p>
            <a:r>
              <a:rPr lang="en-US" dirty="0">
                <a:solidFill>
                  <a:srgbClr val="0000FF"/>
                </a:solidFill>
              </a:rPr>
              <a:t>BEGIN </a:t>
            </a:r>
          </a:p>
          <a:p>
            <a:r>
              <a:rPr lang="en-US" dirty="0">
                <a:solidFill>
                  <a:srgbClr val="0000FF"/>
                </a:solidFill>
              </a:rPr>
              <a:t>     ROLLBACK TRANSACTION</a:t>
            </a:r>
          </a:p>
          <a:p>
            <a:r>
              <a:rPr lang="ru-RU" dirty="0">
                <a:solidFill>
                  <a:srgbClr val="0000FF"/>
                </a:solidFill>
              </a:rPr>
              <a:t>     RAISERROR</a:t>
            </a:r>
            <a:r>
              <a:rPr lang="ru-RU" dirty="0">
                <a:solidFill>
                  <a:srgbClr val="808080"/>
                </a:solidFill>
              </a:rPr>
              <a:t>(</a:t>
            </a:r>
            <a:r>
              <a:rPr lang="ru-RU" dirty="0">
                <a:solidFill>
                  <a:srgbClr val="FF0000"/>
                </a:solidFill>
              </a:rPr>
              <a:t>'нельзя изменять значение оценки</a:t>
            </a:r>
            <a:r>
              <a:rPr lang="en-US" dirty="0">
                <a:solidFill>
                  <a:srgbClr val="FF0000"/>
                </a:solidFill>
              </a:rPr>
              <a:t> </a:t>
            </a:r>
            <a:r>
              <a:rPr lang="ru-RU" dirty="0">
                <a:solidFill>
                  <a:srgbClr val="FF0000"/>
                </a:solidFill>
              </a:rPr>
              <a:t> или даты экзамена'</a:t>
            </a:r>
            <a:r>
              <a:rPr lang="ru-RU" dirty="0">
                <a:solidFill>
                  <a:srgbClr val="808080"/>
                </a:solidFill>
              </a:rPr>
              <a:t>,16,1)</a:t>
            </a:r>
          </a:p>
          <a:p>
            <a:r>
              <a:rPr lang="en-US" dirty="0">
                <a:solidFill>
                  <a:srgbClr val="0000FF"/>
                </a:solidFill>
              </a:rPr>
              <a:t>END</a:t>
            </a:r>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7158" y="214290"/>
            <a:ext cx="8229600" cy="1143000"/>
          </a:xfrm>
        </p:spPr>
        <p:txBody>
          <a:bodyPr>
            <a:noAutofit/>
          </a:bodyPr>
          <a:lstStyle/>
          <a:p>
            <a:pPr algn="l"/>
            <a:r>
              <a:rPr lang="ru-RU" sz="2500" dirty="0"/>
              <a:t>Триггер, не допускающий добавление более трех записей о результатах сдачи по одной и той же дисциплине одним и тем же студентом </a:t>
            </a:r>
          </a:p>
        </p:txBody>
      </p:sp>
      <p:sp>
        <p:nvSpPr>
          <p:cNvPr id="3" name="Номер слайда 2"/>
          <p:cNvSpPr>
            <a:spLocks noGrp="1"/>
          </p:cNvSpPr>
          <p:nvPr>
            <p:ph type="sldNum" sz="quarter" idx="12"/>
          </p:nvPr>
        </p:nvSpPr>
        <p:spPr>
          <a:xfrm>
            <a:off x="7010400" y="6492875"/>
            <a:ext cx="2133600" cy="365125"/>
          </a:xfrm>
        </p:spPr>
        <p:txBody>
          <a:bodyPr/>
          <a:lstStyle/>
          <a:p>
            <a:fld id="{1F87023B-4310-42C4-812D-874FAF4871B2}" type="slidenum">
              <a:rPr lang="ru-RU" smtClean="0"/>
              <a:pPr/>
              <a:t>32</a:t>
            </a:fld>
            <a:endParaRPr lang="ru-RU" dirty="0"/>
          </a:p>
        </p:txBody>
      </p:sp>
      <p:sp>
        <p:nvSpPr>
          <p:cNvPr id="4" name="TextBox 3"/>
          <p:cNvSpPr txBox="1"/>
          <p:nvPr/>
        </p:nvSpPr>
        <p:spPr>
          <a:xfrm>
            <a:off x="500034" y="1779687"/>
            <a:ext cx="7786742" cy="4801314"/>
          </a:xfrm>
          <a:prstGeom prst="rect">
            <a:avLst/>
          </a:prstGeom>
          <a:noFill/>
        </p:spPr>
        <p:txBody>
          <a:bodyPr wrap="square" rtlCol="0">
            <a:spAutoFit/>
          </a:bodyPr>
          <a:lstStyle/>
          <a:p>
            <a:r>
              <a:rPr lang="en-US" dirty="0">
                <a:solidFill>
                  <a:srgbClr val="0000FF"/>
                </a:solidFill>
                <a:ea typeface="Calibri"/>
                <a:cs typeface="Times New Roman"/>
              </a:rPr>
              <a:t>CREATE</a:t>
            </a:r>
            <a:r>
              <a:rPr lang="en-US" dirty="0">
                <a:ea typeface="Calibri"/>
                <a:cs typeface="Times New Roman"/>
              </a:rPr>
              <a:t> </a:t>
            </a:r>
            <a:r>
              <a:rPr lang="en-US" dirty="0">
                <a:solidFill>
                  <a:srgbClr val="0000FF"/>
                </a:solidFill>
                <a:ea typeface="Calibri"/>
                <a:cs typeface="Times New Roman"/>
              </a:rPr>
              <a:t>TRIGGER</a:t>
            </a:r>
            <a:r>
              <a:rPr lang="en-US" dirty="0">
                <a:ea typeface="Calibri"/>
                <a:cs typeface="Times New Roman"/>
              </a:rPr>
              <a:t> </a:t>
            </a:r>
            <a:r>
              <a:rPr lang="en-US" dirty="0" err="1">
                <a:solidFill>
                  <a:srgbClr val="008080"/>
                </a:solidFill>
                <a:ea typeface="Calibri"/>
                <a:cs typeface="Times New Roman"/>
              </a:rPr>
              <a:t>Count_re_examination</a:t>
            </a:r>
            <a:endParaRPr lang="ru-RU" dirty="0">
              <a:ea typeface="Calibri"/>
              <a:cs typeface="Times New Roman"/>
            </a:endParaRPr>
          </a:p>
          <a:p>
            <a:r>
              <a:rPr lang="en-US" dirty="0">
                <a:solidFill>
                  <a:srgbClr val="0000FF"/>
                </a:solidFill>
                <a:ea typeface="Calibri"/>
                <a:cs typeface="Times New Roman"/>
              </a:rPr>
              <a:t>ON</a:t>
            </a:r>
            <a:r>
              <a:rPr lang="en-US" dirty="0">
                <a:ea typeface="Calibri"/>
                <a:cs typeface="Times New Roman"/>
              </a:rPr>
              <a:t> </a:t>
            </a:r>
            <a:r>
              <a:rPr lang="en-US" dirty="0">
                <a:solidFill>
                  <a:srgbClr val="008080"/>
                </a:solidFill>
                <a:ea typeface="Calibri"/>
                <a:cs typeface="Times New Roman"/>
              </a:rPr>
              <a:t>Exam_mark</a:t>
            </a:r>
            <a:endParaRPr lang="ru-RU" dirty="0">
              <a:ea typeface="Calibri"/>
              <a:cs typeface="Times New Roman"/>
            </a:endParaRPr>
          </a:p>
          <a:p>
            <a:r>
              <a:rPr lang="en-US" dirty="0">
                <a:solidFill>
                  <a:srgbClr val="0000FF"/>
                </a:solidFill>
                <a:ea typeface="Calibri"/>
                <a:cs typeface="Times New Roman"/>
              </a:rPr>
              <a:t>AFTER</a:t>
            </a:r>
            <a:r>
              <a:rPr lang="en-US" dirty="0">
                <a:ea typeface="Calibri"/>
                <a:cs typeface="Times New Roman"/>
              </a:rPr>
              <a:t> </a:t>
            </a:r>
            <a:r>
              <a:rPr lang="en-US" dirty="0">
                <a:solidFill>
                  <a:srgbClr val="0000FF"/>
                </a:solidFill>
                <a:ea typeface="Calibri"/>
                <a:cs typeface="Times New Roman"/>
              </a:rPr>
              <a:t>INSERT</a:t>
            </a:r>
            <a:r>
              <a:rPr lang="en-US" dirty="0">
                <a:ea typeface="Calibri"/>
                <a:cs typeface="Times New Roman"/>
              </a:rPr>
              <a:t>  </a:t>
            </a:r>
            <a:endParaRPr lang="ru-RU" dirty="0">
              <a:ea typeface="Calibri"/>
              <a:cs typeface="Times New Roman"/>
            </a:endParaRPr>
          </a:p>
          <a:p>
            <a:r>
              <a:rPr lang="en-US" dirty="0">
                <a:solidFill>
                  <a:srgbClr val="0000FF"/>
                </a:solidFill>
                <a:ea typeface="Calibri"/>
                <a:cs typeface="Times New Roman"/>
              </a:rPr>
              <a:t>AS</a:t>
            </a:r>
            <a:endParaRPr lang="ru-RU" dirty="0">
              <a:ea typeface="Calibri"/>
              <a:cs typeface="Times New Roman"/>
            </a:endParaRPr>
          </a:p>
          <a:p>
            <a:r>
              <a:rPr lang="en-US" dirty="0">
                <a:solidFill>
                  <a:srgbClr val="0000FF"/>
                </a:solidFill>
                <a:ea typeface="Calibri"/>
                <a:cs typeface="Times New Roman"/>
              </a:rPr>
              <a:t>DECLARE</a:t>
            </a:r>
            <a:r>
              <a:rPr lang="en-US" dirty="0">
                <a:ea typeface="Calibri"/>
                <a:cs typeface="Times New Roman"/>
              </a:rPr>
              <a:t> </a:t>
            </a:r>
            <a:r>
              <a:rPr lang="en-US" dirty="0">
                <a:solidFill>
                  <a:srgbClr val="008080"/>
                </a:solidFill>
                <a:ea typeface="Calibri"/>
                <a:cs typeface="Times New Roman"/>
              </a:rPr>
              <a:t>@</a:t>
            </a:r>
            <a:r>
              <a:rPr lang="en-US" dirty="0" err="1">
                <a:solidFill>
                  <a:srgbClr val="008080"/>
                </a:solidFill>
                <a:ea typeface="Calibri"/>
                <a:cs typeface="Times New Roman"/>
              </a:rPr>
              <a:t>Student_Id</a:t>
            </a:r>
            <a:r>
              <a:rPr lang="en-US" dirty="0">
                <a:ea typeface="Calibri"/>
                <a:cs typeface="Times New Roman"/>
              </a:rPr>
              <a:t> </a:t>
            </a:r>
            <a:r>
              <a:rPr lang="en-US" dirty="0">
                <a:solidFill>
                  <a:srgbClr val="0000FF"/>
                </a:solidFill>
                <a:ea typeface="Calibri"/>
                <a:cs typeface="Times New Roman"/>
              </a:rPr>
              <a:t>INT</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a:t>
            </a:r>
            <a:r>
              <a:rPr lang="en-US" dirty="0" err="1">
                <a:solidFill>
                  <a:srgbClr val="008080"/>
                </a:solidFill>
                <a:ea typeface="Calibri"/>
                <a:cs typeface="Times New Roman"/>
              </a:rPr>
              <a:t>Subj_Id</a:t>
            </a:r>
            <a:r>
              <a:rPr lang="en-US" dirty="0">
                <a:ea typeface="Calibri"/>
                <a:cs typeface="Times New Roman"/>
              </a:rPr>
              <a:t> </a:t>
            </a:r>
            <a:r>
              <a:rPr lang="en-US" dirty="0">
                <a:solidFill>
                  <a:srgbClr val="0000FF"/>
                </a:solidFill>
                <a:ea typeface="Calibri"/>
                <a:cs typeface="Times New Roman"/>
              </a:rPr>
              <a:t>INT</a:t>
            </a:r>
            <a:endParaRPr lang="ru-RU" dirty="0">
              <a:ea typeface="Calibri"/>
              <a:cs typeface="Times New Roman"/>
            </a:endParaRPr>
          </a:p>
          <a:p>
            <a:r>
              <a:rPr lang="en-US" dirty="0">
                <a:solidFill>
                  <a:srgbClr val="0000FF"/>
                </a:solidFill>
                <a:ea typeface="Calibri"/>
                <a:cs typeface="Times New Roman"/>
              </a:rPr>
              <a:t>BEGIN</a:t>
            </a:r>
            <a:endParaRPr lang="ru-RU" dirty="0">
              <a:ea typeface="Calibri"/>
              <a:cs typeface="Times New Roman"/>
            </a:endParaRPr>
          </a:p>
          <a:p>
            <a:r>
              <a:rPr lang="en-US" dirty="0">
                <a:ea typeface="Calibri"/>
                <a:cs typeface="Times New Roman"/>
              </a:rPr>
              <a:t>	</a:t>
            </a:r>
            <a:r>
              <a:rPr lang="en-US" dirty="0">
                <a:solidFill>
                  <a:srgbClr val="0000FF"/>
                </a:solidFill>
                <a:ea typeface="Calibri"/>
                <a:cs typeface="Times New Roman"/>
              </a:rPr>
              <a:t>SELECT</a:t>
            </a:r>
            <a:r>
              <a:rPr lang="en-US" dirty="0">
                <a:ea typeface="Calibri"/>
                <a:cs typeface="Times New Roman"/>
              </a:rPr>
              <a:t> </a:t>
            </a:r>
            <a:r>
              <a:rPr lang="en-US" dirty="0">
                <a:solidFill>
                  <a:srgbClr val="008080"/>
                </a:solidFill>
                <a:ea typeface="Calibri"/>
                <a:cs typeface="Times New Roman"/>
              </a:rPr>
              <a:t>@</a:t>
            </a:r>
            <a:r>
              <a:rPr lang="en-US" dirty="0" err="1">
                <a:solidFill>
                  <a:srgbClr val="008080"/>
                </a:solidFill>
                <a:ea typeface="Calibri"/>
                <a:cs typeface="Times New Roman"/>
              </a:rPr>
              <a:t>Student_Id</a:t>
            </a:r>
            <a:r>
              <a:rPr lang="en-US" dirty="0">
                <a:ea typeface="Calibri"/>
                <a:cs typeface="Times New Roman"/>
              </a:rPr>
              <a:t> </a:t>
            </a:r>
            <a:r>
              <a:rPr lang="en-US" dirty="0">
                <a:solidFill>
                  <a:srgbClr val="808080"/>
                </a:solidFill>
                <a:ea typeface="Calibri"/>
                <a:cs typeface="Times New Roman"/>
              </a:rPr>
              <a:t>=</a:t>
            </a:r>
            <a:r>
              <a:rPr lang="en-US" dirty="0" err="1">
                <a:solidFill>
                  <a:srgbClr val="008080"/>
                </a:solidFill>
                <a:ea typeface="Calibri"/>
                <a:cs typeface="Times New Roman"/>
              </a:rPr>
              <a:t>Student_Id</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a:t>
            </a:r>
            <a:r>
              <a:rPr lang="en-US" dirty="0" err="1">
                <a:solidFill>
                  <a:srgbClr val="008080"/>
                </a:solidFill>
                <a:ea typeface="Calibri"/>
                <a:cs typeface="Times New Roman"/>
              </a:rPr>
              <a:t>Subj_Id</a:t>
            </a:r>
            <a:r>
              <a:rPr lang="en-US" dirty="0">
                <a:solidFill>
                  <a:srgbClr val="808080"/>
                </a:solidFill>
                <a:ea typeface="Calibri"/>
                <a:cs typeface="Times New Roman"/>
              </a:rPr>
              <a:t>=</a:t>
            </a:r>
            <a:r>
              <a:rPr lang="en-US" dirty="0">
                <a:ea typeface="Calibri"/>
                <a:cs typeface="Times New Roman"/>
              </a:rPr>
              <a:t> </a:t>
            </a:r>
            <a:r>
              <a:rPr lang="en-US" dirty="0" err="1">
                <a:solidFill>
                  <a:srgbClr val="008080"/>
                </a:solidFill>
                <a:ea typeface="Calibri"/>
                <a:cs typeface="Times New Roman"/>
              </a:rPr>
              <a:t>Subj_Id</a:t>
            </a:r>
            <a:endParaRPr lang="ru-RU" dirty="0">
              <a:ea typeface="Calibri"/>
              <a:cs typeface="Times New Roman"/>
            </a:endParaRPr>
          </a:p>
          <a:p>
            <a:r>
              <a:rPr lang="en-US" dirty="0">
                <a:ea typeface="Calibri"/>
                <a:cs typeface="Times New Roman"/>
              </a:rPr>
              <a:t>	</a:t>
            </a:r>
            <a:r>
              <a:rPr lang="en-US" dirty="0">
                <a:solidFill>
                  <a:srgbClr val="0000FF"/>
                </a:solidFill>
                <a:ea typeface="Calibri"/>
                <a:cs typeface="Times New Roman"/>
              </a:rPr>
              <a:t>FROM</a:t>
            </a:r>
            <a:r>
              <a:rPr lang="en-US" dirty="0">
                <a:ea typeface="Calibri"/>
                <a:cs typeface="Times New Roman"/>
              </a:rPr>
              <a:t> </a:t>
            </a:r>
            <a:r>
              <a:rPr lang="en-US" dirty="0">
                <a:solidFill>
                  <a:srgbClr val="008080"/>
                </a:solidFill>
                <a:ea typeface="Calibri"/>
                <a:cs typeface="Times New Roman"/>
              </a:rPr>
              <a:t>inserted</a:t>
            </a:r>
            <a:endParaRPr lang="ru-RU" dirty="0">
              <a:ea typeface="Calibri"/>
              <a:cs typeface="Times New Roman"/>
            </a:endParaRPr>
          </a:p>
          <a:p>
            <a:r>
              <a:rPr lang="en-US" dirty="0">
                <a:ea typeface="Calibri"/>
                <a:cs typeface="Times New Roman"/>
              </a:rPr>
              <a:t>	</a:t>
            </a:r>
            <a:r>
              <a:rPr lang="en-US" dirty="0">
                <a:solidFill>
                  <a:srgbClr val="0000FF"/>
                </a:solidFill>
                <a:ea typeface="Calibri"/>
                <a:cs typeface="Times New Roman"/>
              </a:rPr>
              <a:t>IF </a:t>
            </a:r>
            <a:r>
              <a:rPr lang="en-US" dirty="0">
                <a:solidFill>
                  <a:srgbClr val="808080"/>
                </a:solidFill>
                <a:ea typeface="Calibri"/>
                <a:cs typeface="Times New Roman"/>
              </a:rPr>
              <a:t>(</a:t>
            </a:r>
            <a:r>
              <a:rPr lang="en-US" dirty="0">
                <a:solidFill>
                  <a:srgbClr val="0000FF"/>
                </a:solidFill>
                <a:ea typeface="Calibri"/>
                <a:cs typeface="Times New Roman"/>
              </a:rPr>
              <a:t>SELECT</a:t>
            </a:r>
            <a:r>
              <a:rPr lang="en-US" dirty="0">
                <a:ea typeface="Calibri"/>
                <a:cs typeface="Times New Roman"/>
              </a:rPr>
              <a:t> </a:t>
            </a:r>
            <a:r>
              <a:rPr lang="en-US" dirty="0">
                <a:solidFill>
                  <a:srgbClr val="FF00FF"/>
                </a:solidFill>
                <a:ea typeface="Calibri"/>
                <a:cs typeface="Times New Roman"/>
              </a:rPr>
              <a:t>COUNT</a:t>
            </a:r>
            <a:r>
              <a:rPr lang="en-US" dirty="0">
                <a:solidFill>
                  <a:srgbClr val="808080"/>
                </a:solidFill>
                <a:ea typeface="Calibri"/>
                <a:cs typeface="Times New Roman"/>
              </a:rPr>
              <a:t>(</a:t>
            </a:r>
            <a:r>
              <a:rPr lang="en-US" dirty="0">
                <a:solidFill>
                  <a:srgbClr val="008080"/>
                </a:solidFill>
              </a:rPr>
              <a:t>Mark</a:t>
            </a:r>
            <a:r>
              <a:rPr lang="en-US" dirty="0">
                <a:solidFill>
                  <a:srgbClr val="808080"/>
                </a:solidFill>
                <a:ea typeface="Calibri"/>
                <a:cs typeface="Times New Roman"/>
              </a:rPr>
              <a:t>)</a:t>
            </a:r>
            <a:endParaRPr lang="ru-RU" dirty="0">
              <a:ea typeface="Calibri"/>
              <a:cs typeface="Times New Roman"/>
            </a:endParaRPr>
          </a:p>
          <a:p>
            <a:r>
              <a:rPr lang="en-US" dirty="0">
                <a:ea typeface="Calibri"/>
                <a:cs typeface="Times New Roman"/>
              </a:rPr>
              <a:t>	</a:t>
            </a:r>
            <a:r>
              <a:rPr lang="ru-RU" dirty="0">
                <a:ea typeface="Calibri"/>
                <a:cs typeface="Times New Roman"/>
              </a:rPr>
              <a:t>      </a:t>
            </a:r>
            <a:r>
              <a:rPr lang="en-US" dirty="0">
                <a:solidFill>
                  <a:srgbClr val="0000FF"/>
                </a:solidFill>
                <a:ea typeface="Calibri"/>
                <a:cs typeface="Times New Roman"/>
              </a:rPr>
              <a:t>FROM</a:t>
            </a:r>
            <a:r>
              <a:rPr lang="en-US" dirty="0">
                <a:ea typeface="Calibri"/>
                <a:cs typeface="Times New Roman"/>
              </a:rPr>
              <a:t> </a:t>
            </a:r>
            <a:r>
              <a:rPr lang="en-US" dirty="0">
                <a:solidFill>
                  <a:srgbClr val="008080"/>
                </a:solidFill>
                <a:ea typeface="Calibri"/>
                <a:cs typeface="Times New Roman"/>
              </a:rPr>
              <a:t>Exam_mark</a:t>
            </a:r>
            <a:endParaRPr lang="ru-RU" dirty="0">
              <a:ea typeface="Calibri"/>
              <a:cs typeface="Times New Roman"/>
            </a:endParaRPr>
          </a:p>
          <a:p>
            <a:r>
              <a:rPr lang="en-US" dirty="0">
                <a:ea typeface="Calibri"/>
                <a:cs typeface="Times New Roman"/>
              </a:rPr>
              <a:t>	</a:t>
            </a:r>
            <a:r>
              <a:rPr lang="ru-RU" dirty="0">
                <a:ea typeface="Calibri"/>
                <a:cs typeface="Times New Roman"/>
              </a:rPr>
              <a:t>      </a:t>
            </a:r>
            <a:r>
              <a:rPr lang="en-US" dirty="0">
                <a:solidFill>
                  <a:srgbClr val="0000FF"/>
                </a:solidFill>
                <a:ea typeface="Calibri"/>
                <a:cs typeface="Times New Roman"/>
              </a:rPr>
              <a:t>WHERE</a:t>
            </a:r>
            <a:r>
              <a:rPr lang="en-US" dirty="0">
                <a:ea typeface="Calibri"/>
                <a:cs typeface="Times New Roman"/>
              </a:rPr>
              <a:t> </a:t>
            </a:r>
            <a:r>
              <a:rPr lang="en-US" dirty="0" err="1">
                <a:solidFill>
                  <a:srgbClr val="008080"/>
                </a:solidFill>
                <a:ea typeface="Calibri"/>
                <a:cs typeface="Times New Roman"/>
              </a:rPr>
              <a:t>Student_Id</a:t>
            </a:r>
            <a:r>
              <a:rPr lang="en-US" dirty="0">
                <a:solidFill>
                  <a:srgbClr val="808080"/>
                </a:solidFill>
                <a:ea typeface="Calibri"/>
                <a:cs typeface="Times New Roman"/>
              </a:rPr>
              <a:t>=</a:t>
            </a:r>
            <a:r>
              <a:rPr lang="en-US" dirty="0">
                <a:solidFill>
                  <a:srgbClr val="008080"/>
                </a:solidFill>
                <a:ea typeface="Calibri"/>
                <a:cs typeface="Times New Roman"/>
              </a:rPr>
              <a:t>@</a:t>
            </a:r>
            <a:r>
              <a:rPr lang="en-US" dirty="0" err="1">
                <a:solidFill>
                  <a:srgbClr val="008080"/>
                </a:solidFill>
                <a:ea typeface="Calibri"/>
                <a:cs typeface="Times New Roman"/>
              </a:rPr>
              <a:t>Student_Id</a:t>
            </a:r>
            <a:r>
              <a:rPr lang="en-US" dirty="0">
                <a:ea typeface="Calibri"/>
                <a:cs typeface="Times New Roman"/>
              </a:rPr>
              <a:t> </a:t>
            </a:r>
            <a:r>
              <a:rPr lang="en-US" dirty="0">
                <a:solidFill>
                  <a:srgbClr val="808080"/>
                </a:solidFill>
                <a:ea typeface="Calibri"/>
                <a:cs typeface="Times New Roman"/>
              </a:rPr>
              <a:t>AND</a:t>
            </a:r>
            <a:r>
              <a:rPr lang="en-US" dirty="0">
                <a:ea typeface="Calibri"/>
                <a:cs typeface="Times New Roman"/>
              </a:rPr>
              <a:t> </a:t>
            </a:r>
            <a:r>
              <a:rPr lang="en-US" dirty="0" err="1">
                <a:solidFill>
                  <a:srgbClr val="008080"/>
                </a:solidFill>
                <a:ea typeface="Calibri"/>
                <a:cs typeface="Times New Roman"/>
              </a:rPr>
              <a:t>Subj_Id</a:t>
            </a:r>
            <a:r>
              <a:rPr lang="en-US" dirty="0">
                <a:solidFill>
                  <a:srgbClr val="808080"/>
                </a:solidFill>
                <a:ea typeface="Calibri"/>
                <a:cs typeface="Times New Roman"/>
              </a:rPr>
              <a:t>=</a:t>
            </a:r>
            <a:r>
              <a:rPr lang="en-US" dirty="0">
                <a:ea typeface="Calibri"/>
                <a:cs typeface="Times New Roman"/>
              </a:rPr>
              <a:t> </a:t>
            </a:r>
            <a:r>
              <a:rPr lang="en-US" dirty="0">
                <a:solidFill>
                  <a:srgbClr val="008080"/>
                </a:solidFill>
                <a:ea typeface="Calibri"/>
                <a:cs typeface="Times New Roman"/>
              </a:rPr>
              <a:t>@</a:t>
            </a:r>
            <a:r>
              <a:rPr lang="en-US" dirty="0" err="1">
                <a:solidFill>
                  <a:srgbClr val="008080"/>
                </a:solidFill>
                <a:ea typeface="Calibri"/>
                <a:cs typeface="Times New Roman"/>
              </a:rPr>
              <a:t>Subj_Id</a:t>
            </a:r>
            <a:endParaRPr lang="ru-RU" dirty="0">
              <a:ea typeface="Calibri"/>
              <a:cs typeface="Times New Roman"/>
            </a:endParaRPr>
          </a:p>
          <a:p>
            <a:r>
              <a:rPr lang="en-US" dirty="0">
                <a:ea typeface="Calibri"/>
                <a:cs typeface="Times New Roman"/>
              </a:rPr>
              <a:t>	</a:t>
            </a:r>
            <a:r>
              <a:rPr lang="ru-RU" dirty="0">
                <a:ea typeface="Calibri"/>
                <a:cs typeface="Times New Roman"/>
              </a:rPr>
              <a:t>       </a:t>
            </a:r>
            <a:r>
              <a:rPr lang="en-US" dirty="0">
                <a:solidFill>
                  <a:srgbClr val="0000FF"/>
                </a:solidFill>
                <a:ea typeface="Calibri"/>
                <a:cs typeface="Times New Roman"/>
              </a:rPr>
              <a:t>GROUP</a:t>
            </a:r>
            <a:r>
              <a:rPr lang="en-US" dirty="0">
                <a:ea typeface="Calibri"/>
                <a:cs typeface="Times New Roman"/>
              </a:rPr>
              <a:t> </a:t>
            </a:r>
            <a:r>
              <a:rPr lang="en-US" dirty="0">
                <a:solidFill>
                  <a:srgbClr val="0000FF"/>
                </a:solidFill>
                <a:ea typeface="Calibri"/>
                <a:cs typeface="Times New Roman"/>
              </a:rPr>
              <a:t>BY</a:t>
            </a:r>
            <a:r>
              <a:rPr lang="en-US" dirty="0">
                <a:ea typeface="Calibri"/>
                <a:cs typeface="Times New Roman"/>
              </a:rPr>
              <a:t> </a:t>
            </a:r>
            <a:r>
              <a:rPr lang="en-US" dirty="0" err="1">
                <a:solidFill>
                  <a:srgbClr val="008080"/>
                </a:solidFill>
                <a:ea typeface="Calibri"/>
                <a:cs typeface="Times New Roman"/>
              </a:rPr>
              <a:t>Student_Id</a:t>
            </a:r>
            <a:r>
              <a:rPr lang="en-US" dirty="0">
                <a:solidFill>
                  <a:srgbClr val="808080"/>
                </a:solidFill>
                <a:ea typeface="Calibri"/>
                <a:cs typeface="Times New Roman"/>
              </a:rPr>
              <a:t>,</a:t>
            </a:r>
            <a:r>
              <a:rPr lang="ru-RU" dirty="0">
                <a:solidFill>
                  <a:srgbClr val="808080"/>
                </a:solidFill>
                <a:ea typeface="Calibri"/>
                <a:cs typeface="Times New Roman"/>
              </a:rPr>
              <a:t> </a:t>
            </a:r>
            <a:r>
              <a:rPr lang="en-US" dirty="0" err="1">
                <a:solidFill>
                  <a:srgbClr val="008080"/>
                </a:solidFill>
                <a:ea typeface="Calibri"/>
                <a:cs typeface="Times New Roman"/>
              </a:rPr>
              <a:t>Subj_Id</a:t>
            </a:r>
            <a:r>
              <a:rPr lang="en-US" dirty="0">
                <a:solidFill>
                  <a:srgbClr val="808080"/>
                </a:solidFill>
                <a:ea typeface="Calibri"/>
                <a:cs typeface="Times New Roman"/>
              </a:rPr>
              <a:t>)&gt;</a:t>
            </a:r>
            <a:r>
              <a:rPr lang="en-US" dirty="0">
                <a:ea typeface="Calibri"/>
                <a:cs typeface="Times New Roman"/>
              </a:rPr>
              <a:t>3</a:t>
            </a:r>
            <a:endParaRPr lang="ru-RU" dirty="0">
              <a:ea typeface="Calibri"/>
              <a:cs typeface="Times New Roman"/>
            </a:endParaRPr>
          </a:p>
          <a:p>
            <a:r>
              <a:rPr lang="en-US" dirty="0">
                <a:ea typeface="Calibri"/>
                <a:cs typeface="Times New Roman"/>
              </a:rPr>
              <a:t>	</a:t>
            </a:r>
            <a:r>
              <a:rPr lang="en-US" dirty="0">
                <a:solidFill>
                  <a:srgbClr val="0000FF"/>
                </a:solidFill>
                <a:ea typeface="Calibri"/>
                <a:cs typeface="Times New Roman"/>
              </a:rPr>
              <a:t>BEGIN</a:t>
            </a:r>
            <a:endParaRPr lang="ru-RU" dirty="0">
              <a:ea typeface="Calibri"/>
              <a:cs typeface="Times New Roman"/>
            </a:endParaRPr>
          </a:p>
          <a:p>
            <a:r>
              <a:rPr lang="ru-RU" dirty="0">
                <a:solidFill>
                  <a:srgbClr val="0000FF"/>
                </a:solidFill>
                <a:ea typeface="Calibri"/>
                <a:cs typeface="Times New Roman"/>
              </a:rPr>
              <a:t>                         </a:t>
            </a:r>
            <a:r>
              <a:rPr lang="en-US" dirty="0">
                <a:solidFill>
                  <a:srgbClr val="0000FF"/>
                </a:solidFill>
                <a:ea typeface="Calibri"/>
                <a:cs typeface="Times New Roman"/>
              </a:rPr>
              <a:t>ROLLBACK</a:t>
            </a:r>
            <a:r>
              <a:rPr lang="en-US" dirty="0">
                <a:ea typeface="Calibri"/>
                <a:cs typeface="Times New Roman"/>
              </a:rPr>
              <a:t> </a:t>
            </a:r>
            <a:r>
              <a:rPr lang="en-US" dirty="0">
                <a:solidFill>
                  <a:srgbClr val="0000FF"/>
                </a:solidFill>
                <a:ea typeface="Calibri"/>
                <a:cs typeface="Times New Roman"/>
              </a:rPr>
              <a:t>TRANSACTION</a:t>
            </a:r>
            <a:endParaRPr lang="ru-RU" dirty="0">
              <a:ea typeface="Calibri"/>
              <a:cs typeface="Times New Roman"/>
            </a:endParaRPr>
          </a:p>
          <a:p>
            <a:r>
              <a:rPr lang="ru-RU" dirty="0">
                <a:solidFill>
                  <a:srgbClr val="0000FF"/>
                </a:solidFill>
                <a:ea typeface="Calibri"/>
                <a:cs typeface="Times New Roman"/>
              </a:rPr>
              <a:t>	        RAISERROR</a:t>
            </a:r>
            <a:r>
              <a:rPr lang="ru-RU" dirty="0">
                <a:solidFill>
                  <a:srgbClr val="808080"/>
                </a:solidFill>
                <a:ea typeface="Calibri"/>
                <a:cs typeface="Times New Roman"/>
              </a:rPr>
              <a:t>(</a:t>
            </a:r>
            <a:r>
              <a:rPr lang="ru-RU" dirty="0">
                <a:solidFill>
                  <a:srgbClr val="FF0000"/>
                </a:solidFill>
                <a:ea typeface="Calibri"/>
                <a:cs typeface="Times New Roman"/>
              </a:rPr>
              <a:t>'не допускается более трех пересдач'</a:t>
            </a:r>
            <a:r>
              <a:rPr lang="ru-RU" dirty="0">
                <a:solidFill>
                  <a:srgbClr val="808080"/>
                </a:solidFill>
                <a:ea typeface="Calibri"/>
                <a:cs typeface="Times New Roman"/>
              </a:rPr>
              <a:t>,</a:t>
            </a:r>
            <a:r>
              <a:rPr lang="ru-RU" dirty="0">
                <a:ea typeface="Calibri"/>
                <a:cs typeface="Times New Roman"/>
              </a:rPr>
              <a:t>16</a:t>
            </a:r>
            <a:r>
              <a:rPr lang="ru-RU" dirty="0">
                <a:solidFill>
                  <a:srgbClr val="808080"/>
                </a:solidFill>
                <a:ea typeface="Calibri"/>
                <a:cs typeface="Times New Roman"/>
              </a:rPr>
              <a:t>,</a:t>
            </a:r>
            <a:r>
              <a:rPr lang="ru-RU" dirty="0">
                <a:ea typeface="Calibri"/>
                <a:cs typeface="Times New Roman"/>
              </a:rPr>
              <a:t>1</a:t>
            </a:r>
            <a:r>
              <a:rPr lang="ru-RU" dirty="0">
                <a:solidFill>
                  <a:srgbClr val="808080"/>
                </a:solidFill>
                <a:ea typeface="Calibri"/>
                <a:cs typeface="Times New Roman"/>
              </a:rPr>
              <a:t>)</a:t>
            </a:r>
            <a:endParaRPr lang="ru-RU" dirty="0">
              <a:ea typeface="Calibri"/>
              <a:cs typeface="Times New Roman"/>
            </a:endParaRPr>
          </a:p>
          <a:p>
            <a:r>
              <a:rPr lang="ru-RU" dirty="0">
                <a:solidFill>
                  <a:srgbClr val="0000FF"/>
                </a:solidFill>
                <a:ea typeface="Calibri"/>
                <a:cs typeface="Times New Roman"/>
              </a:rPr>
              <a:t>	</a:t>
            </a:r>
            <a:r>
              <a:rPr lang="en-US" dirty="0">
                <a:solidFill>
                  <a:srgbClr val="0000FF"/>
                </a:solidFill>
                <a:ea typeface="Calibri"/>
                <a:cs typeface="Times New Roman"/>
              </a:rPr>
              <a:t>END</a:t>
            </a:r>
            <a:endParaRPr lang="ru-RU" dirty="0">
              <a:ea typeface="Calibri"/>
              <a:cs typeface="Times New Roman"/>
            </a:endParaRPr>
          </a:p>
          <a:p>
            <a:r>
              <a:rPr lang="en-US" dirty="0">
                <a:solidFill>
                  <a:srgbClr val="0000FF"/>
                </a:solidFill>
                <a:ea typeface="Calibri"/>
                <a:cs typeface="Times New Roman"/>
              </a:rPr>
              <a:t>END</a:t>
            </a:r>
            <a:endParaRPr lang="ru-RU"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500" dirty="0"/>
              <a:t>Триггер перемещает удаленную запись из таблицы </a:t>
            </a:r>
            <a:r>
              <a:rPr lang="en-US" sz="2500" dirty="0"/>
              <a:t>Student </a:t>
            </a:r>
            <a:r>
              <a:rPr lang="ru-RU" sz="2500" dirty="0"/>
              <a:t>в архивную таблицу</a:t>
            </a:r>
            <a:r>
              <a:rPr lang="en-US" sz="2500" dirty="0"/>
              <a:t>  </a:t>
            </a:r>
            <a:r>
              <a:rPr lang="en-US" sz="2500" dirty="0" err="1"/>
              <a:t>Archive_delete</a:t>
            </a:r>
            <a:endParaRPr lang="ru-RU" sz="25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33</a:t>
            </a:fld>
            <a:endParaRPr lang="ru-RU"/>
          </a:p>
        </p:txBody>
      </p:sp>
      <p:sp>
        <p:nvSpPr>
          <p:cNvPr id="4" name="TextBox 3"/>
          <p:cNvSpPr txBox="1"/>
          <p:nvPr/>
        </p:nvSpPr>
        <p:spPr>
          <a:xfrm>
            <a:off x="571472" y="1357298"/>
            <a:ext cx="4758995" cy="3236271"/>
          </a:xfrm>
          <a:prstGeom prst="rect">
            <a:avLst/>
          </a:prstGeom>
          <a:noFill/>
        </p:spPr>
        <p:txBody>
          <a:bodyPr wrap="none" rtlCol="0">
            <a:spAutoFit/>
          </a:bodyPr>
          <a:lstStyle/>
          <a:p>
            <a:pPr>
              <a:lnSpc>
                <a:spcPct val="115000"/>
              </a:lnSpc>
              <a:spcAft>
                <a:spcPts val="0"/>
              </a:spcAft>
            </a:pPr>
            <a:r>
              <a:rPr lang="en-US" dirty="0">
                <a:solidFill>
                  <a:srgbClr val="0000FF"/>
                </a:solidFill>
                <a:ea typeface="Calibri"/>
                <a:cs typeface="Times New Roman"/>
              </a:rPr>
              <a:t>CREATE</a:t>
            </a:r>
            <a:r>
              <a:rPr lang="en-US" dirty="0">
                <a:ea typeface="Calibri"/>
                <a:cs typeface="Times New Roman"/>
              </a:rPr>
              <a:t> </a:t>
            </a:r>
            <a:r>
              <a:rPr lang="en-US" dirty="0">
                <a:solidFill>
                  <a:srgbClr val="0000FF"/>
                </a:solidFill>
                <a:ea typeface="Calibri"/>
                <a:cs typeface="Times New Roman"/>
              </a:rPr>
              <a:t>TRIGGER</a:t>
            </a:r>
            <a:r>
              <a:rPr lang="en-US" dirty="0">
                <a:ea typeface="Calibri"/>
                <a:cs typeface="Times New Roman"/>
              </a:rPr>
              <a:t> </a:t>
            </a:r>
            <a:r>
              <a:rPr lang="en-US" dirty="0" err="1">
                <a:solidFill>
                  <a:srgbClr val="008080"/>
                </a:solidFill>
                <a:ea typeface="Calibri"/>
                <a:cs typeface="Times New Roman"/>
              </a:rPr>
              <a:t>Insert_in_table_Archive_delete</a:t>
            </a:r>
            <a:endParaRPr lang="ru-RU" dirty="0">
              <a:ea typeface="Calibri"/>
              <a:cs typeface="Times New Roman"/>
            </a:endParaRPr>
          </a:p>
          <a:p>
            <a:pPr>
              <a:lnSpc>
                <a:spcPct val="115000"/>
              </a:lnSpc>
              <a:spcAft>
                <a:spcPts val="0"/>
              </a:spcAft>
            </a:pPr>
            <a:r>
              <a:rPr lang="en-US" dirty="0">
                <a:solidFill>
                  <a:srgbClr val="0000FF"/>
                </a:solidFill>
                <a:ea typeface="Calibri"/>
                <a:cs typeface="Times New Roman"/>
              </a:rPr>
              <a:t>ON</a:t>
            </a:r>
            <a:r>
              <a:rPr lang="en-US" dirty="0">
                <a:ea typeface="Calibri"/>
                <a:cs typeface="Times New Roman"/>
              </a:rPr>
              <a:t> </a:t>
            </a:r>
            <a:r>
              <a:rPr lang="en-US" dirty="0">
                <a:solidFill>
                  <a:srgbClr val="008080"/>
                </a:solidFill>
                <a:ea typeface="Calibri"/>
                <a:cs typeface="Times New Roman"/>
              </a:rPr>
              <a:t>Student</a:t>
            </a:r>
            <a:endParaRPr lang="ru-RU" dirty="0">
              <a:ea typeface="Calibri"/>
              <a:cs typeface="Times New Roman"/>
            </a:endParaRPr>
          </a:p>
          <a:p>
            <a:pPr>
              <a:lnSpc>
                <a:spcPct val="115000"/>
              </a:lnSpc>
              <a:spcAft>
                <a:spcPts val="0"/>
              </a:spcAft>
            </a:pPr>
            <a:r>
              <a:rPr lang="en-US" dirty="0">
                <a:solidFill>
                  <a:srgbClr val="0000FF"/>
                </a:solidFill>
                <a:ea typeface="Calibri"/>
                <a:cs typeface="Times New Roman"/>
              </a:rPr>
              <a:t>AFTER</a:t>
            </a:r>
            <a:r>
              <a:rPr lang="en-US" dirty="0">
                <a:ea typeface="Calibri"/>
                <a:cs typeface="Times New Roman"/>
              </a:rPr>
              <a:t> </a:t>
            </a:r>
            <a:r>
              <a:rPr lang="en-US" dirty="0">
                <a:solidFill>
                  <a:srgbClr val="0000FF"/>
                </a:solidFill>
                <a:ea typeface="Calibri"/>
                <a:cs typeface="Times New Roman"/>
              </a:rPr>
              <a:t>DELETE</a:t>
            </a:r>
            <a:endParaRPr lang="ru-RU" dirty="0">
              <a:ea typeface="Calibri"/>
              <a:cs typeface="Times New Roman"/>
            </a:endParaRPr>
          </a:p>
          <a:p>
            <a:pPr>
              <a:lnSpc>
                <a:spcPct val="115000"/>
              </a:lnSpc>
              <a:spcAft>
                <a:spcPts val="0"/>
              </a:spcAft>
            </a:pPr>
            <a:r>
              <a:rPr lang="en-US" dirty="0">
                <a:solidFill>
                  <a:srgbClr val="0000FF"/>
                </a:solidFill>
                <a:ea typeface="Calibri"/>
                <a:cs typeface="Times New Roman"/>
              </a:rPr>
              <a:t>AS</a:t>
            </a:r>
            <a:endParaRPr lang="ru-RU" dirty="0">
              <a:ea typeface="Calibri"/>
              <a:cs typeface="Times New Roman"/>
            </a:endParaRPr>
          </a:p>
          <a:p>
            <a:pPr>
              <a:lnSpc>
                <a:spcPct val="115000"/>
              </a:lnSpc>
              <a:spcAft>
                <a:spcPts val="0"/>
              </a:spcAft>
            </a:pPr>
            <a:r>
              <a:rPr lang="en-US" dirty="0">
                <a:solidFill>
                  <a:srgbClr val="0000FF"/>
                </a:solidFill>
                <a:ea typeface="Calibri"/>
                <a:cs typeface="Times New Roman"/>
              </a:rPr>
              <a:t>BEGIN</a:t>
            </a:r>
            <a:endParaRPr lang="ru-RU" dirty="0">
              <a:ea typeface="Calibri"/>
              <a:cs typeface="Times New Roman"/>
            </a:endParaRPr>
          </a:p>
          <a:p>
            <a:pPr>
              <a:lnSpc>
                <a:spcPct val="115000"/>
              </a:lnSpc>
              <a:spcAft>
                <a:spcPts val="0"/>
              </a:spcAft>
            </a:pPr>
            <a:r>
              <a:rPr lang="en-US" dirty="0">
                <a:solidFill>
                  <a:srgbClr val="0000FF"/>
                </a:solidFill>
                <a:ea typeface="Calibri"/>
                <a:cs typeface="Times New Roman"/>
              </a:rPr>
              <a:t>      INSERT</a:t>
            </a:r>
            <a:r>
              <a:rPr lang="en-US" dirty="0">
                <a:ea typeface="Calibri"/>
                <a:cs typeface="Times New Roman"/>
              </a:rPr>
              <a:t> </a:t>
            </a:r>
            <a:r>
              <a:rPr lang="en-US" dirty="0">
                <a:solidFill>
                  <a:srgbClr val="0000FF"/>
                </a:solidFill>
                <a:ea typeface="Calibri"/>
                <a:cs typeface="Times New Roman"/>
              </a:rPr>
              <a:t>INTO</a:t>
            </a:r>
            <a:r>
              <a:rPr lang="en-US" dirty="0">
                <a:ea typeface="Calibri"/>
                <a:cs typeface="Times New Roman"/>
              </a:rPr>
              <a:t> </a:t>
            </a:r>
            <a:r>
              <a:rPr lang="en-US" dirty="0" err="1">
                <a:solidFill>
                  <a:srgbClr val="008080"/>
                </a:solidFill>
                <a:ea typeface="Calibri"/>
                <a:cs typeface="Times New Roman"/>
              </a:rPr>
              <a:t>Archive_delete</a:t>
            </a:r>
            <a:endParaRPr lang="ru-RU" dirty="0">
              <a:ea typeface="Calibri"/>
              <a:cs typeface="Times New Roman"/>
            </a:endParaRPr>
          </a:p>
          <a:p>
            <a:pPr>
              <a:lnSpc>
                <a:spcPct val="115000"/>
              </a:lnSpc>
              <a:spcAft>
                <a:spcPts val="0"/>
              </a:spcAft>
            </a:pPr>
            <a:r>
              <a:rPr lang="en-US" dirty="0">
                <a:ea typeface="Calibri"/>
                <a:cs typeface="Times New Roman"/>
              </a:rPr>
              <a:t>      </a:t>
            </a:r>
            <a:r>
              <a:rPr lang="en-US" dirty="0">
                <a:solidFill>
                  <a:srgbClr val="0000FF"/>
                </a:solidFill>
                <a:ea typeface="Calibri"/>
                <a:cs typeface="Times New Roman"/>
              </a:rPr>
              <a:t>SELECT</a:t>
            </a:r>
            <a:r>
              <a:rPr lang="en-US" dirty="0">
                <a:ea typeface="Calibri"/>
                <a:cs typeface="Times New Roman"/>
              </a:rPr>
              <a:t> </a:t>
            </a:r>
            <a:r>
              <a:rPr lang="en-US" dirty="0">
                <a:solidFill>
                  <a:srgbClr val="808080"/>
                </a:solidFill>
                <a:ea typeface="Calibri"/>
                <a:cs typeface="Times New Roman"/>
              </a:rPr>
              <a:t>*</a:t>
            </a:r>
            <a:endParaRPr lang="ru-RU" dirty="0">
              <a:ea typeface="Calibri"/>
              <a:cs typeface="Times New Roman"/>
            </a:endParaRPr>
          </a:p>
          <a:p>
            <a:pPr>
              <a:lnSpc>
                <a:spcPct val="115000"/>
              </a:lnSpc>
              <a:spcAft>
                <a:spcPts val="0"/>
              </a:spcAft>
            </a:pPr>
            <a:r>
              <a:rPr lang="en-US" dirty="0">
                <a:ea typeface="Calibri"/>
                <a:cs typeface="Times New Roman"/>
              </a:rPr>
              <a:t>      </a:t>
            </a:r>
            <a:r>
              <a:rPr lang="en-US" dirty="0">
                <a:solidFill>
                  <a:srgbClr val="0000FF"/>
                </a:solidFill>
                <a:ea typeface="Calibri"/>
                <a:cs typeface="Times New Roman"/>
              </a:rPr>
              <a:t>FROM</a:t>
            </a:r>
            <a:r>
              <a:rPr lang="en-US" dirty="0">
                <a:ea typeface="Calibri"/>
                <a:cs typeface="Times New Roman"/>
              </a:rPr>
              <a:t> </a:t>
            </a:r>
            <a:r>
              <a:rPr lang="en-US" dirty="0">
                <a:solidFill>
                  <a:srgbClr val="008080"/>
                </a:solidFill>
                <a:ea typeface="Calibri"/>
                <a:cs typeface="Times New Roman"/>
              </a:rPr>
              <a:t>deleted</a:t>
            </a:r>
            <a:endParaRPr lang="en-US" dirty="0">
              <a:ea typeface="Calibri"/>
              <a:cs typeface="Times New Roman"/>
            </a:endParaRPr>
          </a:p>
          <a:p>
            <a:pPr>
              <a:lnSpc>
                <a:spcPct val="115000"/>
              </a:lnSpc>
              <a:spcAft>
                <a:spcPts val="0"/>
              </a:spcAft>
            </a:pPr>
            <a:r>
              <a:rPr lang="ru-RU" dirty="0">
                <a:solidFill>
                  <a:srgbClr val="0000FF"/>
                </a:solidFill>
                <a:ea typeface="Calibri"/>
                <a:cs typeface="Times New Roman"/>
              </a:rPr>
              <a:t>END</a:t>
            </a:r>
            <a:endParaRPr lang="ru-RU" dirty="0">
              <a:ea typeface="Calibri"/>
              <a:cs typeface="Times New Roman"/>
            </a:endParaRPr>
          </a:p>
          <a:p>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71604" y="0"/>
            <a:ext cx="7086592" cy="654032"/>
          </a:xfrm>
        </p:spPr>
        <p:txBody>
          <a:bodyPr>
            <a:normAutofit/>
          </a:bodyPr>
          <a:lstStyle/>
          <a:p>
            <a:pPr algn="l"/>
            <a:r>
              <a:rPr lang="ru-RU" dirty="0"/>
              <a:t>Индексы</a:t>
            </a:r>
          </a:p>
        </p:txBody>
      </p:sp>
      <p:sp>
        <p:nvSpPr>
          <p:cNvPr id="3" name="Содержимое 2"/>
          <p:cNvSpPr>
            <a:spLocks noGrp="1"/>
          </p:cNvSpPr>
          <p:nvPr>
            <p:ph idx="1"/>
          </p:nvPr>
        </p:nvSpPr>
        <p:spPr>
          <a:xfrm>
            <a:off x="142844" y="1142984"/>
            <a:ext cx="5286412" cy="2500330"/>
          </a:xfrm>
        </p:spPr>
        <p:txBody>
          <a:bodyPr>
            <a:normAutofit lnSpcReduction="10000"/>
          </a:bodyPr>
          <a:lstStyle/>
          <a:p>
            <a:pPr>
              <a:buFont typeface="Symbol" pitchFamily="18" charset="2"/>
              <a:buChar char="-"/>
            </a:pPr>
            <a:r>
              <a:rPr lang="ru-RU" sz="1600" dirty="0"/>
              <a:t>Индекс (</a:t>
            </a:r>
            <a:r>
              <a:rPr lang="en-US" sz="1600" dirty="0"/>
              <a:t>Index</a:t>
            </a:r>
            <a:r>
              <a:rPr lang="ru-RU" sz="1600" dirty="0"/>
              <a:t>)- это</a:t>
            </a:r>
            <a:r>
              <a:rPr lang="en-US" sz="1600" dirty="0"/>
              <a:t> </a:t>
            </a:r>
            <a:r>
              <a:rPr lang="ru-RU" sz="1600" dirty="0"/>
              <a:t>объект базы данных, создаваемый для повышения производительности выборки данных.</a:t>
            </a:r>
          </a:p>
          <a:p>
            <a:pPr>
              <a:buFont typeface="Symbol" pitchFamily="18" charset="2"/>
              <a:buChar char="-"/>
            </a:pPr>
            <a:r>
              <a:rPr lang="ru-RU" sz="1600" dirty="0"/>
              <a:t>Индекс создается для поля (полей) таблицы и обеспечивает быстрый доступ к данным этой таблицы за счет упорядочения данных поля(полей) по значению.</a:t>
            </a:r>
            <a:endParaRPr lang="en-US" sz="1600" dirty="0"/>
          </a:p>
          <a:p>
            <a:pPr lvl="0">
              <a:buNone/>
            </a:pPr>
            <a:endParaRPr lang="en-US" sz="1600" dirty="0"/>
          </a:p>
          <a:p>
            <a:pPr lvl="0">
              <a:buNone/>
            </a:pPr>
            <a:r>
              <a:rPr lang="ru-RU" sz="1600" dirty="0"/>
              <a:t>В SQL </a:t>
            </a:r>
            <a:r>
              <a:rPr lang="ru-RU" sz="1600" dirty="0" err="1"/>
              <a:t>Server</a:t>
            </a:r>
            <a:r>
              <a:rPr lang="ru-RU" sz="1600" dirty="0"/>
              <a:t> индексы хранятся в виде B-деревьев </a:t>
            </a:r>
            <a:endParaRPr lang="en-US" sz="1600" dirty="0"/>
          </a:p>
          <a:p>
            <a:pPr lvl="0">
              <a:buNone/>
            </a:pPr>
            <a:r>
              <a:rPr lang="ru-RU" sz="1600" dirty="0"/>
              <a:t>(</a:t>
            </a:r>
            <a:r>
              <a:rPr lang="ru-RU" sz="1600" dirty="0" err="1"/>
              <a:t>B-tree</a:t>
            </a:r>
            <a:r>
              <a:rPr lang="ru-RU" sz="1600" dirty="0"/>
              <a:t>, </a:t>
            </a:r>
            <a:r>
              <a:rPr lang="en-US" sz="1600" dirty="0"/>
              <a:t>Balanced tree</a:t>
            </a:r>
            <a:r>
              <a:rPr lang="ru-RU" sz="1600" dirty="0"/>
              <a:t>).  «B» означает сбалансированное.</a:t>
            </a:r>
          </a:p>
          <a:p>
            <a:pPr>
              <a:buNone/>
            </a:pPr>
            <a:endParaRPr lang="ru-RU" sz="1400" dirty="0"/>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34</a:t>
            </a:fld>
            <a:endParaRPr lang="ru-RU" dirty="0"/>
          </a:p>
        </p:txBody>
      </p:sp>
      <p:pic>
        <p:nvPicPr>
          <p:cNvPr id="1028" name="Picture 4"/>
          <p:cNvPicPr>
            <a:picLocks noChangeAspect="1" noChangeArrowheads="1"/>
          </p:cNvPicPr>
          <p:nvPr/>
        </p:nvPicPr>
        <p:blipFill>
          <a:blip r:embed="rId2" cstate="print"/>
          <a:srcRect/>
          <a:stretch>
            <a:fillRect/>
          </a:stretch>
        </p:blipFill>
        <p:spPr bwMode="auto">
          <a:xfrm>
            <a:off x="5786446" y="0"/>
            <a:ext cx="3143272" cy="2016682"/>
          </a:xfrm>
          <a:prstGeom prst="rect">
            <a:avLst/>
          </a:prstGeom>
          <a:noFill/>
          <a:ln w="9525">
            <a:solidFill>
              <a:schemeClr val="bg1">
                <a:lumMod val="65000"/>
              </a:schemeClr>
            </a:solid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214282" y="3571853"/>
            <a:ext cx="4714526" cy="3286147"/>
          </a:xfrm>
          <a:prstGeom prst="rect">
            <a:avLst/>
          </a:prstGeom>
          <a:noFill/>
          <a:ln w="9525">
            <a:noFill/>
            <a:miter lim="800000"/>
            <a:headEnd/>
            <a:tailEnd/>
          </a:ln>
          <a:effectLst/>
        </p:spPr>
      </p:pic>
      <p:cxnSp>
        <p:nvCxnSpPr>
          <p:cNvPr id="14" name="Прямая соединительная линия 13"/>
          <p:cNvCxnSpPr/>
          <p:nvPr/>
        </p:nvCxnSpPr>
        <p:spPr>
          <a:xfrm>
            <a:off x="285720" y="5643578"/>
            <a:ext cx="4572032" cy="1588"/>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214282" y="4143380"/>
            <a:ext cx="4643470" cy="1588"/>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5" name="Picture 3"/>
          <p:cNvPicPr>
            <a:picLocks noChangeAspect="1" noChangeArrowheads="1"/>
          </p:cNvPicPr>
          <p:nvPr/>
        </p:nvPicPr>
        <p:blipFill>
          <a:blip r:embed="rId4" cstate="print"/>
          <a:srcRect/>
          <a:stretch>
            <a:fillRect/>
          </a:stretch>
        </p:blipFill>
        <p:spPr bwMode="auto">
          <a:xfrm>
            <a:off x="214282" y="0"/>
            <a:ext cx="1209671" cy="1166135"/>
          </a:xfrm>
          <a:prstGeom prst="rect">
            <a:avLst/>
          </a:prstGeom>
          <a:noFill/>
          <a:ln w="9525">
            <a:noFill/>
            <a:miter lim="800000"/>
            <a:headEnd/>
            <a:tailEnd/>
          </a:ln>
          <a:effectLst/>
        </p:spPr>
      </p:pic>
      <p:sp>
        <p:nvSpPr>
          <p:cNvPr id="11" name="Содержимое 2"/>
          <p:cNvSpPr txBox="1">
            <a:spLocks/>
          </p:cNvSpPr>
          <p:nvPr/>
        </p:nvSpPr>
        <p:spPr>
          <a:xfrm>
            <a:off x="5786446" y="2143116"/>
            <a:ext cx="3071834" cy="1000132"/>
          </a:xfrm>
          <a:prstGeom prst="rect">
            <a:avLst/>
          </a:prstGeom>
        </p:spPr>
        <p:txBody>
          <a:bodyPr vert="horz" lIns="91440" tIns="45720" rIns="91440" bIns="45720" rtlCol="0">
            <a:normAutofit fontScale="32500" lnSpcReduction="20000"/>
          </a:bodyPr>
          <a:lstStyle/>
          <a:p>
            <a:pPr marR="0" lvl="0" algn="l" defTabSz="914400" rtl="0" eaLnBrk="1" fontAlgn="auto" latinLnBrk="0" hangingPunct="1">
              <a:lnSpc>
                <a:spcPct val="100000"/>
              </a:lnSpc>
              <a:spcBef>
                <a:spcPct val="20000"/>
              </a:spcBef>
              <a:spcAft>
                <a:spcPts val="0"/>
              </a:spcAft>
              <a:buClrTx/>
              <a:buSzTx/>
              <a:tabLst/>
              <a:defRPr/>
            </a:pPr>
            <a:r>
              <a:rPr kumimoji="0" lang="ru-RU" sz="3400" b="0" i="0" u="none" strike="noStrike" kern="1200" cap="none" spc="0" normalizeH="0" baseline="0" noProof="0" dirty="0">
                <a:ln>
                  <a:noFill/>
                </a:ln>
                <a:solidFill>
                  <a:schemeClr val="tx1"/>
                </a:solidFill>
                <a:effectLst/>
                <a:uLnTx/>
                <a:uFillTx/>
                <a:latin typeface="+mn-lt"/>
                <a:ea typeface="+mn-ea"/>
                <a:cs typeface="+mn-cs"/>
              </a:rPr>
              <a:t>Возможные варианты поиск с помощью индекса:</a:t>
            </a:r>
          </a:p>
          <a:p>
            <a:pPr marR="0" lvl="0" algn="l" defTabSz="914400" rtl="0" eaLnBrk="1" fontAlgn="auto" latinLnBrk="0" hangingPunct="1">
              <a:lnSpc>
                <a:spcPct val="100000"/>
              </a:lnSpc>
              <a:spcBef>
                <a:spcPct val="20000"/>
              </a:spcBef>
              <a:spcAft>
                <a:spcPts val="0"/>
              </a:spcAft>
              <a:buClrTx/>
              <a:buSzTx/>
              <a:tabLst/>
              <a:defRPr/>
            </a:pPr>
            <a:r>
              <a:rPr kumimoji="0" lang="ru-RU" sz="3400" b="0" i="0" u="none" strike="noStrike" kern="1200" cap="none" spc="0" normalizeH="0" baseline="0" noProof="0" dirty="0">
                <a:ln>
                  <a:noFill/>
                </a:ln>
                <a:solidFill>
                  <a:schemeClr val="tx1"/>
                </a:solidFill>
                <a:effectLst/>
                <a:uLnTx/>
                <a:uFillTx/>
                <a:latin typeface="+mn-lt"/>
                <a:ea typeface="+mn-ea"/>
                <a:cs typeface="+mn-cs"/>
              </a:rPr>
              <a:t>1) точного</a:t>
            </a:r>
            <a:r>
              <a:rPr kumimoji="0" lang="ru-RU" sz="3400" b="0" i="0" u="none" strike="noStrike" kern="1200" cap="none" spc="0" normalizeH="0" noProof="0" dirty="0">
                <a:ln>
                  <a:noFill/>
                </a:ln>
                <a:solidFill>
                  <a:schemeClr val="tx1"/>
                </a:solidFill>
                <a:effectLst/>
                <a:uLnTx/>
                <a:uFillTx/>
                <a:latin typeface="+mn-lt"/>
                <a:ea typeface="+mn-ea"/>
                <a:cs typeface="+mn-cs"/>
              </a:rPr>
              <a:t> значения;</a:t>
            </a:r>
          </a:p>
          <a:p>
            <a:pPr marR="0" lvl="0" algn="l" defTabSz="914400" rtl="0" eaLnBrk="1" fontAlgn="auto" latinLnBrk="0" hangingPunct="1">
              <a:lnSpc>
                <a:spcPct val="100000"/>
              </a:lnSpc>
              <a:spcBef>
                <a:spcPct val="20000"/>
              </a:spcBef>
              <a:spcAft>
                <a:spcPts val="0"/>
              </a:spcAft>
              <a:buClrTx/>
              <a:buSzTx/>
              <a:tabLst/>
              <a:defRPr/>
            </a:pPr>
            <a:r>
              <a:rPr lang="ru-RU" sz="3400" dirty="0"/>
              <a:t>2) интервала значений;</a:t>
            </a:r>
          </a:p>
          <a:p>
            <a:pPr marR="0" lvl="0" algn="l" defTabSz="914400" rtl="0" eaLnBrk="1" fontAlgn="auto" latinLnBrk="0" hangingPunct="1">
              <a:lnSpc>
                <a:spcPct val="100000"/>
              </a:lnSpc>
              <a:spcBef>
                <a:spcPct val="20000"/>
              </a:spcBef>
              <a:spcAft>
                <a:spcPts val="0"/>
              </a:spcAft>
              <a:buClrTx/>
              <a:buSzTx/>
              <a:tabLst/>
              <a:defRPr/>
            </a:pPr>
            <a:r>
              <a:rPr kumimoji="0" lang="ru-RU" sz="3400" b="0" i="0" u="none" strike="noStrike" kern="1200" cap="none" spc="0" normalizeH="0" noProof="0" dirty="0">
                <a:ln>
                  <a:noFill/>
                </a:ln>
                <a:solidFill>
                  <a:schemeClr val="tx1"/>
                </a:solidFill>
                <a:effectLst/>
                <a:uLnTx/>
                <a:uFillTx/>
                <a:latin typeface="+mn-lt"/>
                <a:ea typeface="+mn-ea"/>
                <a:cs typeface="+mn-cs"/>
              </a:rPr>
              <a:t>3) значений нескольких полей.</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6" name="Picture 2"/>
          <p:cNvPicPr>
            <a:picLocks noChangeAspect="1" noChangeArrowheads="1"/>
          </p:cNvPicPr>
          <p:nvPr/>
        </p:nvPicPr>
        <p:blipFill>
          <a:blip r:embed="rId5" cstate="print"/>
          <a:srcRect r="19176" b="1384"/>
          <a:stretch>
            <a:fillRect/>
          </a:stretch>
        </p:blipFill>
        <p:spPr bwMode="auto">
          <a:xfrm>
            <a:off x="4929190" y="3214686"/>
            <a:ext cx="4214810" cy="3336724"/>
          </a:xfrm>
          <a:prstGeom prst="rect">
            <a:avLst/>
          </a:prstGeom>
          <a:noFill/>
          <a:ln w="9525">
            <a:noFill/>
            <a:miter lim="800000"/>
            <a:headEnd/>
            <a:tailEnd/>
          </a:ln>
          <a:effectLst/>
        </p:spPr>
      </p:pic>
    </p:spTree>
    <p:extLst>
      <p:ext uri="{BB962C8B-B14F-4D97-AF65-F5344CB8AC3E}">
        <p14:creationId xmlns:p14="http://schemas.microsoft.com/office/powerpoint/2010/main" val="1675466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582594"/>
          </a:xfrm>
        </p:spPr>
        <p:txBody>
          <a:bodyPr>
            <a:noAutofit/>
          </a:bodyPr>
          <a:lstStyle/>
          <a:p>
            <a:r>
              <a:rPr lang="ru-RU" sz="3600" dirty="0"/>
              <a:t>Структура сбалансированного </a:t>
            </a:r>
            <a:r>
              <a:rPr lang="en-US" sz="3600" dirty="0"/>
              <a:t>B</a:t>
            </a:r>
            <a:r>
              <a:rPr lang="ru-RU" sz="3600" dirty="0"/>
              <a:t> дерева</a:t>
            </a:r>
          </a:p>
        </p:txBody>
      </p:sp>
      <p:sp>
        <p:nvSpPr>
          <p:cNvPr id="4" name="Номер слайда 3"/>
          <p:cNvSpPr>
            <a:spLocks noGrp="1"/>
          </p:cNvSpPr>
          <p:nvPr>
            <p:ph type="sldNum" sz="quarter" idx="12"/>
          </p:nvPr>
        </p:nvSpPr>
        <p:spPr/>
        <p:txBody>
          <a:bodyPr/>
          <a:lstStyle/>
          <a:p>
            <a:fld id="{1F87023B-4310-42C4-812D-874FAF4871B2}" type="slidenum">
              <a:rPr lang="ru-RU" smtClean="0"/>
              <a:pPr/>
              <a:t>35</a:t>
            </a:fld>
            <a:endParaRPr lang="ru-RU"/>
          </a:p>
        </p:txBody>
      </p:sp>
      <p:sp>
        <p:nvSpPr>
          <p:cNvPr id="6" name="TextBox 5"/>
          <p:cNvSpPr txBox="1"/>
          <p:nvPr/>
        </p:nvSpPr>
        <p:spPr>
          <a:xfrm>
            <a:off x="214282" y="642918"/>
            <a:ext cx="3314433" cy="1477328"/>
          </a:xfrm>
          <a:prstGeom prst="rect">
            <a:avLst/>
          </a:prstGeom>
          <a:noFill/>
        </p:spPr>
        <p:txBody>
          <a:bodyPr wrap="none" rtlCol="0">
            <a:spAutoFit/>
          </a:bodyPr>
          <a:lstStyle/>
          <a:p>
            <a:r>
              <a:rPr lang="ru-RU" dirty="0"/>
              <a:t>На примере таблицы «Студент»</a:t>
            </a:r>
          </a:p>
          <a:p>
            <a:r>
              <a:rPr lang="en-US" dirty="0"/>
              <a:t>SELECT * </a:t>
            </a:r>
          </a:p>
          <a:p>
            <a:r>
              <a:rPr lang="en-US" dirty="0"/>
              <a:t>FROM Student</a:t>
            </a:r>
            <a:endParaRPr lang="ru-RU" dirty="0"/>
          </a:p>
          <a:p>
            <a:r>
              <a:rPr lang="en-US" dirty="0"/>
              <a:t>WHERE </a:t>
            </a:r>
            <a:r>
              <a:rPr lang="en-US" dirty="0" err="1"/>
              <a:t>Id_student</a:t>
            </a:r>
            <a:r>
              <a:rPr lang="en-US" dirty="0"/>
              <a:t> = 71</a:t>
            </a:r>
            <a:endParaRPr lang="ru-RU" dirty="0"/>
          </a:p>
          <a:p>
            <a:endParaRPr lang="ru-RU" dirty="0"/>
          </a:p>
        </p:txBody>
      </p:sp>
      <p:graphicFrame>
        <p:nvGraphicFramePr>
          <p:cNvPr id="7" name="Схема 6"/>
          <p:cNvGraphicFramePr/>
          <p:nvPr/>
        </p:nvGraphicFramePr>
        <p:xfrm>
          <a:off x="642910" y="1785926"/>
          <a:ext cx="8286808" cy="4643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Прямоугольник 15"/>
          <p:cNvSpPr/>
          <p:nvPr/>
        </p:nvSpPr>
        <p:spPr>
          <a:xfrm>
            <a:off x="7858148"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80</a:t>
            </a:r>
          </a:p>
          <a:p>
            <a:pPr algn="ctr"/>
            <a:r>
              <a:rPr lang="ru-RU" sz="1400" b="1" dirty="0"/>
              <a:t>Носиков</a:t>
            </a:r>
          </a:p>
          <a:p>
            <a:pPr algn="ctr"/>
            <a:r>
              <a:rPr lang="ru-RU" sz="1400" b="1" dirty="0"/>
              <a:t>Егор</a:t>
            </a:r>
          </a:p>
        </p:txBody>
      </p:sp>
      <p:sp>
        <p:nvSpPr>
          <p:cNvPr id="17" name="Прямоугольник 16"/>
          <p:cNvSpPr/>
          <p:nvPr/>
        </p:nvSpPr>
        <p:spPr>
          <a:xfrm>
            <a:off x="6786578"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71 </a:t>
            </a:r>
            <a:r>
              <a:rPr lang="ru-RU" sz="1400" b="1" dirty="0"/>
              <a:t>Иванов</a:t>
            </a:r>
          </a:p>
          <a:p>
            <a:pPr algn="ctr"/>
            <a:r>
              <a:rPr lang="ru-RU" sz="1400" b="1" dirty="0"/>
              <a:t>Петр</a:t>
            </a:r>
          </a:p>
        </p:txBody>
      </p:sp>
      <p:sp>
        <p:nvSpPr>
          <p:cNvPr id="18" name="Прямоугольник 17"/>
          <p:cNvSpPr/>
          <p:nvPr/>
        </p:nvSpPr>
        <p:spPr>
          <a:xfrm>
            <a:off x="5643570"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52</a:t>
            </a:r>
          </a:p>
          <a:p>
            <a:pPr algn="ctr"/>
            <a:r>
              <a:rPr lang="ru-RU" sz="1400" b="1" dirty="0"/>
              <a:t>Егорова</a:t>
            </a:r>
          </a:p>
          <a:p>
            <a:pPr algn="ctr"/>
            <a:r>
              <a:rPr lang="ru-RU" sz="1400" b="1" dirty="0"/>
              <a:t>Валерия</a:t>
            </a:r>
          </a:p>
        </p:txBody>
      </p:sp>
      <p:sp>
        <p:nvSpPr>
          <p:cNvPr id="19" name="Прямоугольник 18"/>
          <p:cNvSpPr/>
          <p:nvPr/>
        </p:nvSpPr>
        <p:spPr>
          <a:xfrm>
            <a:off x="4500562"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30</a:t>
            </a:r>
          </a:p>
          <a:p>
            <a:pPr algn="ctr"/>
            <a:r>
              <a:rPr lang="ru-RU" sz="1400" b="1" dirty="0"/>
              <a:t>Самарин</a:t>
            </a:r>
          </a:p>
          <a:p>
            <a:pPr algn="ctr"/>
            <a:r>
              <a:rPr lang="ru-RU" sz="1400" b="1" dirty="0"/>
              <a:t>Лилия</a:t>
            </a:r>
          </a:p>
        </p:txBody>
      </p:sp>
      <p:sp>
        <p:nvSpPr>
          <p:cNvPr id="20" name="Прямоугольник 19"/>
          <p:cNvSpPr/>
          <p:nvPr/>
        </p:nvSpPr>
        <p:spPr>
          <a:xfrm>
            <a:off x="3357554"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3 </a:t>
            </a:r>
            <a:r>
              <a:rPr lang="ru-RU" sz="1400" b="1" dirty="0"/>
              <a:t>Мамаев</a:t>
            </a:r>
          </a:p>
          <a:p>
            <a:pPr algn="ctr"/>
            <a:r>
              <a:rPr lang="ru-RU" sz="1400" b="1" dirty="0"/>
              <a:t>Илья</a:t>
            </a:r>
          </a:p>
        </p:txBody>
      </p:sp>
      <p:sp>
        <p:nvSpPr>
          <p:cNvPr id="21" name="Прямоугольник 20"/>
          <p:cNvSpPr/>
          <p:nvPr/>
        </p:nvSpPr>
        <p:spPr>
          <a:xfrm>
            <a:off x="2214546" y="5429264"/>
            <a:ext cx="928694" cy="914400"/>
          </a:xfrm>
          <a:prstGeom prst="rect">
            <a:avLst/>
          </a:prstGeom>
          <a:solidFill>
            <a:schemeClr val="accent6">
              <a:lumMod val="75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2 </a:t>
            </a:r>
            <a:r>
              <a:rPr lang="ru-RU" sz="1400" b="1" dirty="0"/>
              <a:t>Сидоров</a:t>
            </a:r>
          </a:p>
          <a:p>
            <a:pPr algn="ctr"/>
            <a:r>
              <a:rPr lang="ru-RU" sz="1400" b="1" dirty="0"/>
              <a:t>Василий</a:t>
            </a:r>
          </a:p>
        </p:txBody>
      </p:sp>
      <p:cxnSp>
        <p:nvCxnSpPr>
          <p:cNvPr id="23" name="Прямая со стрелкой 22"/>
          <p:cNvCxnSpPr/>
          <p:nvPr/>
        </p:nvCxnSpPr>
        <p:spPr>
          <a:xfrm rot="10800000" flipV="1">
            <a:off x="2857488" y="4929198"/>
            <a:ext cx="642942" cy="500066"/>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a:endCxn id="20" idx="0"/>
          </p:cNvCxnSpPr>
          <p:nvPr/>
        </p:nvCxnSpPr>
        <p:spPr>
          <a:xfrm rot="16200000" flipH="1">
            <a:off x="3446853" y="5054216"/>
            <a:ext cx="500064" cy="250031"/>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a:endCxn id="19" idx="0"/>
          </p:cNvCxnSpPr>
          <p:nvPr/>
        </p:nvCxnSpPr>
        <p:spPr>
          <a:xfrm rot="5400000">
            <a:off x="4804176" y="5161372"/>
            <a:ext cx="428626" cy="107159"/>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p:nvPr/>
        </p:nvCxnSpPr>
        <p:spPr>
          <a:xfrm rot="10800000" flipV="1">
            <a:off x="6000760" y="4929198"/>
            <a:ext cx="571504" cy="500066"/>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a:endCxn id="17" idx="0"/>
          </p:cNvCxnSpPr>
          <p:nvPr/>
        </p:nvCxnSpPr>
        <p:spPr>
          <a:xfrm>
            <a:off x="6786578" y="5000636"/>
            <a:ext cx="464347" cy="428628"/>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a:endCxn id="16" idx="0"/>
          </p:cNvCxnSpPr>
          <p:nvPr/>
        </p:nvCxnSpPr>
        <p:spPr>
          <a:xfrm rot="16200000" flipH="1">
            <a:off x="7983164" y="5089933"/>
            <a:ext cx="500066" cy="178595"/>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p:nvPr/>
        </p:nvCxnSpPr>
        <p:spPr>
          <a:xfrm>
            <a:off x="5000628" y="3571876"/>
            <a:ext cx="1857388" cy="1588"/>
          </a:xfrm>
          <a:prstGeom prst="straightConnector1">
            <a:avLst/>
          </a:prstGeom>
          <a:ln w="28575">
            <a:solidFill>
              <a:srgbClr val="00B0F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p:cNvCxnSpPr/>
          <p:nvPr/>
        </p:nvCxnSpPr>
        <p:spPr>
          <a:xfrm>
            <a:off x="4286248" y="4572008"/>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p:nvPr/>
        </p:nvCxnSpPr>
        <p:spPr>
          <a:xfrm>
            <a:off x="7215206" y="4572008"/>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p:cNvCxnSpPr/>
          <p:nvPr/>
        </p:nvCxnSpPr>
        <p:spPr>
          <a:xfrm>
            <a:off x="5715008" y="4643446"/>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p:cNvCxnSpPr/>
          <p:nvPr/>
        </p:nvCxnSpPr>
        <p:spPr>
          <a:xfrm>
            <a:off x="3071802" y="5857892"/>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34"/>
          <p:cNvCxnSpPr/>
          <p:nvPr/>
        </p:nvCxnSpPr>
        <p:spPr>
          <a:xfrm>
            <a:off x="4214810" y="5929330"/>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p:cNvCxnSpPr/>
          <p:nvPr/>
        </p:nvCxnSpPr>
        <p:spPr>
          <a:xfrm>
            <a:off x="5357818" y="5929330"/>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p:cNvCxnSpPr/>
          <p:nvPr/>
        </p:nvCxnSpPr>
        <p:spPr>
          <a:xfrm>
            <a:off x="6500826" y="5929330"/>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p:cNvCxnSpPr/>
          <p:nvPr/>
        </p:nvCxnSpPr>
        <p:spPr>
          <a:xfrm>
            <a:off x="7643834" y="5857892"/>
            <a:ext cx="357190" cy="1588"/>
          </a:xfrm>
          <a:prstGeom prst="straightConnector1">
            <a:avLst/>
          </a:prstGeom>
          <a:ln w="28575">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974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714356"/>
          </a:xfrm>
        </p:spPr>
        <p:txBody>
          <a:bodyPr>
            <a:normAutofit/>
          </a:bodyPr>
          <a:lstStyle/>
          <a:p>
            <a:r>
              <a:rPr lang="ru-RU" dirty="0"/>
              <a:t>Способы задания индекса</a:t>
            </a:r>
          </a:p>
        </p:txBody>
      </p:sp>
      <p:sp>
        <p:nvSpPr>
          <p:cNvPr id="3" name="Содержимое 2"/>
          <p:cNvSpPr>
            <a:spLocks noGrp="1"/>
          </p:cNvSpPr>
          <p:nvPr>
            <p:ph idx="1"/>
          </p:nvPr>
        </p:nvSpPr>
        <p:spPr>
          <a:xfrm>
            <a:off x="571472" y="928671"/>
            <a:ext cx="8229600" cy="1071569"/>
          </a:xfrm>
        </p:spPr>
        <p:txBody>
          <a:bodyPr>
            <a:normAutofit fontScale="70000" lnSpcReduction="20000"/>
          </a:bodyPr>
          <a:lstStyle/>
          <a:p>
            <a:pPr>
              <a:buNone/>
            </a:pPr>
            <a:r>
              <a:rPr lang="ru-RU" dirty="0"/>
              <a:t>1) Автоматическое создание индекса при добавлении ограничения первичного ключа </a:t>
            </a:r>
            <a:r>
              <a:rPr lang="en-US" b="1" dirty="0"/>
              <a:t>PRIMARY KEY</a:t>
            </a:r>
            <a:r>
              <a:rPr lang="ru-RU" dirty="0"/>
              <a:t>.</a:t>
            </a:r>
          </a:p>
          <a:p>
            <a:pPr>
              <a:buNone/>
            </a:pPr>
            <a:r>
              <a:rPr lang="ru-RU" dirty="0"/>
              <a:t>Например, </a:t>
            </a:r>
          </a:p>
        </p:txBody>
      </p:sp>
      <p:sp>
        <p:nvSpPr>
          <p:cNvPr id="4" name="Номер слайда 3"/>
          <p:cNvSpPr>
            <a:spLocks noGrp="1"/>
          </p:cNvSpPr>
          <p:nvPr>
            <p:ph type="sldNum" sz="quarter" idx="12"/>
          </p:nvPr>
        </p:nvSpPr>
        <p:spPr/>
        <p:txBody>
          <a:bodyPr/>
          <a:lstStyle/>
          <a:p>
            <a:fld id="{1F87023B-4310-42C4-812D-874FAF4871B2}" type="slidenum">
              <a:rPr lang="ru-RU" smtClean="0"/>
              <a:pPr/>
              <a:t>36</a:t>
            </a:fld>
            <a:endParaRPr lang="ru-RU"/>
          </a:p>
        </p:txBody>
      </p:sp>
      <p:sp>
        <p:nvSpPr>
          <p:cNvPr id="5" name="TextBox 4"/>
          <p:cNvSpPr txBox="1"/>
          <p:nvPr/>
        </p:nvSpPr>
        <p:spPr>
          <a:xfrm>
            <a:off x="2071670" y="1571612"/>
            <a:ext cx="3086742" cy="1200329"/>
          </a:xfrm>
          <a:prstGeom prst="rect">
            <a:avLst/>
          </a:prstGeom>
          <a:noFill/>
        </p:spPr>
        <p:txBody>
          <a:bodyPr wrap="none" rtlCol="0">
            <a:spAutoFit/>
          </a:bodyPr>
          <a:lstStyle/>
          <a:p>
            <a:r>
              <a:rPr lang="en-US" dirty="0"/>
              <a:t>CREATE TABLE Student</a:t>
            </a:r>
          </a:p>
          <a:p>
            <a:r>
              <a:rPr lang="en-US" dirty="0"/>
              <a:t>(</a:t>
            </a:r>
            <a:r>
              <a:rPr lang="en-US" dirty="0" err="1"/>
              <a:t>ID_student</a:t>
            </a:r>
            <a:r>
              <a:rPr lang="en-US" dirty="0"/>
              <a:t> INT </a:t>
            </a:r>
            <a:r>
              <a:rPr lang="en-US" b="1" dirty="0"/>
              <a:t>PRIMARY KEY</a:t>
            </a:r>
            <a:r>
              <a:rPr lang="en-US" dirty="0"/>
              <a:t>,</a:t>
            </a:r>
          </a:p>
          <a:p>
            <a:r>
              <a:rPr lang="en-US" dirty="0"/>
              <a:t>Surname VARCHAR(30),</a:t>
            </a:r>
          </a:p>
          <a:p>
            <a:r>
              <a:rPr lang="en-US" dirty="0"/>
              <a:t>Birthday DATA)</a:t>
            </a:r>
            <a:endParaRPr lang="ru-RU" dirty="0"/>
          </a:p>
        </p:txBody>
      </p:sp>
      <p:sp>
        <p:nvSpPr>
          <p:cNvPr id="6" name="Содержимое 2"/>
          <p:cNvSpPr txBox="1">
            <a:spLocks/>
          </p:cNvSpPr>
          <p:nvPr/>
        </p:nvSpPr>
        <p:spPr>
          <a:xfrm>
            <a:off x="642910" y="2857496"/>
            <a:ext cx="8229600" cy="1071569"/>
          </a:xfrm>
          <a:prstGeom prst="rect">
            <a:avLst/>
          </a:prstGeom>
        </p:spPr>
        <p:txBody>
          <a:bodyPr vert="horz" lIns="91440" tIns="45720" rIns="91440" bIns="45720" rtlCol="0">
            <a:normAutofit fontScale="70000" lnSpcReduction="20000"/>
          </a:bodyPr>
          <a:lstStyle/>
          <a:p>
            <a:pPr marL="342900" indent="-342900">
              <a:spcBef>
                <a:spcPct val="20000"/>
              </a:spcBef>
            </a:pPr>
            <a:r>
              <a:rPr kumimoji="0" lang="ru-RU" sz="3200" b="0" i="0" u="none" strike="noStrike" kern="1200" cap="none" spc="0" normalizeH="0" baseline="0" noProof="0" dirty="0">
                <a:ln>
                  <a:noFill/>
                </a:ln>
                <a:solidFill>
                  <a:schemeClr val="tx1"/>
                </a:solidFill>
                <a:effectLst/>
                <a:uLnTx/>
                <a:uFillTx/>
                <a:latin typeface="+mn-lt"/>
                <a:ea typeface="+mn-ea"/>
                <a:cs typeface="+mn-cs"/>
              </a:rPr>
              <a:t>2) Автоматическое создание индекса при задании ограничения </a:t>
            </a:r>
            <a:r>
              <a:rPr lang="en-US" sz="3200" b="1" dirty="0"/>
              <a:t>UNIQUE</a:t>
            </a:r>
            <a:r>
              <a:rPr kumimoji="0" lang="ru-RU"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3200" b="0" i="0" u="none" strike="noStrike" kern="1200" cap="none" spc="0" normalizeH="0" baseline="0" noProof="0" dirty="0">
                <a:ln>
                  <a:noFill/>
                </a:ln>
                <a:solidFill>
                  <a:schemeClr val="tx1"/>
                </a:solidFill>
                <a:effectLst/>
                <a:uLnTx/>
                <a:uFillTx/>
                <a:latin typeface="+mn-lt"/>
                <a:ea typeface="+mn-ea"/>
                <a:cs typeface="+mn-cs"/>
              </a:rPr>
              <a:t>Например, </a:t>
            </a:r>
          </a:p>
        </p:txBody>
      </p:sp>
      <p:sp>
        <p:nvSpPr>
          <p:cNvPr id="8" name="Содержимое 2"/>
          <p:cNvSpPr txBox="1">
            <a:spLocks/>
          </p:cNvSpPr>
          <p:nvPr/>
        </p:nvSpPr>
        <p:spPr>
          <a:xfrm>
            <a:off x="642910" y="5214951"/>
            <a:ext cx="8229600" cy="714379"/>
          </a:xfrm>
          <a:prstGeom prst="rect">
            <a:avLst/>
          </a:prstGeom>
        </p:spPr>
        <p:txBody>
          <a:bodyPr vert="horz" lIns="91440" tIns="45720" rIns="91440" bIns="45720" rtlCol="0">
            <a:normAutofit fontScale="70000" lnSpcReduction="20000"/>
          </a:bodyPr>
          <a:lstStyle/>
          <a:p>
            <a:pPr marL="342900" indent="-342900">
              <a:spcBef>
                <a:spcPct val="20000"/>
              </a:spcBef>
            </a:pPr>
            <a:r>
              <a:rPr lang="en-US" sz="3200" dirty="0"/>
              <a:t>3</a:t>
            </a:r>
            <a:r>
              <a:rPr kumimoji="0" lang="ru-RU" sz="3200" b="0" i="0" u="none" strike="noStrike" kern="1200" cap="none" spc="0" normalizeH="0" baseline="0" noProof="0" dirty="0">
                <a:ln>
                  <a:noFill/>
                </a:ln>
                <a:solidFill>
                  <a:schemeClr val="tx1"/>
                </a:solidFill>
                <a:effectLst/>
                <a:uLnTx/>
                <a:uFillTx/>
                <a:latin typeface="+mn-lt"/>
                <a:ea typeface="+mn-ea"/>
                <a:cs typeface="+mn-cs"/>
              </a:rPr>
              <a:t>) </a:t>
            </a:r>
            <a:r>
              <a:rPr lang="ru-RU" sz="3200" dirty="0"/>
              <a:t>Добавление </a:t>
            </a:r>
            <a:r>
              <a:rPr kumimoji="0" lang="ru-RU" sz="3200" b="0" i="0" u="none" strike="noStrike" kern="1200" cap="none" spc="0" normalizeH="0" baseline="0" noProof="0" dirty="0">
                <a:ln>
                  <a:noFill/>
                </a:ln>
                <a:solidFill>
                  <a:schemeClr val="tx1"/>
                </a:solidFill>
                <a:effectLst/>
                <a:uLnTx/>
                <a:uFillTx/>
                <a:latin typeface="+mn-lt"/>
                <a:ea typeface="+mn-ea"/>
                <a:cs typeface="+mn-cs"/>
              </a:rPr>
              <a:t>индекса при помощи команды </a:t>
            </a:r>
            <a:r>
              <a:rPr kumimoji="0" lang="en-US" sz="3200" b="1" i="0" u="none" strike="noStrike" kern="1200" cap="none" spc="0" normalizeH="0" baseline="0" noProof="0" dirty="0">
                <a:ln>
                  <a:noFill/>
                </a:ln>
                <a:solidFill>
                  <a:schemeClr val="tx1"/>
                </a:solidFill>
                <a:effectLst/>
                <a:uLnTx/>
                <a:uFillTx/>
                <a:latin typeface="+mn-lt"/>
                <a:ea typeface="+mn-ea"/>
                <a:cs typeface="+mn-cs"/>
              </a:rPr>
              <a:t>CREATE INDEX</a:t>
            </a:r>
            <a:r>
              <a:rPr kumimoji="0" lang="ru-RU"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3200" b="0" i="0" u="none" strike="noStrike" kern="1200" cap="none" spc="0" normalizeH="0" baseline="0" noProof="0" dirty="0">
                <a:ln>
                  <a:noFill/>
                </a:ln>
                <a:solidFill>
                  <a:schemeClr val="tx1"/>
                </a:solidFill>
                <a:effectLst/>
                <a:uLnTx/>
                <a:uFillTx/>
                <a:latin typeface="+mn-lt"/>
                <a:ea typeface="+mn-ea"/>
                <a:cs typeface="+mn-cs"/>
              </a:rPr>
              <a:t>Например, </a:t>
            </a:r>
          </a:p>
        </p:txBody>
      </p:sp>
      <p:sp>
        <p:nvSpPr>
          <p:cNvPr id="9" name="TextBox 8"/>
          <p:cNvSpPr txBox="1"/>
          <p:nvPr/>
        </p:nvSpPr>
        <p:spPr>
          <a:xfrm>
            <a:off x="2285984" y="3500438"/>
            <a:ext cx="3483582" cy="1477328"/>
          </a:xfrm>
          <a:prstGeom prst="rect">
            <a:avLst/>
          </a:prstGeom>
          <a:noFill/>
        </p:spPr>
        <p:txBody>
          <a:bodyPr wrap="none" rtlCol="0">
            <a:spAutoFit/>
          </a:bodyPr>
          <a:lstStyle/>
          <a:p>
            <a:r>
              <a:rPr lang="en-US" dirty="0"/>
              <a:t>CREATE TABLE Student</a:t>
            </a:r>
          </a:p>
          <a:p>
            <a:r>
              <a:rPr lang="en-US" dirty="0"/>
              <a:t>(</a:t>
            </a:r>
            <a:r>
              <a:rPr lang="en-US" dirty="0" err="1"/>
              <a:t>ID_student</a:t>
            </a:r>
            <a:r>
              <a:rPr lang="en-US" dirty="0"/>
              <a:t> INT PRIMARY KEY,</a:t>
            </a:r>
          </a:p>
          <a:p>
            <a:r>
              <a:rPr lang="en-US" dirty="0"/>
              <a:t>Surname VARCHAR(30),</a:t>
            </a:r>
          </a:p>
          <a:p>
            <a:r>
              <a:rPr lang="en-US" dirty="0"/>
              <a:t>Series_nomber_pas VARCHAR(20),</a:t>
            </a:r>
          </a:p>
          <a:p>
            <a:r>
              <a:rPr lang="en-US" b="1" dirty="0"/>
              <a:t>UNIQUE</a:t>
            </a:r>
            <a:r>
              <a:rPr lang="en-US" dirty="0"/>
              <a:t>(</a:t>
            </a:r>
            <a:r>
              <a:rPr lang="en-US" dirty="0" err="1"/>
              <a:t>Series_nomber_pas</a:t>
            </a:r>
            <a:r>
              <a:rPr lang="en-US" dirty="0"/>
              <a:t> ))</a:t>
            </a:r>
            <a:endParaRPr lang="ru-RU" dirty="0"/>
          </a:p>
        </p:txBody>
      </p:sp>
      <p:sp>
        <p:nvSpPr>
          <p:cNvPr id="10" name="TextBox 9"/>
          <p:cNvSpPr txBox="1"/>
          <p:nvPr/>
        </p:nvSpPr>
        <p:spPr>
          <a:xfrm>
            <a:off x="2357422" y="5715016"/>
            <a:ext cx="3579763" cy="923330"/>
          </a:xfrm>
          <a:prstGeom prst="rect">
            <a:avLst/>
          </a:prstGeom>
          <a:noFill/>
        </p:spPr>
        <p:txBody>
          <a:bodyPr wrap="none" rtlCol="0">
            <a:spAutoFit/>
          </a:bodyPr>
          <a:lstStyle/>
          <a:p>
            <a:r>
              <a:rPr lang="en-US" b="1" dirty="0"/>
              <a:t>CREATE INDEX  </a:t>
            </a:r>
            <a:r>
              <a:rPr lang="en-US" dirty="0" err="1"/>
              <a:t>Index_table_Student</a:t>
            </a:r>
            <a:endParaRPr lang="en-US" dirty="0"/>
          </a:p>
          <a:p>
            <a:r>
              <a:rPr lang="en-US" dirty="0"/>
              <a:t>ON Student(</a:t>
            </a:r>
            <a:r>
              <a:rPr lang="en-US" dirty="0" err="1"/>
              <a:t>Series_nomber_pas</a:t>
            </a:r>
            <a:r>
              <a:rPr lang="en-US" dirty="0"/>
              <a:t>)</a:t>
            </a:r>
          </a:p>
          <a:p>
            <a:endParaRPr lang="ru-RU" dirty="0"/>
          </a:p>
        </p:txBody>
      </p:sp>
    </p:spTree>
    <p:extLst>
      <p:ext uri="{BB962C8B-B14F-4D97-AF65-F5344CB8AC3E}">
        <p14:creationId xmlns:p14="http://schemas.microsoft.com/office/powerpoint/2010/main" val="367026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642918"/>
          </a:xfrm>
        </p:spPr>
        <p:txBody>
          <a:bodyPr>
            <a:normAutofit/>
          </a:bodyPr>
          <a:lstStyle/>
          <a:p>
            <a:r>
              <a:rPr lang="ru-RU" sz="3200" dirty="0"/>
              <a:t>Создание индексов в MS SQL </a:t>
            </a:r>
            <a:r>
              <a:rPr lang="ru-RU" sz="3200" dirty="0" err="1"/>
              <a:t>Server</a:t>
            </a:r>
            <a:endParaRPr lang="ru-RU" sz="3200" dirty="0"/>
          </a:p>
        </p:txBody>
      </p:sp>
      <p:sp>
        <p:nvSpPr>
          <p:cNvPr id="3" name="Содержимое 2"/>
          <p:cNvSpPr>
            <a:spLocks noGrp="1"/>
          </p:cNvSpPr>
          <p:nvPr>
            <p:ph idx="1"/>
          </p:nvPr>
        </p:nvSpPr>
        <p:spPr>
          <a:xfrm>
            <a:off x="500034" y="642919"/>
            <a:ext cx="8286808" cy="3643338"/>
          </a:xfrm>
        </p:spPr>
        <p:txBody>
          <a:bodyPr>
            <a:normAutofit fontScale="47500" lnSpcReduction="20000"/>
          </a:bodyPr>
          <a:lstStyle/>
          <a:p>
            <a:pPr>
              <a:buNone/>
            </a:pPr>
            <a:r>
              <a:rPr lang="ru-RU" dirty="0"/>
              <a:t>Команда создания индекса для таблицы </a:t>
            </a:r>
            <a:r>
              <a:rPr lang="ru-RU" b="1" dirty="0"/>
              <a:t>CREATE INDEX </a:t>
            </a:r>
            <a:r>
              <a:rPr lang="ru-RU" dirty="0"/>
              <a:t>имеет следующий синтаксис:</a:t>
            </a:r>
          </a:p>
          <a:p>
            <a:pPr>
              <a:buNone/>
            </a:pPr>
            <a:endParaRPr lang="ru-RU" dirty="0"/>
          </a:p>
          <a:p>
            <a:pPr>
              <a:buNone/>
            </a:pPr>
            <a:r>
              <a:rPr lang="en-US" dirty="0"/>
              <a:t>CREATE [UNIQUE] [CLUSTERED | NONCLUSTERED] INDEX </a:t>
            </a:r>
            <a:r>
              <a:rPr lang="en-US" dirty="0" err="1"/>
              <a:t>index_name</a:t>
            </a:r>
            <a:r>
              <a:rPr lang="en-US" dirty="0"/>
              <a:t> ON </a:t>
            </a:r>
            <a:r>
              <a:rPr lang="en-US" dirty="0" err="1"/>
              <a:t>table_name</a:t>
            </a:r>
            <a:r>
              <a:rPr lang="en-US" dirty="0"/>
              <a:t> (column1 [ASC | DESC] ,...) </a:t>
            </a:r>
          </a:p>
          <a:p>
            <a:pPr>
              <a:buNone/>
            </a:pPr>
            <a:r>
              <a:rPr lang="en-US" dirty="0"/>
              <a:t>		[ INCLUDE ( </a:t>
            </a:r>
            <a:r>
              <a:rPr lang="en-US" dirty="0" err="1"/>
              <a:t>column_name</a:t>
            </a:r>
            <a:r>
              <a:rPr lang="en-US" dirty="0"/>
              <a:t> [ ,... ] ) ]</a:t>
            </a:r>
          </a:p>
          <a:p>
            <a:pPr>
              <a:buNone/>
            </a:pPr>
            <a:r>
              <a:rPr lang="en-US" dirty="0"/>
              <a:t> [WITH</a:t>
            </a:r>
          </a:p>
          <a:p>
            <a:pPr>
              <a:buNone/>
            </a:pPr>
            <a:r>
              <a:rPr lang="en-US" dirty="0"/>
              <a:t>	 [FILLFACTOR=n] [[, ] PAD_INDEX = {ON | OFF}]</a:t>
            </a:r>
          </a:p>
          <a:p>
            <a:pPr>
              <a:buNone/>
            </a:pPr>
            <a:r>
              <a:rPr lang="en-US" dirty="0"/>
              <a:t>	 [[, ] DROP_EXISTING = {ON | OFF}]</a:t>
            </a:r>
          </a:p>
          <a:p>
            <a:pPr>
              <a:buNone/>
            </a:pPr>
            <a:r>
              <a:rPr lang="en-US" dirty="0"/>
              <a:t>	 [[, ] SORT_IN_TEMPDB = {ON | OFF}]</a:t>
            </a:r>
          </a:p>
          <a:p>
            <a:pPr>
              <a:buNone/>
            </a:pPr>
            <a:r>
              <a:rPr lang="en-US" dirty="0"/>
              <a:t>	 [[, ] IGNORE_DUP_KEY = {ON | OFF}]</a:t>
            </a:r>
          </a:p>
          <a:p>
            <a:pPr>
              <a:buNone/>
            </a:pPr>
            <a:r>
              <a:rPr lang="en-US" dirty="0"/>
              <a:t>	 [[, ] ALLOW_ROW_LOCKS = {ON | OFF}]</a:t>
            </a:r>
          </a:p>
          <a:p>
            <a:pPr>
              <a:buNone/>
            </a:pPr>
            <a:r>
              <a:rPr lang="en-US" dirty="0"/>
              <a:t>	 [[, ] ALLOW_PAGE_LOCKS = {ON | OFF}]</a:t>
            </a:r>
          </a:p>
          <a:p>
            <a:pPr>
              <a:buNone/>
            </a:pPr>
            <a:r>
              <a:rPr lang="en-US" dirty="0"/>
              <a:t>	 [[, ] STATISTICS_NORECOMPUTE = {ON | OFF}] </a:t>
            </a:r>
          </a:p>
          <a:p>
            <a:pPr>
              <a:buNone/>
            </a:pPr>
            <a:r>
              <a:rPr lang="en-US" dirty="0"/>
              <a:t>	 [[, ] ONLINE = {ON | OFF}]] [ON </a:t>
            </a:r>
            <a:r>
              <a:rPr lang="en-US" dirty="0" err="1"/>
              <a:t>file_group</a:t>
            </a:r>
            <a:r>
              <a:rPr lang="en-US" dirty="0"/>
              <a:t> | "default "]</a:t>
            </a:r>
            <a:endParaRPr lang="ru-RU" dirty="0"/>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37</a:t>
            </a:fld>
            <a:endParaRPr lang="ru-RU" dirty="0"/>
          </a:p>
        </p:txBody>
      </p:sp>
      <p:sp>
        <p:nvSpPr>
          <p:cNvPr id="5" name="TextBox 4"/>
          <p:cNvSpPr txBox="1"/>
          <p:nvPr/>
        </p:nvSpPr>
        <p:spPr>
          <a:xfrm>
            <a:off x="357158" y="4000505"/>
            <a:ext cx="8429684" cy="2800767"/>
          </a:xfrm>
          <a:prstGeom prst="rect">
            <a:avLst/>
          </a:prstGeom>
          <a:noFill/>
        </p:spPr>
        <p:txBody>
          <a:bodyPr wrap="square" rtlCol="0">
            <a:spAutoFit/>
          </a:bodyPr>
          <a:lstStyle/>
          <a:p>
            <a:r>
              <a:rPr lang="ru-RU" sz="1100" b="1" dirty="0"/>
              <a:t>Значения параметров по умолчанию:</a:t>
            </a:r>
          </a:p>
          <a:p>
            <a:r>
              <a:rPr lang="ru-RU" sz="1100" dirty="0"/>
              <a:t>Параметр </a:t>
            </a:r>
            <a:r>
              <a:rPr lang="en-US" sz="1100" b="1" dirty="0"/>
              <a:t>NONCLUSTERED</a:t>
            </a:r>
            <a:r>
              <a:rPr lang="ru-RU" sz="1100" dirty="0"/>
              <a:t> – создает некластеризованный индекс.</a:t>
            </a:r>
          </a:p>
          <a:p>
            <a:r>
              <a:rPr lang="ru-RU" sz="1100" dirty="0"/>
              <a:t>Параметр </a:t>
            </a:r>
            <a:r>
              <a:rPr lang="en-US" sz="1100" b="1" dirty="0"/>
              <a:t>ASC</a:t>
            </a:r>
            <a:r>
              <a:rPr lang="ru-RU" sz="1100" dirty="0"/>
              <a:t> сортировка по возрастанию значений столбца (</a:t>
            </a:r>
            <a:r>
              <a:rPr lang="en-US" sz="1100" dirty="0"/>
              <a:t>column1</a:t>
            </a:r>
            <a:r>
              <a:rPr lang="ru-RU" sz="1100" dirty="0"/>
              <a:t>).</a:t>
            </a:r>
          </a:p>
          <a:p>
            <a:r>
              <a:rPr lang="ru-RU" sz="1100" dirty="0"/>
              <a:t>Параметр </a:t>
            </a:r>
            <a:r>
              <a:rPr lang="ru-RU" sz="1100" b="1" dirty="0"/>
              <a:t>FILLFACTOR </a:t>
            </a:r>
            <a:r>
              <a:rPr lang="ru-RU" sz="1100" dirty="0"/>
              <a:t>имеет значение по умолчанию </a:t>
            </a:r>
            <a:r>
              <a:rPr lang="en-US" sz="1100" b="1" dirty="0"/>
              <a:t>n=0 </a:t>
            </a:r>
            <a:r>
              <a:rPr lang="en-US" sz="1100" dirty="0"/>
              <a:t>=&gt; </a:t>
            </a:r>
            <a:r>
              <a:rPr lang="ru-RU" sz="1100" dirty="0"/>
              <a:t>страницы узлов индекса заполняются полностью, а каждая из промежуточных страниц содержит свободное место для одной записи.</a:t>
            </a:r>
            <a:endParaRPr lang="en-US" sz="1100" dirty="0"/>
          </a:p>
          <a:p>
            <a:r>
              <a:rPr lang="ru-RU" sz="1100" dirty="0"/>
              <a:t>Параметр </a:t>
            </a:r>
            <a:r>
              <a:rPr lang="en-US" sz="1100" b="1" dirty="0"/>
              <a:t>WITH PAD_INDEX </a:t>
            </a:r>
            <a:r>
              <a:rPr lang="ru-RU" sz="1100" dirty="0"/>
              <a:t>задает заполнение индекса</a:t>
            </a:r>
            <a:r>
              <a:rPr lang="en-US" sz="1100" dirty="0"/>
              <a:t>, </a:t>
            </a:r>
            <a:r>
              <a:rPr lang="ru-RU" sz="1100" dirty="0"/>
              <a:t>по умолчанию выключен.</a:t>
            </a:r>
          </a:p>
          <a:p>
            <a:r>
              <a:rPr lang="ru-RU" sz="1100" dirty="0"/>
              <a:t>Параметр </a:t>
            </a:r>
            <a:r>
              <a:rPr lang="en-US" sz="1100" b="1" dirty="0"/>
              <a:t>SORT_IN_TEMPDB</a:t>
            </a:r>
            <a:r>
              <a:rPr lang="en-US" sz="1100" dirty="0"/>
              <a:t> </a:t>
            </a:r>
            <a:r>
              <a:rPr lang="ru-RU" sz="1100" dirty="0"/>
              <a:t>указывает, следует ли хранить временные результаты сортировки в базе данных </a:t>
            </a:r>
            <a:r>
              <a:rPr lang="ru-RU" sz="1100" dirty="0" err="1"/>
              <a:t>tempdb</a:t>
            </a:r>
            <a:r>
              <a:rPr lang="en-US" sz="1100" dirty="0"/>
              <a:t> , </a:t>
            </a:r>
            <a:r>
              <a:rPr lang="ru-RU" sz="1100" dirty="0"/>
              <a:t>по умолчанию выключен.</a:t>
            </a:r>
          </a:p>
          <a:p>
            <a:r>
              <a:rPr lang="ru-RU" sz="1100" dirty="0"/>
              <a:t>Параметр </a:t>
            </a:r>
            <a:r>
              <a:rPr lang="en-US" sz="1100" b="1" dirty="0"/>
              <a:t>IGNORE_DUP_KEY</a:t>
            </a:r>
            <a:r>
              <a:rPr lang="ru-RU" sz="1100" dirty="0"/>
              <a:t> задает ответ на ошибку, когда операция вставки пытается вставить повторяющиеся значения ключа в уникальный индекс. IGNORE_DUP_KEY применяется только к операциям вставки после создания или перестроения индекса.</a:t>
            </a:r>
          </a:p>
          <a:p>
            <a:r>
              <a:rPr lang="ru-RU" sz="1100" dirty="0"/>
              <a:t>Параметр </a:t>
            </a:r>
            <a:r>
              <a:rPr lang="en-US" sz="1100" b="1" dirty="0"/>
              <a:t>STATISTICS_NORECOMPUTE</a:t>
            </a:r>
            <a:r>
              <a:rPr lang="ru-RU" sz="1100" dirty="0"/>
              <a:t> определяет состояние автоматического перерасчета статистики указанного индекса, по умолчанию выключен.</a:t>
            </a:r>
          </a:p>
          <a:p>
            <a:r>
              <a:rPr lang="ru-RU" sz="1100" dirty="0"/>
              <a:t>Параметр </a:t>
            </a:r>
            <a:r>
              <a:rPr lang="en-US" sz="1100" b="1" dirty="0"/>
              <a:t>DROP_EXISTING </a:t>
            </a:r>
            <a:r>
              <a:rPr lang="ru-RU" sz="1100" dirty="0"/>
              <a:t>задает возможность удалить и перестроить существующий кластеризованный или некластеризованный индекс с измененными спецификациями столбцов и сохранить то же имя для индекса, по умолчанию выключен.</a:t>
            </a:r>
          </a:p>
          <a:p>
            <a:r>
              <a:rPr lang="ru-RU" sz="1100" dirty="0"/>
              <a:t>Параметр </a:t>
            </a:r>
            <a:r>
              <a:rPr lang="en-US" sz="1100" b="1" dirty="0"/>
              <a:t>ONLINE</a:t>
            </a:r>
            <a:r>
              <a:rPr lang="ru-RU" sz="1100" dirty="0"/>
              <a:t> указывает, доступны ли базовые таблицы и связанные с ними индексы для запросов и изменения данных во время операции индексирования, по умолчанию выключен.</a:t>
            </a:r>
            <a:endParaRPr lang="ru-RU" sz="1000" dirty="0"/>
          </a:p>
        </p:txBody>
      </p:sp>
    </p:spTree>
    <p:extLst>
      <p:ext uri="{BB962C8B-B14F-4D97-AF65-F5344CB8AC3E}">
        <p14:creationId xmlns:p14="http://schemas.microsoft.com/office/powerpoint/2010/main" val="4227709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600" dirty="0"/>
              <a:t>Увидеть индексы в таблице</a:t>
            </a:r>
          </a:p>
        </p:txBody>
      </p:sp>
      <p:sp>
        <p:nvSpPr>
          <p:cNvPr id="3" name="Объект 2"/>
          <p:cNvSpPr>
            <a:spLocks noGrp="1"/>
          </p:cNvSpPr>
          <p:nvPr>
            <p:ph idx="1"/>
          </p:nvPr>
        </p:nvSpPr>
        <p:spPr>
          <a:xfrm>
            <a:off x="457200" y="2060848"/>
            <a:ext cx="8229600" cy="3705275"/>
          </a:xfrm>
        </p:spPr>
        <p:txBody>
          <a:bodyPr/>
          <a:lstStyle/>
          <a:p>
            <a:pPr marL="0" indent="0">
              <a:buNone/>
            </a:pPr>
            <a:r>
              <a:rPr lang="ru-RU" sz="2800"/>
              <a:t>EXECUTE sp_helpindex </a:t>
            </a:r>
            <a:r>
              <a:rPr lang="en-US" sz="2800"/>
              <a:t>name_table</a:t>
            </a:r>
          </a:p>
          <a:p>
            <a:pPr marL="0" indent="0">
              <a:buNone/>
            </a:pPr>
            <a:endParaRPr lang="ru-RU" sz="2800"/>
          </a:p>
          <a:p>
            <a:pPr marL="0" indent="0">
              <a:buNone/>
            </a:pPr>
            <a:r>
              <a:rPr lang="ru-RU" sz="2800"/>
              <a:t>Пример, EXECUTE sp_helpindex </a:t>
            </a:r>
            <a:r>
              <a:rPr lang="en-US" sz="2800"/>
              <a:t>Student</a:t>
            </a:r>
            <a:endParaRPr lang="ru-RU" sz="2800"/>
          </a:p>
          <a:p>
            <a:pPr marL="0" indent="0">
              <a:buNone/>
            </a:pPr>
            <a:endParaRPr lang="ru-RU" sz="2800"/>
          </a:p>
          <a:p>
            <a:pPr marL="0" indent="0">
              <a:buNone/>
            </a:pPr>
            <a:r>
              <a:rPr lang="en-US" sz="2800"/>
              <a:t>SELECT</a:t>
            </a:r>
            <a:r>
              <a:rPr lang="ru-RU" sz="2800"/>
              <a:t> * </a:t>
            </a:r>
            <a:endParaRPr lang="en-US" sz="2800"/>
          </a:p>
          <a:p>
            <a:pPr marL="0" indent="0">
              <a:buNone/>
            </a:pPr>
            <a:r>
              <a:rPr lang="en-US" sz="2800"/>
              <a:t>FROM</a:t>
            </a:r>
            <a:r>
              <a:rPr lang="ru-RU" sz="2800"/>
              <a:t> dbo.</a:t>
            </a:r>
            <a:r>
              <a:rPr lang="en-US" sz="2800"/>
              <a:t>Student</a:t>
            </a:r>
            <a:endParaRPr lang="ru-RU" sz="2800"/>
          </a:p>
          <a:p>
            <a:pPr marL="0" indent="0">
              <a:buNone/>
            </a:pPr>
            <a:endParaRPr lang="en-US" dirty="0"/>
          </a:p>
          <a:p>
            <a:endParaRPr lang="ru-RU" dirty="0"/>
          </a:p>
          <a:p>
            <a:endParaRPr lang="ru-RU" dirty="0"/>
          </a:p>
        </p:txBody>
      </p:sp>
      <p:sp>
        <p:nvSpPr>
          <p:cNvPr id="4" name="Номер слайда 3"/>
          <p:cNvSpPr>
            <a:spLocks noGrp="1"/>
          </p:cNvSpPr>
          <p:nvPr>
            <p:ph type="sldNum" sz="quarter" idx="12"/>
          </p:nvPr>
        </p:nvSpPr>
        <p:spPr/>
        <p:txBody>
          <a:bodyPr/>
          <a:lstStyle/>
          <a:p>
            <a:fld id="{1F87023B-4310-42C4-812D-874FAF4871B2}" type="slidenum">
              <a:rPr lang="ru-RU" smtClean="0"/>
              <a:pPr/>
              <a:t>38</a:t>
            </a:fld>
            <a:endParaRPr lang="ru-RU"/>
          </a:p>
        </p:txBody>
      </p:sp>
    </p:spTree>
    <p:extLst>
      <p:ext uri="{BB962C8B-B14F-4D97-AF65-F5344CB8AC3E}">
        <p14:creationId xmlns:p14="http://schemas.microsoft.com/office/powerpoint/2010/main" val="711565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одержимое 2"/>
          <p:cNvSpPr>
            <a:spLocks noGrp="1"/>
          </p:cNvSpPr>
          <p:nvPr>
            <p:ph idx="1"/>
          </p:nvPr>
        </p:nvSpPr>
        <p:spPr>
          <a:xfrm>
            <a:off x="-1" y="3194416"/>
            <a:ext cx="4131001" cy="2904647"/>
          </a:xfrm>
        </p:spPr>
        <p:txBody>
          <a:bodyPr>
            <a:normAutofit fontScale="47500" lnSpcReduction="20000"/>
          </a:bodyPr>
          <a:lstStyle/>
          <a:p>
            <a:pPr>
              <a:buNone/>
            </a:pPr>
            <a:r>
              <a:rPr lang="ru-RU" sz="3400" dirty="0"/>
              <a:t>2) </a:t>
            </a:r>
            <a:r>
              <a:rPr lang="ru-RU" sz="3400" dirty="0" err="1"/>
              <a:t>Некластеризованный</a:t>
            </a:r>
            <a:r>
              <a:rPr lang="ru-RU" sz="3400" dirty="0"/>
              <a:t> индекс</a:t>
            </a:r>
            <a:r>
              <a:rPr lang="en-US" sz="3400" dirty="0"/>
              <a:t> </a:t>
            </a:r>
            <a:endParaRPr lang="ru-RU" sz="3400" dirty="0"/>
          </a:p>
          <a:p>
            <a:pPr>
              <a:buNone/>
            </a:pPr>
            <a:r>
              <a:rPr lang="en-US" sz="3400" dirty="0"/>
              <a:t>(</a:t>
            </a:r>
            <a:r>
              <a:rPr lang="en-US" sz="3400" dirty="0" err="1"/>
              <a:t>Nonclustered</a:t>
            </a:r>
            <a:r>
              <a:rPr lang="en-US" sz="3400" dirty="0"/>
              <a:t> index)</a:t>
            </a:r>
            <a:r>
              <a:rPr lang="ru-RU" sz="3400" dirty="0"/>
              <a:t>.  </a:t>
            </a:r>
          </a:p>
          <a:p>
            <a:pPr marL="0" indent="355600">
              <a:buNone/>
            </a:pPr>
            <a:r>
              <a:rPr lang="ru-RU" sz="3400" dirty="0"/>
              <a:t>При определении </a:t>
            </a:r>
            <a:r>
              <a:rPr lang="ru-RU" sz="3400" dirty="0" err="1"/>
              <a:t>некластеризованного</a:t>
            </a:r>
            <a:r>
              <a:rPr lang="ru-RU" sz="3400" dirty="0"/>
              <a:t>  индекса в таблице  (представлении), физическая структура  данных не перестраивается, а только организуются ссылки на соответствующие записи.</a:t>
            </a:r>
            <a:endParaRPr lang="en-US" sz="3400" dirty="0"/>
          </a:p>
          <a:p>
            <a:pPr marL="0" indent="355600">
              <a:buNone/>
            </a:pPr>
            <a:r>
              <a:rPr lang="ru-RU" sz="3400" dirty="0"/>
              <a:t>Если таблица не имеет </a:t>
            </a:r>
            <a:r>
              <a:rPr lang="ru-RU" sz="3400" dirty="0" err="1"/>
              <a:t>кластеризованного</a:t>
            </a:r>
            <a:r>
              <a:rPr lang="ru-RU" sz="3400" dirty="0"/>
              <a:t> индекса, тогда на уровне листьев находится идентификатор строки (RID - </a:t>
            </a:r>
            <a:r>
              <a:rPr lang="ru-RU" sz="3400" dirty="0" err="1"/>
              <a:t>Row</a:t>
            </a:r>
            <a:r>
              <a:rPr lang="ru-RU" sz="3400" dirty="0"/>
              <a:t> </a:t>
            </a:r>
            <a:r>
              <a:rPr lang="ru-RU" sz="3400" dirty="0" err="1"/>
              <a:t>Identifier</a:t>
            </a:r>
            <a:r>
              <a:rPr lang="ru-RU" sz="3400" dirty="0"/>
              <a:t>), который состоит из: адреса файла, адреса физического блока (страницы), смещения строки в странице.</a:t>
            </a:r>
          </a:p>
          <a:p>
            <a:pPr>
              <a:buNone/>
            </a:pPr>
            <a:endParaRPr lang="ru-RU" dirty="0"/>
          </a:p>
          <a:p>
            <a:pPr>
              <a:buNone/>
            </a:pPr>
            <a:endParaRPr lang="ru-RU" dirty="0"/>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39</a:t>
            </a:fld>
            <a:endParaRPr lang="ru-RU"/>
          </a:p>
        </p:txBody>
      </p:sp>
      <p:sp>
        <p:nvSpPr>
          <p:cNvPr id="8" name="TextBox 7"/>
          <p:cNvSpPr txBox="1"/>
          <p:nvPr/>
        </p:nvSpPr>
        <p:spPr>
          <a:xfrm>
            <a:off x="85161" y="6171623"/>
            <a:ext cx="8572560" cy="738664"/>
          </a:xfrm>
          <a:prstGeom prst="rect">
            <a:avLst/>
          </a:prstGeom>
          <a:noFill/>
        </p:spPr>
        <p:txBody>
          <a:bodyPr wrap="square" rtlCol="0">
            <a:spAutoFit/>
          </a:bodyPr>
          <a:lstStyle/>
          <a:p>
            <a:r>
              <a:rPr lang="ru-RU" sz="1400" dirty="0"/>
              <a:t>В SQL </a:t>
            </a:r>
            <a:r>
              <a:rPr lang="ru-RU" sz="1400" dirty="0" err="1"/>
              <a:t>Server</a:t>
            </a:r>
            <a:r>
              <a:rPr lang="ru-RU" sz="1400" dirty="0"/>
              <a:t> таблицу без </a:t>
            </a:r>
            <a:r>
              <a:rPr lang="ru-RU" sz="1400" dirty="0" err="1"/>
              <a:t>кластеризованного</a:t>
            </a:r>
            <a:r>
              <a:rPr lang="ru-RU" sz="1400" dirty="0"/>
              <a:t> индекса называется кучей (</a:t>
            </a:r>
            <a:r>
              <a:rPr lang="ru-RU" sz="1400" dirty="0" err="1"/>
              <a:t>heap</a:t>
            </a:r>
            <a:r>
              <a:rPr lang="ru-RU" sz="1400" dirty="0"/>
              <a:t>).</a:t>
            </a:r>
          </a:p>
          <a:p>
            <a:r>
              <a:rPr lang="ru-RU" sz="1400" dirty="0"/>
              <a:t>Если </a:t>
            </a:r>
            <a:r>
              <a:rPr lang="ru-RU" sz="1400" dirty="0" err="1"/>
              <a:t>кластеризованного</a:t>
            </a:r>
            <a:r>
              <a:rPr lang="ru-RU" sz="1400" dirty="0"/>
              <a:t> индекса нет, тогда </a:t>
            </a:r>
            <a:r>
              <a:rPr lang="ru-RU" sz="1400" dirty="0" err="1"/>
              <a:t>некластеризованный</a:t>
            </a:r>
            <a:r>
              <a:rPr lang="ru-RU" sz="1400" dirty="0"/>
              <a:t> индекс хранит на уровне листьев ссылки на записи </a:t>
            </a:r>
            <a:r>
              <a:rPr lang="ru-RU" sz="1400" dirty="0" err="1"/>
              <a:t>кластеризованного</a:t>
            </a:r>
            <a:r>
              <a:rPr lang="ru-RU" sz="1400" dirty="0"/>
              <a:t> индекса или на записи из кучи.</a:t>
            </a:r>
          </a:p>
        </p:txBody>
      </p:sp>
      <p:pic>
        <p:nvPicPr>
          <p:cNvPr id="7" name="Рисунок 6"/>
          <p:cNvPicPr>
            <a:picLocks noChangeAspect="1"/>
          </p:cNvPicPr>
          <p:nvPr/>
        </p:nvPicPr>
        <p:blipFill rotWithShape="1">
          <a:blip r:embed="rId3"/>
          <a:srcRect t="2623" r="2354" b="-1"/>
          <a:stretch/>
        </p:blipFill>
        <p:spPr>
          <a:xfrm>
            <a:off x="4581603" y="782697"/>
            <a:ext cx="4474840" cy="2077752"/>
          </a:xfrm>
          <a:prstGeom prst="rect">
            <a:avLst/>
          </a:prstGeom>
          <a:ln>
            <a:solidFill>
              <a:schemeClr val="bg1">
                <a:lumMod val="50000"/>
              </a:schemeClr>
            </a:solidFill>
          </a:ln>
        </p:spPr>
      </p:pic>
      <p:pic>
        <p:nvPicPr>
          <p:cNvPr id="9" name="Рисунок 8"/>
          <p:cNvPicPr>
            <a:picLocks noChangeAspect="1"/>
          </p:cNvPicPr>
          <p:nvPr/>
        </p:nvPicPr>
        <p:blipFill rotWithShape="1">
          <a:blip r:embed="rId4"/>
          <a:srcRect r="1191" b="2620"/>
          <a:stretch/>
        </p:blipFill>
        <p:spPr>
          <a:xfrm>
            <a:off x="4131001" y="3273252"/>
            <a:ext cx="4968552" cy="2753251"/>
          </a:xfrm>
          <a:prstGeom prst="rect">
            <a:avLst/>
          </a:prstGeom>
          <a:ln>
            <a:solidFill>
              <a:schemeClr val="bg1">
                <a:lumMod val="50000"/>
              </a:schemeClr>
            </a:solidFill>
          </a:ln>
        </p:spPr>
      </p:pic>
      <p:sp>
        <p:nvSpPr>
          <p:cNvPr id="10" name="Содержимое 2"/>
          <p:cNvSpPr txBox="1">
            <a:spLocks/>
          </p:cNvSpPr>
          <p:nvPr/>
        </p:nvSpPr>
        <p:spPr>
          <a:xfrm>
            <a:off x="0" y="961870"/>
            <a:ext cx="4474099" cy="1719405"/>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ru-RU" sz="2900" dirty="0"/>
              <a:t>Существую два типа индексов: </a:t>
            </a:r>
          </a:p>
          <a:p>
            <a:pPr>
              <a:buFont typeface="Arial" pitchFamily="34" charset="0"/>
              <a:buNone/>
            </a:pPr>
            <a:r>
              <a:rPr lang="ru-RU" sz="2900" dirty="0"/>
              <a:t> 1) </a:t>
            </a:r>
            <a:r>
              <a:rPr lang="ru-RU" sz="2900" dirty="0" err="1"/>
              <a:t>Кластеризованный</a:t>
            </a:r>
            <a:r>
              <a:rPr lang="ru-RU" sz="2900" dirty="0"/>
              <a:t> индексы (</a:t>
            </a:r>
            <a:r>
              <a:rPr lang="en-US" sz="2900" dirty="0"/>
              <a:t>Clustered</a:t>
            </a:r>
            <a:r>
              <a:rPr lang="ru-RU" sz="2900" dirty="0"/>
              <a:t>  </a:t>
            </a:r>
            <a:r>
              <a:rPr lang="en-US" sz="2900" dirty="0"/>
              <a:t>index</a:t>
            </a:r>
            <a:r>
              <a:rPr lang="ru-RU" sz="2900" dirty="0"/>
              <a:t>). </a:t>
            </a:r>
          </a:p>
          <a:p>
            <a:pPr marL="0" indent="269875">
              <a:buFont typeface="Arial" pitchFamily="34" charset="0"/>
              <a:buNone/>
            </a:pPr>
            <a:r>
              <a:rPr lang="ru-RU" sz="2900" dirty="0"/>
              <a:t>При определении </a:t>
            </a:r>
            <a:r>
              <a:rPr lang="ru-RU" sz="2900" dirty="0" err="1"/>
              <a:t>кластеризованного</a:t>
            </a:r>
            <a:r>
              <a:rPr lang="ru-RU" sz="2900" dirty="0"/>
              <a:t>  индекса в таблице  (представлении) физическое расположение данных перестраивается в соответствии со структурой индекса, т.е. выполняется сортировка по  полю индекса.</a:t>
            </a:r>
            <a:endParaRPr lang="ru-RU" dirty="0"/>
          </a:p>
        </p:txBody>
      </p:sp>
      <p:sp>
        <p:nvSpPr>
          <p:cNvPr id="11" name="Заголовок 1"/>
          <p:cNvSpPr txBox="1">
            <a:spLocks/>
          </p:cNvSpPr>
          <p:nvPr/>
        </p:nvSpPr>
        <p:spPr>
          <a:xfrm>
            <a:off x="428121" y="3495"/>
            <a:ext cx="8229600" cy="63408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2800" kern="1200">
                <a:solidFill>
                  <a:schemeClr val="tx1"/>
                </a:solidFill>
                <a:latin typeface="+mj-lt"/>
                <a:ea typeface="+mj-ea"/>
                <a:cs typeface="+mj-cs"/>
              </a:defRPr>
            </a:lvl1pPr>
          </a:lstStyle>
          <a:p>
            <a:r>
              <a:rPr lang="ru-RU" dirty="0" err="1"/>
              <a:t>Кластеризованный</a:t>
            </a:r>
            <a:r>
              <a:rPr lang="ru-RU" dirty="0"/>
              <a:t> и </a:t>
            </a:r>
            <a:r>
              <a:rPr lang="ru-RU" dirty="0" err="1"/>
              <a:t>некластеризованный</a:t>
            </a:r>
            <a:r>
              <a:rPr lang="ru-RU" dirty="0"/>
              <a:t> индекс</a:t>
            </a:r>
          </a:p>
        </p:txBody>
      </p:sp>
    </p:spTree>
    <p:extLst>
      <p:ext uri="{BB962C8B-B14F-4D97-AF65-F5344CB8AC3E}">
        <p14:creationId xmlns:p14="http://schemas.microsoft.com/office/powerpoint/2010/main" val="3939724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работа </a:t>
            </a:r>
            <a:r>
              <a:rPr lang="ru-RU" dirty="0" err="1"/>
              <a:t>кластеризованного</a:t>
            </a:r>
            <a:r>
              <a:rPr lang="ru-RU" dirty="0"/>
              <a:t> индекс </a:t>
            </a:r>
          </a:p>
        </p:txBody>
      </p:sp>
      <p:graphicFrame>
        <p:nvGraphicFramePr>
          <p:cNvPr id="5" name="Объект 4"/>
          <p:cNvGraphicFramePr>
            <a:graphicFrameLocks noGrp="1"/>
          </p:cNvGraphicFramePr>
          <p:nvPr>
            <p:ph idx="1"/>
          </p:nvPr>
        </p:nvGraphicFramePr>
        <p:xfrm>
          <a:off x="457200" y="1600200"/>
          <a:ext cx="7643193" cy="2815208"/>
        </p:xfrm>
        <a:graphic>
          <a:graphicData uri="http://schemas.openxmlformats.org/drawingml/2006/table">
            <a:tbl>
              <a:tblPr firstRow="1" bandRow="1">
                <a:tableStyleId>{5C22544A-7EE6-4342-B048-85BDC9FD1C3A}</a:tableStyleId>
              </a:tblPr>
              <a:tblGrid>
                <a:gridCol w="945884">
                  <a:extLst>
                    <a:ext uri="{9D8B030D-6E8A-4147-A177-3AD203B41FA5}">
                      <a16:colId xmlns:a16="http://schemas.microsoft.com/office/drawing/2014/main" val="3119061830"/>
                    </a:ext>
                  </a:extLst>
                </a:gridCol>
                <a:gridCol w="2448836">
                  <a:extLst>
                    <a:ext uri="{9D8B030D-6E8A-4147-A177-3AD203B41FA5}">
                      <a16:colId xmlns:a16="http://schemas.microsoft.com/office/drawing/2014/main" val="2006656696"/>
                    </a:ext>
                  </a:extLst>
                </a:gridCol>
                <a:gridCol w="4248473">
                  <a:extLst>
                    <a:ext uri="{9D8B030D-6E8A-4147-A177-3AD203B41FA5}">
                      <a16:colId xmlns:a16="http://schemas.microsoft.com/office/drawing/2014/main" val="1866346195"/>
                    </a:ext>
                  </a:extLst>
                </a:gridCol>
              </a:tblGrid>
              <a:tr h="396014">
                <a:tc>
                  <a:txBody>
                    <a:bodyPr/>
                    <a:lstStyle/>
                    <a:p>
                      <a:r>
                        <a:rPr lang="en-US" sz="2400" dirty="0"/>
                        <a:t>Id</a:t>
                      </a:r>
                      <a:endParaRPr lang="ru-RU" sz="2400" dirty="0"/>
                    </a:p>
                  </a:txBody>
                  <a:tcPr/>
                </a:tc>
                <a:tc>
                  <a:txBody>
                    <a:bodyPr/>
                    <a:lstStyle/>
                    <a:p>
                      <a:r>
                        <a:rPr lang="en-US" sz="2400" dirty="0"/>
                        <a:t>Name</a:t>
                      </a:r>
                      <a:endParaRPr lang="ru-RU" sz="2400" dirty="0"/>
                    </a:p>
                  </a:txBody>
                  <a:tcPr/>
                </a:tc>
                <a:tc>
                  <a:txBody>
                    <a:bodyPr/>
                    <a:lstStyle/>
                    <a:p>
                      <a:r>
                        <a:rPr lang="en-US" sz="2400" dirty="0"/>
                        <a:t>Birthday</a:t>
                      </a:r>
                      <a:endParaRPr lang="ru-RU" sz="2400" dirty="0"/>
                    </a:p>
                  </a:txBody>
                  <a:tcPr/>
                </a:tc>
                <a:extLst>
                  <a:ext uri="{0D108BD9-81ED-4DB2-BD59-A6C34878D82A}">
                    <a16:rowId xmlns:a16="http://schemas.microsoft.com/office/drawing/2014/main" val="4080833647"/>
                  </a:ext>
                </a:extLst>
              </a:tr>
              <a:tr h="396014">
                <a:tc>
                  <a:txBody>
                    <a:bodyPr/>
                    <a:lstStyle/>
                    <a:p>
                      <a:r>
                        <a:rPr lang="en-US" sz="2400" dirty="0"/>
                        <a:t>1</a:t>
                      </a:r>
                      <a:endParaRPr lang="ru-RU" sz="2400" dirty="0"/>
                    </a:p>
                  </a:txBody>
                  <a:tcPr/>
                </a:tc>
                <a:tc>
                  <a:txBody>
                    <a:bodyPr/>
                    <a:lstStyle/>
                    <a:p>
                      <a:r>
                        <a:rPr lang="ru-RU" sz="2400" dirty="0"/>
                        <a:t>Иван</a:t>
                      </a:r>
                    </a:p>
                  </a:txBody>
                  <a:tcPr/>
                </a:tc>
                <a:tc>
                  <a:txBody>
                    <a:bodyPr/>
                    <a:lstStyle/>
                    <a:p>
                      <a:r>
                        <a:rPr lang="ru-RU" sz="2400" dirty="0"/>
                        <a:t>01.01.2000</a:t>
                      </a:r>
                    </a:p>
                  </a:txBody>
                  <a:tcPr/>
                </a:tc>
                <a:extLst>
                  <a:ext uri="{0D108BD9-81ED-4DB2-BD59-A6C34878D82A}">
                    <a16:rowId xmlns:a16="http://schemas.microsoft.com/office/drawing/2014/main" val="1237437909"/>
                  </a:ext>
                </a:extLst>
              </a:tr>
              <a:tr h="396014">
                <a:tc>
                  <a:txBody>
                    <a:bodyPr/>
                    <a:lstStyle/>
                    <a:p>
                      <a:r>
                        <a:rPr lang="en-US" sz="2400" dirty="0"/>
                        <a:t>2</a:t>
                      </a:r>
                      <a:endParaRPr lang="ru-RU" sz="2400" dirty="0"/>
                    </a:p>
                  </a:txBody>
                  <a:tcPr/>
                </a:tc>
                <a:tc>
                  <a:txBody>
                    <a:bodyPr/>
                    <a:lstStyle/>
                    <a:p>
                      <a:r>
                        <a:rPr lang="ru-RU" sz="2400" dirty="0"/>
                        <a:t>Мария</a:t>
                      </a:r>
                    </a:p>
                  </a:txBody>
                  <a:tcPr/>
                </a:tc>
                <a:tc>
                  <a:txBody>
                    <a:bodyPr/>
                    <a:lstStyle/>
                    <a:p>
                      <a:r>
                        <a:rPr lang="ru-RU" sz="2400" dirty="0"/>
                        <a:t>02.02.2000</a:t>
                      </a:r>
                    </a:p>
                  </a:txBody>
                  <a:tcPr/>
                </a:tc>
                <a:extLst>
                  <a:ext uri="{0D108BD9-81ED-4DB2-BD59-A6C34878D82A}">
                    <a16:rowId xmlns:a16="http://schemas.microsoft.com/office/drawing/2014/main" val="3411830020"/>
                  </a:ext>
                </a:extLst>
              </a:tr>
              <a:tr h="529208">
                <a:tc>
                  <a:txBody>
                    <a:bodyPr/>
                    <a:lstStyle/>
                    <a:p>
                      <a:r>
                        <a:rPr lang="en-US" sz="2400" dirty="0"/>
                        <a:t>3</a:t>
                      </a:r>
                      <a:endParaRPr lang="ru-RU" sz="2400" dirty="0"/>
                    </a:p>
                  </a:txBody>
                  <a:tcPr/>
                </a:tc>
                <a:tc>
                  <a:txBody>
                    <a:bodyPr/>
                    <a:lstStyle/>
                    <a:p>
                      <a:r>
                        <a:rPr lang="ru-RU" sz="2400" dirty="0"/>
                        <a:t>Екатерина</a:t>
                      </a:r>
                    </a:p>
                  </a:txBody>
                  <a:tcPr/>
                </a:tc>
                <a:tc>
                  <a:txBody>
                    <a:bodyPr/>
                    <a:lstStyle/>
                    <a:p>
                      <a:r>
                        <a:rPr lang="ru-RU" sz="2400" dirty="0"/>
                        <a:t>02.04.2001</a:t>
                      </a:r>
                    </a:p>
                  </a:txBody>
                  <a:tcPr/>
                </a:tc>
                <a:extLst>
                  <a:ext uri="{0D108BD9-81ED-4DB2-BD59-A6C34878D82A}">
                    <a16:rowId xmlns:a16="http://schemas.microsoft.com/office/drawing/2014/main" val="1754748760"/>
                  </a:ext>
                </a:extLst>
              </a:tr>
              <a:tr h="396014">
                <a:tc>
                  <a:txBody>
                    <a:bodyPr/>
                    <a:lstStyle/>
                    <a:p>
                      <a:r>
                        <a:rPr lang="en-US" sz="2400" dirty="0"/>
                        <a:t>4</a:t>
                      </a:r>
                      <a:endParaRPr lang="ru-RU" sz="2400" dirty="0"/>
                    </a:p>
                  </a:txBody>
                  <a:tcPr/>
                </a:tc>
                <a:tc>
                  <a:txBody>
                    <a:bodyPr/>
                    <a:lstStyle/>
                    <a:p>
                      <a:r>
                        <a:rPr lang="ru-RU" sz="2400" dirty="0"/>
                        <a:t>Петр</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400" dirty="0"/>
                        <a:t>22.06.2001</a:t>
                      </a:r>
                    </a:p>
                  </a:txBody>
                  <a:tcPr/>
                </a:tc>
                <a:extLst>
                  <a:ext uri="{0D108BD9-81ED-4DB2-BD59-A6C34878D82A}">
                    <a16:rowId xmlns:a16="http://schemas.microsoft.com/office/drawing/2014/main" val="782478087"/>
                  </a:ext>
                </a:extLst>
              </a:tr>
              <a:tr h="396014">
                <a:tc>
                  <a:txBody>
                    <a:bodyPr/>
                    <a:lstStyle/>
                    <a:p>
                      <a:r>
                        <a:rPr lang="en-US" sz="2400" dirty="0"/>
                        <a:t>5</a:t>
                      </a:r>
                      <a:endParaRPr lang="ru-RU" sz="2400" dirty="0"/>
                    </a:p>
                  </a:txBody>
                  <a:tcPr/>
                </a:tc>
                <a:tc>
                  <a:txBody>
                    <a:bodyPr/>
                    <a:lstStyle/>
                    <a:p>
                      <a:r>
                        <a:rPr lang="ru-RU" sz="2400" dirty="0"/>
                        <a:t>Инга</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400" dirty="0"/>
                        <a:t>12.04.2000</a:t>
                      </a:r>
                    </a:p>
                  </a:txBody>
                  <a:tcPr/>
                </a:tc>
                <a:extLst>
                  <a:ext uri="{0D108BD9-81ED-4DB2-BD59-A6C34878D82A}">
                    <a16:rowId xmlns:a16="http://schemas.microsoft.com/office/drawing/2014/main" val="3080635185"/>
                  </a:ext>
                </a:extLst>
              </a:tr>
            </a:tbl>
          </a:graphicData>
        </a:graphic>
      </p:graphicFrame>
      <p:sp>
        <p:nvSpPr>
          <p:cNvPr id="4" name="Номер слайда 3"/>
          <p:cNvSpPr>
            <a:spLocks noGrp="1"/>
          </p:cNvSpPr>
          <p:nvPr>
            <p:ph type="sldNum" sz="quarter" idx="12"/>
          </p:nvPr>
        </p:nvSpPr>
        <p:spPr/>
        <p:txBody>
          <a:bodyPr/>
          <a:lstStyle/>
          <a:p>
            <a:fld id="{1F87023B-4310-42C4-812D-874FAF4871B2}" type="slidenum">
              <a:rPr lang="ru-RU" smtClean="0"/>
              <a:pPr/>
              <a:t>40</a:t>
            </a:fld>
            <a:endParaRPr lang="ru-RU"/>
          </a:p>
        </p:txBody>
      </p:sp>
      <p:graphicFrame>
        <p:nvGraphicFramePr>
          <p:cNvPr id="6" name="Таблица 5"/>
          <p:cNvGraphicFramePr>
            <a:graphicFrameLocks noGrp="1"/>
          </p:cNvGraphicFramePr>
          <p:nvPr/>
        </p:nvGraphicFramePr>
        <p:xfrm>
          <a:off x="450476" y="4597970"/>
          <a:ext cx="7649916" cy="457200"/>
        </p:xfrm>
        <a:graphic>
          <a:graphicData uri="http://schemas.openxmlformats.org/drawingml/2006/table">
            <a:tbl>
              <a:tblPr firstRow="1" bandRow="1">
                <a:tableStyleId>{5C22544A-7EE6-4342-B048-85BDC9FD1C3A}</a:tableStyleId>
              </a:tblPr>
              <a:tblGrid>
                <a:gridCol w="953172">
                  <a:extLst>
                    <a:ext uri="{9D8B030D-6E8A-4147-A177-3AD203B41FA5}">
                      <a16:colId xmlns:a16="http://schemas.microsoft.com/office/drawing/2014/main" val="1485694182"/>
                    </a:ext>
                  </a:extLst>
                </a:gridCol>
                <a:gridCol w="2448272">
                  <a:extLst>
                    <a:ext uri="{9D8B030D-6E8A-4147-A177-3AD203B41FA5}">
                      <a16:colId xmlns:a16="http://schemas.microsoft.com/office/drawing/2014/main" val="2683975820"/>
                    </a:ext>
                  </a:extLst>
                </a:gridCol>
                <a:gridCol w="4248472">
                  <a:extLst>
                    <a:ext uri="{9D8B030D-6E8A-4147-A177-3AD203B41FA5}">
                      <a16:colId xmlns:a16="http://schemas.microsoft.com/office/drawing/2014/main" val="4025421310"/>
                    </a:ext>
                  </a:extLst>
                </a:gridCol>
              </a:tblGrid>
              <a:tr h="343198">
                <a:tc>
                  <a:txBody>
                    <a:bodyPr/>
                    <a:lstStyle/>
                    <a:p>
                      <a:r>
                        <a:rPr lang="ru-RU" sz="2400" b="0" dirty="0">
                          <a:solidFill>
                            <a:schemeClr val="tx1"/>
                          </a:solidFill>
                        </a:rPr>
                        <a:t>6</a:t>
                      </a:r>
                    </a:p>
                  </a:txBody>
                  <a:tcPr>
                    <a:solidFill>
                      <a:schemeClr val="accent1">
                        <a:lumMod val="20000"/>
                        <a:lumOff val="80000"/>
                      </a:schemeClr>
                    </a:solidFill>
                  </a:tcPr>
                </a:tc>
                <a:tc>
                  <a:txBody>
                    <a:bodyPr/>
                    <a:lstStyle/>
                    <a:p>
                      <a:r>
                        <a:rPr lang="ru-RU" sz="2400" b="0" dirty="0">
                          <a:solidFill>
                            <a:schemeClr val="tx1"/>
                          </a:solidFill>
                        </a:rPr>
                        <a:t>Мария</a:t>
                      </a:r>
                    </a:p>
                  </a:txBody>
                  <a:tcPr>
                    <a:solidFill>
                      <a:schemeClr val="accent1">
                        <a:lumMod val="20000"/>
                        <a:lumOff val="80000"/>
                      </a:schemeClr>
                    </a:solidFill>
                  </a:tcPr>
                </a:tc>
                <a:tc>
                  <a:txBody>
                    <a:bodyPr/>
                    <a:lstStyle/>
                    <a:p>
                      <a:r>
                        <a:rPr lang="ru-RU" sz="2400" b="0" dirty="0">
                          <a:solidFill>
                            <a:schemeClr val="tx1"/>
                          </a:solidFill>
                        </a:rPr>
                        <a:t>12.10.2002</a:t>
                      </a:r>
                    </a:p>
                  </a:txBody>
                  <a:tcPr>
                    <a:solidFill>
                      <a:schemeClr val="accent1">
                        <a:lumMod val="20000"/>
                        <a:lumOff val="80000"/>
                      </a:schemeClr>
                    </a:solidFill>
                  </a:tcPr>
                </a:tc>
                <a:extLst>
                  <a:ext uri="{0D108BD9-81ED-4DB2-BD59-A6C34878D82A}">
                    <a16:rowId xmlns:a16="http://schemas.microsoft.com/office/drawing/2014/main" val="2763504542"/>
                  </a:ext>
                </a:extLst>
              </a:tr>
            </a:tbl>
          </a:graphicData>
        </a:graphic>
      </p:graphicFrame>
    </p:spTree>
    <p:extLst>
      <p:ext uri="{BB962C8B-B14F-4D97-AF65-F5344CB8AC3E}">
        <p14:creationId xmlns:p14="http://schemas.microsoft.com/office/powerpoint/2010/main" val="119441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1143000"/>
          </a:xfrm>
        </p:spPr>
        <p:txBody>
          <a:bodyPr>
            <a:noAutofit/>
          </a:bodyPr>
          <a:lstStyle/>
          <a:p>
            <a:r>
              <a:rPr lang="ru-RU" sz="2800" dirty="0"/>
              <a:t>Ключевые различия между </a:t>
            </a:r>
            <a:r>
              <a:rPr lang="ru-RU" sz="2800" dirty="0" err="1"/>
              <a:t>кластеризованными</a:t>
            </a:r>
            <a:r>
              <a:rPr lang="ru-RU" sz="2800" dirty="0"/>
              <a:t> и </a:t>
            </a:r>
            <a:r>
              <a:rPr lang="ru-RU" sz="2800" dirty="0" err="1"/>
              <a:t>неклстеризованными</a:t>
            </a:r>
            <a:r>
              <a:rPr lang="ru-RU" sz="2800" dirty="0"/>
              <a:t> индексами</a:t>
            </a:r>
          </a:p>
        </p:txBody>
      </p:sp>
      <p:sp>
        <p:nvSpPr>
          <p:cNvPr id="4" name="Номер слайда 3"/>
          <p:cNvSpPr>
            <a:spLocks noGrp="1"/>
          </p:cNvSpPr>
          <p:nvPr>
            <p:ph type="sldNum" sz="quarter" idx="12"/>
          </p:nvPr>
        </p:nvSpPr>
        <p:spPr/>
        <p:txBody>
          <a:bodyPr/>
          <a:lstStyle/>
          <a:p>
            <a:fld id="{1F87023B-4310-42C4-812D-874FAF4871B2}" type="slidenum">
              <a:rPr lang="ru-RU" smtClean="0"/>
              <a:pPr/>
              <a:t>41</a:t>
            </a:fld>
            <a:endParaRPr lang="ru-RU"/>
          </a:p>
        </p:txBody>
      </p:sp>
      <p:graphicFrame>
        <p:nvGraphicFramePr>
          <p:cNvPr id="5" name="Таблица 4"/>
          <p:cNvGraphicFramePr>
            <a:graphicFrameLocks noGrp="1"/>
          </p:cNvGraphicFramePr>
          <p:nvPr/>
        </p:nvGraphicFramePr>
        <p:xfrm>
          <a:off x="428595" y="1397000"/>
          <a:ext cx="8286810" cy="4792980"/>
        </p:xfrm>
        <a:graphic>
          <a:graphicData uri="http://schemas.openxmlformats.org/drawingml/2006/table">
            <a:tbl>
              <a:tblPr firstRow="1" bandRow="1">
                <a:tableStyleId>{5C22544A-7EE6-4342-B048-85BDC9FD1C3A}</a:tableStyleId>
              </a:tblPr>
              <a:tblGrid>
                <a:gridCol w="2762270">
                  <a:extLst>
                    <a:ext uri="{9D8B030D-6E8A-4147-A177-3AD203B41FA5}">
                      <a16:colId xmlns:a16="http://schemas.microsoft.com/office/drawing/2014/main" val="20000"/>
                    </a:ext>
                  </a:extLst>
                </a:gridCol>
                <a:gridCol w="2762270">
                  <a:extLst>
                    <a:ext uri="{9D8B030D-6E8A-4147-A177-3AD203B41FA5}">
                      <a16:colId xmlns:a16="http://schemas.microsoft.com/office/drawing/2014/main" val="20001"/>
                    </a:ext>
                  </a:extLst>
                </a:gridCol>
                <a:gridCol w="2762270">
                  <a:extLst>
                    <a:ext uri="{9D8B030D-6E8A-4147-A177-3AD203B41FA5}">
                      <a16:colId xmlns:a16="http://schemas.microsoft.com/office/drawing/2014/main" val="20002"/>
                    </a:ext>
                  </a:extLst>
                </a:gridCol>
              </a:tblGrid>
              <a:tr h="370840">
                <a:tc>
                  <a:txBody>
                    <a:bodyPr/>
                    <a:lstStyle/>
                    <a:p>
                      <a:pPr algn="l"/>
                      <a:r>
                        <a:rPr lang="ru-RU" dirty="0"/>
                        <a:t>Сравнение</a:t>
                      </a:r>
                      <a:r>
                        <a:rPr lang="ru-RU" baseline="0" dirty="0"/>
                        <a:t> показателей</a:t>
                      </a:r>
                      <a:endParaRPr lang="ru-RU" dirty="0"/>
                    </a:p>
                  </a:txBody>
                  <a:tcPr marL="95250" marR="95250" marT="95250" marB="95250" anchor="ctr"/>
                </a:tc>
                <a:tc>
                  <a:txBody>
                    <a:bodyPr/>
                    <a:lstStyle/>
                    <a:p>
                      <a:pPr algn="l"/>
                      <a:r>
                        <a:rPr lang="ru-RU" dirty="0"/>
                        <a:t>Кластеризованный</a:t>
                      </a:r>
                      <a:r>
                        <a:rPr lang="ru-RU" baseline="0" dirty="0"/>
                        <a:t> </a:t>
                      </a:r>
                      <a:r>
                        <a:rPr lang="ru-RU" dirty="0"/>
                        <a:t>индекс</a:t>
                      </a:r>
                    </a:p>
                  </a:txBody>
                  <a:tcPr marL="95250" marR="95250" marT="95250" marB="95250" anchor="ctr"/>
                </a:tc>
                <a:tc>
                  <a:txBody>
                    <a:bodyPr/>
                    <a:lstStyle/>
                    <a:p>
                      <a:pPr algn="l"/>
                      <a:r>
                        <a:rPr lang="ru-RU" dirty="0"/>
                        <a:t>Некластеризованный индекс</a:t>
                      </a:r>
                    </a:p>
                  </a:txBody>
                  <a:tcPr marL="95250" marR="95250" marT="95250" marB="95250" anchor="ctr"/>
                </a:tc>
                <a:extLst>
                  <a:ext uri="{0D108BD9-81ED-4DB2-BD59-A6C34878D82A}">
                    <a16:rowId xmlns:a16="http://schemas.microsoft.com/office/drawing/2014/main" val="10000"/>
                  </a:ext>
                </a:extLst>
              </a:tr>
              <a:tr h="370840">
                <a:tc>
                  <a:txBody>
                    <a:bodyPr/>
                    <a:lstStyle/>
                    <a:p>
                      <a:pPr algn="l"/>
                      <a:r>
                        <a:rPr lang="ru-RU" b="1" dirty="0"/>
                        <a:t>Порядок хранения</a:t>
                      </a:r>
                    </a:p>
                  </a:txBody>
                  <a:tcPr marL="95250" marR="95250" marT="95250" marB="95250" anchor="ctr"/>
                </a:tc>
                <a:tc>
                  <a:txBody>
                    <a:bodyPr/>
                    <a:lstStyle/>
                    <a:p>
                      <a:pPr algn="l"/>
                      <a:r>
                        <a:rPr lang="ru-RU" dirty="0"/>
                        <a:t>Определяет порядок хранения строк в таблице в целом.</a:t>
                      </a:r>
                    </a:p>
                  </a:txBody>
                  <a:tcPr marL="95250" marR="95250" marT="95250" marB="95250" anchor="ctr"/>
                </a:tc>
                <a:tc>
                  <a:txBody>
                    <a:bodyPr/>
                    <a:lstStyle/>
                    <a:p>
                      <a:pPr algn="l"/>
                      <a:r>
                        <a:rPr lang="ru-RU" dirty="0"/>
                        <a:t>Определяет порядок хранения строк в таблице с помощью отдельной физической структуры.</a:t>
                      </a:r>
                    </a:p>
                  </a:txBody>
                  <a:tcPr marL="95250" marR="95250" marT="95250" marB="95250" anchor="ctr"/>
                </a:tc>
                <a:extLst>
                  <a:ext uri="{0D108BD9-81ED-4DB2-BD59-A6C34878D82A}">
                    <a16:rowId xmlns:a16="http://schemas.microsoft.com/office/drawing/2014/main" val="10001"/>
                  </a:ext>
                </a:extLst>
              </a:tr>
              <a:tr h="370840">
                <a:tc>
                  <a:txBody>
                    <a:bodyPr/>
                    <a:lstStyle/>
                    <a:p>
                      <a:pPr algn="l"/>
                      <a:r>
                        <a:rPr lang="ru-RU" b="1" dirty="0"/>
                        <a:t>Количество индексов, разрешенных на одну таблицу</a:t>
                      </a:r>
                    </a:p>
                  </a:txBody>
                  <a:tcPr marL="95250" marR="95250" marT="95250" marB="95250" anchor="ctr"/>
                </a:tc>
                <a:tc>
                  <a:txBody>
                    <a:bodyPr/>
                    <a:lstStyle/>
                    <a:p>
                      <a:pPr algn="l"/>
                      <a:r>
                        <a:rPr lang="ru-RU"/>
                        <a:t>Только один кластерный индекс</a:t>
                      </a:r>
                    </a:p>
                  </a:txBody>
                  <a:tcPr marL="95250" marR="95250" marT="95250" marB="95250" anchor="ctr"/>
                </a:tc>
                <a:tc>
                  <a:txBody>
                    <a:bodyPr/>
                    <a:lstStyle/>
                    <a:p>
                      <a:pPr algn="l"/>
                      <a:r>
                        <a:rPr lang="ru-RU" dirty="0"/>
                        <a:t>Несколько </a:t>
                      </a:r>
                      <a:r>
                        <a:rPr lang="ru-RU" dirty="0" err="1"/>
                        <a:t>некластеризованных</a:t>
                      </a:r>
                      <a:r>
                        <a:rPr lang="ru-RU" dirty="0"/>
                        <a:t> индексов</a:t>
                      </a:r>
                    </a:p>
                  </a:txBody>
                  <a:tcPr marL="95250" marR="95250" marT="95250" marB="95250" anchor="ctr"/>
                </a:tc>
                <a:extLst>
                  <a:ext uri="{0D108BD9-81ED-4DB2-BD59-A6C34878D82A}">
                    <a16:rowId xmlns:a16="http://schemas.microsoft.com/office/drawing/2014/main" val="10002"/>
                  </a:ext>
                </a:extLst>
              </a:tr>
              <a:tr h="370840">
                <a:tc>
                  <a:txBody>
                    <a:bodyPr/>
                    <a:lstStyle/>
                    <a:p>
                      <a:pPr algn="l"/>
                      <a:r>
                        <a:rPr lang="ru-RU" b="1" dirty="0"/>
                        <a:t>Доступ к данным</a:t>
                      </a:r>
                    </a:p>
                  </a:txBody>
                  <a:tcPr marL="95250" marR="95250" marT="95250" marB="95250" anchor="ctr"/>
                </a:tc>
                <a:tc>
                  <a:txBody>
                    <a:bodyPr/>
                    <a:lstStyle/>
                    <a:p>
                      <a:pPr algn="l"/>
                      <a:r>
                        <a:rPr lang="ru-RU" dirty="0"/>
                        <a:t>Быстрее</a:t>
                      </a:r>
                    </a:p>
                  </a:txBody>
                  <a:tcPr marL="95250" marR="95250" marT="95250" marB="95250" anchor="ctr"/>
                </a:tc>
                <a:tc>
                  <a:txBody>
                    <a:bodyPr/>
                    <a:lstStyle/>
                    <a:p>
                      <a:pPr algn="l"/>
                      <a:r>
                        <a:rPr lang="ru-RU" dirty="0"/>
                        <a:t>Более медленный по сравнению с кластерным индексом</a:t>
                      </a:r>
                    </a:p>
                  </a:txBody>
                  <a:tcPr marL="95250" marR="95250" marT="95250" marB="95250" anchor="ctr"/>
                </a:tc>
                <a:extLst>
                  <a:ext uri="{0D108BD9-81ED-4DB2-BD59-A6C34878D82A}">
                    <a16:rowId xmlns:a16="http://schemas.microsoft.com/office/drawing/2014/main" val="10003"/>
                  </a:ext>
                </a:extLst>
              </a:tr>
              <a:tr h="370840">
                <a:tc>
                  <a:txBody>
                    <a:bodyPr/>
                    <a:lstStyle/>
                    <a:p>
                      <a:pPr algn="l"/>
                      <a:r>
                        <a:rPr lang="ru-RU" b="1" dirty="0"/>
                        <a:t>Дополнительное дисковое пространство</a:t>
                      </a:r>
                    </a:p>
                  </a:txBody>
                  <a:tcPr marL="95250" marR="95250" marT="95250" marB="95250" anchor="ctr"/>
                </a:tc>
                <a:tc>
                  <a:txBody>
                    <a:bodyPr/>
                    <a:lstStyle/>
                    <a:p>
                      <a:pPr algn="l"/>
                      <a:r>
                        <a:rPr lang="ru-RU"/>
                        <a:t>Не нужно</a:t>
                      </a:r>
                    </a:p>
                  </a:txBody>
                  <a:tcPr marL="95250" marR="95250" marT="95250" marB="95250" anchor="ctr"/>
                </a:tc>
                <a:tc>
                  <a:txBody>
                    <a:bodyPr/>
                    <a:lstStyle/>
                    <a:p>
                      <a:pPr algn="l"/>
                      <a:r>
                        <a:rPr lang="ru-RU" dirty="0"/>
                        <a:t>Требуется хранить индексы отдельно</a:t>
                      </a:r>
                    </a:p>
                  </a:txBody>
                  <a:tcPr marL="95250" marR="95250" marT="95250" marB="9525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73603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642918"/>
          </a:xfrm>
        </p:spPr>
        <p:txBody>
          <a:bodyPr>
            <a:normAutofit fontScale="90000"/>
          </a:bodyPr>
          <a:lstStyle/>
          <a:p>
            <a:r>
              <a:rPr lang="ru-RU" sz="2000" dirty="0"/>
              <a:t>Результаты тестов кластеризованного и некластеризованного индексов на объем занимаемого пространства и производительность </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285720" y="1428736"/>
            <a:ext cx="6786610" cy="1729073"/>
          </a:xfrm>
          <a:prstGeom prst="rect">
            <a:avLst/>
          </a:prstGeom>
          <a:noFill/>
          <a:ln w="9525">
            <a:solidFill>
              <a:schemeClr val="bg1">
                <a:lumMod val="65000"/>
              </a:schemeClr>
            </a:solidFill>
            <a:miter lim="800000"/>
            <a:headEnd/>
            <a:tailEnd/>
          </a:ln>
          <a:effectLst/>
        </p:spPr>
      </p:pic>
      <p:sp>
        <p:nvSpPr>
          <p:cNvPr id="4" name="Номер слайда 3"/>
          <p:cNvSpPr>
            <a:spLocks noGrp="1"/>
          </p:cNvSpPr>
          <p:nvPr>
            <p:ph type="sldNum" sz="quarter" idx="12"/>
          </p:nvPr>
        </p:nvSpPr>
        <p:spPr/>
        <p:txBody>
          <a:bodyPr/>
          <a:lstStyle/>
          <a:p>
            <a:fld id="{1F87023B-4310-42C4-812D-874FAF4871B2}" type="slidenum">
              <a:rPr lang="ru-RU" smtClean="0"/>
              <a:pPr/>
              <a:t>42</a:t>
            </a:fld>
            <a:endParaRPr lang="ru-RU"/>
          </a:p>
        </p:txBody>
      </p:sp>
      <p:sp>
        <p:nvSpPr>
          <p:cNvPr id="6" name="Содержимое 2"/>
          <p:cNvSpPr txBox="1">
            <a:spLocks/>
          </p:cNvSpPr>
          <p:nvPr/>
        </p:nvSpPr>
        <p:spPr>
          <a:xfrm>
            <a:off x="285720" y="714356"/>
            <a:ext cx="8858280" cy="785818"/>
          </a:xfrm>
          <a:prstGeom prst="rect">
            <a:avLst/>
          </a:prstGeom>
        </p:spPr>
        <p:txBody>
          <a:bodyPr vert="horz" lIns="91440" tIns="45720" rIns="91440" bIns="45720" rtlCol="0">
            <a:normAutofit fontScale="47500" lnSpcReduction="20000"/>
          </a:bodyPr>
          <a:lstStyle/>
          <a:p>
            <a:pPr lvl="0">
              <a:spcBef>
                <a:spcPct val="20000"/>
              </a:spcBef>
            </a:pPr>
            <a:r>
              <a:rPr kumimoji="0" lang="ru-RU" sz="3200" b="0" i="0" u="none" strike="noStrike" kern="1200" cap="none" spc="0" normalizeH="0" baseline="0" noProof="0" dirty="0">
                <a:ln>
                  <a:noFill/>
                </a:ln>
                <a:solidFill>
                  <a:schemeClr val="tx1"/>
                </a:solidFill>
                <a:effectLst/>
                <a:uLnTx/>
                <a:uFillTx/>
                <a:latin typeface="+mn-lt"/>
                <a:ea typeface="+mn-ea"/>
                <a:cs typeface="+mn-cs"/>
              </a:rPr>
              <a:t>Созданы две таблицы </a:t>
            </a:r>
            <a:r>
              <a:rPr lang="en-US" sz="3200" dirty="0" err="1"/>
              <a:t>testtable</a:t>
            </a:r>
            <a:r>
              <a:rPr lang="ru-RU" sz="3200" dirty="0"/>
              <a:t> (одно из полей </a:t>
            </a:r>
            <a:r>
              <a:rPr lang="en-US" sz="3200" dirty="0"/>
              <a:t>column </a:t>
            </a:r>
            <a:r>
              <a:rPr lang="en-US" sz="3200" dirty="0" err="1"/>
              <a:t>int</a:t>
            </a:r>
            <a:r>
              <a:rPr lang="en-US" sz="3200" dirty="0"/>
              <a:t> PRIMARY KEY</a:t>
            </a:r>
            <a:r>
              <a:rPr lang="ru-RU" sz="3200" dirty="0"/>
              <a:t>) и </a:t>
            </a:r>
            <a:r>
              <a:rPr lang="en-US" sz="3200" dirty="0"/>
              <a:t>testtable2</a:t>
            </a:r>
            <a:r>
              <a:rPr lang="ru-RU" sz="3200" dirty="0"/>
              <a:t> (одно из полей </a:t>
            </a:r>
            <a:r>
              <a:rPr lang="en-US" sz="3200" dirty="0"/>
              <a:t>column </a:t>
            </a:r>
            <a:r>
              <a:rPr lang="en-US" sz="3200" dirty="0" err="1"/>
              <a:t>int</a:t>
            </a:r>
            <a:r>
              <a:rPr lang="en-US" sz="3200" dirty="0"/>
              <a:t> PRIMARY KEY NONCLUSTERED</a:t>
            </a:r>
            <a:r>
              <a:rPr lang="ru-RU" sz="3200" dirty="0"/>
              <a:t>)</a:t>
            </a:r>
            <a:endParaRPr lang="en-US" sz="3200" dirty="0"/>
          </a:p>
          <a:p>
            <a:pPr marL="342900" indent="-342900">
              <a:spcBef>
                <a:spcPct val="20000"/>
              </a:spcBef>
            </a:pPr>
            <a:r>
              <a:rPr lang="ru-RU" sz="3200" dirty="0"/>
              <a:t>Этап 1. Таблицы были заполнены данными (&lt; 5000000 строк). </a:t>
            </a:r>
          </a:p>
          <a:p>
            <a:pPr marL="342900" indent="-342900">
              <a:spcBef>
                <a:spcPct val="20000"/>
              </a:spcBef>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Содержимое 2"/>
          <p:cNvSpPr txBox="1">
            <a:spLocks/>
          </p:cNvSpPr>
          <p:nvPr/>
        </p:nvSpPr>
        <p:spPr>
          <a:xfrm>
            <a:off x="285720" y="3214686"/>
            <a:ext cx="8229600" cy="285752"/>
          </a:xfrm>
          <a:prstGeom prst="rect">
            <a:avLst/>
          </a:prstGeom>
        </p:spPr>
        <p:txBody>
          <a:bodyPr vert="horz" lIns="91440" tIns="45720" rIns="91440" bIns="45720" rtlCol="0">
            <a:normAutofit fontScale="47500" lnSpcReduction="20000"/>
          </a:bodyPr>
          <a:lstStyle/>
          <a:p>
            <a:pPr marL="342900" indent="-342900">
              <a:spcBef>
                <a:spcPct val="20000"/>
              </a:spcBef>
            </a:pPr>
            <a:r>
              <a:rPr lang="ru-RU" sz="3200" dirty="0"/>
              <a:t>Этап </a:t>
            </a:r>
            <a:r>
              <a:rPr lang="en-US" sz="3200" dirty="0"/>
              <a:t>2</a:t>
            </a:r>
            <a:r>
              <a:rPr lang="ru-RU" sz="3200" dirty="0"/>
              <a:t>.</a:t>
            </a:r>
            <a:r>
              <a:rPr lang="en-US" sz="3200" dirty="0"/>
              <a:t> </a:t>
            </a:r>
            <a:r>
              <a:rPr lang="ru-RU" sz="3200" dirty="0"/>
              <a:t>В каждую таблицу были добавлены еще 1000000 записей. </a:t>
            </a:r>
          </a:p>
          <a:p>
            <a:pPr marL="342900" indent="-342900">
              <a:spcBef>
                <a:spcPct val="20000"/>
              </a:spcBef>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051" name="Picture 3"/>
          <p:cNvPicPr>
            <a:picLocks noChangeAspect="1" noChangeArrowheads="1"/>
          </p:cNvPicPr>
          <p:nvPr/>
        </p:nvPicPr>
        <p:blipFill>
          <a:blip r:embed="rId3" cstate="print"/>
          <a:srcRect/>
          <a:stretch>
            <a:fillRect/>
          </a:stretch>
        </p:blipFill>
        <p:spPr bwMode="auto">
          <a:xfrm>
            <a:off x="285720" y="3500438"/>
            <a:ext cx="7496175" cy="1809750"/>
          </a:xfrm>
          <a:prstGeom prst="rect">
            <a:avLst/>
          </a:prstGeom>
          <a:noFill/>
          <a:ln w="9525">
            <a:solidFill>
              <a:schemeClr val="bg1">
                <a:lumMod val="65000"/>
              </a:schemeClr>
            </a:solidFill>
            <a:miter lim="800000"/>
            <a:headEnd/>
            <a:tailEnd/>
          </a:ln>
          <a:effectLst/>
        </p:spPr>
      </p:pic>
      <p:pic>
        <p:nvPicPr>
          <p:cNvPr id="2053" name="Picture 5"/>
          <p:cNvPicPr>
            <a:picLocks noChangeAspect="1" noChangeArrowheads="1"/>
          </p:cNvPicPr>
          <p:nvPr/>
        </p:nvPicPr>
        <p:blipFill>
          <a:blip r:embed="rId4" cstate="print"/>
          <a:srcRect/>
          <a:stretch>
            <a:fillRect/>
          </a:stretch>
        </p:blipFill>
        <p:spPr bwMode="auto">
          <a:xfrm>
            <a:off x="285720" y="5357826"/>
            <a:ext cx="7534275" cy="1295400"/>
          </a:xfrm>
          <a:prstGeom prst="rect">
            <a:avLst/>
          </a:prstGeom>
          <a:noFill/>
          <a:ln w="9525">
            <a:solidFill>
              <a:schemeClr val="bg1">
                <a:lumMod val="65000"/>
              </a:schemeClr>
            </a:solidFill>
            <a:miter lim="800000"/>
            <a:headEnd/>
            <a:tailEnd/>
          </a:ln>
          <a:effectLst/>
        </p:spPr>
      </p:pic>
    </p:spTree>
    <p:extLst>
      <p:ext uri="{BB962C8B-B14F-4D97-AF65-F5344CB8AC3E}">
        <p14:creationId xmlns:p14="http://schemas.microsoft.com/office/powerpoint/2010/main" val="4294528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642918"/>
          </a:xfrm>
        </p:spPr>
        <p:txBody>
          <a:bodyPr>
            <a:normAutofit fontScale="90000"/>
          </a:bodyPr>
          <a:lstStyle/>
          <a:p>
            <a:r>
              <a:rPr lang="ru-RU" sz="2000" dirty="0"/>
              <a:t>Результаты тестов кластеризованного и некластеризованного индексов на объем занимаемого пространства и производительность </a:t>
            </a:r>
          </a:p>
        </p:txBody>
      </p:sp>
      <p:sp>
        <p:nvSpPr>
          <p:cNvPr id="4" name="Номер слайда 3"/>
          <p:cNvSpPr>
            <a:spLocks noGrp="1"/>
          </p:cNvSpPr>
          <p:nvPr>
            <p:ph type="sldNum" sz="quarter" idx="12"/>
          </p:nvPr>
        </p:nvSpPr>
        <p:spPr/>
        <p:txBody>
          <a:bodyPr/>
          <a:lstStyle/>
          <a:p>
            <a:fld id="{1F87023B-4310-42C4-812D-874FAF4871B2}" type="slidenum">
              <a:rPr lang="ru-RU" smtClean="0"/>
              <a:pPr/>
              <a:t>43</a:t>
            </a:fld>
            <a:endParaRPr lang="ru-RU"/>
          </a:p>
        </p:txBody>
      </p:sp>
      <p:sp>
        <p:nvSpPr>
          <p:cNvPr id="7" name="Содержимое 2"/>
          <p:cNvSpPr txBox="1">
            <a:spLocks/>
          </p:cNvSpPr>
          <p:nvPr/>
        </p:nvSpPr>
        <p:spPr>
          <a:xfrm>
            <a:off x="285720" y="1357298"/>
            <a:ext cx="8229600" cy="285752"/>
          </a:xfrm>
          <a:prstGeom prst="rect">
            <a:avLst/>
          </a:prstGeom>
        </p:spPr>
        <p:txBody>
          <a:bodyPr vert="horz" lIns="91440" tIns="45720" rIns="91440" bIns="45720" rtlCol="0">
            <a:normAutofit fontScale="47500" lnSpcReduction="20000"/>
          </a:bodyPr>
          <a:lstStyle/>
          <a:p>
            <a:pPr marL="342900" indent="-342900">
              <a:spcBef>
                <a:spcPct val="20000"/>
              </a:spcBef>
            </a:pPr>
            <a:r>
              <a:rPr lang="ru-RU" sz="3200" dirty="0"/>
              <a:t>Этап 3.</a:t>
            </a:r>
            <a:r>
              <a:rPr lang="en-US" sz="3200" dirty="0"/>
              <a:t> </a:t>
            </a:r>
            <a:r>
              <a:rPr lang="ru-RU" sz="3200" dirty="0"/>
              <a:t>Из таблиц удалили 1000000 записей, затем  добавили столько же записей. </a:t>
            </a:r>
          </a:p>
          <a:p>
            <a:pPr marL="342900" indent="-342900">
              <a:spcBef>
                <a:spcPct val="20000"/>
              </a:spcBef>
            </a:pPr>
            <a:endParaRPr kumimoji="0" lang="ru-RU"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3074" name="Picture 2"/>
          <p:cNvPicPr>
            <a:picLocks noChangeAspect="1" noChangeArrowheads="1"/>
          </p:cNvPicPr>
          <p:nvPr/>
        </p:nvPicPr>
        <p:blipFill>
          <a:blip r:embed="rId2" cstate="print"/>
          <a:srcRect/>
          <a:stretch>
            <a:fillRect/>
          </a:stretch>
        </p:blipFill>
        <p:spPr bwMode="auto">
          <a:xfrm>
            <a:off x="285720" y="1857364"/>
            <a:ext cx="7734300" cy="1809750"/>
          </a:xfrm>
          <a:prstGeom prst="rect">
            <a:avLst/>
          </a:prstGeom>
          <a:noFill/>
          <a:ln w="9525">
            <a:solidFill>
              <a:schemeClr val="bg1">
                <a:lumMod val="65000"/>
              </a:schemeClr>
            </a:solidFill>
            <a:miter lim="800000"/>
            <a:headEnd/>
            <a:tailEnd/>
          </a:ln>
          <a:effectLst/>
        </p:spPr>
      </p:pic>
      <p:pic>
        <p:nvPicPr>
          <p:cNvPr id="3076" name="Picture 4"/>
          <p:cNvPicPr>
            <a:picLocks noChangeAspect="1" noChangeArrowheads="1"/>
          </p:cNvPicPr>
          <p:nvPr/>
        </p:nvPicPr>
        <p:blipFill>
          <a:blip r:embed="rId3" cstate="print"/>
          <a:srcRect/>
          <a:stretch>
            <a:fillRect/>
          </a:stretch>
        </p:blipFill>
        <p:spPr bwMode="auto">
          <a:xfrm>
            <a:off x="285720" y="3857628"/>
            <a:ext cx="7277100" cy="1257300"/>
          </a:xfrm>
          <a:prstGeom prst="rect">
            <a:avLst/>
          </a:prstGeom>
          <a:noFill/>
          <a:ln w="9525">
            <a:solidFill>
              <a:schemeClr val="bg1">
                <a:lumMod val="65000"/>
              </a:schemeClr>
            </a:solidFill>
            <a:miter lim="800000"/>
            <a:headEnd/>
            <a:tailEnd/>
          </a:ln>
          <a:effectLst/>
        </p:spPr>
      </p:pic>
    </p:spTree>
    <p:extLst>
      <p:ext uri="{BB962C8B-B14F-4D97-AF65-F5344CB8AC3E}">
        <p14:creationId xmlns:p14="http://schemas.microsoft.com/office/powerpoint/2010/main" val="2815658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8520" y="-13575"/>
            <a:ext cx="9252520" cy="677492"/>
          </a:xfrm>
        </p:spPr>
        <p:txBody>
          <a:bodyPr>
            <a:noAutofit/>
          </a:bodyPr>
          <a:lstStyle/>
          <a:p>
            <a:r>
              <a:rPr lang="ru-RU" sz="2600" dirty="0"/>
              <a:t>Запрос -</a:t>
            </a:r>
            <a:r>
              <a:rPr lang="en-US" sz="2600" dirty="0"/>
              <a:t>&gt; </a:t>
            </a:r>
            <a:r>
              <a:rPr lang="ru-RU" sz="2600" dirty="0"/>
              <a:t>Оптимизатор запросов -</a:t>
            </a:r>
            <a:r>
              <a:rPr lang="en-US" sz="2600" dirty="0"/>
              <a:t>&gt; </a:t>
            </a:r>
            <a:r>
              <a:rPr lang="ru-RU" sz="2600" dirty="0"/>
              <a:t>План выполнения запроса</a:t>
            </a:r>
          </a:p>
        </p:txBody>
      </p:sp>
      <p:sp>
        <p:nvSpPr>
          <p:cNvPr id="3" name="Объект 2"/>
          <p:cNvSpPr>
            <a:spLocks noGrp="1"/>
          </p:cNvSpPr>
          <p:nvPr>
            <p:ph idx="1"/>
          </p:nvPr>
        </p:nvSpPr>
        <p:spPr>
          <a:xfrm>
            <a:off x="251520" y="836712"/>
            <a:ext cx="7776864" cy="1008112"/>
          </a:xfrm>
        </p:spPr>
        <p:txBody>
          <a:bodyPr>
            <a:normAutofit fontScale="55000" lnSpcReduction="20000"/>
          </a:bodyPr>
          <a:lstStyle/>
          <a:p>
            <a:pPr marL="0" indent="0">
              <a:buNone/>
            </a:pPr>
            <a:r>
              <a:rPr lang="ru-RU" dirty="0"/>
              <a:t>Чтобы проанализировать производительность запроса и улучшить ее, необходимо сразу несколько инструментов: оптимизатор запросов, планы выполнения и хранилище запросов.</a:t>
            </a:r>
            <a:br>
              <a:rPr lang="ru-RU" dirty="0"/>
            </a:br>
            <a:endParaRPr lang="ru-RU" dirty="0"/>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44</a:t>
            </a:fld>
            <a:endParaRPr lang="ru-RU" dirty="0"/>
          </a:p>
        </p:txBody>
      </p:sp>
      <p:pic>
        <p:nvPicPr>
          <p:cNvPr id="5" name="Рисунок 4"/>
          <p:cNvPicPr>
            <a:picLocks noChangeAspect="1"/>
          </p:cNvPicPr>
          <p:nvPr/>
        </p:nvPicPr>
        <p:blipFill>
          <a:blip r:embed="rId2"/>
          <a:stretch>
            <a:fillRect/>
          </a:stretch>
        </p:blipFill>
        <p:spPr>
          <a:xfrm>
            <a:off x="305592" y="1552127"/>
            <a:ext cx="3888432" cy="2482655"/>
          </a:xfrm>
          <a:prstGeom prst="rect">
            <a:avLst/>
          </a:prstGeom>
        </p:spPr>
      </p:pic>
      <p:sp>
        <p:nvSpPr>
          <p:cNvPr id="6" name="TextBox 5"/>
          <p:cNvSpPr txBox="1"/>
          <p:nvPr/>
        </p:nvSpPr>
        <p:spPr>
          <a:xfrm>
            <a:off x="218739" y="4365104"/>
            <a:ext cx="8373267" cy="2308324"/>
          </a:xfrm>
          <a:prstGeom prst="rect">
            <a:avLst/>
          </a:prstGeom>
          <a:noFill/>
        </p:spPr>
        <p:txBody>
          <a:bodyPr wrap="square" rtlCol="0">
            <a:spAutoFit/>
          </a:bodyPr>
          <a:lstStyle/>
          <a:p>
            <a:r>
              <a:rPr lang="ru-RU" dirty="0"/>
              <a:t>Хранилище запросов дает представление о выборе плана выполнения и производительности. Это упрощает решение проблем с производительностью, помогая быстро находить различия в производительности, вызванные изменениями в плане выполнения. Хранилище запросов собирает данные, такие как журнал запросов, планы, статистику выполнения и статистику ожидания. </a:t>
            </a:r>
          </a:p>
          <a:p>
            <a:endParaRPr lang="ru-RU" dirty="0"/>
          </a:p>
          <a:p>
            <a:r>
              <a:rPr lang="ru-RU" dirty="0"/>
              <a:t>Инструкция создания хранилища запросов:</a:t>
            </a:r>
          </a:p>
          <a:p>
            <a:r>
              <a:rPr lang="ru-RU" dirty="0"/>
              <a:t>ALTER DATABASE </a:t>
            </a:r>
            <a:r>
              <a:rPr lang="ru-RU" dirty="0" err="1"/>
              <a:t>Название_БД</a:t>
            </a:r>
            <a:r>
              <a:rPr lang="ru-RU" dirty="0"/>
              <a:t> SET QUERY_STORE = ON;</a:t>
            </a:r>
          </a:p>
        </p:txBody>
      </p:sp>
      <p:sp>
        <p:nvSpPr>
          <p:cNvPr id="8" name="TextBox 7"/>
          <p:cNvSpPr txBox="1"/>
          <p:nvPr/>
        </p:nvSpPr>
        <p:spPr>
          <a:xfrm>
            <a:off x="4280876" y="1523661"/>
            <a:ext cx="4814664" cy="3139321"/>
          </a:xfrm>
          <a:prstGeom prst="rect">
            <a:avLst/>
          </a:prstGeom>
          <a:noFill/>
        </p:spPr>
        <p:txBody>
          <a:bodyPr wrap="square" rtlCol="0">
            <a:spAutoFit/>
          </a:bodyPr>
          <a:lstStyle/>
          <a:p>
            <a:r>
              <a:rPr lang="ru-RU" b="1" dirty="0"/>
              <a:t>Оптимизатор запросов </a:t>
            </a:r>
            <a:r>
              <a:rPr lang="ru-RU" dirty="0"/>
              <a:t>— один из наиболее важных компонентов, анализирует запрос и определяет наиболее эффективный способ доступа к необходимым данным. Входные данные для оптимизатора запросов включают запрос, схему базы данных (определение таблиц и индексов) и статистику базы данных. </a:t>
            </a:r>
          </a:p>
          <a:p>
            <a:endParaRPr lang="ru-RU" b="1" dirty="0"/>
          </a:p>
          <a:p>
            <a:r>
              <a:rPr lang="ru-RU" b="1" dirty="0"/>
              <a:t>План выполнения</a:t>
            </a:r>
            <a:r>
              <a:rPr lang="ru-RU" dirty="0"/>
              <a:t> — это результат работы оптимизатора запросов.</a:t>
            </a:r>
          </a:p>
          <a:p>
            <a:endParaRPr lang="ru-RU" dirty="0"/>
          </a:p>
        </p:txBody>
      </p:sp>
    </p:spTree>
    <p:extLst>
      <p:ext uri="{BB962C8B-B14F-4D97-AF65-F5344CB8AC3E}">
        <p14:creationId xmlns:p14="http://schemas.microsoft.com/office/powerpoint/2010/main" val="2685131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409740"/>
            <a:ext cx="8229600" cy="778098"/>
          </a:xfrm>
        </p:spPr>
        <p:txBody>
          <a:bodyPr>
            <a:normAutofit/>
          </a:bodyPr>
          <a:lstStyle/>
          <a:p>
            <a:r>
              <a:rPr lang="ru-RU" sz="3200" dirty="0"/>
              <a:t>Оптимизация БД и СУБД </a:t>
            </a:r>
          </a:p>
        </p:txBody>
      </p:sp>
      <p:sp>
        <p:nvSpPr>
          <p:cNvPr id="3" name="Объект 2"/>
          <p:cNvSpPr>
            <a:spLocks noGrp="1"/>
          </p:cNvSpPr>
          <p:nvPr>
            <p:ph idx="1"/>
          </p:nvPr>
        </p:nvSpPr>
        <p:spPr>
          <a:xfrm>
            <a:off x="504478" y="1448173"/>
            <a:ext cx="8229600" cy="2088231"/>
          </a:xfrm>
        </p:spPr>
        <p:txBody>
          <a:bodyPr>
            <a:normAutofit fontScale="85000" lnSpcReduction="10000"/>
          </a:bodyPr>
          <a:lstStyle/>
          <a:p>
            <a:pPr marL="0" indent="0">
              <a:buNone/>
            </a:pPr>
            <a:r>
              <a:rPr lang="ru-RU" dirty="0"/>
              <a:t>Основных рекомендации по оптимизации БД и СУБД:</a:t>
            </a:r>
          </a:p>
          <a:p>
            <a:pPr marL="514350" indent="-514350">
              <a:buAutoNum type="arabicParenR"/>
            </a:pPr>
            <a:r>
              <a:rPr lang="ru-RU" dirty="0"/>
              <a:t>перестройка/реорганизация индексов;</a:t>
            </a:r>
          </a:p>
          <a:p>
            <a:pPr marL="514350" indent="-514350">
              <a:buAutoNum type="arabicParenR"/>
            </a:pPr>
            <a:r>
              <a:rPr lang="ru-RU" dirty="0"/>
              <a:t>очистка процедурного кэша;</a:t>
            </a:r>
          </a:p>
          <a:p>
            <a:pPr marL="514350" indent="-514350">
              <a:buAutoNum type="arabicParenR"/>
            </a:pPr>
            <a:r>
              <a:rPr lang="ru-RU" dirty="0"/>
              <a:t>обновление статистики</a:t>
            </a:r>
            <a:r>
              <a:rPr lang="en-US" dirty="0"/>
              <a:t>.</a:t>
            </a:r>
            <a:endParaRPr lang="ru-RU" dirty="0"/>
          </a:p>
        </p:txBody>
      </p:sp>
      <p:sp>
        <p:nvSpPr>
          <p:cNvPr id="4" name="Номер слайда 3"/>
          <p:cNvSpPr>
            <a:spLocks noGrp="1"/>
          </p:cNvSpPr>
          <p:nvPr>
            <p:ph type="sldNum" sz="quarter" idx="12"/>
          </p:nvPr>
        </p:nvSpPr>
        <p:spPr>
          <a:xfrm>
            <a:off x="7000963" y="6511904"/>
            <a:ext cx="2133600" cy="365125"/>
          </a:xfrm>
        </p:spPr>
        <p:txBody>
          <a:bodyPr/>
          <a:lstStyle/>
          <a:p>
            <a:fld id="{1F87023B-4310-42C4-812D-874FAF4871B2}" type="slidenum">
              <a:rPr lang="ru-RU" smtClean="0"/>
              <a:pPr/>
              <a:t>45</a:t>
            </a:fld>
            <a:endParaRPr lang="ru-RU" dirty="0"/>
          </a:p>
        </p:txBody>
      </p:sp>
      <p:pic>
        <p:nvPicPr>
          <p:cNvPr id="5" name="Рисунок 4"/>
          <p:cNvPicPr>
            <a:picLocks noChangeAspect="1"/>
          </p:cNvPicPr>
          <p:nvPr/>
        </p:nvPicPr>
        <p:blipFill>
          <a:blip r:embed="rId2"/>
          <a:stretch>
            <a:fillRect/>
          </a:stretch>
        </p:blipFill>
        <p:spPr>
          <a:xfrm>
            <a:off x="2483768" y="4057074"/>
            <a:ext cx="4271020" cy="2494145"/>
          </a:xfrm>
          <a:prstGeom prst="rect">
            <a:avLst/>
          </a:prstGeom>
        </p:spPr>
      </p:pic>
    </p:spTree>
    <p:extLst>
      <p:ext uri="{BB962C8B-B14F-4D97-AF65-F5344CB8AC3E}">
        <p14:creationId xmlns:p14="http://schemas.microsoft.com/office/powerpoint/2010/main" val="2610569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37850"/>
            <a:ext cx="8229600" cy="418058"/>
          </a:xfrm>
        </p:spPr>
        <p:txBody>
          <a:bodyPr>
            <a:noAutofit/>
          </a:bodyPr>
          <a:lstStyle/>
          <a:p>
            <a:r>
              <a:rPr lang="ru-RU" sz="3600" dirty="0"/>
              <a:t>Статистика</a:t>
            </a:r>
          </a:p>
        </p:txBody>
      </p:sp>
      <p:sp>
        <p:nvSpPr>
          <p:cNvPr id="3" name="Номер слайда 2"/>
          <p:cNvSpPr>
            <a:spLocks noGrp="1"/>
          </p:cNvSpPr>
          <p:nvPr>
            <p:ph type="sldNum" sz="quarter" idx="12"/>
          </p:nvPr>
        </p:nvSpPr>
        <p:spPr/>
        <p:txBody>
          <a:bodyPr/>
          <a:lstStyle/>
          <a:p>
            <a:fld id="{1F87023B-4310-42C4-812D-874FAF4871B2}" type="slidenum">
              <a:rPr lang="ru-RU" smtClean="0"/>
              <a:pPr/>
              <a:t>46</a:t>
            </a:fld>
            <a:endParaRPr lang="ru-RU"/>
          </a:p>
        </p:txBody>
      </p:sp>
      <p:sp>
        <p:nvSpPr>
          <p:cNvPr id="4" name="TextBox 3"/>
          <p:cNvSpPr txBox="1"/>
          <p:nvPr/>
        </p:nvSpPr>
        <p:spPr>
          <a:xfrm>
            <a:off x="324507" y="3680032"/>
            <a:ext cx="6392391" cy="707886"/>
          </a:xfrm>
          <a:prstGeom prst="rect">
            <a:avLst/>
          </a:prstGeom>
          <a:noFill/>
        </p:spPr>
        <p:txBody>
          <a:bodyPr wrap="none" rtlCol="0">
            <a:spAutoFit/>
          </a:bodyPr>
          <a:lstStyle/>
          <a:p>
            <a:r>
              <a:rPr lang="ru-RU" sz="2000" dirty="0"/>
              <a:t>Системная процедура для обновления статистики: </a:t>
            </a:r>
          </a:p>
          <a:p>
            <a:r>
              <a:rPr lang="ru-RU" sz="2000" dirty="0"/>
              <a:t>					</a:t>
            </a:r>
            <a:r>
              <a:rPr lang="en-US" sz="2000" dirty="0" err="1"/>
              <a:t>sp_updatestats</a:t>
            </a:r>
            <a:endParaRPr lang="ru-RU" sz="2000" dirty="0"/>
          </a:p>
        </p:txBody>
      </p:sp>
      <p:sp>
        <p:nvSpPr>
          <p:cNvPr id="6" name="TextBox 5"/>
          <p:cNvSpPr txBox="1"/>
          <p:nvPr/>
        </p:nvSpPr>
        <p:spPr>
          <a:xfrm>
            <a:off x="324507" y="4851039"/>
            <a:ext cx="8424936" cy="1015663"/>
          </a:xfrm>
          <a:prstGeom prst="rect">
            <a:avLst/>
          </a:prstGeom>
          <a:noFill/>
        </p:spPr>
        <p:txBody>
          <a:bodyPr wrap="square" rtlCol="0">
            <a:spAutoFit/>
          </a:bodyPr>
          <a:lstStyle/>
          <a:p>
            <a:r>
              <a:rPr lang="ru-RU" sz="2000" dirty="0"/>
              <a:t>Команда обновления статистики для определенной таблицы: </a:t>
            </a:r>
          </a:p>
          <a:p>
            <a:r>
              <a:rPr lang="ru-RU" sz="2000" dirty="0"/>
              <a:t>				UPDATE STATISTICS </a:t>
            </a:r>
            <a:r>
              <a:rPr lang="ru-RU" sz="2000" dirty="0" err="1"/>
              <a:t>название_таблицы</a:t>
            </a:r>
            <a:endParaRPr lang="ru-RU" sz="2000" dirty="0"/>
          </a:p>
          <a:p>
            <a:endParaRPr lang="ru-RU" sz="2000" dirty="0"/>
          </a:p>
        </p:txBody>
      </p:sp>
      <p:sp>
        <p:nvSpPr>
          <p:cNvPr id="5" name="TextBox 4"/>
          <p:cNvSpPr txBox="1"/>
          <p:nvPr/>
        </p:nvSpPr>
        <p:spPr>
          <a:xfrm>
            <a:off x="367812" y="1141492"/>
            <a:ext cx="8318988" cy="1015663"/>
          </a:xfrm>
          <a:prstGeom prst="rect">
            <a:avLst/>
          </a:prstGeom>
          <a:noFill/>
        </p:spPr>
        <p:txBody>
          <a:bodyPr wrap="square" rtlCol="0">
            <a:spAutoFit/>
          </a:bodyPr>
          <a:lstStyle/>
          <a:p>
            <a:r>
              <a:rPr lang="ru-RU" sz="2000" b="1" dirty="0"/>
              <a:t>Статистика</a:t>
            </a:r>
            <a:r>
              <a:rPr lang="ru-RU" sz="2000" dirty="0"/>
              <a:t> – это статистические сведения о распределении значений в одном или нескольких столбцах таблицы или индексированного представления.</a:t>
            </a:r>
          </a:p>
        </p:txBody>
      </p:sp>
      <p:sp>
        <p:nvSpPr>
          <p:cNvPr id="7" name="TextBox 6"/>
          <p:cNvSpPr txBox="1"/>
          <p:nvPr/>
        </p:nvSpPr>
        <p:spPr>
          <a:xfrm>
            <a:off x="346661" y="2420888"/>
            <a:ext cx="8668684" cy="677108"/>
          </a:xfrm>
          <a:prstGeom prst="rect">
            <a:avLst/>
          </a:prstGeom>
          <a:noFill/>
        </p:spPr>
        <p:txBody>
          <a:bodyPr wrap="square" rtlCol="0">
            <a:spAutoFit/>
          </a:bodyPr>
          <a:lstStyle/>
          <a:p>
            <a:r>
              <a:rPr lang="ru-RU" sz="2000" dirty="0"/>
              <a:t>Команда для просмотра информации о статистике: </a:t>
            </a:r>
          </a:p>
          <a:p>
            <a:r>
              <a:rPr lang="ru-RU" dirty="0"/>
              <a:t>DBCC SHOW_STATISTICS </a:t>
            </a:r>
            <a:r>
              <a:rPr lang="en-US" dirty="0"/>
              <a:t>(' </a:t>
            </a:r>
            <a:r>
              <a:rPr lang="ru-RU" dirty="0"/>
              <a:t>название таблицы</a:t>
            </a:r>
            <a:r>
              <a:rPr lang="en-US" dirty="0"/>
              <a:t>'</a:t>
            </a:r>
            <a:r>
              <a:rPr lang="ru-RU" dirty="0"/>
              <a:t>, </a:t>
            </a:r>
            <a:r>
              <a:rPr lang="en-US" dirty="0"/>
              <a:t>'</a:t>
            </a:r>
            <a:r>
              <a:rPr lang="ru-RU" dirty="0"/>
              <a:t>имя индекса, статистики или столбца</a:t>
            </a:r>
            <a:r>
              <a:rPr lang="en-US" dirty="0"/>
              <a:t> ')</a:t>
            </a:r>
            <a:endParaRPr lang="ru-RU" dirty="0"/>
          </a:p>
        </p:txBody>
      </p:sp>
    </p:spTree>
    <p:extLst>
      <p:ext uri="{BB962C8B-B14F-4D97-AF65-F5344CB8AC3E}">
        <p14:creationId xmlns:p14="http://schemas.microsoft.com/office/powerpoint/2010/main" val="949552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7693" y="57013"/>
            <a:ext cx="8229600" cy="569406"/>
          </a:xfrm>
        </p:spPr>
        <p:txBody>
          <a:bodyPr>
            <a:normAutofit fontScale="90000"/>
          </a:bodyPr>
          <a:lstStyle/>
          <a:p>
            <a:r>
              <a:rPr lang="ru-RU" sz="3200" dirty="0"/>
              <a:t>Перестройка индекса/реорганизация индекса</a:t>
            </a:r>
          </a:p>
        </p:txBody>
      </p:sp>
      <p:sp>
        <p:nvSpPr>
          <p:cNvPr id="3" name="Номер слайда 2"/>
          <p:cNvSpPr>
            <a:spLocks noGrp="1"/>
          </p:cNvSpPr>
          <p:nvPr>
            <p:ph type="sldNum" sz="quarter" idx="12"/>
          </p:nvPr>
        </p:nvSpPr>
        <p:spPr>
          <a:xfrm>
            <a:off x="7092280" y="6551526"/>
            <a:ext cx="2133600" cy="365125"/>
          </a:xfrm>
        </p:spPr>
        <p:txBody>
          <a:bodyPr/>
          <a:lstStyle/>
          <a:p>
            <a:fld id="{1F87023B-4310-42C4-812D-874FAF4871B2}" type="slidenum">
              <a:rPr lang="ru-RU" smtClean="0"/>
              <a:pPr/>
              <a:t>47</a:t>
            </a:fld>
            <a:endParaRPr lang="ru-RU" dirty="0"/>
          </a:p>
        </p:txBody>
      </p:sp>
      <p:sp>
        <p:nvSpPr>
          <p:cNvPr id="5" name="TextBox 4"/>
          <p:cNvSpPr txBox="1"/>
          <p:nvPr/>
        </p:nvSpPr>
        <p:spPr>
          <a:xfrm>
            <a:off x="116009" y="739854"/>
            <a:ext cx="6326925" cy="646331"/>
          </a:xfrm>
          <a:prstGeom prst="rect">
            <a:avLst/>
          </a:prstGeom>
          <a:noFill/>
        </p:spPr>
        <p:txBody>
          <a:bodyPr wrap="none" rtlCol="0">
            <a:spAutoFit/>
          </a:bodyPr>
          <a:lstStyle/>
          <a:p>
            <a:r>
              <a:rPr lang="ru-RU" dirty="0"/>
              <a:t>Команды в SQL </a:t>
            </a:r>
            <a:r>
              <a:rPr lang="ru-RU" dirty="0" err="1"/>
              <a:t>Server</a:t>
            </a:r>
            <a:r>
              <a:rPr lang="ru-RU" dirty="0"/>
              <a:t> для борьбы с фрагментацией индексов:</a:t>
            </a:r>
          </a:p>
          <a:p>
            <a:r>
              <a:rPr lang="ru-RU" dirty="0"/>
              <a:t> </a:t>
            </a:r>
            <a:r>
              <a:rPr lang="ru-RU" b="1" dirty="0"/>
              <a:t>ALTER INDEX REBUILD / REORGANIZE</a:t>
            </a:r>
            <a:endParaRPr lang="ru-RU" dirty="0"/>
          </a:p>
        </p:txBody>
      </p:sp>
      <p:sp>
        <p:nvSpPr>
          <p:cNvPr id="6" name="TextBox 5"/>
          <p:cNvSpPr txBox="1"/>
          <p:nvPr/>
        </p:nvSpPr>
        <p:spPr>
          <a:xfrm>
            <a:off x="116009" y="1563066"/>
            <a:ext cx="8238136" cy="2308324"/>
          </a:xfrm>
          <a:prstGeom prst="rect">
            <a:avLst/>
          </a:prstGeom>
          <a:noFill/>
        </p:spPr>
        <p:txBody>
          <a:bodyPr wrap="square" rtlCol="0">
            <a:spAutoFit/>
          </a:bodyPr>
          <a:lstStyle/>
          <a:p>
            <a:r>
              <a:rPr lang="ru-RU" dirty="0"/>
              <a:t>Рекомендуется:</a:t>
            </a:r>
          </a:p>
          <a:p>
            <a:pPr marL="342900" lvl="0" indent="-342900">
              <a:buFont typeface="+mj-lt"/>
              <a:buAutoNum type="arabicParenR"/>
            </a:pPr>
            <a:r>
              <a:rPr lang="ru-RU" dirty="0"/>
              <a:t>Если степень фрагментации менее 5%, тогда не нужно перестраивать или реорганизовывать индекс;</a:t>
            </a:r>
          </a:p>
          <a:p>
            <a:pPr marL="342900" lvl="0" indent="-342900">
              <a:buFont typeface="+mj-lt"/>
              <a:buAutoNum type="arabicParenR"/>
            </a:pPr>
            <a:r>
              <a:rPr lang="ru-RU" dirty="0"/>
              <a:t>Если степень фрагментации от 5 до 30%, лучше выполнять реорганизацию индекса;</a:t>
            </a:r>
          </a:p>
          <a:p>
            <a:pPr marL="342900" lvl="0" indent="-342900">
              <a:buFont typeface="+mj-lt"/>
              <a:buAutoNum type="arabicParenR"/>
            </a:pPr>
            <a:r>
              <a:rPr lang="ru-RU" dirty="0"/>
              <a:t>Если степень фрагментации более 30%, лучше выполнять перестроение индекса.</a:t>
            </a:r>
          </a:p>
          <a:p>
            <a:endParaRPr lang="ru-RU" dirty="0"/>
          </a:p>
        </p:txBody>
      </p:sp>
      <p:sp>
        <p:nvSpPr>
          <p:cNvPr id="7" name="TextBox 6"/>
          <p:cNvSpPr txBox="1"/>
          <p:nvPr/>
        </p:nvSpPr>
        <p:spPr>
          <a:xfrm>
            <a:off x="116009" y="3735125"/>
            <a:ext cx="8712968" cy="646331"/>
          </a:xfrm>
          <a:prstGeom prst="rect">
            <a:avLst/>
          </a:prstGeom>
          <a:noFill/>
        </p:spPr>
        <p:txBody>
          <a:bodyPr wrap="square" rtlCol="0">
            <a:spAutoFit/>
          </a:bodyPr>
          <a:lstStyle/>
          <a:p>
            <a:r>
              <a:rPr lang="ru-RU" b="1" dirty="0"/>
              <a:t>Отображение сведений о фрагментации таблицы: </a:t>
            </a:r>
          </a:p>
          <a:p>
            <a:r>
              <a:rPr lang="en-US" dirty="0"/>
              <a:t>DBCC SHOWCONTIG ('</a:t>
            </a:r>
            <a:r>
              <a:rPr lang="ru-RU" dirty="0"/>
              <a:t>название таблицы</a:t>
            </a:r>
            <a:r>
              <a:rPr lang="en-US" dirty="0"/>
              <a:t>'); </a:t>
            </a:r>
            <a:endParaRPr lang="ru-RU" dirty="0"/>
          </a:p>
        </p:txBody>
      </p:sp>
      <p:pic>
        <p:nvPicPr>
          <p:cNvPr id="8" name="Рисунок 7"/>
          <p:cNvPicPr>
            <a:picLocks noChangeAspect="1"/>
          </p:cNvPicPr>
          <p:nvPr/>
        </p:nvPicPr>
        <p:blipFill rotWithShape="1">
          <a:blip r:embed="rId3"/>
          <a:srcRect r="4283" b="1869"/>
          <a:stretch/>
        </p:blipFill>
        <p:spPr>
          <a:xfrm>
            <a:off x="4794506" y="4457080"/>
            <a:ext cx="4142558" cy="2189710"/>
          </a:xfrm>
          <a:prstGeom prst="rect">
            <a:avLst/>
          </a:prstGeom>
        </p:spPr>
      </p:pic>
      <p:sp>
        <p:nvSpPr>
          <p:cNvPr id="9" name="TextBox 8"/>
          <p:cNvSpPr txBox="1"/>
          <p:nvPr/>
        </p:nvSpPr>
        <p:spPr>
          <a:xfrm>
            <a:off x="116009" y="4608327"/>
            <a:ext cx="4922456" cy="2308324"/>
          </a:xfrm>
          <a:prstGeom prst="rect">
            <a:avLst/>
          </a:prstGeom>
          <a:noFill/>
        </p:spPr>
        <p:txBody>
          <a:bodyPr wrap="square" rtlCol="0">
            <a:spAutoFit/>
          </a:bodyPr>
          <a:lstStyle/>
          <a:p>
            <a:r>
              <a:rPr lang="ru-RU" dirty="0"/>
              <a:t>Можно также посмотреть отчет о физическом состоянии индексов базы данных для этого </a:t>
            </a:r>
            <a:r>
              <a:rPr lang="en-US" dirty="0" err="1"/>
              <a:t>правой</a:t>
            </a:r>
            <a:r>
              <a:rPr lang="en-US" dirty="0"/>
              <a:t> </a:t>
            </a:r>
            <a:r>
              <a:rPr lang="en-US" dirty="0" err="1"/>
              <a:t>кнопкой</a:t>
            </a:r>
            <a:r>
              <a:rPr lang="en-US" dirty="0"/>
              <a:t> </a:t>
            </a:r>
            <a:r>
              <a:rPr lang="ru-RU" dirty="0"/>
              <a:t>кликаем </a:t>
            </a:r>
            <a:r>
              <a:rPr lang="en-US" dirty="0" err="1"/>
              <a:t>по</a:t>
            </a:r>
            <a:r>
              <a:rPr lang="en-US" dirty="0"/>
              <a:t> </a:t>
            </a:r>
            <a:r>
              <a:rPr lang="ru-RU" dirty="0"/>
              <a:t>БД</a:t>
            </a:r>
            <a:r>
              <a:rPr lang="en-US" dirty="0"/>
              <a:t>–&gt; Reports –&gt; Standard Reports –&gt; Index Physical Statistics</a:t>
            </a:r>
            <a:endParaRPr lang="ru-RU" dirty="0"/>
          </a:p>
          <a:p>
            <a:r>
              <a:rPr lang="ru-RU" dirty="0"/>
              <a:t>Отчет будет содержать информацию о состоянии индексов с рекомендациями </a:t>
            </a:r>
            <a:r>
              <a:rPr lang="ru-RU" dirty="0" err="1"/>
              <a:t>Microsoft</a:t>
            </a:r>
            <a:r>
              <a:rPr lang="ru-RU" dirty="0"/>
              <a:t> относительно их обслуживания</a:t>
            </a:r>
          </a:p>
          <a:p>
            <a:endParaRPr lang="ru-RU" dirty="0"/>
          </a:p>
        </p:txBody>
      </p:sp>
    </p:spTree>
    <p:extLst>
      <p:ext uri="{BB962C8B-B14F-4D97-AF65-F5344CB8AC3E}">
        <p14:creationId xmlns:p14="http://schemas.microsoft.com/office/powerpoint/2010/main" val="21744392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8941" y="116632"/>
            <a:ext cx="8229600" cy="562074"/>
          </a:xfrm>
        </p:spPr>
        <p:txBody>
          <a:bodyPr>
            <a:normAutofit/>
          </a:bodyPr>
          <a:lstStyle/>
          <a:p>
            <a:r>
              <a:rPr lang="ru-RU" dirty="0"/>
              <a:t>Очистка кэш плана</a:t>
            </a:r>
          </a:p>
        </p:txBody>
      </p:sp>
      <p:sp>
        <p:nvSpPr>
          <p:cNvPr id="4" name="Номер слайда 3"/>
          <p:cNvSpPr>
            <a:spLocks noGrp="1"/>
          </p:cNvSpPr>
          <p:nvPr>
            <p:ph type="sldNum" sz="quarter" idx="12"/>
          </p:nvPr>
        </p:nvSpPr>
        <p:spPr/>
        <p:txBody>
          <a:bodyPr/>
          <a:lstStyle/>
          <a:p>
            <a:fld id="{1F87023B-4310-42C4-812D-874FAF4871B2}" type="slidenum">
              <a:rPr lang="ru-RU" smtClean="0"/>
              <a:pPr/>
              <a:t>48</a:t>
            </a:fld>
            <a:endParaRPr lang="ru-RU"/>
          </a:p>
        </p:txBody>
      </p:sp>
      <p:sp>
        <p:nvSpPr>
          <p:cNvPr id="5" name="TextBox 4"/>
          <p:cNvSpPr txBox="1"/>
          <p:nvPr/>
        </p:nvSpPr>
        <p:spPr>
          <a:xfrm>
            <a:off x="395536" y="1124744"/>
            <a:ext cx="6923114" cy="2862322"/>
          </a:xfrm>
          <a:prstGeom prst="rect">
            <a:avLst/>
          </a:prstGeom>
          <a:noFill/>
        </p:spPr>
        <p:txBody>
          <a:bodyPr wrap="none" rtlCol="0">
            <a:spAutoFit/>
          </a:bodyPr>
          <a:lstStyle/>
          <a:p>
            <a:r>
              <a:rPr lang="ru-RU" dirty="0"/>
              <a:t>Синтаксис для </a:t>
            </a:r>
            <a:r>
              <a:rPr lang="en-US" dirty="0"/>
              <a:t>SQL Server</a:t>
            </a:r>
            <a:r>
              <a:rPr lang="ru-RU" dirty="0"/>
              <a:t>: </a:t>
            </a:r>
          </a:p>
          <a:p>
            <a:r>
              <a:rPr lang="en-US" dirty="0"/>
              <a:t>DBCC FREEPROCCACHE</a:t>
            </a:r>
            <a:endParaRPr lang="ru-RU" dirty="0"/>
          </a:p>
          <a:p>
            <a:endParaRPr lang="ru-RU" dirty="0"/>
          </a:p>
          <a:p>
            <a:r>
              <a:rPr lang="ru-RU" dirty="0"/>
              <a:t>Подавление вывода всех регулярных информационных сообщений:</a:t>
            </a:r>
          </a:p>
          <a:p>
            <a:r>
              <a:rPr lang="ru-RU" dirty="0"/>
              <a:t> </a:t>
            </a:r>
            <a:r>
              <a:rPr lang="en-US" dirty="0"/>
              <a:t>DBCC FREEPROCCACHE</a:t>
            </a:r>
            <a:r>
              <a:rPr lang="ru-RU" dirty="0"/>
              <a:t> WITH NO_INFOMSGS</a:t>
            </a:r>
          </a:p>
          <a:p>
            <a:endParaRPr lang="ru-RU" dirty="0"/>
          </a:p>
          <a:p>
            <a:r>
              <a:rPr lang="ru-RU" dirty="0"/>
              <a:t>Очистка кэш плана для текущей базы данных:</a:t>
            </a:r>
          </a:p>
          <a:p>
            <a:r>
              <a:rPr lang="en-US" dirty="0"/>
              <a:t>USE </a:t>
            </a:r>
            <a:r>
              <a:rPr lang="ru-RU" dirty="0" err="1"/>
              <a:t>Имя_БД</a:t>
            </a:r>
            <a:r>
              <a:rPr lang="en-US" dirty="0"/>
              <a:t>;</a:t>
            </a:r>
            <a:endParaRPr lang="ru-RU" dirty="0"/>
          </a:p>
          <a:p>
            <a:r>
              <a:rPr lang="en-US" dirty="0"/>
              <a:t>GO</a:t>
            </a:r>
            <a:endParaRPr lang="ru-RU" dirty="0"/>
          </a:p>
          <a:p>
            <a:r>
              <a:rPr lang="en-US" dirty="0"/>
              <a:t>ALTER DATABASE SCOPED CONFIGURATION CLEAR PROCEDURE_CACHE; </a:t>
            </a:r>
            <a:endParaRPr lang="ru-RU" dirty="0"/>
          </a:p>
        </p:txBody>
      </p:sp>
      <p:sp>
        <p:nvSpPr>
          <p:cNvPr id="8" name="TextBox 7"/>
          <p:cNvSpPr txBox="1"/>
          <p:nvPr/>
        </p:nvSpPr>
        <p:spPr>
          <a:xfrm>
            <a:off x="107504" y="6538912"/>
            <a:ext cx="4157100" cy="307777"/>
          </a:xfrm>
          <a:prstGeom prst="rect">
            <a:avLst/>
          </a:prstGeom>
          <a:noFill/>
        </p:spPr>
        <p:txBody>
          <a:bodyPr wrap="none" rtlCol="0">
            <a:spAutoFit/>
          </a:bodyPr>
          <a:lstStyle/>
          <a:p>
            <a:r>
              <a:rPr lang="ru-RU" sz="1400" dirty="0"/>
              <a:t>Подробнее в технической документации </a:t>
            </a:r>
            <a:r>
              <a:rPr lang="en-US" sz="1400" dirty="0"/>
              <a:t>Microsoft</a:t>
            </a:r>
            <a:endParaRPr lang="ru-RU" sz="1400" dirty="0"/>
          </a:p>
        </p:txBody>
      </p:sp>
    </p:spTree>
    <p:extLst>
      <p:ext uri="{BB962C8B-B14F-4D97-AF65-F5344CB8AC3E}">
        <p14:creationId xmlns:p14="http://schemas.microsoft.com/office/powerpoint/2010/main" val="14423878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88640"/>
            <a:ext cx="8229600" cy="724942"/>
          </a:xfrm>
        </p:spPr>
        <p:txBody>
          <a:bodyPr/>
          <a:lstStyle/>
          <a:p>
            <a:r>
              <a:rPr lang="ru-RU" dirty="0"/>
              <a:t>Оптимизация структуры таблиц</a:t>
            </a:r>
          </a:p>
        </p:txBody>
      </p:sp>
      <p:sp>
        <p:nvSpPr>
          <p:cNvPr id="4" name="Номер слайда 3"/>
          <p:cNvSpPr>
            <a:spLocks noGrp="1"/>
          </p:cNvSpPr>
          <p:nvPr>
            <p:ph type="sldNum" sz="quarter" idx="12"/>
          </p:nvPr>
        </p:nvSpPr>
        <p:spPr/>
        <p:txBody>
          <a:bodyPr/>
          <a:lstStyle/>
          <a:p>
            <a:fld id="{1F87023B-4310-42C4-812D-874FAF4871B2}" type="slidenum">
              <a:rPr lang="ru-RU" smtClean="0"/>
              <a:pPr/>
              <a:t>49</a:t>
            </a:fld>
            <a:endParaRPr lang="ru-RU"/>
          </a:p>
        </p:txBody>
      </p:sp>
      <p:sp>
        <p:nvSpPr>
          <p:cNvPr id="5" name="TextBox 4"/>
          <p:cNvSpPr txBox="1"/>
          <p:nvPr/>
        </p:nvSpPr>
        <p:spPr>
          <a:xfrm>
            <a:off x="899592" y="1268760"/>
            <a:ext cx="7787208" cy="2215991"/>
          </a:xfrm>
          <a:prstGeom prst="rect">
            <a:avLst/>
          </a:prstGeom>
          <a:noFill/>
        </p:spPr>
        <p:txBody>
          <a:bodyPr wrap="square" rtlCol="0">
            <a:spAutoFit/>
          </a:bodyPr>
          <a:lstStyle/>
          <a:p>
            <a:r>
              <a:rPr lang="ru-RU" sz="2000" dirty="0"/>
              <a:t>Рекомендации:</a:t>
            </a:r>
          </a:p>
          <a:p>
            <a:pPr marL="514350" indent="-514350">
              <a:buFont typeface="+mj-lt"/>
              <a:buAutoNum type="arabicParenR"/>
            </a:pPr>
            <a:r>
              <a:rPr lang="ru-RU" sz="2000" dirty="0"/>
              <a:t>При создании таблиц выбирать выбирайте самый маленький из допустимых типов данных.</a:t>
            </a:r>
          </a:p>
          <a:p>
            <a:pPr marL="514350" indent="-514350">
              <a:buFont typeface="+mj-lt"/>
              <a:buAutoNum type="arabicParenR"/>
            </a:pPr>
            <a:r>
              <a:rPr lang="ru-RU" sz="2000" dirty="0"/>
              <a:t>Выбирать тип данных VARCHAR или NVARCHAR, вместо TEXT.</a:t>
            </a:r>
          </a:p>
          <a:p>
            <a:pPr marL="514350" indent="-514350">
              <a:buFont typeface="+mj-lt"/>
              <a:buAutoNum type="arabicParenR"/>
            </a:pPr>
            <a:r>
              <a:rPr lang="ru-RU" sz="2000" dirty="0"/>
              <a:t>Хранить изображений в БД нежелательно, можно в таблице хранить путь к файлу (локальный путь или URL). </a:t>
            </a:r>
          </a:p>
          <a:p>
            <a:endParaRPr lang="ru-RU" dirty="0"/>
          </a:p>
        </p:txBody>
      </p:sp>
    </p:spTree>
    <p:extLst>
      <p:ext uri="{BB962C8B-B14F-4D97-AF65-F5344CB8AC3E}">
        <p14:creationId xmlns:p14="http://schemas.microsoft.com/office/powerpoint/2010/main" val="3702478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8333" y="70120"/>
            <a:ext cx="8229600" cy="418058"/>
          </a:xfrm>
        </p:spPr>
        <p:txBody>
          <a:bodyPr>
            <a:noAutofit/>
          </a:bodyPr>
          <a:lstStyle/>
          <a:p>
            <a:r>
              <a:rPr lang="ru-RU" sz="2400" dirty="0"/>
              <a:t>Оптимизация запросов. Как найти проблемные запросы? </a:t>
            </a:r>
          </a:p>
        </p:txBody>
      </p:sp>
      <p:sp>
        <p:nvSpPr>
          <p:cNvPr id="3" name="Номер слайда 2"/>
          <p:cNvSpPr>
            <a:spLocks noGrp="1"/>
          </p:cNvSpPr>
          <p:nvPr>
            <p:ph type="sldNum" sz="quarter" idx="12"/>
          </p:nvPr>
        </p:nvSpPr>
        <p:spPr>
          <a:xfrm>
            <a:off x="6981437" y="6477671"/>
            <a:ext cx="2133600" cy="365125"/>
          </a:xfrm>
        </p:spPr>
        <p:txBody>
          <a:bodyPr/>
          <a:lstStyle/>
          <a:p>
            <a:fld id="{1F87023B-4310-42C4-812D-874FAF4871B2}" type="slidenum">
              <a:rPr lang="ru-RU" smtClean="0"/>
              <a:pPr/>
              <a:t>50</a:t>
            </a:fld>
            <a:endParaRPr lang="ru-RU" dirty="0"/>
          </a:p>
        </p:txBody>
      </p:sp>
      <p:pic>
        <p:nvPicPr>
          <p:cNvPr id="4" name="Рисунок 3"/>
          <p:cNvPicPr>
            <a:picLocks noChangeAspect="1"/>
          </p:cNvPicPr>
          <p:nvPr/>
        </p:nvPicPr>
        <p:blipFill rotWithShape="1">
          <a:blip r:embed="rId2"/>
          <a:srcRect l="-1" r="36627" b="1571"/>
          <a:stretch/>
        </p:blipFill>
        <p:spPr>
          <a:xfrm>
            <a:off x="5220435" y="636232"/>
            <a:ext cx="3744416" cy="2592288"/>
          </a:xfrm>
          <a:prstGeom prst="rect">
            <a:avLst/>
          </a:prstGeom>
        </p:spPr>
      </p:pic>
      <p:pic>
        <p:nvPicPr>
          <p:cNvPr id="5" name="Рисунок 4"/>
          <p:cNvPicPr>
            <a:picLocks noChangeAspect="1"/>
          </p:cNvPicPr>
          <p:nvPr/>
        </p:nvPicPr>
        <p:blipFill rotWithShape="1">
          <a:blip r:embed="rId3"/>
          <a:srcRect l="5352" t="-10281" r="37556" b="8958"/>
          <a:stretch/>
        </p:blipFill>
        <p:spPr>
          <a:xfrm>
            <a:off x="5099017" y="3447088"/>
            <a:ext cx="4016020" cy="2736304"/>
          </a:xfrm>
          <a:prstGeom prst="rect">
            <a:avLst/>
          </a:prstGeom>
        </p:spPr>
      </p:pic>
      <p:sp>
        <p:nvSpPr>
          <p:cNvPr id="6" name="TextBox 5"/>
          <p:cNvSpPr txBox="1"/>
          <p:nvPr/>
        </p:nvSpPr>
        <p:spPr>
          <a:xfrm>
            <a:off x="248333" y="602046"/>
            <a:ext cx="4972101" cy="1815882"/>
          </a:xfrm>
          <a:prstGeom prst="rect">
            <a:avLst/>
          </a:prstGeom>
          <a:noFill/>
        </p:spPr>
        <p:txBody>
          <a:bodyPr wrap="square" rtlCol="0">
            <a:spAutoFit/>
          </a:bodyPr>
          <a:lstStyle/>
          <a:p>
            <a:r>
              <a:rPr lang="ru-RU" sz="1400" dirty="0"/>
              <a:t>Activity </a:t>
            </a:r>
            <a:r>
              <a:rPr lang="ru-RU" sz="1400" dirty="0" err="1"/>
              <a:t>Monitor</a:t>
            </a:r>
            <a:r>
              <a:rPr lang="ru-RU" sz="1400" dirty="0"/>
              <a:t> – это утилита, позволяющая оценивать активность пользователей приложения или сети. Показывает текущее состояние SQL </a:t>
            </a:r>
            <a:r>
              <a:rPr lang="ru-RU" sz="1400" dirty="0" err="1"/>
              <a:t>Server</a:t>
            </a:r>
            <a:r>
              <a:rPr lang="ru-RU" sz="1400" dirty="0"/>
              <a:t>, осуществляемые на момент проверки процессы и то, как они отражаются на производительности СУБД. </a:t>
            </a:r>
          </a:p>
          <a:p>
            <a:r>
              <a:rPr lang="ru-RU" sz="1400" dirty="0"/>
              <a:t>Activity </a:t>
            </a:r>
            <a:r>
              <a:rPr lang="ru-RU" sz="1400" dirty="0" err="1"/>
              <a:t>Monitor</a:t>
            </a:r>
            <a:r>
              <a:rPr lang="ru-RU" sz="1400" dirty="0"/>
              <a:t> выглядит как окно с несколькими вкладками. Администратор базы данных может открыть такие панели:</a:t>
            </a:r>
          </a:p>
          <a:p>
            <a:endParaRPr lang="ru-RU" sz="1400" dirty="0"/>
          </a:p>
        </p:txBody>
      </p:sp>
      <p:sp>
        <p:nvSpPr>
          <p:cNvPr id="8" name="Rectangle 1"/>
          <p:cNvSpPr>
            <a:spLocks noChangeArrowheads="1"/>
          </p:cNvSpPr>
          <p:nvPr/>
        </p:nvSpPr>
        <p:spPr bwMode="auto">
          <a:xfrm>
            <a:off x="0" y="2348299"/>
            <a:ext cx="5220434"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82563" indent="-182563">
              <a:buFont typeface="+mj-lt"/>
              <a:buAutoNum type="arabicParenR"/>
            </a:pPr>
            <a:r>
              <a:rPr lang="ru-RU" sz="1400" b="1" dirty="0" err="1">
                <a:latin typeface="+mn-lt"/>
              </a:rPr>
              <a:t>Processes</a:t>
            </a:r>
            <a:r>
              <a:rPr lang="ru-RU" sz="1400" b="1" dirty="0">
                <a:latin typeface="+mn-lt"/>
              </a:rPr>
              <a:t> (процессы).</a:t>
            </a:r>
            <a:r>
              <a:rPr lang="ru-RU" sz="1400" dirty="0">
                <a:latin typeface="+mn-lt"/>
              </a:rPr>
              <a:t> На этой панели отражаются все активные процессы и подробная информация по ним. В </a:t>
            </a:r>
            <a:r>
              <a:rPr lang="ru-RU" sz="1400" dirty="0" err="1">
                <a:latin typeface="+mn-lt"/>
              </a:rPr>
              <a:t>Processes</a:t>
            </a:r>
            <a:r>
              <a:rPr lang="ru-RU" sz="1400" dirty="0">
                <a:latin typeface="+mn-lt"/>
              </a:rPr>
              <a:t> также можно запустить скрипт, который автоматически анализирует выбранный процесс.</a:t>
            </a:r>
            <a:endParaRPr lang="en-US" sz="1400" dirty="0">
              <a:latin typeface="+mn-lt"/>
            </a:endParaRPr>
          </a:p>
          <a:p>
            <a:pPr marL="182563" indent="-182563">
              <a:buFont typeface="+mj-lt"/>
              <a:buAutoNum type="arabicParenR"/>
            </a:pPr>
            <a:r>
              <a:rPr lang="ru-RU" sz="1400" b="1" dirty="0" err="1">
                <a:latin typeface="+mn-lt"/>
              </a:rPr>
              <a:t>Resource</a:t>
            </a:r>
            <a:r>
              <a:rPr lang="ru-RU" sz="1400" b="1" dirty="0">
                <a:latin typeface="+mn-lt"/>
              </a:rPr>
              <a:t> </a:t>
            </a:r>
            <a:r>
              <a:rPr lang="ru-RU" sz="1400" b="1" dirty="0" err="1">
                <a:latin typeface="+mn-lt"/>
              </a:rPr>
              <a:t>Waits</a:t>
            </a:r>
            <a:r>
              <a:rPr lang="ru-RU" sz="1400" dirty="0">
                <a:latin typeface="+mn-lt"/>
              </a:rPr>
              <a:t> </a:t>
            </a:r>
            <a:r>
              <a:rPr lang="ru-RU" sz="1400" b="1" dirty="0">
                <a:latin typeface="+mn-lt"/>
              </a:rPr>
              <a:t>(ожидающие ресурсы). </a:t>
            </a:r>
            <a:r>
              <a:rPr lang="ru-RU" sz="1400" dirty="0">
                <a:latin typeface="+mn-lt"/>
              </a:rPr>
              <a:t>На этой панели отображается, какие ресурсы необходимы СУБД для выполнения заданных функций. В перечень ресурсов входит объем оперативной памяти и сервера, сети, компиляция и др. В этой же панели администратор базы данных может просмотреть общий и средний промежуток времени ожидания ресурсов.</a:t>
            </a:r>
            <a:endParaRPr lang="en-US" sz="1400" dirty="0">
              <a:latin typeface="+mn-lt"/>
            </a:endParaRPr>
          </a:p>
          <a:p>
            <a:pPr marL="182563" indent="-182563">
              <a:buFont typeface="+mj-lt"/>
              <a:buAutoNum type="arabicParenR"/>
            </a:pPr>
            <a:r>
              <a:rPr lang="ru-RU" sz="1400" b="1" dirty="0" err="1">
                <a:latin typeface="+mn-lt"/>
              </a:rPr>
              <a:t>Data</a:t>
            </a:r>
            <a:r>
              <a:rPr lang="ru-RU" sz="1400" b="1" dirty="0">
                <a:latin typeface="+mn-lt"/>
              </a:rPr>
              <a:t> </a:t>
            </a:r>
            <a:r>
              <a:rPr lang="ru-RU" sz="1400" b="1" dirty="0" err="1">
                <a:latin typeface="+mn-lt"/>
              </a:rPr>
              <a:t>File</a:t>
            </a:r>
            <a:r>
              <a:rPr lang="ru-RU" sz="1400" b="1" dirty="0">
                <a:latin typeface="+mn-lt"/>
              </a:rPr>
              <a:t> I/O (ввод-вывод данных).</a:t>
            </a:r>
            <a:r>
              <a:rPr lang="ru-RU" sz="1400" dirty="0">
                <a:latin typeface="+mn-lt"/>
              </a:rPr>
              <a:t> На этой панели отражаются все операции, связанные с внесением изменений в файлы БД, а также полная информация об этих файлах.</a:t>
            </a:r>
            <a:endParaRPr lang="en-US" sz="1400" dirty="0">
              <a:latin typeface="+mn-lt"/>
            </a:endParaRPr>
          </a:p>
          <a:p>
            <a:pPr marL="182563" indent="-182563">
              <a:buFont typeface="+mj-lt"/>
              <a:buAutoNum type="arabicParenR"/>
            </a:pPr>
            <a:r>
              <a:rPr lang="ru-RU" sz="1400" b="1" dirty="0" err="1">
                <a:latin typeface="+mn-lt"/>
              </a:rPr>
              <a:t>Recent</a:t>
            </a:r>
            <a:r>
              <a:rPr lang="ru-RU" sz="1400" b="1" dirty="0">
                <a:latin typeface="+mn-lt"/>
              </a:rPr>
              <a:t> </a:t>
            </a:r>
            <a:r>
              <a:rPr lang="ru-RU" sz="1400" b="1" dirty="0" err="1">
                <a:latin typeface="+mn-lt"/>
              </a:rPr>
              <a:t>Expensive</a:t>
            </a:r>
            <a:r>
              <a:rPr lang="ru-RU" sz="1400" b="1" dirty="0">
                <a:latin typeface="+mn-lt"/>
              </a:rPr>
              <a:t> </a:t>
            </a:r>
            <a:r>
              <a:rPr lang="ru-RU" sz="1400" b="1" dirty="0" err="1">
                <a:latin typeface="+mn-lt"/>
              </a:rPr>
              <a:t>Queries</a:t>
            </a:r>
            <a:r>
              <a:rPr lang="ru-RU" sz="1400" b="1" dirty="0">
                <a:latin typeface="+mn-lt"/>
              </a:rPr>
              <a:t> (последние ресурсоемкие запросы).</a:t>
            </a:r>
            <a:r>
              <a:rPr lang="ru-RU" sz="1400" dirty="0">
                <a:latin typeface="+mn-lt"/>
              </a:rPr>
              <a:t> На этой панели отражаются те запросы, которые были выполнены в течение ближайших 30 секунд, и обработка которых затребовала наибольшего числа ресурсов. В некоторых версиях SQL </a:t>
            </a:r>
            <a:r>
              <a:rPr lang="ru-RU" sz="1400" dirty="0" err="1">
                <a:latin typeface="+mn-lt"/>
              </a:rPr>
              <a:t>Server</a:t>
            </a:r>
            <a:r>
              <a:rPr lang="ru-RU" sz="1400" dirty="0">
                <a:latin typeface="+mn-lt"/>
              </a:rPr>
              <a:t> эта панель называется Activity </a:t>
            </a:r>
            <a:r>
              <a:rPr lang="ru-RU" sz="1400" dirty="0" err="1">
                <a:latin typeface="+mn-lt"/>
              </a:rPr>
              <a:t>Expensive</a:t>
            </a:r>
            <a:r>
              <a:rPr lang="ru-RU" sz="1400" dirty="0">
                <a:latin typeface="+mn-lt"/>
              </a:rPr>
              <a:t> </a:t>
            </a:r>
            <a:r>
              <a:rPr lang="ru-RU" sz="1400" dirty="0" err="1">
                <a:latin typeface="+mn-lt"/>
              </a:rPr>
              <a:t>Queries</a:t>
            </a:r>
            <a:r>
              <a:rPr lang="ru-RU" sz="1400" dirty="0">
                <a:latin typeface="+mn-lt"/>
              </a:rPr>
              <a:t> (активные ресурсоемкие запросы). </a:t>
            </a:r>
            <a:endParaRPr kumimoji="0" lang="ru-RU" altLang="ru-RU" sz="18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691990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43574"/>
            <a:ext cx="8568952" cy="922114"/>
          </a:xfrm>
        </p:spPr>
        <p:txBody>
          <a:bodyPr>
            <a:noAutofit/>
          </a:bodyPr>
          <a:lstStyle/>
          <a:p>
            <a:r>
              <a:rPr lang="ru-RU" sz="2800" dirty="0"/>
              <a:t>Как найти проблемные запросы? </a:t>
            </a:r>
            <a:br>
              <a:rPr lang="ru-RU" sz="2800" dirty="0"/>
            </a:br>
            <a:r>
              <a:rPr lang="ru-RU" sz="2800" dirty="0"/>
              <a:t>(SET STATISTICS IO, SET STATISTICS TIME)</a:t>
            </a:r>
          </a:p>
        </p:txBody>
      </p:sp>
      <p:sp>
        <p:nvSpPr>
          <p:cNvPr id="3" name="Номер слайда 2"/>
          <p:cNvSpPr>
            <a:spLocks noGrp="1"/>
          </p:cNvSpPr>
          <p:nvPr>
            <p:ph type="sldNum" sz="quarter" idx="12"/>
          </p:nvPr>
        </p:nvSpPr>
        <p:spPr>
          <a:xfrm>
            <a:off x="6995969" y="6521529"/>
            <a:ext cx="2133600" cy="365125"/>
          </a:xfrm>
        </p:spPr>
        <p:txBody>
          <a:bodyPr/>
          <a:lstStyle/>
          <a:p>
            <a:fld id="{1F87023B-4310-42C4-812D-874FAF4871B2}" type="slidenum">
              <a:rPr lang="ru-RU" smtClean="0"/>
              <a:pPr/>
              <a:t>51</a:t>
            </a:fld>
            <a:endParaRPr lang="ru-RU" dirty="0"/>
          </a:p>
        </p:txBody>
      </p:sp>
      <p:sp>
        <p:nvSpPr>
          <p:cNvPr id="7" name="TextBox 6"/>
          <p:cNvSpPr txBox="1"/>
          <p:nvPr/>
        </p:nvSpPr>
        <p:spPr>
          <a:xfrm>
            <a:off x="202514" y="1023252"/>
            <a:ext cx="8810980" cy="1754326"/>
          </a:xfrm>
          <a:prstGeom prst="rect">
            <a:avLst/>
          </a:prstGeom>
          <a:noFill/>
        </p:spPr>
        <p:txBody>
          <a:bodyPr wrap="square" rtlCol="0">
            <a:spAutoFit/>
          </a:bodyPr>
          <a:lstStyle/>
          <a:p>
            <a:r>
              <a:rPr lang="ru-RU" dirty="0"/>
              <a:t>Инструкция позволяет получить информацию о времени выполнения запроса</a:t>
            </a:r>
            <a:r>
              <a:rPr lang="en-US" dirty="0"/>
              <a:t>:</a:t>
            </a:r>
          </a:p>
          <a:p>
            <a:r>
              <a:rPr lang="en-US" dirty="0"/>
              <a:t>SET STATISTICS TIME {ON | OFF} </a:t>
            </a:r>
            <a:endParaRPr lang="ru-RU" dirty="0"/>
          </a:p>
          <a:p>
            <a:endParaRPr lang="ru-RU" dirty="0"/>
          </a:p>
          <a:p>
            <a:r>
              <a:rPr lang="ru-RU" dirty="0"/>
              <a:t>Инструкция предписывает SQL </a:t>
            </a:r>
            <a:r>
              <a:rPr lang="ru-RU" dirty="0" err="1"/>
              <a:t>Server</a:t>
            </a:r>
            <a:r>
              <a:rPr lang="ru-RU" dirty="0"/>
              <a:t> предоставить отчет о реальной активности ввода-вывода при выполнении запроса:</a:t>
            </a:r>
          </a:p>
          <a:p>
            <a:r>
              <a:rPr lang="en-US" dirty="0"/>
              <a:t>SET STATISTICS IO {ON | OFF</a:t>
            </a:r>
            <a:r>
              <a:rPr lang="ru-RU" dirty="0"/>
              <a:t> </a:t>
            </a:r>
            <a:r>
              <a:rPr lang="en-US" dirty="0"/>
              <a:t>} </a:t>
            </a:r>
            <a:endParaRPr lang="ru-RU" dirty="0"/>
          </a:p>
        </p:txBody>
      </p:sp>
      <p:grpSp>
        <p:nvGrpSpPr>
          <p:cNvPr id="4" name="Группа 3"/>
          <p:cNvGrpSpPr/>
          <p:nvPr/>
        </p:nvGrpSpPr>
        <p:grpSpPr>
          <a:xfrm>
            <a:off x="2411760" y="2777578"/>
            <a:ext cx="3929236" cy="3949989"/>
            <a:chOff x="3203848" y="2908011"/>
            <a:chExt cx="3929236" cy="3949989"/>
          </a:xfrm>
        </p:grpSpPr>
        <p:pic>
          <p:nvPicPr>
            <p:cNvPr id="10" name="Рисунок 9"/>
            <p:cNvPicPr>
              <a:picLocks noChangeAspect="1"/>
            </p:cNvPicPr>
            <p:nvPr/>
          </p:nvPicPr>
          <p:blipFill>
            <a:blip r:embed="rId2"/>
            <a:stretch>
              <a:fillRect/>
            </a:stretch>
          </p:blipFill>
          <p:spPr>
            <a:xfrm>
              <a:off x="3203848" y="2908011"/>
              <a:ext cx="3929236" cy="3949989"/>
            </a:xfrm>
            <a:prstGeom prst="rect">
              <a:avLst/>
            </a:prstGeom>
          </p:spPr>
        </p:pic>
        <p:sp>
          <p:nvSpPr>
            <p:cNvPr id="11" name="Овал 10"/>
            <p:cNvSpPr/>
            <p:nvPr/>
          </p:nvSpPr>
          <p:spPr>
            <a:xfrm>
              <a:off x="5692924" y="5276372"/>
              <a:ext cx="1296144" cy="36004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Tree>
    <p:extLst>
      <p:ext uri="{BB962C8B-B14F-4D97-AF65-F5344CB8AC3E}">
        <p14:creationId xmlns:p14="http://schemas.microsoft.com/office/powerpoint/2010/main" val="1678841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7504" y="-99392"/>
            <a:ext cx="8229600" cy="509365"/>
          </a:xfrm>
        </p:spPr>
        <p:txBody>
          <a:bodyPr>
            <a:noAutofit/>
          </a:bodyPr>
          <a:lstStyle/>
          <a:p>
            <a:r>
              <a:rPr lang="ru-RU" dirty="0"/>
              <a:t>Оптимизация запросов</a:t>
            </a:r>
          </a:p>
        </p:txBody>
      </p:sp>
      <p:sp>
        <p:nvSpPr>
          <p:cNvPr id="3" name="Объект 2"/>
          <p:cNvSpPr>
            <a:spLocks noGrp="1"/>
          </p:cNvSpPr>
          <p:nvPr>
            <p:ph idx="1"/>
          </p:nvPr>
        </p:nvSpPr>
        <p:spPr>
          <a:xfrm>
            <a:off x="87978" y="260648"/>
            <a:ext cx="9036496" cy="6120680"/>
          </a:xfrm>
        </p:spPr>
        <p:txBody>
          <a:bodyPr>
            <a:noAutofit/>
          </a:bodyPr>
          <a:lstStyle/>
          <a:p>
            <a:pPr marL="0" indent="0">
              <a:buNone/>
            </a:pPr>
            <a:r>
              <a:rPr lang="ru-RU" sz="1600" dirty="0"/>
              <a:t>Рекомендации:</a:t>
            </a:r>
          </a:p>
          <a:p>
            <a:pPr marL="269875" indent="-269875">
              <a:buFont typeface="+mj-lt"/>
              <a:buAutoNum type="arabicParenR"/>
            </a:pPr>
            <a:r>
              <a:rPr lang="ru-RU" sz="1600" dirty="0"/>
              <a:t>Кроме тех случаев, когда индекс создается автоматически, индексы можно добавить к полям, которые часто участвуют в запросах в разделе </a:t>
            </a:r>
            <a:r>
              <a:rPr lang="en-US" sz="1600" dirty="0"/>
              <a:t>WHERE </a:t>
            </a:r>
            <a:r>
              <a:rPr lang="ru-RU" sz="1600" dirty="0"/>
              <a:t>если применяется оператор сравнения «=».</a:t>
            </a:r>
          </a:p>
          <a:p>
            <a:pPr marL="269875" indent="-269875">
              <a:buFont typeface="+mj-lt"/>
              <a:buAutoNum type="arabicParenR"/>
            </a:pPr>
            <a:r>
              <a:rPr lang="ru-RU" sz="1600" dirty="0"/>
              <a:t>Запросы с не колерующими подзапросами выполняются быстрее, чем с коррелирующими =</a:t>
            </a:r>
            <a:r>
              <a:rPr lang="en-US" sz="1600" dirty="0"/>
              <a:t>&gt; </a:t>
            </a:r>
            <a:r>
              <a:rPr lang="ru-RU" sz="1600" dirty="0"/>
              <a:t>по возможности писать не коррелирующие подзапросы вместо коррелирующих.</a:t>
            </a:r>
          </a:p>
          <a:p>
            <a:pPr marL="269875" indent="-269875">
              <a:buFont typeface="+mj-lt"/>
              <a:buAutoNum type="arabicParenR"/>
            </a:pPr>
            <a:r>
              <a:rPr lang="ru-RU" sz="1600" dirty="0"/>
              <a:t>Не использовать * в </a:t>
            </a:r>
            <a:r>
              <a:rPr lang="en-US" sz="1600" dirty="0"/>
              <a:t>SELECT</a:t>
            </a:r>
            <a:r>
              <a:rPr lang="ru-RU" sz="1600" dirty="0"/>
              <a:t>. Не нужно извлекать данных больше чем нужно. </a:t>
            </a:r>
            <a:endParaRPr lang="en-US" sz="1600" dirty="0"/>
          </a:p>
          <a:p>
            <a:pPr marL="269875" lvl="0" indent="-269875">
              <a:buFont typeface="+mj-lt"/>
              <a:buAutoNum type="arabicParenR"/>
            </a:pPr>
            <a:r>
              <a:rPr lang="ru-RU" sz="1600" dirty="0"/>
              <a:t>Если две или более таблицы часто участвую вместе в соединение, тогда для столбцов-соединения создайте соответствующие индексы (если они не были созданы БД по умолчанию, например</a:t>
            </a:r>
            <a:r>
              <a:rPr lang="en-US" sz="1600" dirty="0"/>
              <a:t>,</a:t>
            </a:r>
            <a:r>
              <a:rPr lang="ru-RU" sz="1600" dirty="0"/>
              <a:t> при добавлении ограничения </a:t>
            </a:r>
            <a:r>
              <a:rPr lang="en-US" sz="1600" dirty="0"/>
              <a:t>Primary key</a:t>
            </a:r>
            <a:r>
              <a:rPr lang="ru-RU" sz="1600" dirty="0"/>
              <a:t>).</a:t>
            </a:r>
          </a:p>
          <a:p>
            <a:pPr marL="269875" lvl="0" indent="-269875">
              <a:buFont typeface="+mj-lt"/>
              <a:buAutoNum type="arabicParenR"/>
            </a:pPr>
            <a:r>
              <a:rPr lang="ru-RU" sz="1600" dirty="0"/>
              <a:t>Применять только тот тип JOIN, который вернет необходимые данные в контексте задания, без каких-либо дублей или лишней информации.</a:t>
            </a:r>
          </a:p>
          <a:p>
            <a:pPr marL="269875" lvl="0" indent="-269875">
              <a:buFont typeface="+mj-lt"/>
              <a:buAutoNum type="arabicParenR"/>
            </a:pPr>
            <a:r>
              <a:rPr lang="ru-RU" sz="1600" dirty="0"/>
              <a:t>Применять сортировку строк только в случае необходимости.</a:t>
            </a:r>
          </a:p>
          <a:p>
            <a:pPr marL="269875" indent="-269875">
              <a:buFont typeface="+mj-lt"/>
              <a:buAutoNum type="arabicParenR"/>
            </a:pPr>
            <a:r>
              <a:rPr lang="ru-RU" sz="1600" dirty="0"/>
              <a:t>Использовать как можно меньше столбцов в группировке.</a:t>
            </a:r>
            <a:r>
              <a:rPr lang="en-US" sz="1600" dirty="0"/>
              <a:t> </a:t>
            </a:r>
            <a:r>
              <a:rPr lang="ru-RU" sz="1600" dirty="0"/>
              <a:t>По возможности лучше использовать W</a:t>
            </a:r>
            <a:r>
              <a:rPr lang="en-US" sz="1600" dirty="0"/>
              <a:t>HERE</a:t>
            </a:r>
            <a:r>
              <a:rPr lang="ru-RU" sz="1600" dirty="0"/>
              <a:t> вместо H</a:t>
            </a:r>
            <a:r>
              <a:rPr lang="en-US" sz="1600" dirty="0"/>
              <a:t>AVING</a:t>
            </a:r>
            <a:r>
              <a:rPr lang="ru-RU" sz="1600" dirty="0"/>
              <a:t>.</a:t>
            </a:r>
          </a:p>
          <a:p>
            <a:pPr marL="269875" indent="-269875">
              <a:buFont typeface="+mj-lt"/>
              <a:buAutoNum type="arabicParenR"/>
            </a:pPr>
            <a:r>
              <a:rPr lang="ru-RU" sz="1600" dirty="0"/>
              <a:t>Если в </a:t>
            </a:r>
            <a:r>
              <a:rPr lang="en-US" sz="1600" dirty="0"/>
              <a:t>WHERE </a:t>
            </a:r>
            <a:r>
              <a:rPr lang="ru-RU" sz="1600" dirty="0"/>
              <a:t>условие состоит из нескольких операторов AND, то условия должны располагаться в порядке возрастания вероятности истинности данного условия. Для </a:t>
            </a:r>
            <a:r>
              <a:rPr lang="en-US" sz="1600" dirty="0"/>
              <a:t>OR </a:t>
            </a:r>
            <a:r>
              <a:rPr lang="ru-RU" sz="1600" dirty="0"/>
              <a:t>наоборот.</a:t>
            </a:r>
          </a:p>
          <a:p>
            <a:pPr marL="269875" indent="-269875">
              <a:buFont typeface="+mj-lt"/>
              <a:buAutoNum type="arabicParenR"/>
            </a:pPr>
            <a:r>
              <a:rPr lang="ru-RU" sz="1600" dirty="0"/>
              <a:t>Используйте IN вместо OR. </a:t>
            </a:r>
          </a:p>
          <a:p>
            <a:pPr marL="269875" indent="-269875">
              <a:buFont typeface="+mj-lt"/>
              <a:buAutoNum type="arabicParenR"/>
            </a:pPr>
            <a:r>
              <a:rPr lang="ru-RU" sz="1600" dirty="0"/>
              <a:t>При выполнении соединения таблиц: соединение больших таблиц с маленькими менее оптимально, чем соединение маленьких таблиц с большими.</a:t>
            </a:r>
          </a:p>
          <a:p>
            <a:pPr marL="269875" indent="-269875">
              <a:buFont typeface="+mj-lt"/>
              <a:buAutoNum type="arabicParenR"/>
            </a:pPr>
            <a:r>
              <a:rPr lang="ru-RU" sz="1600" dirty="0"/>
              <a:t>По возможности не применять конструкции DISTINCT, LIKE '%...' особенно на больших данных.</a:t>
            </a:r>
          </a:p>
          <a:p>
            <a:pPr marL="269875" lvl="0" indent="-269875">
              <a:buFont typeface="+mj-lt"/>
              <a:buAutoNum type="arabicParenR"/>
            </a:pPr>
            <a:r>
              <a:rPr lang="ru-RU" sz="1600" dirty="0"/>
              <a:t>Использовать в запросе поиск по каждому индексу отдельно, т.е. применить быстрый поиск по каждому индексному полю</a:t>
            </a:r>
          </a:p>
          <a:p>
            <a:pPr marL="514350" indent="-514350">
              <a:buFont typeface="+mj-lt"/>
              <a:buAutoNum type="arabicParenR"/>
            </a:pPr>
            <a:endParaRPr lang="ru-RU" sz="1600" dirty="0"/>
          </a:p>
          <a:p>
            <a:endParaRPr lang="ru-RU" sz="1600" dirty="0"/>
          </a:p>
          <a:p>
            <a:pPr marL="0" indent="0">
              <a:buNone/>
            </a:pPr>
            <a:endParaRPr lang="ru-RU" sz="1600" dirty="0"/>
          </a:p>
        </p:txBody>
      </p:sp>
      <p:sp>
        <p:nvSpPr>
          <p:cNvPr id="4" name="Номер слайда 3"/>
          <p:cNvSpPr>
            <a:spLocks noGrp="1"/>
          </p:cNvSpPr>
          <p:nvPr>
            <p:ph type="sldNum" sz="quarter" idx="12"/>
          </p:nvPr>
        </p:nvSpPr>
        <p:spPr>
          <a:xfrm>
            <a:off x="7010400" y="6488022"/>
            <a:ext cx="2133600" cy="365125"/>
          </a:xfrm>
        </p:spPr>
        <p:txBody>
          <a:bodyPr/>
          <a:lstStyle/>
          <a:p>
            <a:fld id="{1F87023B-4310-42C4-812D-874FAF4871B2}" type="slidenum">
              <a:rPr lang="ru-RU" smtClean="0"/>
              <a:pPr/>
              <a:t>52</a:t>
            </a:fld>
            <a:endParaRPr lang="ru-RU" dirty="0"/>
          </a:p>
        </p:txBody>
      </p:sp>
    </p:spTree>
    <p:extLst>
      <p:ext uri="{BB962C8B-B14F-4D97-AF65-F5344CB8AC3E}">
        <p14:creationId xmlns:p14="http://schemas.microsoft.com/office/powerpoint/2010/main" val="6392479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38448" cy="504056"/>
          </a:xfrm>
        </p:spPr>
        <p:txBody>
          <a:bodyPr>
            <a:normAutofit fontScale="90000"/>
          </a:bodyPr>
          <a:lstStyle/>
          <a:p>
            <a:r>
              <a:rPr lang="ru-RU" dirty="0"/>
              <a:t>Индексы для ускорения поиска</a:t>
            </a:r>
          </a:p>
        </p:txBody>
      </p:sp>
      <p:sp>
        <p:nvSpPr>
          <p:cNvPr id="4" name="Номер слайда 3"/>
          <p:cNvSpPr>
            <a:spLocks noGrp="1"/>
          </p:cNvSpPr>
          <p:nvPr>
            <p:ph type="sldNum" sz="quarter" idx="12"/>
          </p:nvPr>
        </p:nvSpPr>
        <p:spPr>
          <a:xfrm>
            <a:off x="7036198" y="6492875"/>
            <a:ext cx="2133600" cy="365125"/>
          </a:xfrm>
        </p:spPr>
        <p:txBody>
          <a:bodyPr/>
          <a:lstStyle/>
          <a:p>
            <a:fld id="{1F87023B-4310-42C4-812D-874FAF4871B2}" type="slidenum">
              <a:rPr lang="ru-RU" smtClean="0"/>
              <a:pPr/>
              <a:t>53</a:t>
            </a:fld>
            <a:endParaRPr lang="ru-RU" dirty="0"/>
          </a:p>
        </p:txBody>
      </p:sp>
      <p:sp>
        <p:nvSpPr>
          <p:cNvPr id="8" name="TextBox 7"/>
          <p:cNvSpPr txBox="1"/>
          <p:nvPr/>
        </p:nvSpPr>
        <p:spPr>
          <a:xfrm>
            <a:off x="323528" y="504056"/>
            <a:ext cx="7704856" cy="1200329"/>
          </a:xfrm>
          <a:prstGeom prst="rect">
            <a:avLst/>
          </a:prstGeom>
          <a:noFill/>
        </p:spPr>
        <p:txBody>
          <a:bodyPr wrap="square" rtlCol="0">
            <a:spAutoFit/>
          </a:bodyPr>
          <a:lstStyle/>
          <a:p>
            <a:r>
              <a:rPr lang="ru-RU" dirty="0"/>
              <a:t>Кроме тех случаев, когда индекс создается автоматически, индексы можно добавить к полям, которые часто участвуют в запросах в разделе </a:t>
            </a:r>
            <a:r>
              <a:rPr lang="en-US" dirty="0"/>
              <a:t>WHERE </a:t>
            </a:r>
            <a:r>
              <a:rPr lang="ru-RU" dirty="0"/>
              <a:t>если применяется оператор сравнения «=».</a:t>
            </a:r>
          </a:p>
          <a:p>
            <a:endParaRPr lang="ru-RU" dirty="0"/>
          </a:p>
        </p:txBody>
      </p:sp>
      <p:sp>
        <p:nvSpPr>
          <p:cNvPr id="3" name="Стрелка вправо 2"/>
          <p:cNvSpPr/>
          <p:nvPr/>
        </p:nvSpPr>
        <p:spPr>
          <a:xfrm rot="2563440" flipV="1">
            <a:off x="5058990" y="3002564"/>
            <a:ext cx="1224136" cy="916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p:cNvPicPr>
            <a:picLocks noChangeAspect="1"/>
          </p:cNvPicPr>
          <p:nvPr/>
        </p:nvPicPr>
        <p:blipFill>
          <a:blip r:embed="rId2"/>
          <a:stretch>
            <a:fillRect/>
          </a:stretch>
        </p:blipFill>
        <p:spPr>
          <a:xfrm>
            <a:off x="107504" y="1464166"/>
            <a:ext cx="4727426" cy="2564270"/>
          </a:xfrm>
          <a:prstGeom prst="rect">
            <a:avLst/>
          </a:prstGeom>
        </p:spPr>
      </p:pic>
      <p:cxnSp>
        <p:nvCxnSpPr>
          <p:cNvPr id="18" name="Прямая соединительная линия 17"/>
          <p:cNvCxnSpPr/>
          <p:nvPr/>
        </p:nvCxnSpPr>
        <p:spPr>
          <a:xfrm>
            <a:off x="2698608" y="2708920"/>
            <a:ext cx="133837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323528" y="3284984"/>
            <a:ext cx="252028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24" name="Рисунок 23"/>
          <p:cNvPicPr>
            <a:picLocks noChangeAspect="1"/>
          </p:cNvPicPr>
          <p:nvPr/>
        </p:nvPicPr>
        <p:blipFill>
          <a:blip r:embed="rId3"/>
          <a:stretch>
            <a:fillRect/>
          </a:stretch>
        </p:blipFill>
        <p:spPr>
          <a:xfrm>
            <a:off x="4469224" y="4054924"/>
            <a:ext cx="4367521" cy="2620513"/>
          </a:xfrm>
          <a:prstGeom prst="rect">
            <a:avLst/>
          </a:prstGeom>
        </p:spPr>
      </p:pic>
    </p:spTree>
    <p:extLst>
      <p:ext uri="{BB962C8B-B14F-4D97-AF65-F5344CB8AC3E}">
        <p14:creationId xmlns:p14="http://schemas.microsoft.com/office/powerpoint/2010/main" val="4186325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6544"/>
            <a:ext cx="8229600" cy="706090"/>
          </a:xfrm>
        </p:spPr>
        <p:txBody>
          <a:bodyPr>
            <a:normAutofit fontScale="90000"/>
          </a:bodyPr>
          <a:lstStyle/>
          <a:p>
            <a:r>
              <a:rPr lang="ru-RU" dirty="0"/>
              <a:t>Индексы для ускорения поиска</a:t>
            </a:r>
            <a:r>
              <a:rPr lang="en-US" dirty="0"/>
              <a:t> (</a:t>
            </a:r>
            <a:r>
              <a:rPr lang="ru-RU" dirty="0"/>
              <a:t>покрывающий индекс</a:t>
            </a:r>
            <a:r>
              <a:rPr lang="en-US" dirty="0"/>
              <a:t>)</a:t>
            </a:r>
            <a:endParaRPr lang="ru-RU" dirty="0"/>
          </a:p>
        </p:txBody>
      </p:sp>
      <p:sp>
        <p:nvSpPr>
          <p:cNvPr id="4" name="Номер слайда 3"/>
          <p:cNvSpPr>
            <a:spLocks noGrp="1"/>
          </p:cNvSpPr>
          <p:nvPr>
            <p:ph type="sldNum" sz="quarter" idx="12"/>
          </p:nvPr>
        </p:nvSpPr>
        <p:spPr>
          <a:xfrm>
            <a:off x="7024845" y="6503543"/>
            <a:ext cx="2133600" cy="365125"/>
          </a:xfrm>
        </p:spPr>
        <p:txBody>
          <a:bodyPr/>
          <a:lstStyle/>
          <a:p>
            <a:fld id="{1F87023B-4310-42C4-812D-874FAF4871B2}" type="slidenum">
              <a:rPr lang="ru-RU" smtClean="0"/>
              <a:pPr/>
              <a:t>54</a:t>
            </a:fld>
            <a:endParaRPr lang="ru-RU"/>
          </a:p>
        </p:txBody>
      </p:sp>
      <p:pic>
        <p:nvPicPr>
          <p:cNvPr id="5" name="Рисунок 4"/>
          <p:cNvPicPr>
            <a:picLocks noChangeAspect="1"/>
          </p:cNvPicPr>
          <p:nvPr/>
        </p:nvPicPr>
        <p:blipFill>
          <a:blip r:embed="rId2"/>
          <a:stretch>
            <a:fillRect/>
          </a:stretch>
        </p:blipFill>
        <p:spPr>
          <a:xfrm>
            <a:off x="179512" y="1052736"/>
            <a:ext cx="4926583" cy="2664296"/>
          </a:xfrm>
          <a:prstGeom prst="rect">
            <a:avLst/>
          </a:prstGeom>
        </p:spPr>
      </p:pic>
      <p:pic>
        <p:nvPicPr>
          <p:cNvPr id="7" name="Рисунок 6"/>
          <p:cNvPicPr>
            <a:picLocks noChangeAspect="1"/>
          </p:cNvPicPr>
          <p:nvPr/>
        </p:nvPicPr>
        <p:blipFill>
          <a:blip r:embed="rId3"/>
          <a:stretch>
            <a:fillRect/>
          </a:stretch>
        </p:blipFill>
        <p:spPr>
          <a:xfrm>
            <a:off x="3563888" y="3265043"/>
            <a:ext cx="5448300" cy="3238500"/>
          </a:xfrm>
          <a:prstGeom prst="rect">
            <a:avLst/>
          </a:prstGeom>
        </p:spPr>
      </p:pic>
      <p:sp>
        <p:nvSpPr>
          <p:cNvPr id="8" name="Стрелка вправо 7"/>
          <p:cNvSpPr/>
          <p:nvPr/>
        </p:nvSpPr>
        <p:spPr>
          <a:xfrm rot="2563440" flipV="1">
            <a:off x="5280236" y="2282484"/>
            <a:ext cx="1224136" cy="916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647477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50800"/>
            <a:ext cx="8229600" cy="585630"/>
          </a:xfrm>
        </p:spPr>
        <p:txBody>
          <a:bodyPr>
            <a:normAutofit/>
          </a:bodyPr>
          <a:lstStyle/>
          <a:p>
            <a:r>
              <a:rPr lang="ru-RU" sz="2400" dirty="0"/>
              <a:t>Не коррелирующий подзапрос</a:t>
            </a:r>
          </a:p>
        </p:txBody>
      </p:sp>
      <p:sp>
        <p:nvSpPr>
          <p:cNvPr id="4" name="Номер слайда 3"/>
          <p:cNvSpPr>
            <a:spLocks noGrp="1"/>
          </p:cNvSpPr>
          <p:nvPr>
            <p:ph type="sldNum" sz="quarter" idx="12"/>
          </p:nvPr>
        </p:nvSpPr>
        <p:spPr>
          <a:xfrm>
            <a:off x="7010400" y="6488022"/>
            <a:ext cx="2133600" cy="365125"/>
          </a:xfrm>
        </p:spPr>
        <p:txBody>
          <a:bodyPr/>
          <a:lstStyle/>
          <a:p>
            <a:fld id="{1F87023B-4310-42C4-812D-874FAF4871B2}" type="slidenum">
              <a:rPr lang="ru-RU" smtClean="0"/>
              <a:pPr/>
              <a:t>55</a:t>
            </a:fld>
            <a:endParaRPr lang="ru-RU" dirty="0"/>
          </a:p>
        </p:txBody>
      </p:sp>
      <p:pic>
        <p:nvPicPr>
          <p:cNvPr id="7" name="Рисунок 6"/>
          <p:cNvPicPr>
            <a:picLocks noChangeAspect="1"/>
          </p:cNvPicPr>
          <p:nvPr/>
        </p:nvPicPr>
        <p:blipFill>
          <a:blip r:embed="rId2"/>
          <a:stretch>
            <a:fillRect/>
          </a:stretch>
        </p:blipFill>
        <p:spPr>
          <a:xfrm>
            <a:off x="162383" y="654765"/>
            <a:ext cx="4803190" cy="3709460"/>
          </a:xfrm>
          <a:prstGeom prst="rect">
            <a:avLst/>
          </a:prstGeom>
          <a:ln>
            <a:solidFill>
              <a:schemeClr val="bg1">
                <a:lumMod val="65000"/>
              </a:schemeClr>
            </a:solidFill>
          </a:ln>
        </p:spPr>
      </p:pic>
      <p:grpSp>
        <p:nvGrpSpPr>
          <p:cNvPr id="8" name="Группа 7"/>
          <p:cNvGrpSpPr/>
          <p:nvPr/>
        </p:nvGrpSpPr>
        <p:grpSpPr>
          <a:xfrm>
            <a:off x="179728" y="4658986"/>
            <a:ext cx="2790587" cy="1472276"/>
            <a:chOff x="179728" y="4658986"/>
            <a:chExt cx="2790587" cy="1472276"/>
          </a:xfrm>
        </p:grpSpPr>
        <p:sp>
          <p:nvSpPr>
            <p:cNvPr id="9" name="Стрелка вправо 8"/>
            <p:cNvSpPr/>
            <p:nvPr/>
          </p:nvSpPr>
          <p:spPr>
            <a:xfrm>
              <a:off x="179728" y="4658986"/>
              <a:ext cx="2790587" cy="147227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278385" y="5021312"/>
              <a:ext cx="2593274" cy="738664"/>
            </a:xfrm>
            <a:prstGeom prst="rect">
              <a:avLst/>
            </a:prstGeom>
            <a:noFill/>
          </p:spPr>
          <p:txBody>
            <a:bodyPr wrap="none" rtlCol="0">
              <a:spAutoFit/>
            </a:bodyPr>
            <a:lstStyle/>
            <a:p>
              <a:r>
                <a:rPr lang="ru-RU" sz="1400" dirty="0"/>
                <a:t>Добавили </a:t>
              </a:r>
              <a:r>
                <a:rPr lang="ru-RU" sz="1400" dirty="0" err="1"/>
                <a:t>некластерный</a:t>
              </a:r>
              <a:r>
                <a:rPr lang="ru-RU" sz="1400" dirty="0"/>
                <a:t> </a:t>
              </a:r>
            </a:p>
            <a:p>
              <a:r>
                <a:rPr lang="ru-RU" sz="1400" dirty="0"/>
                <a:t>индекс для поля </a:t>
              </a:r>
              <a:r>
                <a:rPr lang="en-US" sz="1400" dirty="0" err="1"/>
                <a:t>GeographyKey</a:t>
              </a:r>
              <a:endParaRPr lang="ru-RU" sz="1400" dirty="0"/>
            </a:p>
            <a:p>
              <a:r>
                <a:rPr lang="ru-RU" sz="1400" dirty="0"/>
                <a:t>в таблице</a:t>
              </a:r>
              <a:r>
                <a:rPr lang="en-US" sz="1400" dirty="0"/>
                <a:t> </a:t>
              </a:r>
              <a:r>
                <a:rPr lang="en-US" sz="1400" dirty="0" err="1"/>
                <a:t>DimCustomer</a:t>
              </a:r>
              <a:r>
                <a:rPr lang="en-US" sz="1400" dirty="0"/>
                <a:t>	</a:t>
              </a:r>
              <a:endParaRPr lang="ru-RU" sz="1400" dirty="0"/>
            </a:p>
          </p:txBody>
        </p:sp>
      </p:grpSp>
      <p:pic>
        <p:nvPicPr>
          <p:cNvPr id="12" name="Рисунок 11"/>
          <p:cNvPicPr>
            <a:picLocks noChangeAspect="1"/>
          </p:cNvPicPr>
          <p:nvPr/>
        </p:nvPicPr>
        <p:blipFill>
          <a:blip r:embed="rId3"/>
          <a:stretch>
            <a:fillRect/>
          </a:stretch>
        </p:blipFill>
        <p:spPr>
          <a:xfrm>
            <a:off x="3716194" y="3342564"/>
            <a:ext cx="5400982" cy="3328020"/>
          </a:xfrm>
          <a:prstGeom prst="rect">
            <a:avLst/>
          </a:prstGeom>
          <a:ln>
            <a:solidFill>
              <a:schemeClr val="bg1">
                <a:lumMod val="65000"/>
              </a:schemeClr>
            </a:solidFill>
          </a:ln>
        </p:spPr>
      </p:pic>
      <p:sp>
        <p:nvSpPr>
          <p:cNvPr id="13" name="TextBox 12"/>
          <p:cNvSpPr txBox="1"/>
          <p:nvPr/>
        </p:nvSpPr>
        <p:spPr>
          <a:xfrm>
            <a:off x="5868144" y="1916832"/>
            <a:ext cx="45719" cy="369332"/>
          </a:xfrm>
          <a:prstGeom prst="rect">
            <a:avLst/>
          </a:prstGeom>
          <a:noFill/>
        </p:spPr>
        <p:txBody>
          <a:bodyPr wrap="square" rtlCol="0">
            <a:spAutoFit/>
          </a:bodyPr>
          <a:lstStyle/>
          <a:p>
            <a:endParaRPr lang="ru-RU" dirty="0"/>
          </a:p>
        </p:txBody>
      </p:sp>
      <p:sp>
        <p:nvSpPr>
          <p:cNvPr id="14" name="TextBox 13"/>
          <p:cNvSpPr txBox="1"/>
          <p:nvPr/>
        </p:nvSpPr>
        <p:spPr>
          <a:xfrm>
            <a:off x="5335488" y="901169"/>
            <a:ext cx="3753088" cy="2031325"/>
          </a:xfrm>
          <a:prstGeom prst="rect">
            <a:avLst/>
          </a:prstGeom>
          <a:noFill/>
        </p:spPr>
        <p:txBody>
          <a:bodyPr wrap="square" rtlCol="0">
            <a:spAutoFit/>
          </a:bodyPr>
          <a:lstStyle/>
          <a:p>
            <a:r>
              <a:rPr lang="ru-RU" dirty="0"/>
              <a:t>Обычно не коррелирующие подзапросы применяются в запросах, в которых значение определённого столбца сравнивается со значением, возвращаемым подзапросом, в запросах с IN, ALL и ANY. </a:t>
            </a:r>
          </a:p>
        </p:txBody>
      </p:sp>
    </p:spTree>
    <p:extLst>
      <p:ext uri="{BB962C8B-B14F-4D97-AF65-F5344CB8AC3E}">
        <p14:creationId xmlns:p14="http://schemas.microsoft.com/office/powerpoint/2010/main" val="3782138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752" y="0"/>
            <a:ext cx="9036496" cy="562074"/>
          </a:xfrm>
        </p:spPr>
        <p:txBody>
          <a:bodyPr>
            <a:noAutofit/>
          </a:bodyPr>
          <a:lstStyle/>
          <a:p>
            <a:r>
              <a:rPr lang="ru-RU" sz="2400" dirty="0"/>
              <a:t>Коррелирующий подзапрос</a:t>
            </a:r>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56</a:t>
            </a:fld>
            <a:endParaRPr lang="ru-RU" dirty="0"/>
          </a:p>
        </p:txBody>
      </p:sp>
      <p:pic>
        <p:nvPicPr>
          <p:cNvPr id="5" name="Рисунок 4"/>
          <p:cNvPicPr>
            <a:picLocks noChangeAspect="1"/>
          </p:cNvPicPr>
          <p:nvPr/>
        </p:nvPicPr>
        <p:blipFill>
          <a:blip r:embed="rId2"/>
          <a:stretch>
            <a:fillRect/>
          </a:stretch>
        </p:blipFill>
        <p:spPr>
          <a:xfrm>
            <a:off x="3419872" y="4094848"/>
            <a:ext cx="5177011" cy="2763152"/>
          </a:xfrm>
          <a:prstGeom prst="rect">
            <a:avLst/>
          </a:prstGeom>
          <a:ln>
            <a:solidFill>
              <a:schemeClr val="bg1">
                <a:lumMod val="65000"/>
              </a:schemeClr>
            </a:solidFill>
          </a:ln>
        </p:spPr>
      </p:pic>
      <p:pic>
        <p:nvPicPr>
          <p:cNvPr id="6" name="Рисунок 5"/>
          <p:cNvPicPr>
            <a:picLocks noChangeAspect="1"/>
          </p:cNvPicPr>
          <p:nvPr/>
        </p:nvPicPr>
        <p:blipFill>
          <a:blip r:embed="rId3"/>
          <a:stretch>
            <a:fillRect/>
          </a:stretch>
        </p:blipFill>
        <p:spPr>
          <a:xfrm>
            <a:off x="107504" y="506524"/>
            <a:ext cx="5040560" cy="3645938"/>
          </a:xfrm>
          <a:prstGeom prst="rect">
            <a:avLst/>
          </a:prstGeom>
          <a:ln>
            <a:solidFill>
              <a:schemeClr val="bg1">
                <a:lumMod val="65000"/>
              </a:schemeClr>
            </a:solidFill>
          </a:ln>
        </p:spPr>
      </p:pic>
      <p:grpSp>
        <p:nvGrpSpPr>
          <p:cNvPr id="9" name="Группа 8"/>
          <p:cNvGrpSpPr/>
          <p:nvPr/>
        </p:nvGrpSpPr>
        <p:grpSpPr>
          <a:xfrm>
            <a:off x="179728" y="4658986"/>
            <a:ext cx="2790587" cy="1472276"/>
            <a:chOff x="179728" y="4658986"/>
            <a:chExt cx="2790587" cy="1472276"/>
          </a:xfrm>
        </p:grpSpPr>
        <p:sp>
          <p:nvSpPr>
            <p:cNvPr id="7" name="Стрелка вправо 6"/>
            <p:cNvSpPr/>
            <p:nvPr/>
          </p:nvSpPr>
          <p:spPr>
            <a:xfrm>
              <a:off x="179728" y="4658986"/>
              <a:ext cx="2790587" cy="147227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278385" y="5021312"/>
              <a:ext cx="2593274" cy="738664"/>
            </a:xfrm>
            <a:prstGeom prst="rect">
              <a:avLst/>
            </a:prstGeom>
            <a:noFill/>
          </p:spPr>
          <p:txBody>
            <a:bodyPr wrap="none" rtlCol="0">
              <a:spAutoFit/>
            </a:bodyPr>
            <a:lstStyle/>
            <a:p>
              <a:r>
                <a:rPr lang="ru-RU" sz="1400" dirty="0"/>
                <a:t>Добавили </a:t>
              </a:r>
              <a:r>
                <a:rPr lang="ru-RU" sz="1400" dirty="0" err="1"/>
                <a:t>некластерный</a:t>
              </a:r>
              <a:r>
                <a:rPr lang="ru-RU" sz="1400" dirty="0"/>
                <a:t> </a:t>
              </a:r>
            </a:p>
            <a:p>
              <a:r>
                <a:rPr lang="ru-RU" sz="1400" dirty="0"/>
                <a:t>индекс для поля </a:t>
              </a:r>
              <a:r>
                <a:rPr lang="en-US" sz="1400" dirty="0" err="1"/>
                <a:t>GeographyKey</a:t>
              </a:r>
              <a:endParaRPr lang="ru-RU" sz="1400" dirty="0"/>
            </a:p>
            <a:p>
              <a:r>
                <a:rPr lang="ru-RU" sz="1400" dirty="0"/>
                <a:t>в таблице</a:t>
              </a:r>
              <a:r>
                <a:rPr lang="en-US" sz="1400" dirty="0"/>
                <a:t> </a:t>
              </a:r>
              <a:r>
                <a:rPr lang="en-US" sz="1400" dirty="0" err="1"/>
                <a:t>DimCustomer</a:t>
              </a:r>
              <a:r>
                <a:rPr lang="en-US" sz="1400" dirty="0"/>
                <a:t>	</a:t>
              </a:r>
              <a:endParaRPr lang="ru-RU" sz="1400" dirty="0"/>
            </a:p>
          </p:txBody>
        </p:sp>
      </p:grpSp>
      <p:sp>
        <p:nvSpPr>
          <p:cNvPr id="10" name="TextBox 9"/>
          <p:cNvSpPr txBox="1"/>
          <p:nvPr/>
        </p:nvSpPr>
        <p:spPr>
          <a:xfrm>
            <a:off x="5602226" y="1482773"/>
            <a:ext cx="3096344" cy="1200329"/>
          </a:xfrm>
          <a:prstGeom prst="rect">
            <a:avLst/>
          </a:prstGeom>
          <a:noFill/>
        </p:spPr>
        <p:txBody>
          <a:bodyPr wrap="square" rtlCol="0">
            <a:spAutoFit/>
          </a:bodyPr>
          <a:lstStyle/>
          <a:p>
            <a:r>
              <a:rPr lang="ru-RU" dirty="0"/>
              <a:t>Коррелирующий подзапрос содержит ссылку на таблицу, которая была объявлена во внешнем запросе.</a:t>
            </a:r>
          </a:p>
        </p:txBody>
      </p:sp>
    </p:spTree>
    <p:extLst>
      <p:ext uri="{BB962C8B-B14F-4D97-AF65-F5344CB8AC3E}">
        <p14:creationId xmlns:p14="http://schemas.microsoft.com/office/powerpoint/2010/main" val="3011557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0"/>
            <a:ext cx="8229600" cy="490066"/>
          </a:xfrm>
        </p:spPr>
        <p:txBody>
          <a:bodyPr>
            <a:normAutofit fontScale="90000"/>
          </a:bodyPr>
          <a:lstStyle/>
          <a:p>
            <a:r>
              <a:rPr lang="ru-RU" dirty="0"/>
              <a:t>Оператор </a:t>
            </a:r>
            <a:r>
              <a:rPr lang="en-US" dirty="0"/>
              <a:t>JOIN</a:t>
            </a:r>
            <a:r>
              <a:rPr lang="ru-RU" dirty="0"/>
              <a:t> (выборка из всех столбцов)</a:t>
            </a:r>
          </a:p>
        </p:txBody>
      </p:sp>
      <p:sp>
        <p:nvSpPr>
          <p:cNvPr id="4" name="Номер слайда 3"/>
          <p:cNvSpPr>
            <a:spLocks noGrp="1"/>
          </p:cNvSpPr>
          <p:nvPr>
            <p:ph type="sldNum" sz="quarter" idx="12"/>
          </p:nvPr>
        </p:nvSpPr>
        <p:spPr>
          <a:xfrm>
            <a:off x="7005776" y="6492875"/>
            <a:ext cx="2133600" cy="365125"/>
          </a:xfrm>
        </p:spPr>
        <p:txBody>
          <a:bodyPr/>
          <a:lstStyle/>
          <a:p>
            <a:fld id="{1F87023B-4310-42C4-812D-874FAF4871B2}" type="slidenum">
              <a:rPr lang="ru-RU" smtClean="0"/>
              <a:pPr/>
              <a:t>57</a:t>
            </a:fld>
            <a:endParaRPr lang="ru-RU"/>
          </a:p>
        </p:txBody>
      </p:sp>
      <p:pic>
        <p:nvPicPr>
          <p:cNvPr id="5" name="Рисунок 4"/>
          <p:cNvPicPr>
            <a:picLocks noChangeAspect="1"/>
          </p:cNvPicPr>
          <p:nvPr/>
        </p:nvPicPr>
        <p:blipFill>
          <a:blip r:embed="rId2"/>
          <a:stretch>
            <a:fillRect/>
          </a:stretch>
        </p:blipFill>
        <p:spPr>
          <a:xfrm>
            <a:off x="237347" y="586913"/>
            <a:ext cx="5465935" cy="2736304"/>
          </a:xfrm>
          <a:prstGeom prst="rect">
            <a:avLst/>
          </a:prstGeom>
        </p:spPr>
      </p:pic>
      <p:pic>
        <p:nvPicPr>
          <p:cNvPr id="6" name="Рисунок 5"/>
          <p:cNvPicPr>
            <a:picLocks noChangeAspect="1"/>
          </p:cNvPicPr>
          <p:nvPr/>
        </p:nvPicPr>
        <p:blipFill>
          <a:blip r:embed="rId3"/>
          <a:stretch>
            <a:fillRect/>
          </a:stretch>
        </p:blipFill>
        <p:spPr>
          <a:xfrm>
            <a:off x="3635896" y="3161604"/>
            <a:ext cx="5345083" cy="3298479"/>
          </a:xfrm>
          <a:prstGeom prst="rect">
            <a:avLst/>
          </a:prstGeom>
        </p:spPr>
      </p:pic>
      <p:grpSp>
        <p:nvGrpSpPr>
          <p:cNvPr id="7" name="Группа 6"/>
          <p:cNvGrpSpPr/>
          <p:nvPr/>
        </p:nvGrpSpPr>
        <p:grpSpPr>
          <a:xfrm>
            <a:off x="179728" y="4658986"/>
            <a:ext cx="2790587" cy="1472276"/>
            <a:chOff x="179728" y="4658986"/>
            <a:chExt cx="2790587" cy="1472276"/>
          </a:xfrm>
        </p:grpSpPr>
        <p:sp>
          <p:nvSpPr>
            <p:cNvPr id="8" name="Стрелка вправо 7"/>
            <p:cNvSpPr/>
            <p:nvPr/>
          </p:nvSpPr>
          <p:spPr>
            <a:xfrm>
              <a:off x="179728" y="4658986"/>
              <a:ext cx="2790587" cy="147227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278385" y="5021312"/>
              <a:ext cx="2593274" cy="738664"/>
            </a:xfrm>
            <a:prstGeom prst="rect">
              <a:avLst/>
            </a:prstGeom>
            <a:noFill/>
          </p:spPr>
          <p:txBody>
            <a:bodyPr wrap="none" rtlCol="0">
              <a:spAutoFit/>
            </a:bodyPr>
            <a:lstStyle/>
            <a:p>
              <a:r>
                <a:rPr lang="ru-RU" sz="1400" dirty="0"/>
                <a:t>Добавили </a:t>
              </a:r>
              <a:r>
                <a:rPr lang="ru-RU" sz="1400" dirty="0" err="1"/>
                <a:t>некластерный</a:t>
              </a:r>
              <a:r>
                <a:rPr lang="ru-RU" sz="1400" dirty="0"/>
                <a:t> </a:t>
              </a:r>
            </a:p>
            <a:p>
              <a:r>
                <a:rPr lang="ru-RU" sz="1400" dirty="0"/>
                <a:t>индекс для поля </a:t>
              </a:r>
              <a:r>
                <a:rPr lang="en-US" sz="1400" dirty="0" err="1"/>
                <a:t>GeographyKey</a:t>
              </a:r>
              <a:endParaRPr lang="ru-RU" sz="1400" dirty="0"/>
            </a:p>
            <a:p>
              <a:r>
                <a:rPr lang="ru-RU" sz="1400" dirty="0"/>
                <a:t>в таблице</a:t>
              </a:r>
              <a:r>
                <a:rPr lang="en-US" sz="1400" dirty="0"/>
                <a:t> </a:t>
              </a:r>
              <a:r>
                <a:rPr lang="en-US" sz="1400" dirty="0" err="1"/>
                <a:t>DimCustomer</a:t>
              </a:r>
              <a:r>
                <a:rPr lang="en-US" sz="1400" dirty="0"/>
                <a:t>	</a:t>
              </a:r>
              <a:endParaRPr lang="ru-RU" sz="1400" dirty="0"/>
            </a:p>
          </p:txBody>
        </p:sp>
      </p:grpSp>
    </p:spTree>
    <p:extLst>
      <p:ext uri="{BB962C8B-B14F-4D97-AF65-F5344CB8AC3E}">
        <p14:creationId xmlns:p14="http://schemas.microsoft.com/office/powerpoint/2010/main" val="4058655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74269" y="101397"/>
            <a:ext cx="8692883" cy="490066"/>
          </a:xfrm>
        </p:spPr>
        <p:txBody>
          <a:bodyPr>
            <a:normAutofit fontScale="90000"/>
          </a:bodyPr>
          <a:lstStyle/>
          <a:p>
            <a:r>
              <a:rPr lang="ru-RU" dirty="0"/>
              <a:t>Оператор </a:t>
            </a:r>
            <a:r>
              <a:rPr lang="en-US" dirty="0"/>
              <a:t>JOIN</a:t>
            </a:r>
            <a:r>
              <a:rPr lang="ru-RU" dirty="0"/>
              <a:t> (выборка данных не из всех столбцов таблиц)</a:t>
            </a:r>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58</a:t>
            </a:fld>
            <a:endParaRPr lang="ru-RU"/>
          </a:p>
        </p:txBody>
      </p:sp>
      <p:sp>
        <p:nvSpPr>
          <p:cNvPr id="6" name="TextBox 5"/>
          <p:cNvSpPr txBox="1"/>
          <p:nvPr/>
        </p:nvSpPr>
        <p:spPr>
          <a:xfrm>
            <a:off x="5652120" y="1148870"/>
            <a:ext cx="3491880" cy="1754326"/>
          </a:xfrm>
          <a:prstGeom prst="rect">
            <a:avLst/>
          </a:prstGeom>
          <a:noFill/>
        </p:spPr>
        <p:txBody>
          <a:bodyPr wrap="square" rtlCol="0">
            <a:spAutoFit/>
          </a:bodyPr>
          <a:lstStyle/>
          <a:p>
            <a:r>
              <a:rPr lang="ru-RU" dirty="0"/>
              <a:t>Выборка данных из определенного количества  столбов быстрее чем выборка данных из всех столбцов</a:t>
            </a:r>
            <a:r>
              <a:rPr lang="en-US" dirty="0"/>
              <a:t> =&gt;</a:t>
            </a:r>
            <a:r>
              <a:rPr lang="ru-RU" dirty="0"/>
              <a:t> не нужно извлекать данных больше чем нужно.</a:t>
            </a:r>
          </a:p>
        </p:txBody>
      </p:sp>
      <p:pic>
        <p:nvPicPr>
          <p:cNvPr id="7" name="Рисунок 6"/>
          <p:cNvPicPr>
            <a:picLocks noChangeAspect="1"/>
          </p:cNvPicPr>
          <p:nvPr/>
        </p:nvPicPr>
        <p:blipFill>
          <a:blip r:embed="rId2"/>
          <a:stretch>
            <a:fillRect/>
          </a:stretch>
        </p:blipFill>
        <p:spPr>
          <a:xfrm>
            <a:off x="274269" y="980728"/>
            <a:ext cx="4968552" cy="3066120"/>
          </a:xfrm>
          <a:prstGeom prst="rect">
            <a:avLst/>
          </a:prstGeom>
          <a:ln>
            <a:solidFill>
              <a:schemeClr val="bg1">
                <a:lumMod val="65000"/>
              </a:schemeClr>
            </a:solidFill>
          </a:ln>
        </p:spPr>
      </p:pic>
      <p:pic>
        <p:nvPicPr>
          <p:cNvPr id="5" name="Рисунок 4"/>
          <p:cNvPicPr>
            <a:picLocks noChangeAspect="1"/>
          </p:cNvPicPr>
          <p:nvPr/>
        </p:nvPicPr>
        <p:blipFill>
          <a:blip r:embed="rId3"/>
          <a:stretch>
            <a:fillRect/>
          </a:stretch>
        </p:blipFill>
        <p:spPr>
          <a:xfrm>
            <a:off x="3782445" y="3681726"/>
            <a:ext cx="4952256" cy="3140455"/>
          </a:xfrm>
          <a:prstGeom prst="rect">
            <a:avLst/>
          </a:prstGeom>
          <a:ln>
            <a:solidFill>
              <a:schemeClr val="bg1">
                <a:lumMod val="65000"/>
              </a:schemeClr>
            </a:solidFill>
          </a:ln>
        </p:spPr>
      </p:pic>
    </p:spTree>
    <p:extLst>
      <p:ext uri="{BB962C8B-B14F-4D97-AF65-F5344CB8AC3E}">
        <p14:creationId xmlns:p14="http://schemas.microsoft.com/office/powerpoint/2010/main" val="39938281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4770" y="34273"/>
            <a:ext cx="8229600" cy="634082"/>
          </a:xfrm>
        </p:spPr>
        <p:txBody>
          <a:bodyPr/>
          <a:lstStyle/>
          <a:p>
            <a:r>
              <a:rPr lang="ru-RU" dirty="0"/>
              <a:t>Поиск по каждому индексному полю отдельно</a:t>
            </a:r>
          </a:p>
        </p:txBody>
      </p:sp>
      <p:sp>
        <p:nvSpPr>
          <p:cNvPr id="4" name="Номер слайда 3"/>
          <p:cNvSpPr>
            <a:spLocks noGrp="1"/>
          </p:cNvSpPr>
          <p:nvPr>
            <p:ph type="sldNum" sz="quarter" idx="12"/>
          </p:nvPr>
        </p:nvSpPr>
        <p:spPr>
          <a:xfrm>
            <a:off x="7010400" y="6492875"/>
            <a:ext cx="2133600" cy="365125"/>
          </a:xfrm>
        </p:spPr>
        <p:txBody>
          <a:bodyPr/>
          <a:lstStyle/>
          <a:p>
            <a:fld id="{1F87023B-4310-42C4-812D-874FAF4871B2}" type="slidenum">
              <a:rPr lang="ru-RU" smtClean="0"/>
              <a:pPr/>
              <a:t>59</a:t>
            </a:fld>
            <a:endParaRPr lang="ru-RU" dirty="0"/>
          </a:p>
        </p:txBody>
      </p:sp>
      <p:pic>
        <p:nvPicPr>
          <p:cNvPr id="6" name="Рисунок 5"/>
          <p:cNvPicPr>
            <a:picLocks noChangeAspect="1"/>
          </p:cNvPicPr>
          <p:nvPr/>
        </p:nvPicPr>
        <p:blipFill>
          <a:blip r:embed="rId2"/>
          <a:stretch>
            <a:fillRect/>
          </a:stretch>
        </p:blipFill>
        <p:spPr>
          <a:xfrm>
            <a:off x="179513" y="730392"/>
            <a:ext cx="4896544" cy="2972592"/>
          </a:xfrm>
          <a:prstGeom prst="rect">
            <a:avLst/>
          </a:prstGeom>
        </p:spPr>
      </p:pic>
      <p:pic>
        <p:nvPicPr>
          <p:cNvPr id="3" name="Рисунок 2"/>
          <p:cNvPicPr>
            <a:picLocks noChangeAspect="1"/>
          </p:cNvPicPr>
          <p:nvPr/>
        </p:nvPicPr>
        <p:blipFill>
          <a:blip r:embed="rId3"/>
          <a:stretch>
            <a:fillRect/>
          </a:stretch>
        </p:blipFill>
        <p:spPr>
          <a:xfrm>
            <a:off x="3851920" y="3068960"/>
            <a:ext cx="4893270" cy="3676790"/>
          </a:xfrm>
          <a:prstGeom prst="rect">
            <a:avLst/>
          </a:prstGeom>
        </p:spPr>
      </p:pic>
      <p:sp>
        <p:nvSpPr>
          <p:cNvPr id="7" name="TextBox 6"/>
          <p:cNvSpPr txBox="1"/>
          <p:nvPr/>
        </p:nvSpPr>
        <p:spPr>
          <a:xfrm>
            <a:off x="5724128" y="1124744"/>
            <a:ext cx="3168352" cy="923330"/>
          </a:xfrm>
          <a:prstGeom prst="rect">
            <a:avLst/>
          </a:prstGeom>
          <a:noFill/>
        </p:spPr>
        <p:txBody>
          <a:bodyPr wrap="square" rtlCol="0">
            <a:spAutoFit/>
          </a:bodyPr>
          <a:lstStyle/>
          <a:p>
            <a:r>
              <a:rPr lang="ru-RU" dirty="0"/>
              <a:t>Если оба поля выборки имеют не </a:t>
            </a:r>
            <a:r>
              <a:rPr lang="ru-RU" dirty="0" err="1"/>
              <a:t>кластеризованные</a:t>
            </a:r>
            <a:r>
              <a:rPr lang="ru-RU" dirty="0"/>
              <a:t> индексы</a:t>
            </a:r>
          </a:p>
        </p:txBody>
      </p:sp>
    </p:spTree>
    <p:extLst>
      <p:ext uri="{BB962C8B-B14F-4D97-AF65-F5344CB8AC3E}">
        <p14:creationId xmlns:p14="http://schemas.microsoft.com/office/powerpoint/2010/main" val="25831464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20016"/>
            <a:ext cx="8229600" cy="1143000"/>
          </a:xfrm>
        </p:spPr>
        <p:txBody>
          <a:bodyPr/>
          <a:lstStyle/>
          <a:p>
            <a:r>
              <a:rPr lang="ru-RU" dirty="0"/>
              <a:t>Зачем нужна оптимизация запросов? </a:t>
            </a:r>
          </a:p>
        </p:txBody>
      </p:sp>
      <p:sp>
        <p:nvSpPr>
          <p:cNvPr id="3" name="Объект 2"/>
          <p:cNvSpPr>
            <a:spLocks noGrp="1"/>
          </p:cNvSpPr>
          <p:nvPr>
            <p:ph idx="1"/>
          </p:nvPr>
        </p:nvSpPr>
        <p:spPr>
          <a:xfrm>
            <a:off x="323528" y="1417638"/>
            <a:ext cx="8568952" cy="2803450"/>
          </a:xfrm>
        </p:spPr>
        <p:txBody>
          <a:bodyPr>
            <a:normAutofit fontScale="77500" lnSpcReduction="20000"/>
          </a:bodyPr>
          <a:lstStyle/>
          <a:p>
            <a:pPr marL="0" indent="0">
              <a:buNone/>
            </a:pPr>
            <a:r>
              <a:rPr lang="ru-RU" dirty="0"/>
              <a:t>	Запросы — это критически важный компонент для повышения общей производительности базы данных. </a:t>
            </a:r>
          </a:p>
          <a:p>
            <a:pPr marL="0" indent="0">
              <a:buNone/>
            </a:pPr>
            <a:r>
              <a:rPr lang="ru-RU" dirty="0"/>
              <a:t>	Неправильные запросы выполняются, пока не истечет время ожидания, они расходуют такие ресурсы, как ЦП и память. Это мешает доступу к критически важной бизнес-информации. Даже один неправильный запрос может вызвать серьезные проблемы с производительностью базы данных.</a:t>
            </a:r>
          </a:p>
        </p:txBody>
      </p:sp>
      <p:sp>
        <p:nvSpPr>
          <p:cNvPr id="4" name="Номер слайда 3"/>
          <p:cNvSpPr>
            <a:spLocks noGrp="1"/>
          </p:cNvSpPr>
          <p:nvPr>
            <p:ph type="sldNum" sz="quarter" idx="12"/>
          </p:nvPr>
        </p:nvSpPr>
        <p:spPr/>
        <p:txBody>
          <a:bodyPr/>
          <a:lstStyle/>
          <a:p>
            <a:fld id="{1F87023B-4310-42C4-812D-874FAF4871B2}" type="slidenum">
              <a:rPr lang="ru-RU" smtClean="0"/>
              <a:pPr/>
              <a:t>60</a:t>
            </a:fld>
            <a:endParaRPr lang="ru-RU"/>
          </a:p>
        </p:txBody>
      </p:sp>
    </p:spTree>
    <p:extLst>
      <p:ext uri="{BB962C8B-B14F-4D97-AF65-F5344CB8AC3E}">
        <p14:creationId xmlns:p14="http://schemas.microsoft.com/office/powerpoint/2010/main" val="2018101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9409" y="766"/>
            <a:ext cx="8229600" cy="654032"/>
          </a:xfrm>
        </p:spPr>
        <p:txBody>
          <a:bodyPr>
            <a:normAutofit/>
          </a:bodyPr>
          <a:lstStyle/>
          <a:p>
            <a:r>
              <a:rPr lang="ru-RU" sz="2500" dirty="0"/>
              <a:t>Рекомендации для увеличения производительности:</a:t>
            </a:r>
          </a:p>
        </p:txBody>
      </p:sp>
      <p:sp>
        <p:nvSpPr>
          <p:cNvPr id="3" name="Номер слайда 2"/>
          <p:cNvSpPr>
            <a:spLocks noGrp="1"/>
          </p:cNvSpPr>
          <p:nvPr>
            <p:ph type="sldNum" sz="quarter" idx="12"/>
          </p:nvPr>
        </p:nvSpPr>
        <p:spPr/>
        <p:txBody>
          <a:bodyPr/>
          <a:lstStyle/>
          <a:p>
            <a:fld id="{1F87023B-4310-42C4-812D-874FAF4871B2}" type="slidenum">
              <a:rPr lang="ru-RU" smtClean="0"/>
              <a:pPr/>
              <a:t>61</a:t>
            </a:fld>
            <a:endParaRPr lang="ru-RU"/>
          </a:p>
        </p:txBody>
      </p:sp>
      <p:sp>
        <p:nvSpPr>
          <p:cNvPr id="4" name="TextBox 3"/>
          <p:cNvSpPr txBox="1"/>
          <p:nvPr/>
        </p:nvSpPr>
        <p:spPr>
          <a:xfrm>
            <a:off x="411334" y="550919"/>
            <a:ext cx="8607900" cy="6463308"/>
          </a:xfrm>
          <a:prstGeom prst="rect">
            <a:avLst/>
          </a:prstGeom>
          <a:noFill/>
        </p:spPr>
        <p:txBody>
          <a:bodyPr wrap="square" rtlCol="0">
            <a:spAutoFit/>
          </a:bodyPr>
          <a:lstStyle/>
          <a:p>
            <a:r>
              <a:rPr lang="ru-RU" dirty="0"/>
              <a:t>Для увеличения производительности, то есть для быстрого выполнения запросов, следует помнить некоторые правила составления строк запросов:</a:t>
            </a:r>
          </a:p>
          <a:p>
            <a:endParaRPr lang="ru-RU" b="1" dirty="0"/>
          </a:p>
          <a:p>
            <a:pPr marL="342900" indent="-342900">
              <a:buFont typeface="+mj-lt"/>
              <a:buAutoNum type="arabicParenR"/>
            </a:pPr>
            <a:r>
              <a:rPr lang="ru-RU" b="1" dirty="0"/>
              <a:t>Избегать NOT </a:t>
            </a:r>
            <a:r>
              <a:rPr lang="ru-RU" dirty="0"/>
              <a:t>- команды отрицания выполняются в несколько этапов, что увеличивает нагрузку на сервер.</a:t>
            </a:r>
          </a:p>
          <a:p>
            <a:pPr marL="342900" indent="-342900">
              <a:buFont typeface="+mj-lt"/>
              <a:buAutoNum type="arabicParenR"/>
            </a:pPr>
            <a:endParaRPr lang="ru-RU" dirty="0"/>
          </a:p>
          <a:p>
            <a:pPr marL="342900" indent="-342900">
              <a:buFont typeface="+mj-lt"/>
              <a:buAutoNum type="arabicParenR"/>
            </a:pPr>
            <a:r>
              <a:rPr lang="ru-RU" b="1" dirty="0"/>
              <a:t>Избегать LIKE </a:t>
            </a:r>
            <a:r>
              <a:rPr lang="ru-RU" dirty="0"/>
              <a:t>- этот оператор сравнения применяет более мягкие шаблоны сравнения, чем оператор =, что увеличивает необходимое число этапов фильтрации.</a:t>
            </a:r>
          </a:p>
          <a:p>
            <a:pPr marL="342900" indent="-342900">
              <a:buFont typeface="+mj-lt"/>
              <a:buAutoNum type="arabicParenR"/>
            </a:pPr>
            <a:endParaRPr lang="ru-RU" dirty="0"/>
          </a:p>
          <a:p>
            <a:pPr marL="342900" indent="-342900">
              <a:buFont typeface="+mj-lt"/>
              <a:buAutoNum type="arabicParenR"/>
            </a:pPr>
            <a:r>
              <a:rPr lang="ru-RU" b="1" dirty="0"/>
              <a:t>Применять точные шаблоны поиска </a:t>
            </a:r>
            <a:r>
              <a:rPr lang="ru-RU" dirty="0"/>
              <a:t>- применение подстановочных символов увеличивает время выполнения запроса, так как для проверки всех вариантов подстановки требуется дополнительные ресурсы сервера.</a:t>
            </a:r>
          </a:p>
          <a:p>
            <a:pPr marL="342900" indent="-342900">
              <a:buFont typeface="+mj-lt"/>
              <a:buAutoNum type="arabicParenR"/>
            </a:pPr>
            <a:endParaRPr lang="ru-RU" dirty="0"/>
          </a:p>
          <a:p>
            <a:pPr marL="342900" indent="-342900">
              <a:buFont typeface="+mj-lt"/>
              <a:buAutoNum type="arabicParenR"/>
            </a:pPr>
            <a:r>
              <a:rPr lang="ru-RU" b="1" dirty="0"/>
              <a:t>Избегать ORDER </a:t>
            </a:r>
            <a:r>
              <a:rPr lang="ru-RU" dirty="0"/>
              <a:t>- команда сортировки требует упорядочивания строк таблицы вывода, что задерживает получение результата.</a:t>
            </a:r>
            <a:endParaRPr lang="en-US" dirty="0"/>
          </a:p>
          <a:p>
            <a:pPr marL="342900" indent="-342900">
              <a:buFont typeface="+mj-lt"/>
              <a:buAutoNum type="arabicParenR"/>
            </a:pPr>
            <a:endParaRPr lang="en-US" dirty="0"/>
          </a:p>
          <a:p>
            <a:pPr marL="342900" indent="-342900">
              <a:buFont typeface="+mj-lt"/>
              <a:buAutoNum type="arabicParenR"/>
            </a:pPr>
            <a:r>
              <a:rPr lang="ru-RU" b="1" dirty="0"/>
              <a:t>Не возвращайте клиенту большее количество столбцов или строк</a:t>
            </a:r>
            <a:r>
              <a:rPr lang="ru-RU" dirty="0"/>
              <a:t>, чем действительно необходимо (Не используй * в </a:t>
            </a:r>
            <a:r>
              <a:rPr lang="ru-RU" dirty="0" err="1"/>
              <a:t>Select</a:t>
            </a:r>
            <a:r>
              <a:rPr lang="ru-RU" dirty="0"/>
              <a:t>). </a:t>
            </a:r>
            <a:endParaRPr lang="en-US" dirty="0"/>
          </a:p>
          <a:p>
            <a:pPr marL="342900" indent="-342900">
              <a:buFont typeface="+mj-lt"/>
              <a:buAutoNum type="arabicParenR"/>
            </a:pPr>
            <a:endParaRPr lang="ru-RU" dirty="0"/>
          </a:p>
          <a:p>
            <a:pPr marL="342900" indent="-342900">
              <a:buFont typeface="+mj-lt"/>
              <a:buAutoNum type="arabicParenR"/>
            </a:pPr>
            <a:r>
              <a:rPr lang="ru-RU" b="1" dirty="0"/>
              <a:t>Как можно раньше отфильтруйте данные</a:t>
            </a:r>
            <a:r>
              <a:rPr lang="ru-RU" dirty="0"/>
              <a:t>. Не нужно выполнять большой тяжелый подзапрос для  всех строк таблицы. Сначала отфильтруйте нужные строки.</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0518" y="116632"/>
            <a:ext cx="8229600" cy="504056"/>
          </a:xfrm>
        </p:spPr>
        <p:txBody>
          <a:bodyPr>
            <a:normAutofit fontScale="90000"/>
          </a:bodyPr>
          <a:lstStyle/>
          <a:p>
            <a:r>
              <a:rPr lang="ru-RU" sz="2800" dirty="0"/>
              <a:t>Оптимизация запросов </a:t>
            </a:r>
            <a:r>
              <a:rPr lang="en-US" sz="2800" dirty="0"/>
              <a:t>SELECT </a:t>
            </a:r>
            <a:endParaRPr lang="ru-RU" sz="28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62</a:t>
            </a:fld>
            <a:endParaRPr lang="ru-RU"/>
          </a:p>
        </p:txBody>
      </p:sp>
      <p:sp>
        <p:nvSpPr>
          <p:cNvPr id="5" name="Прямоугольник 4"/>
          <p:cNvSpPr/>
          <p:nvPr/>
        </p:nvSpPr>
        <p:spPr>
          <a:xfrm>
            <a:off x="179512" y="764704"/>
            <a:ext cx="8784976" cy="4247317"/>
          </a:xfrm>
          <a:prstGeom prst="rect">
            <a:avLst/>
          </a:prstGeom>
        </p:spPr>
        <p:txBody>
          <a:bodyPr wrap="square">
            <a:spAutoFit/>
          </a:bodyPr>
          <a:lstStyle/>
          <a:p>
            <a:pPr marL="342900" indent="-342900">
              <a:buFont typeface="+mj-lt"/>
              <a:buAutoNum type="arabicParenR"/>
            </a:pPr>
            <a:r>
              <a:rPr lang="ru-RU" dirty="0"/>
              <a:t>Не читайте больше данных, чем надо. Не используйте * Не возвращайте клиенту большее количество столбцов или строк, чем действительно необходимо. </a:t>
            </a:r>
          </a:p>
          <a:p>
            <a:pPr marL="342900" indent="-342900">
              <a:buFont typeface="+mj-lt"/>
              <a:buAutoNum type="arabicParenR"/>
            </a:pPr>
            <a:endParaRPr lang="ru-RU" dirty="0"/>
          </a:p>
          <a:p>
            <a:pPr marL="342900" indent="-342900">
              <a:buFont typeface="+mj-lt"/>
              <a:buAutoNum type="arabicParenR"/>
            </a:pPr>
            <a:r>
              <a:rPr lang="ru-RU" dirty="0"/>
              <a:t>Если ваше приложение позволяет пользователям выполнять запросы, но вы не можете отсечь лишние тысячи возвращаемых строк, используйте оператор TOP внутри инструкции SELECT. </a:t>
            </a:r>
          </a:p>
          <a:p>
            <a:pPr marL="342900" indent="-342900">
              <a:buFont typeface="+mj-lt"/>
              <a:buAutoNum type="arabicParenR"/>
            </a:pPr>
            <a:endParaRPr lang="ru-RU" dirty="0"/>
          </a:p>
          <a:p>
            <a:pPr marL="342900" indent="-342900">
              <a:buFont typeface="+mj-lt"/>
              <a:buAutoNum type="arabicParenR"/>
            </a:pPr>
            <a:r>
              <a:rPr lang="ru-RU" dirty="0"/>
              <a:t>Как можно раньше отфильтруйте данные. Не нужно выполнять большой тяжелый подзапрос для  всех строк таблицы. Сначала отфильтруйте нужные строки.</a:t>
            </a:r>
          </a:p>
          <a:p>
            <a:pPr marL="342900" indent="-342900">
              <a:buFont typeface="+mj-lt"/>
              <a:buAutoNum type="arabicParenR"/>
            </a:pPr>
            <a:endParaRPr lang="ru-RU" dirty="0"/>
          </a:p>
          <a:p>
            <a:pPr marL="342900" indent="-342900">
              <a:buFont typeface="+mj-lt"/>
              <a:buAutoNum type="arabicParenR"/>
            </a:pPr>
            <a:r>
              <a:rPr lang="ru-RU" dirty="0"/>
              <a:t>При объявлении полей всегда следует использовать размер, который нужен, и не выделять лишние байты про запас.</a:t>
            </a:r>
          </a:p>
          <a:p>
            <a:pPr marL="342900" indent="-342900">
              <a:buFont typeface="+mj-lt"/>
              <a:buAutoNum type="arabicParenR"/>
            </a:pPr>
            <a:endParaRPr lang="ru-RU" dirty="0"/>
          </a:p>
          <a:p>
            <a:pPr marL="342900" indent="-342900">
              <a:buFont typeface="+mj-lt"/>
              <a:buAutoNum type="arabicParenR"/>
            </a:pPr>
            <a:r>
              <a:rPr lang="ru-RU" dirty="0"/>
              <a:t>Если сортируете по дате создания записи, то попробуйте сортировать просто по </a:t>
            </a:r>
            <a:r>
              <a:rPr lang="ru-RU" dirty="0" err="1"/>
              <a:t>id</a:t>
            </a:r>
            <a:r>
              <a:rPr lang="ru-RU" dirty="0"/>
              <a:t> (первичный ключ с </a:t>
            </a:r>
            <a:r>
              <a:rPr lang="ru-RU" dirty="0" err="1"/>
              <a:t>identity</a:t>
            </a:r>
            <a:r>
              <a:rPr lang="ru-RU" dirty="0"/>
              <a:t>(1,1)). </a:t>
            </a:r>
          </a:p>
        </p:txBody>
      </p:sp>
    </p:spTree>
    <p:extLst>
      <p:ext uri="{BB962C8B-B14F-4D97-AF65-F5344CB8AC3E}">
        <p14:creationId xmlns:p14="http://schemas.microsoft.com/office/powerpoint/2010/main" val="25002143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116632"/>
            <a:ext cx="8229600" cy="706090"/>
          </a:xfrm>
        </p:spPr>
        <p:txBody>
          <a:bodyPr>
            <a:normAutofit/>
          </a:bodyPr>
          <a:lstStyle/>
          <a:p>
            <a:r>
              <a:rPr lang="ru-RU" sz="2800" dirty="0"/>
              <a:t>Корректно используйте </a:t>
            </a:r>
            <a:r>
              <a:rPr lang="en-US" sz="2800" dirty="0"/>
              <a:t>JOIN</a:t>
            </a:r>
            <a:endParaRPr lang="ru-RU" sz="28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63</a:t>
            </a:fld>
            <a:endParaRPr lang="ru-RU"/>
          </a:p>
        </p:txBody>
      </p:sp>
      <p:sp>
        <p:nvSpPr>
          <p:cNvPr id="5" name="Прямоугольник 4"/>
          <p:cNvSpPr/>
          <p:nvPr/>
        </p:nvSpPr>
        <p:spPr>
          <a:xfrm>
            <a:off x="323528" y="1356294"/>
            <a:ext cx="8640960" cy="3416320"/>
          </a:xfrm>
          <a:prstGeom prst="rect">
            <a:avLst/>
          </a:prstGeom>
        </p:spPr>
        <p:txBody>
          <a:bodyPr wrap="square">
            <a:spAutoFit/>
          </a:bodyPr>
          <a:lstStyle/>
          <a:p>
            <a:pPr marL="342900" indent="-342900">
              <a:buFont typeface="+mj-lt"/>
              <a:buAutoNum type="arabicParenR"/>
            </a:pPr>
            <a:r>
              <a:rPr lang="ru-RU" dirty="0"/>
              <a:t>Если Вы имеете две или более таблиц, которые часто соединяются, тогда столбцы, используемые для соединения должны иметь соответствующий индекс.</a:t>
            </a:r>
          </a:p>
          <a:p>
            <a:pPr marL="342900" indent="-342900">
              <a:buFont typeface="+mj-lt"/>
              <a:buAutoNum type="arabicParenR"/>
            </a:pPr>
            <a:endParaRPr lang="ru-RU" dirty="0"/>
          </a:p>
          <a:p>
            <a:pPr marL="342900" indent="-342900">
              <a:buFont typeface="+mj-lt"/>
              <a:buAutoNum type="arabicParenR"/>
            </a:pPr>
            <a:r>
              <a:rPr lang="ru-RU" dirty="0"/>
              <a:t>Для лучшей производительности, столбцы, используемые в соединения должны иметь одинаковые типы данных. И если возможно, это должны быть числовые типы данных, вместо символьных типов.</a:t>
            </a:r>
          </a:p>
          <a:p>
            <a:pPr marL="342900" indent="-342900">
              <a:buFont typeface="+mj-lt"/>
              <a:buAutoNum type="arabicParenR"/>
            </a:pPr>
            <a:endParaRPr lang="ru-RU" dirty="0"/>
          </a:p>
          <a:p>
            <a:pPr marL="342900" indent="-342900">
              <a:buFont typeface="+mj-lt"/>
              <a:buAutoNum type="arabicParenR"/>
            </a:pPr>
            <a:r>
              <a:rPr lang="ru-RU" dirty="0"/>
              <a:t>Избегайте соединения таблицы по столбцам с малым числом уникальных значений. Если столбцы, используемые при соединении, имеют мало уникальных значений, то SQL сервер будет просматривать всю таблицу, даже если по данному столбцу существует индекс. Для наилучшей производительности </a:t>
            </a:r>
            <a:r>
              <a:rPr lang="ru-RU" dirty="0" err="1"/>
              <a:t>соеденение</a:t>
            </a:r>
            <a:r>
              <a:rPr lang="ru-RU" dirty="0"/>
              <a:t> таблиц должно производится по столбцам с уникальными индексами.</a:t>
            </a:r>
          </a:p>
        </p:txBody>
      </p:sp>
    </p:spTree>
    <p:extLst>
      <p:ext uri="{BB962C8B-B14F-4D97-AF65-F5344CB8AC3E}">
        <p14:creationId xmlns:p14="http://schemas.microsoft.com/office/powerpoint/2010/main" val="40205200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91264" cy="706090"/>
          </a:xfrm>
        </p:spPr>
        <p:txBody>
          <a:bodyPr>
            <a:noAutofit/>
          </a:bodyPr>
          <a:lstStyle/>
          <a:p>
            <a:r>
              <a:rPr lang="ru-RU" sz="2800" dirty="0"/>
              <a:t>Оптимизация WHERE в запросе SELECT</a:t>
            </a:r>
          </a:p>
        </p:txBody>
      </p:sp>
      <p:sp>
        <p:nvSpPr>
          <p:cNvPr id="3" name="Номер слайда 2"/>
          <p:cNvSpPr>
            <a:spLocks noGrp="1"/>
          </p:cNvSpPr>
          <p:nvPr>
            <p:ph type="sldNum" sz="quarter" idx="12"/>
          </p:nvPr>
        </p:nvSpPr>
        <p:spPr/>
        <p:txBody>
          <a:bodyPr/>
          <a:lstStyle/>
          <a:p>
            <a:fld id="{1F87023B-4310-42C4-812D-874FAF4871B2}" type="slidenum">
              <a:rPr lang="ru-RU" smtClean="0"/>
              <a:pPr/>
              <a:t>64</a:t>
            </a:fld>
            <a:endParaRPr lang="ru-RU"/>
          </a:p>
        </p:txBody>
      </p:sp>
      <p:sp>
        <p:nvSpPr>
          <p:cNvPr id="4" name="Прямоугольник 3"/>
          <p:cNvSpPr/>
          <p:nvPr/>
        </p:nvSpPr>
        <p:spPr>
          <a:xfrm>
            <a:off x="222058" y="998204"/>
            <a:ext cx="8761548" cy="5355312"/>
          </a:xfrm>
          <a:prstGeom prst="rect">
            <a:avLst/>
          </a:prstGeom>
        </p:spPr>
        <p:txBody>
          <a:bodyPr wrap="square">
            <a:spAutoFit/>
          </a:bodyPr>
          <a:lstStyle/>
          <a:p>
            <a:pPr marL="342900" indent="-342900">
              <a:buFont typeface="+mj-lt"/>
              <a:buAutoNum type="arabicParenR"/>
            </a:pPr>
            <a:r>
              <a:rPr lang="ru-RU" dirty="0"/>
              <a:t>Если </a:t>
            </a:r>
            <a:r>
              <a:rPr lang="ru-RU" dirty="0" err="1"/>
              <a:t>where</a:t>
            </a:r>
            <a:r>
              <a:rPr lang="ru-RU" dirty="0"/>
              <a:t> состоит из условий, объединенных </a:t>
            </a:r>
            <a:r>
              <a:rPr lang="ru-RU" b="1" dirty="0"/>
              <a:t>AND</a:t>
            </a:r>
            <a:r>
              <a:rPr lang="ru-RU" dirty="0"/>
              <a:t>,  они должны располагаться в порядке возрастания вероятности истинности данного условия. Чем быстрее мы получим </a:t>
            </a:r>
            <a:r>
              <a:rPr lang="ru-RU" dirty="0" err="1"/>
              <a:t>false</a:t>
            </a:r>
            <a:r>
              <a:rPr lang="ru-RU" dirty="0"/>
              <a:t>  в одном из условий - тем меньше условий будет обработано и тем быстрее выполняется запрос. </a:t>
            </a:r>
          </a:p>
          <a:p>
            <a:pPr marL="342900" indent="-342900">
              <a:buFont typeface="+mj-lt"/>
              <a:buAutoNum type="arabicParenR"/>
            </a:pPr>
            <a:endParaRPr lang="ru-RU" dirty="0"/>
          </a:p>
          <a:p>
            <a:pPr marL="342900" indent="-342900">
              <a:buFont typeface="+mj-lt"/>
              <a:buAutoNum type="arabicParenR"/>
            </a:pPr>
            <a:r>
              <a:rPr lang="ru-RU" dirty="0"/>
              <a:t>Если </a:t>
            </a:r>
            <a:r>
              <a:rPr lang="ru-RU" dirty="0" err="1"/>
              <a:t>where</a:t>
            </a:r>
            <a:r>
              <a:rPr lang="ru-RU" dirty="0"/>
              <a:t> состоит из условий, объединенных </a:t>
            </a:r>
            <a:r>
              <a:rPr lang="ru-RU" b="1" dirty="0"/>
              <a:t>OR</a:t>
            </a:r>
            <a:r>
              <a:rPr lang="ru-RU" dirty="0"/>
              <a:t>,  они должны располагаться в порядке уменьшения вероятности истинности данного условия. Чем быстрее мы получим </a:t>
            </a:r>
            <a:r>
              <a:rPr lang="ru-RU" dirty="0" err="1"/>
              <a:t>true</a:t>
            </a:r>
            <a:r>
              <a:rPr lang="ru-RU" dirty="0"/>
              <a:t>  в одном из условий - тем меньше условий будет обработано и тем быстрее выполняется запрос. </a:t>
            </a:r>
          </a:p>
          <a:p>
            <a:pPr marL="342900" indent="-342900">
              <a:buFont typeface="+mj-lt"/>
              <a:buAutoNum type="arabicParenR"/>
            </a:pPr>
            <a:endParaRPr lang="en-US" dirty="0"/>
          </a:p>
          <a:p>
            <a:pPr marL="342900" indent="-342900">
              <a:buFont typeface="+mj-lt"/>
              <a:buAutoNum type="arabicParenR"/>
            </a:pPr>
            <a:r>
              <a:rPr lang="ru-RU" dirty="0" err="1"/>
              <a:t>Исопльзуйте</a:t>
            </a:r>
            <a:r>
              <a:rPr lang="ru-RU" dirty="0"/>
              <a:t> IN вместо OR. Операция IN работает гораздо быстрее, чем серия OR.  Запрос </a:t>
            </a:r>
            <a:r>
              <a:rPr lang="ru-RU" i="1" dirty="0"/>
              <a:t>"... WHERE column1 = 5 OR column1 = 6"</a:t>
            </a:r>
            <a:r>
              <a:rPr lang="ru-RU" dirty="0"/>
              <a:t> медленнее чем </a:t>
            </a:r>
            <a:r>
              <a:rPr lang="ru-RU" i="1" dirty="0"/>
              <a:t>"...WHERE column1 IN (5, 6)"</a:t>
            </a:r>
            <a:r>
              <a:rPr lang="ru-RU" dirty="0"/>
              <a:t>. </a:t>
            </a:r>
          </a:p>
          <a:p>
            <a:pPr marL="342900" indent="-342900">
              <a:buFont typeface="+mj-lt"/>
              <a:buAutoNum type="arabicParenR"/>
            </a:pPr>
            <a:endParaRPr lang="en-US" dirty="0"/>
          </a:p>
          <a:p>
            <a:pPr marL="342900" indent="-342900">
              <a:buFont typeface="+mj-lt"/>
              <a:buAutoNum type="arabicParenR"/>
            </a:pPr>
            <a:r>
              <a:rPr lang="ru-RU" dirty="0"/>
              <a:t>Используйте </a:t>
            </a:r>
            <a:r>
              <a:rPr lang="ru-RU" dirty="0" err="1"/>
              <a:t>Exists</a:t>
            </a:r>
            <a:r>
              <a:rPr lang="ru-RU" dirty="0"/>
              <a:t> вместо </a:t>
            </a:r>
            <a:r>
              <a:rPr lang="ru-RU" dirty="0" err="1"/>
              <a:t>Count</a:t>
            </a:r>
            <a:r>
              <a:rPr lang="ru-RU" dirty="0"/>
              <a:t> &gt;0 в подзапросах. Используйте </a:t>
            </a:r>
            <a:r>
              <a:rPr lang="ru-RU" dirty="0" err="1"/>
              <a:t>where</a:t>
            </a:r>
            <a:r>
              <a:rPr lang="ru-RU" dirty="0"/>
              <a:t> </a:t>
            </a:r>
            <a:r>
              <a:rPr lang="ru-RU" dirty="0" err="1"/>
              <a:t>exists</a:t>
            </a:r>
            <a:r>
              <a:rPr lang="ru-RU" dirty="0"/>
              <a:t> (</a:t>
            </a:r>
            <a:r>
              <a:rPr lang="ru-RU" dirty="0" err="1"/>
              <a:t>select</a:t>
            </a:r>
            <a:r>
              <a:rPr lang="ru-RU" dirty="0"/>
              <a:t> </a:t>
            </a:r>
            <a:r>
              <a:rPr lang="ru-RU" dirty="0" err="1"/>
              <a:t>id</a:t>
            </a:r>
            <a:r>
              <a:rPr lang="ru-RU" dirty="0"/>
              <a:t> </a:t>
            </a:r>
            <a:r>
              <a:rPr lang="ru-RU" dirty="0" err="1"/>
              <a:t>from</a:t>
            </a:r>
            <a:r>
              <a:rPr lang="ru-RU" dirty="0"/>
              <a:t> t1 </a:t>
            </a:r>
            <a:r>
              <a:rPr lang="ru-RU" dirty="0" err="1"/>
              <a:t>where</a:t>
            </a:r>
            <a:r>
              <a:rPr lang="ru-RU" dirty="0"/>
              <a:t> </a:t>
            </a:r>
            <a:r>
              <a:rPr lang="ru-RU" dirty="0" err="1"/>
              <a:t>id</a:t>
            </a:r>
            <a:r>
              <a:rPr lang="ru-RU" dirty="0"/>
              <a:t> = t.id) вместо </a:t>
            </a:r>
            <a:r>
              <a:rPr lang="ru-RU" dirty="0" err="1"/>
              <a:t>where</a:t>
            </a:r>
            <a:r>
              <a:rPr lang="ru-RU" dirty="0"/>
              <a:t> </a:t>
            </a:r>
            <a:r>
              <a:rPr lang="ru-RU" dirty="0" err="1"/>
              <a:t>count</a:t>
            </a:r>
            <a:r>
              <a:rPr lang="ru-RU" dirty="0"/>
              <a:t>(</a:t>
            </a:r>
            <a:r>
              <a:rPr lang="ru-RU" dirty="0" err="1"/>
              <a:t>select</a:t>
            </a:r>
            <a:r>
              <a:rPr lang="ru-RU" dirty="0"/>
              <a:t> </a:t>
            </a:r>
            <a:r>
              <a:rPr lang="ru-RU" dirty="0" err="1"/>
              <a:t>id</a:t>
            </a:r>
            <a:r>
              <a:rPr lang="ru-RU" dirty="0"/>
              <a:t> </a:t>
            </a:r>
            <a:r>
              <a:rPr lang="ru-RU" dirty="0" err="1"/>
              <a:t>from</a:t>
            </a:r>
            <a:r>
              <a:rPr lang="ru-RU" dirty="0"/>
              <a:t> t1 </a:t>
            </a:r>
            <a:r>
              <a:rPr lang="ru-RU" dirty="0" err="1"/>
              <a:t>where</a:t>
            </a:r>
            <a:r>
              <a:rPr lang="ru-RU" dirty="0"/>
              <a:t> </a:t>
            </a:r>
            <a:r>
              <a:rPr lang="ru-RU" dirty="0" err="1"/>
              <a:t>id</a:t>
            </a:r>
            <a:r>
              <a:rPr lang="ru-RU" dirty="0"/>
              <a:t>=t.id) &gt; 0</a:t>
            </a:r>
          </a:p>
          <a:p>
            <a:pPr marL="342900" indent="-342900">
              <a:buFont typeface="+mj-lt"/>
              <a:buAutoNum type="arabicParenR"/>
            </a:pPr>
            <a:endParaRPr lang="en-US" dirty="0"/>
          </a:p>
          <a:p>
            <a:pPr marL="342900" indent="-342900">
              <a:buFont typeface="+mj-lt"/>
              <a:buAutoNum type="arabicParenR"/>
            </a:pPr>
            <a:r>
              <a:rPr lang="ru-RU" dirty="0"/>
              <a:t>LIKE. Эту операцию следует использовать только при крайней необходимости, потому что лучше и быстрее использовать поиск, основанный на </a:t>
            </a:r>
            <a:r>
              <a:rPr lang="ru-RU" dirty="0" err="1"/>
              <a:t>full-text</a:t>
            </a:r>
            <a:r>
              <a:rPr lang="ru-RU" dirty="0"/>
              <a:t> индексах. </a:t>
            </a:r>
            <a:endParaRPr lang="ru-RU" b="0" i="0" dirty="0">
              <a:effectLst/>
            </a:endParaRPr>
          </a:p>
        </p:txBody>
      </p:sp>
    </p:spTree>
    <p:extLst>
      <p:ext uri="{BB962C8B-B14F-4D97-AF65-F5344CB8AC3E}">
        <p14:creationId xmlns:p14="http://schemas.microsoft.com/office/powerpoint/2010/main" val="37135276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4648"/>
            <a:ext cx="8507288" cy="1143000"/>
          </a:xfrm>
        </p:spPr>
        <p:txBody>
          <a:bodyPr>
            <a:normAutofit/>
          </a:bodyPr>
          <a:lstStyle/>
          <a:p>
            <a:pPr algn="l"/>
            <a:r>
              <a:rPr lang="ru-RU" sz="2800" dirty="0"/>
              <a:t>Советы по оптимизации хранимых процедур и SQL пакетов</a:t>
            </a:r>
          </a:p>
        </p:txBody>
      </p:sp>
      <p:sp>
        <p:nvSpPr>
          <p:cNvPr id="3" name="Номер слайда 2"/>
          <p:cNvSpPr>
            <a:spLocks noGrp="1"/>
          </p:cNvSpPr>
          <p:nvPr>
            <p:ph type="sldNum" sz="quarter" idx="12"/>
          </p:nvPr>
        </p:nvSpPr>
        <p:spPr/>
        <p:txBody>
          <a:bodyPr/>
          <a:lstStyle/>
          <a:p>
            <a:fld id="{1F87023B-4310-42C4-812D-874FAF4871B2}" type="slidenum">
              <a:rPr lang="ru-RU" smtClean="0"/>
              <a:pPr/>
              <a:t>65</a:t>
            </a:fld>
            <a:endParaRPr lang="ru-RU"/>
          </a:p>
        </p:txBody>
      </p:sp>
      <p:sp>
        <p:nvSpPr>
          <p:cNvPr id="5" name="Прямоугольник 4"/>
          <p:cNvSpPr/>
          <p:nvPr/>
        </p:nvSpPr>
        <p:spPr>
          <a:xfrm>
            <a:off x="436712" y="1201747"/>
            <a:ext cx="7992888" cy="3693319"/>
          </a:xfrm>
          <a:prstGeom prst="rect">
            <a:avLst/>
          </a:prstGeom>
        </p:spPr>
        <p:txBody>
          <a:bodyPr wrap="square">
            <a:spAutoFit/>
          </a:bodyPr>
          <a:lstStyle/>
          <a:p>
            <a:r>
              <a:rPr lang="ru-RU" dirty="0"/>
              <a:t>1) Для обработки данных используйте хранимые SQL процедуры.</a:t>
            </a:r>
            <a:endParaRPr lang="en-US" dirty="0"/>
          </a:p>
          <a:p>
            <a:pPr marL="342900" indent="-342900">
              <a:buFont typeface="+mj-lt"/>
              <a:buAutoNum type="arabicParenR"/>
            </a:pPr>
            <a:endParaRPr lang="en-US" dirty="0"/>
          </a:p>
          <a:p>
            <a:r>
              <a:rPr lang="ru-RU" dirty="0"/>
              <a:t>Когда хранимая процедура выполняется в первый раз (и у нее не определена опция WITH RECOMPILE), она оптимизируется, для нее создается план выполнения запроса, который </a:t>
            </a:r>
            <a:r>
              <a:rPr lang="ru-RU" dirty="0" err="1"/>
              <a:t>кешируется</a:t>
            </a:r>
            <a:r>
              <a:rPr lang="ru-RU" dirty="0"/>
              <a:t> SQL сервером. Если та же самая хранимая процедура вызывается снова, она будет использовать </a:t>
            </a:r>
            <a:r>
              <a:rPr lang="ru-RU" dirty="0" err="1"/>
              <a:t>кешированный</a:t>
            </a:r>
            <a:r>
              <a:rPr lang="ru-RU" dirty="0"/>
              <a:t> план выполнения запроса, что экономит время и увеличивает производительность. </a:t>
            </a:r>
          </a:p>
          <a:p>
            <a:endParaRPr lang="ru-RU" dirty="0"/>
          </a:p>
          <a:p>
            <a:r>
              <a:rPr lang="ru-RU" dirty="0"/>
              <a:t>2) Всегда включайте в ваши хранимые процедуры инструкцию "SET NOCOUNT ON". Если Вы не включите эту инструкцию, тогда каждый раз при выполнении запроса SQL сервер отправит ответ клиенту, указывающему число строк, на которые воздействует запрос.</a:t>
            </a:r>
          </a:p>
        </p:txBody>
      </p:sp>
    </p:spTree>
    <p:extLst>
      <p:ext uri="{BB962C8B-B14F-4D97-AF65-F5344CB8AC3E}">
        <p14:creationId xmlns:p14="http://schemas.microsoft.com/office/powerpoint/2010/main" val="25292554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146735"/>
            <a:ext cx="8964488" cy="689977"/>
          </a:xfrm>
        </p:spPr>
        <p:txBody>
          <a:bodyPr>
            <a:noAutofit/>
          </a:bodyPr>
          <a:lstStyle/>
          <a:p>
            <a:pPr algn="l"/>
            <a:r>
              <a:rPr lang="ru-RU" sz="2000" b="1" dirty="0">
                <a:latin typeface="+mn-lt"/>
              </a:rPr>
              <a:t>Рекомендации для увеличения производительности:</a:t>
            </a:r>
            <a:r>
              <a:rPr lang="en-US" sz="2000" b="1" dirty="0">
                <a:latin typeface="+mn-lt"/>
              </a:rPr>
              <a:t> </a:t>
            </a:r>
            <a:r>
              <a:rPr lang="ru-RU" sz="2000" b="1" dirty="0">
                <a:latin typeface="+mn-lt"/>
              </a:rPr>
              <a:t>временные таблицы для больших таблиц, табличные переменные - для малых (меньше 1000)</a:t>
            </a:r>
            <a:r>
              <a:rPr lang="en-US" sz="2000" b="1" dirty="0">
                <a:latin typeface="+mn-lt"/>
              </a:rPr>
              <a:t>.</a:t>
            </a:r>
            <a:endParaRPr lang="ru-RU" sz="2000" b="1" dirty="0">
              <a:latin typeface="+mn-lt"/>
            </a:endParaRPr>
          </a:p>
        </p:txBody>
      </p:sp>
      <p:sp>
        <p:nvSpPr>
          <p:cNvPr id="3" name="Номер слайда 2"/>
          <p:cNvSpPr>
            <a:spLocks noGrp="1"/>
          </p:cNvSpPr>
          <p:nvPr>
            <p:ph type="sldNum" sz="quarter" idx="12"/>
          </p:nvPr>
        </p:nvSpPr>
        <p:spPr>
          <a:xfrm>
            <a:off x="6876256" y="6466987"/>
            <a:ext cx="2133600" cy="365125"/>
          </a:xfrm>
        </p:spPr>
        <p:txBody>
          <a:bodyPr/>
          <a:lstStyle/>
          <a:p>
            <a:fld id="{1F87023B-4310-42C4-812D-874FAF4871B2}" type="slidenum">
              <a:rPr lang="ru-RU" smtClean="0"/>
              <a:pPr/>
              <a:t>66</a:t>
            </a:fld>
            <a:endParaRPr lang="ru-RU" dirty="0"/>
          </a:p>
        </p:txBody>
      </p:sp>
      <p:sp>
        <p:nvSpPr>
          <p:cNvPr id="5" name="Прямоугольник 4"/>
          <p:cNvSpPr/>
          <p:nvPr/>
        </p:nvSpPr>
        <p:spPr>
          <a:xfrm>
            <a:off x="162439" y="859545"/>
            <a:ext cx="8229600" cy="923330"/>
          </a:xfrm>
          <a:prstGeom prst="rect">
            <a:avLst/>
          </a:prstGeom>
        </p:spPr>
        <p:txBody>
          <a:bodyPr wrap="square">
            <a:spAutoFit/>
          </a:bodyPr>
          <a:lstStyle/>
          <a:p>
            <a:r>
              <a:rPr lang="ru-RU" dirty="0"/>
              <a:t>Если требуется хранить промежуточные данные в таблицах, то используйте табличные переменные (@t1) для малых таблиц, а временные таблицы (#t1) - для больших. Временные таблицы бывают локальные (</a:t>
            </a:r>
            <a:r>
              <a:rPr lang="en-US" dirty="0"/>
              <a:t>#</a:t>
            </a:r>
            <a:r>
              <a:rPr lang="ru-RU" dirty="0"/>
              <a:t>)и глобальные</a:t>
            </a:r>
            <a:r>
              <a:rPr lang="en-US" dirty="0"/>
              <a:t> (##)</a:t>
            </a:r>
            <a:r>
              <a:rPr lang="ru-RU" dirty="0"/>
              <a:t>.</a:t>
            </a:r>
          </a:p>
        </p:txBody>
      </p:sp>
      <p:sp>
        <p:nvSpPr>
          <p:cNvPr id="10" name="Прямоугольник 9"/>
          <p:cNvSpPr/>
          <p:nvPr/>
        </p:nvSpPr>
        <p:spPr>
          <a:xfrm>
            <a:off x="179512" y="1739586"/>
            <a:ext cx="8425931" cy="4308872"/>
          </a:xfrm>
          <a:prstGeom prst="rect">
            <a:avLst/>
          </a:prstGeom>
        </p:spPr>
        <p:txBody>
          <a:bodyPr wrap="square">
            <a:spAutoFit/>
          </a:bodyPr>
          <a:lstStyle/>
          <a:p>
            <a:r>
              <a:rPr lang="ru-RU" dirty="0"/>
              <a:t>Например, создадим локальную временную таблицу:</a:t>
            </a:r>
          </a:p>
          <a:p>
            <a:r>
              <a:rPr lang="ru-RU" dirty="0"/>
              <a:t>При определении временной таблицы имеет смысл проверить на существование: </a:t>
            </a:r>
          </a:p>
          <a:p>
            <a:r>
              <a:rPr lang="en-US" sz="1400" dirty="0">
                <a:latin typeface="Courier New" panose="02070309020205020404" pitchFamily="49" charset="0"/>
                <a:cs typeface="Courier New" panose="02070309020205020404" pitchFamily="49" charset="0"/>
              </a:rPr>
              <a:t>IF OBJECT_ID('</a:t>
            </a:r>
            <a:r>
              <a:rPr lang="en-US" sz="1400" dirty="0" err="1">
                <a:latin typeface="Courier New" panose="02070309020205020404" pitchFamily="49" charset="0"/>
                <a:cs typeface="Courier New" panose="02070309020205020404" pitchFamily="49" charset="0"/>
              </a:rPr>
              <a:t>tempdb</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ProductSummary</a:t>
            </a:r>
            <a:r>
              <a:rPr lang="en-US" sz="1400" dirty="0">
                <a:latin typeface="Courier New" panose="02070309020205020404" pitchFamily="49" charset="0"/>
                <a:cs typeface="Courier New" panose="02070309020205020404" pitchFamily="49" charset="0"/>
              </a:rPr>
              <a:t> ') IS NOT NULL begin</a:t>
            </a:r>
          </a:p>
          <a:p>
            <a:r>
              <a:rPr lang="en-US" sz="1400" dirty="0">
                <a:latin typeface="Courier New" panose="02070309020205020404" pitchFamily="49" charset="0"/>
                <a:cs typeface="Courier New" panose="02070309020205020404" pitchFamily="49" charset="0"/>
              </a:rPr>
              <a:t>   DROP TABLE #</a:t>
            </a:r>
            <a:r>
              <a:rPr lang="en-US" sz="1400" dirty="0" err="1">
                <a:latin typeface="Courier New" panose="02070309020205020404" pitchFamily="49" charset="0"/>
                <a:cs typeface="Courier New" panose="02070309020205020404" pitchFamily="49" charset="0"/>
              </a:rPr>
              <a:t>ProductSummary</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End</a:t>
            </a:r>
            <a:endParaRPr lang="ru-RU"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CREATE TABLE #</a:t>
            </a:r>
            <a:r>
              <a:rPr lang="en-US" sz="1400" dirty="0" err="1">
                <a:latin typeface="Courier New" panose="02070309020205020404" pitchFamily="49" charset="0"/>
                <a:cs typeface="Courier New" panose="02070309020205020404" pitchFamily="49" charset="0"/>
              </a:rPr>
              <a:t>ProductSummary</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ProdId</a:t>
            </a:r>
            <a:r>
              <a:rPr lang="en-US" sz="1400" dirty="0">
                <a:latin typeface="Courier New" panose="02070309020205020404" pitchFamily="49" charset="0"/>
                <a:cs typeface="Courier New" panose="02070309020205020404" pitchFamily="49" charset="0"/>
              </a:rPr>
              <a:t> INT primary key</a:t>
            </a:r>
            <a:r>
              <a:rPr lang="ru-RU" sz="1400"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IDENTITY</a:t>
            </a:r>
            <a:r>
              <a:rPr lang="ru-RU" sz="1400" dirty="0">
                <a:latin typeface="Courier New" panose="02070309020205020404" pitchFamily="49" charset="0"/>
                <a:cs typeface="Courier New" panose="02070309020205020404" pitchFamily="49" charset="0"/>
              </a:rPr>
              <a:t>(1,1)</a:t>
            </a:r>
            <a:r>
              <a:rPr lang="en-US" sz="1400" dirty="0">
                <a:latin typeface="Courier New" panose="02070309020205020404" pitchFamily="49" charset="0"/>
                <a:cs typeface="Courier New" panose="02070309020205020404" pitchFamily="49" charset="0"/>
              </a:rPr>
              <a:t>,</a:t>
            </a:r>
          </a:p>
          <a:p>
            <a:r>
              <a:rPr lang="en-US" sz="1400" dirty="0" err="1">
                <a:latin typeface="Courier New" panose="02070309020205020404" pitchFamily="49" charset="0"/>
                <a:cs typeface="Courier New" panose="02070309020205020404" pitchFamily="49" charset="0"/>
              </a:rPr>
              <a:t>ProdName</a:t>
            </a:r>
            <a:r>
              <a:rPr lang="en-US" sz="1400" dirty="0">
                <a:latin typeface="Courier New" panose="02070309020205020404" pitchFamily="49" charset="0"/>
                <a:cs typeface="Courier New" panose="02070309020205020404" pitchFamily="49" charset="0"/>
              </a:rPr>
              <a:t> NVARCHAR(20),</a:t>
            </a:r>
          </a:p>
          <a:p>
            <a:r>
              <a:rPr lang="en-US" sz="1400" dirty="0">
                <a:latin typeface="Courier New" panose="02070309020205020404" pitchFamily="49" charset="0"/>
                <a:cs typeface="Courier New" panose="02070309020205020404" pitchFamily="49" charset="0"/>
              </a:rPr>
              <a:t>Price Dec(8,2))</a:t>
            </a:r>
          </a:p>
          <a:p>
            <a:r>
              <a:rPr lang="en-US" sz="1400" dirty="0">
                <a:latin typeface="Courier New" panose="02070309020205020404" pitchFamily="49" charset="0"/>
                <a:cs typeface="Courier New" panose="02070309020205020404" pitchFamily="49" charset="0"/>
              </a:rPr>
              <a:t> </a:t>
            </a:r>
            <a:endParaRPr lang="ru-RU"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INSERT INTO #</a:t>
            </a:r>
            <a:r>
              <a:rPr lang="en-US" sz="1400" dirty="0" err="1">
                <a:latin typeface="Courier New" panose="02070309020205020404" pitchFamily="49" charset="0"/>
                <a:cs typeface="Courier New" panose="02070309020205020404" pitchFamily="49" charset="0"/>
              </a:rPr>
              <a:t>ProductSummary</a:t>
            </a:r>
            <a:endParaRPr lang="ru-RU"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VALUES ('Nokia 8', 18000),</a:t>
            </a:r>
            <a:endParaRPr lang="ru-RU"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('iPhone 8', 56000)</a:t>
            </a:r>
            <a:endParaRPr lang="ru-RU"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endParaRPr lang="ru-RU" sz="1400" dirty="0">
              <a:latin typeface="Courier New" panose="02070309020205020404" pitchFamily="49" charset="0"/>
              <a:cs typeface="Courier New" panose="02070309020205020404" pitchFamily="49" charset="0"/>
            </a:endParaRPr>
          </a:p>
          <a:p>
            <a:r>
              <a:rPr lang="ru-RU" sz="1400" dirty="0">
                <a:latin typeface="Courier New" panose="02070309020205020404" pitchFamily="49" charset="0"/>
                <a:cs typeface="Courier New" panose="02070309020205020404" pitchFamily="49" charset="0"/>
              </a:rPr>
              <a:t>SELECT * FROM #</a:t>
            </a:r>
            <a:r>
              <a:rPr lang="ru-RU" sz="1400" dirty="0" err="1">
                <a:latin typeface="Courier New" panose="02070309020205020404" pitchFamily="49" charset="0"/>
                <a:cs typeface="Courier New" panose="02070309020205020404" pitchFamily="49" charset="0"/>
              </a:rPr>
              <a:t>ProductSummary</a:t>
            </a:r>
            <a:endParaRPr lang="ru-RU" sz="1400" dirty="0">
              <a:latin typeface="Courier New" panose="02070309020205020404" pitchFamily="49" charset="0"/>
              <a:cs typeface="Courier New" panose="02070309020205020404" pitchFamily="49" charset="0"/>
            </a:endParaRPr>
          </a:p>
          <a:p>
            <a:endParaRPr lang="ru-RU" sz="1400" dirty="0">
              <a:latin typeface="Courier New" panose="02070309020205020404" pitchFamily="49" charset="0"/>
              <a:cs typeface="Courier New" panose="02070309020205020404" pitchFamily="49" charset="0"/>
            </a:endParaRPr>
          </a:p>
          <a:p>
            <a:r>
              <a:rPr lang="ru-RU" sz="1400" dirty="0">
                <a:latin typeface="Courier New" panose="02070309020205020404" pitchFamily="49" charset="0"/>
                <a:cs typeface="Courier New" panose="02070309020205020404" pitchFamily="49" charset="0"/>
              </a:rPr>
              <a:t>-- Очистка временной таблицы</a:t>
            </a:r>
          </a:p>
          <a:p>
            <a:r>
              <a:rPr lang="ru-RU" sz="1400" dirty="0">
                <a:latin typeface="Courier New" panose="02070309020205020404" pitchFamily="49" charset="0"/>
                <a:cs typeface="Courier New" panose="02070309020205020404" pitchFamily="49" charset="0"/>
              </a:rPr>
              <a:t>TRUNCATE TABLE #</a:t>
            </a:r>
            <a:r>
              <a:rPr lang="ru-RU" sz="1400" dirty="0" err="1">
                <a:latin typeface="Courier New" panose="02070309020205020404" pitchFamily="49" charset="0"/>
                <a:cs typeface="Courier New" panose="02070309020205020404" pitchFamily="49" charset="0"/>
              </a:rPr>
              <a:t>ProductSummary</a:t>
            </a:r>
            <a:endParaRPr lang="ru-RU" sz="1400" dirty="0">
              <a:latin typeface="Courier New" panose="02070309020205020404" pitchFamily="49" charset="0"/>
              <a:cs typeface="Courier New" panose="02070309020205020404" pitchFamily="49" charset="0"/>
            </a:endParaRPr>
          </a:p>
        </p:txBody>
      </p:sp>
      <p:sp>
        <p:nvSpPr>
          <p:cNvPr id="14" name="Прямоугольник 13"/>
          <p:cNvSpPr/>
          <p:nvPr/>
        </p:nvSpPr>
        <p:spPr>
          <a:xfrm>
            <a:off x="179512" y="6183927"/>
            <a:ext cx="8900218" cy="646331"/>
          </a:xfrm>
          <a:prstGeom prst="rect">
            <a:avLst/>
          </a:prstGeom>
        </p:spPr>
        <p:txBody>
          <a:bodyPr wrap="square">
            <a:spAutoFit/>
          </a:bodyPr>
          <a:lstStyle/>
          <a:p>
            <a:r>
              <a:rPr lang="ru-RU" dirty="0"/>
              <a:t>Временная таблица храниться физически в </a:t>
            </a:r>
            <a:r>
              <a:rPr lang="ru-RU" dirty="0" err="1"/>
              <a:t>tempdb</a:t>
            </a:r>
            <a:r>
              <a:rPr lang="en-US" dirty="0"/>
              <a:t>. </a:t>
            </a:r>
            <a:r>
              <a:rPr lang="ru-RU" dirty="0"/>
              <a:t>Временная таблица удаляется автоматически после завершения последнего сеанса с ее использованием.</a:t>
            </a:r>
          </a:p>
        </p:txBody>
      </p:sp>
    </p:spTree>
    <p:extLst>
      <p:ext uri="{BB962C8B-B14F-4D97-AF65-F5344CB8AC3E}">
        <p14:creationId xmlns:p14="http://schemas.microsoft.com/office/powerpoint/2010/main" val="14162925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a:bodyPr>
          <a:lstStyle/>
          <a:p>
            <a:r>
              <a:rPr lang="ru-RU" sz="2800" b="1" dirty="0"/>
              <a:t>Обобщенные табличные выражения</a:t>
            </a:r>
          </a:p>
        </p:txBody>
      </p:sp>
      <p:sp>
        <p:nvSpPr>
          <p:cNvPr id="3" name="Номер слайда 2"/>
          <p:cNvSpPr>
            <a:spLocks noGrp="1"/>
          </p:cNvSpPr>
          <p:nvPr>
            <p:ph type="sldNum" sz="quarter" idx="12"/>
          </p:nvPr>
        </p:nvSpPr>
        <p:spPr/>
        <p:txBody>
          <a:bodyPr/>
          <a:lstStyle/>
          <a:p>
            <a:fld id="{1F87023B-4310-42C4-812D-874FAF4871B2}" type="slidenum">
              <a:rPr lang="ru-RU" smtClean="0"/>
              <a:pPr/>
              <a:t>67</a:t>
            </a:fld>
            <a:endParaRPr lang="ru-RU"/>
          </a:p>
        </p:txBody>
      </p:sp>
      <p:sp>
        <p:nvSpPr>
          <p:cNvPr id="5" name="Прямоугольник 4"/>
          <p:cNvSpPr/>
          <p:nvPr/>
        </p:nvSpPr>
        <p:spPr>
          <a:xfrm>
            <a:off x="323528" y="1124744"/>
            <a:ext cx="8363272" cy="1477328"/>
          </a:xfrm>
          <a:prstGeom prst="rect">
            <a:avLst/>
          </a:prstGeom>
        </p:spPr>
        <p:txBody>
          <a:bodyPr wrap="square">
            <a:spAutoFit/>
          </a:bodyPr>
          <a:lstStyle/>
          <a:p>
            <a:r>
              <a:rPr lang="ru-RU" dirty="0"/>
              <a:t>Кроме временных таблиц MS SQL </a:t>
            </a:r>
            <a:r>
              <a:rPr lang="ru-RU" dirty="0" err="1"/>
              <a:t>Server</a:t>
            </a:r>
            <a:r>
              <a:rPr lang="ru-RU" dirty="0"/>
              <a:t> позволяет создавать обобщенные табличные выражения (</a:t>
            </a:r>
            <a:r>
              <a:rPr lang="ru-RU" dirty="0" err="1"/>
              <a:t>common</a:t>
            </a:r>
            <a:r>
              <a:rPr lang="ru-RU" dirty="0"/>
              <a:t> </a:t>
            </a:r>
            <a:r>
              <a:rPr lang="ru-RU" dirty="0" err="1"/>
              <a:t>table</a:t>
            </a:r>
            <a:r>
              <a:rPr lang="ru-RU" dirty="0"/>
              <a:t> </a:t>
            </a:r>
            <a:r>
              <a:rPr lang="ru-RU" dirty="0" err="1"/>
              <a:t>expression</a:t>
            </a:r>
            <a:r>
              <a:rPr lang="ru-RU" dirty="0"/>
              <a:t> или CTE), которые являются производными от обычного запроса и в плане производительности являются более эффективным решением, чем временные. Обобщенное табличное выражение задается с помощью ключевого слова WITH:</a:t>
            </a:r>
          </a:p>
        </p:txBody>
      </p:sp>
      <p:sp>
        <p:nvSpPr>
          <p:cNvPr id="7" name="Прямоугольник 6"/>
          <p:cNvSpPr/>
          <p:nvPr/>
        </p:nvSpPr>
        <p:spPr>
          <a:xfrm>
            <a:off x="457200" y="2708920"/>
            <a:ext cx="7139136" cy="2349361"/>
          </a:xfrm>
          <a:prstGeom prst="rect">
            <a:avLst/>
          </a:prstGeom>
        </p:spPr>
        <p:txBody>
          <a:bodyPr wrap="square">
            <a:spAutoFit/>
          </a:bodyPr>
          <a:lstStyle/>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WITH </a:t>
            </a:r>
            <a:r>
              <a:rPr lang="en-US" sz="1400" dirty="0" err="1">
                <a:solidFill>
                  <a:srgbClr val="000000"/>
                </a:solidFill>
                <a:ea typeface="Times New Roman" panose="02020603050405020304" pitchFamily="18" charset="0"/>
                <a:cs typeface="Times New Roman" panose="02020603050405020304" pitchFamily="18" charset="0"/>
              </a:rPr>
              <a:t>OrdersInfo</a:t>
            </a:r>
            <a:r>
              <a:rPr lang="en-US" sz="1400" dirty="0">
                <a:solidFill>
                  <a:srgbClr val="000000"/>
                </a:solidFill>
                <a:ea typeface="Times New Roman" panose="02020603050405020304" pitchFamily="18" charset="0"/>
                <a:cs typeface="Times New Roman" panose="02020603050405020304" pitchFamily="18" charset="0"/>
              </a:rPr>
              <a:t> AS</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    SELECT </a:t>
            </a:r>
            <a:r>
              <a:rPr lang="en-US" sz="1400" dirty="0" err="1">
                <a:solidFill>
                  <a:srgbClr val="000000"/>
                </a:solidFill>
                <a:ea typeface="Times New Roman" panose="02020603050405020304" pitchFamily="18" charset="0"/>
                <a:cs typeface="Times New Roman" panose="02020603050405020304" pitchFamily="18" charset="0"/>
              </a:rPr>
              <a:t>ProductId</a:t>
            </a:r>
            <a:r>
              <a:rPr lang="en-US" sz="1400" dirty="0">
                <a:solidFill>
                  <a:srgbClr val="000000"/>
                </a:solidFill>
                <a:ea typeface="Times New Roman" panose="02020603050405020304" pitchFamily="18" charset="0"/>
                <a:cs typeface="Times New Roman" panose="02020603050405020304" pitchFamily="18" charset="0"/>
              </a:rPr>
              <a:t>, </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        SUM(</a:t>
            </a:r>
            <a:r>
              <a:rPr lang="en-US" sz="1400" dirty="0" err="1">
                <a:solidFill>
                  <a:srgbClr val="000000"/>
                </a:solidFill>
                <a:ea typeface="Times New Roman" panose="02020603050405020304" pitchFamily="18" charset="0"/>
                <a:cs typeface="Times New Roman" panose="02020603050405020304" pitchFamily="18" charset="0"/>
              </a:rPr>
              <a:t>ProductCount</a:t>
            </a:r>
            <a:r>
              <a:rPr lang="en-US" sz="1400" dirty="0">
                <a:solidFill>
                  <a:srgbClr val="000000"/>
                </a:solidFill>
                <a:ea typeface="Times New Roman" panose="02020603050405020304" pitchFamily="18" charset="0"/>
                <a:cs typeface="Times New Roman" panose="02020603050405020304" pitchFamily="18" charset="0"/>
              </a:rPr>
              <a:t>) AS </a:t>
            </a:r>
            <a:r>
              <a:rPr lang="en-US" sz="1400" dirty="0" err="1">
                <a:solidFill>
                  <a:srgbClr val="000000"/>
                </a:solidFill>
                <a:ea typeface="Times New Roman" panose="02020603050405020304" pitchFamily="18" charset="0"/>
                <a:cs typeface="Times New Roman" panose="02020603050405020304" pitchFamily="18" charset="0"/>
              </a:rPr>
              <a:t>TotalCount</a:t>
            </a:r>
            <a:r>
              <a:rPr lang="en-US" sz="1400" dirty="0">
                <a:solidFill>
                  <a:srgbClr val="000000"/>
                </a:solidFill>
                <a:ea typeface="Times New Roman" panose="02020603050405020304" pitchFamily="18" charset="0"/>
                <a:cs typeface="Times New Roman" panose="02020603050405020304" pitchFamily="18" charset="0"/>
              </a:rPr>
              <a:t>, </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        SUM(</a:t>
            </a:r>
            <a:r>
              <a:rPr lang="en-US" sz="1400" dirty="0" err="1">
                <a:solidFill>
                  <a:srgbClr val="000000"/>
                </a:solidFill>
                <a:ea typeface="Times New Roman" panose="02020603050405020304" pitchFamily="18" charset="0"/>
                <a:cs typeface="Times New Roman" panose="02020603050405020304" pitchFamily="18" charset="0"/>
              </a:rPr>
              <a:t>ProductCount</a:t>
            </a:r>
            <a:r>
              <a:rPr lang="en-US" sz="1400" dirty="0">
                <a:solidFill>
                  <a:srgbClr val="000000"/>
                </a:solidFill>
                <a:ea typeface="Times New Roman" panose="02020603050405020304" pitchFamily="18" charset="0"/>
                <a:cs typeface="Times New Roman" panose="02020603050405020304" pitchFamily="18" charset="0"/>
              </a:rPr>
              <a:t> * Price) AS </a:t>
            </a:r>
            <a:r>
              <a:rPr lang="en-US" sz="1400" dirty="0" err="1">
                <a:solidFill>
                  <a:srgbClr val="000000"/>
                </a:solidFill>
                <a:ea typeface="Times New Roman" panose="02020603050405020304" pitchFamily="18" charset="0"/>
                <a:cs typeface="Times New Roman" panose="02020603050405020304" pitchFamily="18" charset="0"/>
              </a:rPr>
              <a:t>TotalSum</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    FROM Orders</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    GROUP BY </a:t>
            </a:r>
            <a:r>
              <a:rPr lang="en-US" sz="1400" dirty="0" err="1">
                <a:solidFill>
                  <a:srgbClr val="000000"/>
                </a:solidFill>
                <a:ea typeface="Times New Roman" panose="02020603050405020304" pitchFamily="18" charset="0"/>
                <a:cs typeface="Times New Roman" panose="02020603050405020304" pitchFamily="18" charset="0"/>
              </a:rPr>
              <a:t>ProductId</a:t>
            </a:r>
            <a:endParaRPr lang="ru-RU" sz="1400" dirty="0">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Times New Roman" panose="02020603050405020304" pitchFamily="18" charset="0"/>
                <a:cs typeface="Times New Roman" panose="02020603050405020304" pitchFamily="18" charset="0"/>
              </a:rPr>
              <a:t>)</a:t>
            </a:r>
          </a:p>
          <a:p>
            <a:pPr>
              <a:lnSpc>
                <a:spcPts val="1575"/>
              </a:lnSpc>
              <a:spcAft>
                <a:spcPts val="0"/>
              </a:spcAft>
            </a:pPr>
            <a:endParaRPr lang="en-US" sz="1400" dirty="0">
              <a:solidFill>
                <a:srgbClr val="000000"/>
              </a:solidFill>
              <a:effectLst/>
              <a:ea typeface="Calibri" panose="020F0502020204030204" pitchFamily="34" charset="0"/>
              <a:cs typeface="Times New Roman" panose="02020603050405020304" pitchFamily="18" charset="0"/>
            </a:endParaRPr>
          </a:p>
          <a:p>
            <a:pPr>
              <a:lnSpc>
                <a:spcPts val="1575"/>
              </a:lnSpc>
              <a:spcAft>
                <a:spcPts val="0"/>
              </a:spcAft>
            </a:pPr>
            <a:r>
              <a:rPr lang="en-US" sz="1400" dirty="0">
                <a:solidFill>
                  <a:srgbClr val="000000"/>
                </a:solidFill>
                <a:ea typeface="Calibri" panose="020F0502020204030204" pitchFamily="34" charset="0"/>
                <a:cs typeface="Times New Roman" panose="02020603050405020304" pitchFamily="18" charset="0"/>
              </a:rPr>
              <a:t>SELECT *</a:t>
            </a:r>
          </a:p>
          <a:p>
            <a:pPr>
              <a:lnSpc>
                <a:spcPts val="1575"/>
              </a:lnSpc>
              <a:spcAft>
                <a:spcPts val="0"/>
              </a:spcAft>
            </a:pPr>
            <a:r>
              <a:rPr lang="en-US" sz="1400" dirty="0">
                <a:solidFill>
                  <a:srgbClr val="000000"/>
                </a:solidFill>
                <a:ea typeface="Calibri" panose="020F0502020204030204" pitchFamily="34" charset="0"/>
                <a:cs typeface="Times New Roman" panose="02020603050405020304" pitchFamily="18" charset="0"/>
              </a:rPr>
              <a:t>FROM </a:t>
            </a:r>
            <a:r>
              <a:rPr lang="en-US" sz="1400" dirty="0" err="1">
                <a:solidFill>
                  <a:srgbClr val="000000"/>
                </a:solidFill>
                <a:ea typeface="Calibri" panose="020F0502020204030204" pitchFamily="34" charset="0"/>
                <a:cs typeface="Times New Roman" panose="02020603050405020304" pitchFamily="18" charset="0"/>
              </a:rPr>
              <a:t>OrdersInfo</a:t>
            </a:r>
            <a:r>
              <a:rPr lang="en-US" sz="1400" dirty="0">
                <a:solidFill>
                  <a:srgbClr val="000000"/>
                </a:solidFill>
                <a:ea typeface="Calibri" panose="020F0502020204030204" pitchFamily="34" charset="0"/>
                <a:cs typeface="Times New Roman" panose="02020603050405020304" pitchFamily="18" charset="0"/>
              </a:rPr>
              <a:t> </a:t>
            </a:r>
            <a:endParaRPr lang="ru-RU" sz="1400" dirty="0">
              <a:effectLst/>
              <a:ea typeface="Calibri" panose="020F0502020204030204" pitchFamily="34" charset="0"/>
              <a:cs typeface="Times New Roman" panose="02020603050405020304" pitchFamily="18" charset="0"/>
            </a:endParaRPr>
          </a:p>
        </p:txBody>
      </p:sp>
      <p:sp>
        <p:nvSpPr>
          <p:cNvPr id="9" name="Прямоугольник 8"/>
          <p:cNvSpPr/>
          <p:nvPr/>
        </p:nvSpPr>
        <p:spPr>
          <a:xfrm>
            <a:off x="323528" y="5058281"/>
            <a:ext cx="8046640" cy="1754326"/>
          </a:xfrm>
          <a:prstGeom prst="rect">
            <a:avLst/>
          </a:prstGeom>
        </p:spPr>
        <p:txBody>
          <a:bodyPr wrap="square">
            <a:spAutoFit/>
          </a:bodyPr>
          <a:lstStyle/>
          <a:p>
            <a:r>
              <a:rPr lang="ru-RU" dirty="0"/>
              <a:t>Обобщённые табличные выражения были добавлены в SQL для упрощения сложных длинных запросов, особенно с множественными подзапросами. Их главная задача – улучшение читабельности, простоты написания запросов и их дальнейшей поддержки. Это происходит за счёт сокрытия больших и сложных запросов в созданные именованные выражения, которые потом используются в основном запросе.</a:t>
            </a:r>
          </a:p>
        </p:txBody>
      </p:sp>
    </p:spTree>
    <p:extLst>
      <p:ext uri="{BB962C8B-B14F-4D97-AF65-F5344CB8AC3E}">
        <p14:creationId xmlns:p14="http://schemas.microsoft.com/office/powerpoint/2010/main" val="40551689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rmAutofit/>
          </a:bodyPr>
          <a:lstStyle/>
          <a:p>
            <a:r>
              <a:rPr lang="ru-RU" sz="2800" dirty="0"/>
              <a:t>Лучшие кандидаты на установку индекса</a:t>
            </a:r>
          </a:p>
        </p:txBody>
      </p:sp>
      <p:sp>
        <p:nvSpPr>
          <p:cNvPr id="3" name="Номер слайда 2"/>
          <p:cNvSpPr>
            <a:spLocks noGrp="1"/>
          </p:cNvSpPr>
          <p:nvPr>
            <p:ph type="sldNum" sz="quarter" idx="12"/>
          </p:nvPr>
        </p:nvSpPr>
        <p:spPr/>
        <p:txBody>
          <a:bodyPr/>
          <a:lstStyle/>
          <a:p>
            <a:fld id="{1F87023B-4310-42C4-812D-874FAF4871B2}" type="slidenum">
              <a:rPr lang="ru-RU" smtClean="0"/>
              <a:pPr/>
              <a:t>68</a:t>
            </a:fld>
            <a:endParaRPr lang="ru-RU"/>
          </a:p>
        </p:txBody>
      </p:sp>
      <p:sp>
        <p:nvSpPr>
          <p:cNvPr id="5" name="Прямоугольник 4"/>
          <p:cNvSpPr/>
          <p:nvPr/>
        </p:nvSpPr>
        <p:spPr>
          <a:xfrm>
            <a:off x="755576" y="1268760"/>
            <a:ext cx="7931224" cy="1200329"/>
          </a:xfrm>
          <a:prstGeom prst="rect">
            <a:avLst/>
          </a:prstGeom>
        </p:spPr>
        <p:txBody>
          <a:bodyPr wrap="square">
            <a:spAutoFit/>
          </a:bodyPr>
          <a:lstStyle/>
          <a:p>
            <a:pPr marL="342900" indent="-342900">
              <a:buFont typeface="+mj-lt"/>
              <a:buAutoNum type="arabicParenR"/>
            </a:pPr>
            <a:r>
              <a:rPr lang="ru-RU" dirty="0"/>
              <a:t>Это поля, по которым идет J</a:t>
            </a:r>
            <a:r>
              <a:rPr lang="en-US" dirty="0"/>
              <a:t>OIN</a:t>
            </a:r>
            <a:endParaRPr lang="ru-RU" dirty="0"/>
          </a:p>
          <a:p>
            <a:pPr marL="342900" indent="-342900">
              <a:buFont typeface="+mj-lt"/>
              <a:buAutoNum type="arabicParenR"/>
            </a:pPr>
            <a:r>
              <a:rPr lang="ru-RU" dirty="0"/>
              <a:t>Поля связи, участвующие в подзапросах</a:t>
            </a:r>
          </a:p>
          <a:p>
            <a:pPr marL="342900" indent="-342900">
              <a:buFont typeface="+mj-lt"/>
              <a:buAutoNum type="arabicParenR"/>
            </a:pPr>
            <a:r>
              <a:rPr lang="ru-RU" dirty="0"/>
              <a:t>Поля, по которым идет фильтрация в </a:t>
            </a:r>
            <a:r>
              <a:rPr lang="en-US" dirty="0"/>
              <a:t>WHERE</a:t>
            </a:r>
            <a:endParaRPr lang="ru-RU" dirty="0"/>
          </a:p>
          <a:p>
            <a:pPr marL="342900" indent="-342900">
              <a:buFont typeface="+mj-lt"/>
              <a:buAutoNum type="arabicParenR"/>
            </a:pPr>
            <a:r>
              <a:rPr lang="ru-RU" dirty="0"/>
              <a:t>Поля, по которым выполняется сортировка</a:t>
            </a:r>
          </a:p>
        </p:txBody>
      </p:sp>
    </p:spTree>
    <p:extLst>
      <p:ext uri="{BB962C8B-B14F-4D97-AF65-F5344CB8AC3E}">
        <p14:creationId xmlns:p14="http://schemas.microsoft.com/office/powerpoint/2010/main" val="41950686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116632"/>
            <a:ext cx="8229600" cy="634082"/>
          </a:xfrm>
        </p:spPr>
        <p:txBody>
          <a:bodyPr>
            <a:normAutofit fontScale="90000"/>
          </a:bodyPr>
          <a:lstStyle/>
          <a:p>
            <a:r>
              <a:rPr lang="en-US" dirty="0"/>
              <a:t>SQL </a:t>
            </a:r>
            <a:r>
              <a:rPr lang="ru-RU" dirty="0"/>
              <a:t>инъекция </a:t>
            </a:r>
            <a:r>
              <a:rPr lang="en-US" dirty="0"/>
              <a:t>(SQL injection</a:t>
            </a:r>
            <a:r>
              <a:rPr lang="ru-RU" dirty="0"/>
              <a:t> - </a:t>
            </a:r>
            <a:r>
              <a:rPr lang="en-US" dirty="0" err="1"/>
              <a:t>SQLi</a:t>
            </a:r>
            <a:r>
              <a:rPr lang="en-US" dirty="0"/>
              <a:t>)</a:t>
            </a:r>
            <a:endParaRPr lang="ru-RU" dirty="0"/>
          </a:p>
        </p:txBody>
      </p:sp>
      <p:sp>
        <p:nvSpPr>
          <p:cNvPr id="3" name="Номер слайда 2"/>
          <p:cNvSpPr>
            <a:spLocks noGrp="1"/>
          </p:cNvSpPr>
          <p:nvPr>
            <p:ph type="sldNum" sz="quarter" idx="12"/>
          </p:nvPr>
        </p:nvSpPr>
        <p:spPr>
          <a:xfrm>
            <a:off x="7000600" y="6431332"/>
            <a:ext cx="2133600" cy="365125"/>
          </a:xfrm>
        </p:spPr>
        <p:txBody>
          <a:bodyPr/>
          <a:lstStyle/>
          <a:p>
            <a:fld id="{1F87023B-4310-42C4-812D-874FAF4871B2}" type="slidenum">
              <a:rPr lang="ru-RU" smtClean="0"/>
              <a:pPr/>
              <a:t>69</a:t>
            </a:fld>
            <a:endParaRPr lang="ru-RU" dirty="0"/>
          </a:p>
        </p:txBody>
      </p:sp>
      <p:sp>
        <p:nvSpPr>
          <p:cNvPr id="5" name="TextBox 4"/>
          <p:cNvSpPr txBox="1"/>
          <p:nvPr/>
        </p:nvSpPr>
        <p:spPr>
          <a:xfrm>
            <a:off x="662775" y="1052736"/>
            <a:ext cx="7787208" cy="1200329"/>
          </a:xfrm>
          <a:prstGeom prst="rect">
            <a:avLst/>
          </a:prstGeom>
          <a:noFill/>
        </p:spPr>
        <p:txBody>
          <a:bodyPr wrap="square" rtlCol="0">
            <a:spAutoFit/>
          </a:bodyPr>
          <a:lstStyle/>
          <a:p>
            <a:r>
              <a:rPr lang="en-US" dirty="0"/>
              <a:t>SQL</a:t>
            </a:r>
            <a:r>
              <a:rPr lang="ru-RU" dirty="0"/>
              <a:t> инъекция – это уязвимость веб-безопасности, которая позволяет злоумышленнику вмешиваться в запросы, которые приложение делает к своей базе данных для манипулирования базой данных и получения доступа к потенциально ценной информации. </a:t>
            </a:r>
          </a:p>
        </p:txBody>
      </p:sp>
      <p:pic>
        <p:nvPicPr>
          <p:cNvPr id="7" name="Рисунок 1"/>
          <p:cNvPicPr>
            <a:picLocks noChangeAspect="1" noChangeArrowheads="1"/>
          </p:cNvPicPr>
          <p:nvPr/>
        </p:nvPicPr>
        <p:blipFill>
          <a:blip r:embed="rId2">
            <a:extLst>
              <a:ext uri="{28A0092B-C50C-407E-A947-70E740481C1C}">
                <a14:useLocalDpi xmlns:a14="http://schemas.microsoft.com/office/drawing/2010/main" val="0"/>
              </a:ext>
            </a:extLst>
          </a:blip>
          <a:srcRect l="11203" t="27177" r="31108" b="29076"/>
          <a:stretch>
            <a:fillRect/>
          </a:stretch>
        </p:blipFill>
        <p:spPr bwMode="auto">
          <a:xfrm>
            <a:off x="1187624" y="2780928"/>
            <a:ext cx="6235377" cy="26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322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90066"/>
          </a:xfrm>
        </p:spPr>
        <p:txBody>
          <a:bodyPr>
            <a:normAutofit fontScale="90000"/>
          </a:bodyPr>
          <a:lstStyle/>
          <a:p>
            <a:r>
              <a:rPr lang="ru-RU" sz="3100" b="1" dirty="0"/>
              <a:t>Проблемы, вызванные SQL Инъекцией:</a:t>
            </a:r>
            <a:endParaRPr lang="ru-RU"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70</a:t>
            </a:fld>
            <a:endParaRPr lang="ru-RU"/>
          </a:p>
        </p:txBody>
      </p:sp>
      <p:sp>
        <p:nvSpPr>
          <p:cNvPr id="4" name="Прямоугольник 3"/>
          <p:cNvSpPr/>
          <p:nvPr/>
        </p:nvSpPr>
        <p:spPr>
          <a:xfrm>
            <a:off x="457200" y="1184027"/>
            <a:ext cx="8075240" cy="2578655"/>
          </a:xfrm>
          <a:prstGeom prst="rect">
            <a:avLst/>
          </a:prstGeom>
        </p:spPr>
        <p:txBody>
          <a:bodyPr wrap="square">
            <a:spAutoFit/>
          </a:bodyPr>
          <a:lstStyle/>
          <a:p>
            <a:pPr marL="342900" lvl="0" indent="-342900">
              <a:lnSpc>
                <a:spcPct val="115000"/>
              </a:lnSpc>
              <a:spcAft>
                <a:spcPts val="1000"/>
              </a:spcAft>
              <a:buFont typeface="+mj-lt"/>
              <a:buAutoNum type="arabicPeriod"/>
              <a:tabLst>
                <a:tab pos="457200" algn="l"/>
              </a:tabLst>
            </a:pPr>
            <a:r>
              <a:rPr lang="ru-RU" b="1" dirty="0">
                <a:ea typeface="Calibri" panose="020F0502020204030204" pitchFamily="34" charset="0"/>
                <a:cs typeface="Times New Roman" panose="02020603050405020304" pitchFamily="18" charset="0"/>
              </a:rPr>
              <a:t>Утечка данных:</a:t>
            </a:r>
            <a:r>
              <a:rPr lang="ru-RU" dirty="0">
                <a:ea typeface="Calibri" panose="020F0502020204030204" pitchFamily="34" charset="0"/>
                <a:cs typeface="Times New Roman" panose="02020603050405020304" pitchFamily="18" charset="0"/>
              </a:rPr>
              <a:t> Злоумышленники могут получить доступ к конфиденциальным данным, таким как пароли, кредитные карты или личная информация.</a:t>
            </a:r>
          </a:p>
          <a:p>
            <a:pPr marL="342900" lvl="0" indent="-342900">
              <a:lnSpc>
                <a:spcPct val="115000"/>
              </a:lnSpc>
              <a:spcAft>
                <a:spcPts val="1000"/>
              </a:spcAft>
              <a:buFont typeface="+mj-lt"/>
              <a:buAutoNum type="arabicPeriod"/>
              <a:tabLst>
                <a:tab pos="457200" algn="l"/>
              </a:tabLst>
            </a:pPr>
            <a:r>
              <a:rPr lang="ru-RU" b="1" dirty="0">
                <a:ea typeface="Calibri" panose="020F0502020204030204" pitchFamily="34" charset="0"/>
                <a:cs typeface="Times New Roman" panose="02020603050405020304" pitchFamily="18" charset="0"/>
              </a:rPr>
              <a:t>Изменение данных:</a:t>
            </a:r>
            <a:r>
              <a:rPr lang="ru-RU" dirty="0">
                <a:ea typeface="Calibri" panose="020F0502020204030204" pitchFamily="34" charset="0"/>
                <a:cs typeface="Times New Roman" panose="02020603050405020304" pitchFamily="18" charset="0"/>
              </a:rPr>
              <a:t> Атакующие могут изменять данные в базе данных, что может привести к разрушению целостности данных.</a:t>
            </a:r>
          </a:p>
          <a:p>
            <a:pPr marL="342900" lvl="0" indent="-342900">
              <a:lnSpc>
                <a:spcPct val="115000"/>
              </a:lnSpc>
              <a:spcAft>
                <a:spcPts val="1000"/>
              </a:spcAft>
              <a:buFont typeface="+mj-lt"/>
              <a:buAutoNum type="arabicPeriod"/>
              <a:tabLst>
                <a:tab pos="457200" algn="l"/>
              </a:tabLst>
            </a:pPr>
            <a:r>
              <a:rPr lang="ru-RU" b="1" dirty="0">
                <a:ea typeface="Calibri" panose="020F0502020204030204" pitchFamily="34" charset="0"/>
                <a:cs typeface="Times New Roman" panose="02020603050405020304" pitchFamily="18" charset="0"/>
              </a:rPr>
              <a:t>Отказ в обслуживании:</a:t>
            </a:r>
            <a:r>
              <a:rPr lang="ru-RU" dirty="0">
                <a:ea typeface="Calibri" panose="020F0502020204030204" pitchFamily="34" charset="0"/>
                <a:cs typeface="Times New Roman" panose="02020603050405020304" pitchFamily="18" charset="0"/>
              </a:rPr>
              <a:t> SQL инъекция может вызвать перегрузку сервера и отказ в обслуживании, так как запросы выполняются в бесконечном цикле.</a:t>
            </a:r>
          </a:p>
        </p:txBody>
      </p:sp>
    </p:spTree>
    <p:extLst>
      <p:ext uri="{BB962C8B-B14F-4D97-AF65-F5344CB8AC3E}">
        <p14:creationId xmlns:p14="http://schemas.microsoft.com/office/powerpoint/2010/main" val="8148843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6762"/>
            <a:ext cx="8229600" cy="418058"/>
          </a:xfrm>
        </p:spPr>
        <p:txBody>
          <a:bodyPr>
            <a:normAutofit fontScale="90000"/>
          </a:bodyPr>
          <a:lstStyle/>
          <a:p>
            <a:r>
              <a:rPr lang="ru-RU" sz="2800" b="1" dirty="0"/>
              <a:t>Возможные SQL инъекции (SQL внедрения)</a:t>
            </a:r>
            <a:endParaRPr lang="ru-RU" sz="28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71</a:t>
            </a:fld>
            <a:endParaRPr lang="ru-RU"/>
          </a:p>
        </p:txBody>
      </p:sp>
      <p:sp>
        <p:nvSpPr>
          <p:cNvPr id="4" name="Прямоугольник 3"/>
          <p:cNvSpPr/>
          <p:nvPr/>
        </p:nvSpPr>
        <p:spPr>
          <a:xfrm>
            <a:off x="323528" y="548680"/>
            <a:ext cx="7931224" cy="3693319"/>
          </a:xfrm>
          <a:prstGeom prst="rect">
            <a:avLst/>
          </a:prstGeom>
        </p:spPr>
        <p:txBody>
          <a:bodyPr wrap="square">
            <a:spAutoFit/>
          </a:bodyPr>
          <a:lstStyle/>
          <a:p>
            <a:r>
              <a:rPr lang="ru-RU" dirty="0">
                <a:solidFill>
                  <a:srgbClr val="333333"/>
                </a:solidFill>
              </a:rPr>
              <a:t>Наиболее простые:</a:t>
            </a:r>
          </a:p>
          <a:p>
            <a:r>
              <a:rPr lang="ru-RU" dirty="0">
                <a:solidFill>
                  <a:srgbClr val="333333"/>
                </a:solidFill>
              </a:rPr>
              <a:t>1. Добавление к WHERE дополнительное условие, которое заведомо вернет истинный результат</a:t>
            </a:r>
            <a:endParaRPr lang="ru-RU" dirty="0"/>
          </a:p>
          <a:p>
            <a:pPr marL="342900" indent="-342900">
              <a:buAutoNum type="arabicParenR"/>
            </a:pPr>
            <a:endParaRPr lang="ru-RU" dirty="0">
              <a:solidFill>
                <a:srgbClr val="333333"/>
              </a:solidFill>
            </a:endParaRPr>
          </a:p>
          <a:p>
            <a:r>
              <a:rPr lang="ru-RU" dirty="0"/>
              <a:t>Условие 1=1 всегда будет истинным, и база данных воспримет его как команду вернуть в ответе все, что находится в таблице! Таким образом, этот SELECT-запрос запрашивает все данные на всех сотрудников.</a:t>
            </a:r>
            <a:endParaRPr lang="ru-RU" dirty="0">
              <a:solidFill>
                <a:srgbClr val="333333"/>
              </a:solidFill>
            </a:endParaRPr>
          </a:p>
          <a:p>
            <a:pPr marL="342900" indent="-342900">
              <a:buAutoNum type="arabicParenR"/>
            </a:pPr>
            <a:endParaRPr lang="ru-RU" dirty="0">
              <a:solidFill>
                <a:srgbClr val="333333"/>
              </a:solidFill>
            </a:endParaRPr>
          </a:p>
          <a:p>
            <a:r>
              <a:rPr lang="ru-RU" dirty="0">
                <a:solidFill>
                  <a:srgbClr val="333333"/>
                </a:solidFill>
              </a:rPr>
              <a:t>2. Присоединение к запросу результатов другого запроса. Делается это через оператор UNION.</a:t>
            </a:r>
          </a:p>
          <a:p>
            <a:pPr marL="342900" indent="-342900">
              <a:buAutoNum type="arabicParenR"/>
            </a:pPr>
            <a:endParaRPr lang="ru-RU" dirty="0">
              <a:solidFill>
                <a:srgbClr val="333333"/>
              </a:solidFill>
            </a:endParaRPr>
          </a:p>
          <a:p>
            <a:pPr marL="342900" indent="-342900">
              <a:buAutoNum type="arabicParenR"/>
            </a:pPr>
            <a:endParaRPr lang="ru-RU" dirty="0">
              <a:solidFill>
                <a:srgbClr val="333333"/>
              </a:solidFill>
            </a:endParaRPr>
          </a:p>
          <a:p>
            <a:r>
              <a:rPr lang="ru-RU" dirty="0">
                <a:solidFill>
                  <a:srgbClr val="333333"/>
                </a:solidFill>
              </a:rPr>
              <a:t>3. </a:t>
            </a:r>
            <a:r>
              <a:rPr lang="ru-RU" dirty="0" err="1">
                <a:solidFill>
                  <a:srgbClr val="333333"/>
                </a:solidFill>
              </a:rPr>
              <a:t>Закомментирование</a:t>
            </a:r>
            <a:r>
              <a:rPr lang="ru-RU" dirty="0">
                <a:solidFill>
                  <a:srgbClr val="333333"/>
                </a:solidFill>
              </a:rPr>
              <a:t> части запроса.</a:t>
            </a:r>
            <a:endParaRPr lang="ru-RU" dirty="0"/>
          </a:p>
        </p:txBody>
      </p:sp>
      <p:pic>
        <p:nvPicPr>
          <p:cNvPr id="1027" name="Рисунок 1"/>
          <p:cNvPicPr>
            <a:picLocks noChangeAspect="1" noChangeArrowheads="1"/>
          </p:cNvPicPr>
          <p:nvPr/>
        </p:nvPicPr>
        <p:blipFill>
          <a:blip r:embed="rId2">
            <a:extLst>
              <a:ext uri="{28A0092B-C50C-407E-A947-70E740481C1C}">
                <a14:useLocalDpi xmlns:a14="http://schemas.microsoft.com/office/drawing/2010/main" val="0"/>
              </a:ext>
            </a:extLst>
          </a:blip>
          <a:srcRect l="5959" t="18504" r="53867" b="73837"/>
          <a:stretch>
            <a:fillRect/>
          </a:stretch>
        </p:blipFill>
        <p:spPr bwMode="auto">
          <a:xfrm>
            <a:off x="2123728" y="3149327"/>
            <a:ext cx="5904656" cy="532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Рисунок 1"/>
          <p:cNvPicPr>
            <a:picLocks noChangeAspect="1" noChangeArrowheads="1"/>
          </p:cNvPicPr>
          <p:nvPr/>
        </p:nvPicPr>
        <p:blipFill>
          <a:blip r:embed="rId3">
            <a:extLst>
              <a:ext uri="{28A0092B-C50C-407E-A947-70E740481C1C}">
                <a14:useLocalDpi xmlns:a14="http://schemas.microsoft.com/office/drawing/2010/main" val="0"/>
              </a:ext>
            </a:extLst>
          </a:blip>
          <a:srcRect l="6044" t="18886" r="66136" b="75140"/>
          <a:stretch>
            <a:fillRect/>
          </a:stretch>
        </p:blipFill>
        <p:spPr bwMode="auto">
          <a:xfrm>
            <a:off x="2483768" y="1207512"/>
            <a:ext cx="4622714" cy="45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Рисунок 1"/>
          <p:cNvPicPr>
            <a:picLocks noChangeAspect="1" noChangeArrowheads="1"/>
          </p:cNvPicPr>
          <p:nvPr/>
        </p:nvPicPr>
        <p:blipFill>
          <a:blip r:embed="rId4">
            <a:extLst>
              <a:ext uri="{28A0092B-C50C-407E-A947-70E740481C1C}">
                <a14:useLocalDpi xmlns:a14="http://schemas.microsoft.com/office/drawing/2010/main" val="0"/>
              </a:ext>
            </a:extLst>
          </a:blip>
          <a:srcRect l="22255" t="33498" r="40891" b="19757"/>
          <a:stretch>
            <a:fillRect/>
          </a:stretch>
        </p:blipFill>
        <p:spPr bwMode="auto">
          <a:xfrm>
            <a:off x="4139952" y="3926911"/>
            <a:ext cx="3965612" cy="2829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07856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7504" y="-6591"/>
            <a:ext cx="8579296" cy="483263"/>
          </a:xfrm>
        </p:spPr>
        <p:txBody>
          <a:bodyPr>
            <a:normAutofit fontScale="90000"/>
          </a:bodyPr>
          <a:lstStyle/>
          <a:p>
            <a:r>
              <a:rPr lang="ru-RU" sz="2800" b="1" dirty="0"/>
              <a:t>Способы обнаружения </a:t>
            </a:r>
            <a:r>
              <a:rPr lang="en-US" sz="2800" b="1" dirty="0"/>
              <a:t>SQL </a:t>
            </a:r>
            <a:r>
              <a:rPr lang="ru-RU" sz="2800" b="1" dirty="0"/>
              <a:t>инъекции</a:t>
            </a:r>
          </a:p>
        </p:txBody>
      </p:sp>
      <p:sp>
        <p:nvSpPr>
          <p:cNvPr id="3" name="Номер слайда 2"/>
          <p:cNvSpPr>
            <a:spLocks noGrp="1"/>
          </p:cNvSpPr>
          <p:nvPr>
            <p:ph type="sldNum" sz="quarter" idx="12"/>
          </p:nvPr>
        </p:nvSpPr>
        <p:spPr/>
        <p:txBody>
          <a:bodyPr/>
          <a:lstStyle/>
          <a:p>
            <a:fld id="{1F87023B-4310-42C4-812D-874FAF4871B2}" type="slidenum">
              <a:rPr lang="ru-RU" smtClean="0"/>
              <a:pPr/>
              <a:t>72</a:t>
            </a:fld>
            <a:endParaRPr lang="ru-RU"/>
          </a:p>
        </p:txBody>
      </p:sp>
      <p:sp>
        <p:nvSpPr>
          <p:cNvPr id="6" name="Прямоугольник 5"/>
          <p:cNvSpPr/>
          <p:nvPr/>
        </p:nvSpPr>
        <p:spPr>
          <a:xfrm>
            <a:off x="107504" y="719832"/>
            <a:ext cx="9036496" cy="6001643"/>
          </a:xfrm>
          <a:prstGeom prst="rect">
            <a:avLst/>
          </a:prstGeom>
        </p:spPr>
        <p:txBody>
          <a:bodyPr wrap="square">
            <a:spAutoFit/>
          </a:bodyPr>
          <a:lstStyle/>
          <a:p>
            <a:r>
              <a:rPr lang="ru-RU" sz="1600" dirty="0"/>
              <a:t>Существует несколько способов обнаружения SQL инъекций:</a:t>
            </a:r>
          </a:p>
          <a:p>
            <a:pPr marL="342900" indent="-342900">
              <a:buFont typeface="+mj-lt"/>
              <a:buAutoNum type="arabicPeriod"/>
            </a:pPr>
            <a:r>
              <a:rPr lang="ru-RU" sz="1600" b="1" dirty="0"/>
              <a:t>Использование специализированных инструментов. </a:t>
            </a:r>
            <a:r>
              <a:rPr lang="ru-RU" sz="1600" dirty="0"/>
              <a:t>Существуют различные инструменты, такие как </a:t>
            </a:r>
            <a:r>
              <a:rPr lang="ru-RU" sz="1600" dirty="0" err="1"/>
              <a:t>SQLMap</a:t>
            </a:r>
            <a:r>
              <a:rPr lang="ru-RU" sz="1600" dirty="0"/>
              <a:t>, </a:t>
            </a:r>
            <a:r>
              <a:rPr lang="ru-RU" sz="1600" dirty="0" err="1"/>
              <a:t>DBeaver</a:t>
            </a:r>
            <a:r>
              <a:rPr lang="ru-RU" sz="1600" dirty="0"/>
              <a:t>, </a:t>
            </a:r>
            <a:r>
              <a:rPr lang="ru-RU" sz="1600" dirty="0" err="1"/>
              <a:t>Acunetix</a:t>
            </a:r>
            <a:r>
              <a:rPr lang="ru-RU" sz="1600" dirty="0"/>
              <a:t>, </a:t>
            </a:r>
            <a:r>
              <a:rPr lang="ru-RU" sz="1600" dirty="0" err="1"/>
              <a:t>Burp</a:t>
            </a:r>
            <a:r>
              <a:rPr lang="ru-RU" sz="1600" dirty="0"/>
              <a:t> </a:t>
            </a:r>
            <a:r>
              <a:rPr lang="ru-RU" sz="1600" dirty="0" err="1"/>
              <a:t>Suite</a:t>
            </a:r>
            <a:r>
              <a:rPr lang="ru-RU" sz="1600" dirty="0"/>
              <a:t> и другие, которые автоматически сканируют веб-приложения и ищут уязвимости, включая SQL инъекции.</a:t>
            </a:r>
          </a:p>
          <a:p>
            <a:pPr marL="342900" indent="-342900">
              <a:buFont typeface="+mj-lt"/>
              <a:buAutoNum type="arabicPeriod"/>
            </a:pPr>
            <a:r>
              <a:rPr lang="ru-RU" sz="1600" b="1" dirty="0"/>
              <a:t>Проверка наличия специфических символов. </a:t>
            </a:r>
            <a:r>
              <a:rPr lang="ru-RU" sz="1600" dirty="0"/>
              <a:t>SQL инъекции обычно осуществляются путем вставки специальных символов в пользовательский ввод, чтобы обмануть фильтры и выполнить нежелательные SQL-запросы. Проверка наличия таких символов, таких как одинарные кавычки ('), двойные кавычки ("), точки с запятой (;) и других, может помочь обнаружить возможную SQL инъекцию.</a:t>
            </a:r>
          </a:p>
          <a:p>
            <a:pPr marL="342900" indent="-342900">
              <a:buFont typeface="+mj-lt"/>
              <a:buAutoNum type="arabicPeriod"/>
            </a:pPr>
            <a:r>
              <a:rPr lang="ru-RU" sz="1600" b="1" dirty="0"/>
              <a:t>Проверка неправильного поведения при обработке пользовательского ввода.</a:t>
            </a:r>
            <a:r>
              <a:rPr lang="ru-RU" sz="1600" dirty="0"/>
              <a:t> Если веб-приложение не корректно обрабатывает пользовательский ввод, это может привести к возможной SQL инъекции. Например, если система не экранирует или не фильтрует пользовательский ввод, это может сигнализировать о наличии уязвимости.</a:t>
            </a:r>
          </a:p>
          <a:p>
            <a:pPr marL="342900" indent="-342900">
              <a:buFont typeface="+mj-lt"/>
              <a:buAutoNum type="arabicPeriod"/>
            </a:pPr>
            <a:r>
              <a:rPr lang="ru-RU" sz="1600" b="1" dirty="0"/>
              <a:t>Попытка найти ошибки в сообщениях об ошибках или логах. </a:t>
            </a:r>
            <a:r>
              <a:rPr lang="ru-RU" sz="1600" dirty="0"/>
              <a:t>Часто, когда веб-приложение сталкивается с ошибкой SQL-запроса, она может вернуть сообщение об ошибке или записать ее в </a:t>
            </a:r>
            <a:r>
              <a:rPr lang="ru-RU" sz="1600" dirty="0" err="1"/>
              <a:t>логи</a:t>
            </a:r>
            <a:r>
              <a:rPr lang="ru-RU" sz="1600" dirty="0"/>
              <a:t>. </a:t>
            </a:r>
            <a:r>
              <a:rPr lang="ru-RU" sz="1600" dirty="0" err="1"/>
              <a:t>Анализирование</a:t>
            </a:r>
            <a:r>
              <a:rPr lang="ru-RU" sz="1600" dirty="0"/>
              <a:t> таких сообщений или логов может помочь выявить наличие SQL инъекции.</a:t>
            </a:r>
          </a:p>
          <a:p>
            <a:pPr marL="342900" indent="-342900">
              <a:buFont typeface="+mj-lt"/>
              <a:buAutoNum type="arabicPeriod"/>
            </a:pPr>
            <a:r>
              <a:rPr lang="ru-RU" sz="1600" b="1" dirty="0"/>
              <a:t>Тестирование наличия уязвимости с помощью специально сформированных запросов. </a:t>
            </a:r>
            <a:r>
              <a:rPr lang="ru-RU" sz="1600" dirty="0"/>
              <a:t>Использование инструментов для создания и отправки специально сформированных запросов веб-приложению может помочь выявить наличие уязвимостей в защите от SQL инъекций.</a:t>
            </a:r>
          </a:p>
          <a:p>
            <a:endParaRPr lang="ru-RU" sz="1600" dirty="0"/>
          </a:p>
          <a:p>
            <a:r>
              <a:rPr lang="ru-RU" sz="1600" dirty="0"/>
              <a:t>Важно отметить, что эти методы могут помочь выявить наличие SQL инъекций, но не гарантируют 100% точности. Рекомендуется проводить комплексное тестирование безопасности веб-приложений с использованием различных методов и инструментов.</a:t>
            </a:r>
          </a:p>
        </p:txBody>
      </p:sp>
    </p:spTree>
    <p:extLst>
      <p:ext uri="{BB962C8B-B14F-4D97-AF65-F5344CB8AC3E}">
        <p14:creationId xmlns:p14="http://schemas.microsoft.com/office/powerpoint/2010/main" val="20877505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90066"/>
          </a:xfrm>
        </p:spPr>
        <p:txBody>
          <a:bodyPr>
            <a:normAutofit fontScale="90000"/>
          </a:bodyPr>
          <a:lstStyle/>
          <a:p>
            <a:r>
              <a:rPr lang="ru-RU" sz="3100" b="1" dirty="0"/>
              <a:t>Возможные</a:t>
            </a:r>
            <a:r>
              <a:rPr lang="ru-RU" sz="2800" b="1" dirty="0"/>
              <a:t> решения:</a:t>
            </a:r>
            <a:endParaRPr lang="ru-RU" sz="2800" dirty="0"/>
          </a:p>
        </p:txBody>
      </p:sp>
      <p:sp>
        <p:nvSpPr>
          <p:cNvPr id="3" name="Номер слайда 2"/>
          <p:cNvSpPr>
            <a:spLocks noGrp="1"/>
          </p:cNvSpPr>
          <p:nvPr>
            <p:ph type="sldNum" sz="quarter" idx="12"/>
          </p:nvPr>
        </p:nvSpPr>
        <p:spPr/>
        <p:txBody>
          <a:bodyPr/>
          <a:lstStyle/>
          <a:p>
            <a:fld id="{1F87023B-4310-42C4-812D-874FAF4871B2}" type="slidenum">
              <a:rPr lang="ru-RU" smtClean="0"/>
              <a:pPr/>
              <a:t>73</a:t>
            </a:fld>
            <a:endParaRPr lang="ru-RU"/>
          </a:p>
        </p:txBody>
      </p:sp>
      <p:sp>
        <p:nvSpPr>
          <p:cNvPr id="4" name="Прямоугольник 3"/>
          <p:cNvSpPr/>
          <p:nvPr/>
        </p:nvSpPr>
        <p:spPr>
          <a:xfrm>
            <a:off x="228600" y="1005981"/>
            <a:ext cx="8686800" cy="5109091"/>
          </a:xfrm>
          <a:prstGeom prst="rect">
            <a:avLst/>
          </a:prstGeom>
        </p:spPr>
        <p:txBody>
          <a:bodyPr wrap="square">
            <a:spAutoFit/>
          </a:bodyPr>
          <a:lstStyle/>
          <a:p>
            <a:pPr marL="342900" lvl="0" indent="-342900">
              <a:lnSpc>
                <a:spcPct val="115000"/>
              </a:lnSpc>
              <a:spcAft>
                <a:spcPts val="1000"/>
              </a:spcAft>
              <a:buFont typeface="+mj-lt"/>
              <a:buAutoNum type="arabicPeriod"/>
              <a:tabLst>
                <a:tab pos="457200" algn="l"/>
              </a:tabLst>
            </a:pPr>
            <a:r>
              <a:rPr lang="ru-RU" sz="1600" b="1" dirty="0">
                <a:ea typeface="Calibri" panose="020F0502020204030204" pitchFamily="34" charset="0"/>
                <a:cs typeface="Times New Roman" panose="02020603050405020304" pitchFamily="18" charset="0"/>
              </a:rPr>
              <a:t>Использование подготовленных запросов:</a:t>
            </a:r>
            <a:r>
              <a:rPr lang="ru-RU" sz="1600" dirty="0">
                <a:ea typeface="Calibri" panose="020F0502020204030204" pitchFamily="34" charset="0"/>
                <a:cs typeface="Times New Roman" panose="02020603050405020304" pitchFamily="18" charset="0"/>
              </a:rPr>
              <a:t> используйте параметризованные запросы, чтобы передавать данные в базу данных, вместо конкатенации строк. Это помогает избежать инъекций.</a:t>
            </a:r>
          </a:p>
          <a:p>
            <a:pPr marL="342900" lvl="0" indent="-342900">
              <a:lnSpc>
                <a:spcPct val="115000"/>
              </a:lnSpc>
              <a:spcAft>
                <a:spcPts val="1000"/>
              </a:spcAft>
              <a:buFont typeface="+mj-lt"/>
              <a:buAutoNum type="arabicPeriod"/>
              <a:tabLst>
                <a:tab pos="457200" algn="l"/>
              </a:tabLst>
            </a:pPr>
            <a:r>
              <a:rPr lang="ru-RU" sz="1600" b="1" dirty="0">
                <a:ea typeface="Calibri" panose="020F0502020204030204" pitchFamily="34" charset="0"/>
                <a:cs typeface="Times New Roman" panose="02020603050405020304" pitchFamily="18" charset="0"/>
              </a:rPr>
              <a:t>Экранизация данных:</a:t>
            </a:r>
            <a:r>
              <a:rPr lang="ru-RU" sz="1600" dirty="0">
                <a:ea typeface="Calibri" panose="020F0502020204030204" pitchFamily="34" charset="0"/>
                <a:cs typeface="Times New Roman" panose="02020603050405020304" pitchFamily="18" charset="0"/>
              </a:rPr>
              <a:t> экранируйте специальные символы, такие как одинарные кавычки, перед внесением данных в SQL-запросы.</a:t>
            </a:r>
          </a:p>
          <a:p>
            <a:pPr marL="342900" lvl="0" indent="-342900">
              <a:lnSpc>
                <a:spcPct val="115000"/>
              </a:lnSpc>
              <a:spcAft>
                <a:spcPts val="1000"/>
              </a:spcAft>
              <a:buFont typeface="+mj-lt"/>
              <a:buAutoNum type="arabicPeriod"/>
              <a:tabLst>
                <a:tab pos="457200" algn="l"/>
              </a:tabLst>
            </a:pPr>
            <a:r>
              <a:rPr lang="ru-RU" sz="1600" b="1" dirty="0">
                <a:ea typeface="Calibri" panose="020F0502020204030204" pitchFamily="34" charset="0"/>
                <a:cs typeface="Times New Roman" panose="02020603050405020304" pitchFamily="18" charset="0"/>
              </a:rPr>
              <a:t>Ограничение привилегий БД:</a:t>
            </a:r>
            <a:r>
              <a:rPr lang="ru-RU" sz="1600" dirty="0">
                <a:ea typeface="Calibri" panose="020F0502020204030204" pitchFamily="34" charset="0"/>
                <a:cs typeface="Times New Roman" panose="02020603050405020304" pitchFamily="18" charset="0"/>
              </a:rPr>
              <a:t> минимизируйте привилегии пользователя базы данных, чтобы ограничить возможность выполнения опасных операций.</a:t>
            </a:r>
          </a:p>
          <a:p>
            <a:pPr marL="342900" lvl="0" indent="-342900">
              <a:lnSpc>
                <a:spcPct val="115000"/>
              </a:lnSpc>
              <a:spcAft>
                <a:spcPts val="1000"/>
              </a:spcAft>
              <a:buFont typeface="+mj-lt"/>
              <a:buAutoNum type="arabicPeriod"/>
              <a:tabLst>
                <a:tab pos="457200" algn="l"/>
              </a:tabLst>
            </a:pPr>
            <a:r>
              <a:rPr lang="ru-RU" sz="1600" b="1" dirty="0">
                <a:ea typeface="Calibri" panose="020F0502020204030204" pitchFamily="34" charset="0"/>
                <a:cs typeface="Times New Roman" panose="02020603050405020304" pitchFamily="18" charset="0"/>
              </a:rPr>
              <a:t>Обновление и мониторинг безопасности:</a:t>
            </a:r>
            <a:r>
              <a:rPr lang="ru-RU" sz="1600" dirty="0">
                <a:ea typeface="Calibri" panose="020F0502020204030204" pitchFamily="34" charset="0"/>
                <a:cs typeface="Times New Roman" panose="02020603050405020304" pitchFamily="18" charset="0"/>
              </a:rPr>
              <a:t> регулярно обновляйте и </a:t>
            </a:r>
            <a:r>
              <a:rPr lang="ru-RU" sz="1600" dirty="0" err="1">
                <a:ea typeface="Calibri" panose="020F0502020204030204" pitchFamily="34" charset="0"/>
                <a:cs typeface="Times New Roman" panose="02020603050405020304" pitchFamily="18" charset="0"/>
              </a:rPr>
              <a:t>мониторьте</a:t>
            </a:r>
            <a:r>
              <a:rPr lang="ru-RU" sz="1600" dirty="0">
                <a:ea typeface="Calibri" panose="020F0502020204030204" pitchFamily="34" charset="0"/>
                <a:cs typeface="Times New Roman" panose="02020603050405020304" pitchFamily="18" charset="0"/>
              </a:rPr>
              <a:t> ваше ПО, чтобы устранить уязвимости, которые могут быть использованы для атак.</a:t>
            </a:r>
          </a:p>
          <a:p>
            <a:pPr marL="342900" lvl="0" indent="-342900">
              <a:lnSpc>
                <a:spcPct val="115000"/>
              </a:lnSpc>
              <a:spcAft>
                <a:spcPts val="1000"/>
              </a:spcAft>
              <a:buFont typeface="+mj-lt"/>
              <a:buAutoNum type="arabicPeriod"/>
              <a:tabLst>
                <a:tab pos="457200" algn="l"/>
              </a:tabLst>
            </a:pPr>
            <a:r>
              <a:rPr lang="ru-RU" sz="1600" b="1" dirty="0" err="1">
                <a:ea typeface="Calibri" panose="020F0502020204030204" pitchFamily="34" charset="0"/>
                <a:cs typeface="Times New Roman" panose="02020603050405020304" pitchFamily="18" charset="0"/>
              </a:rPr>
              <a:t>Валидация</a:t>
            </a:r>
            <a:r>
              <a:rPr lang="ru-RU" sz="1600" b="1" dirty="0">
                <a:ea typeface="Calibri" panose="020F0502020204030204" pitchFamily="34" charset="0"/>
                <a:cs typeface="Times New Roman" panose="02020603050405020304" pitchFamily="18" charset="0"/>
              </a:rPr>
              <a:t> ввода:</a:t>
            </a:r>
            <a:r>
              <a:rPr lang="ru-RU" sz="1600" dirty="0">
                <a:ea typeface="Calibri" panose="020F0502020204030204" pitchFamily="34" charset="0"/>
                <a:cs typeface="Times New Roman" panose="02020603050405020304" pitchFamily="18" charset="0"/>
              </a:rPr>
              <a:t> проводите строгую </a:t>
            </a:r>
            <a:r>
              <a:rPr lang="ru-RU" sz="1600" dirty="0" err="1">
                <a:ea typeface="Calibri" panose="020F0502020204030204" pitchFamily="34" charset="0"/>
                <a:cs typeface="Times New Roman" panose="02020603050405020304" pitchFamily="18" charset="0"/>
              </a:rPr>
              <a:t>валидацию</a:t>
            </a:r>
            <a:r>
              <a:rPr lang="ru-RU" sz="1600" dirty="0">
                <a:ea typeface="Calibri" panose="020F0502020204030204" pitchFamily="34" charset="0"/>
                <a:cs typeface="Times New Roman" panose="02020603050405020304" pitchFamily="18" charset="0"/>
              </a:rPr>
              <a:t> всех пользовательских входных данных, чтобы предотвратить внесение вредоносного кода.</a:t>
            </a:r>
          </a:p>
          <a:p>
            <a:pPr marL="342900" lvl="0" indent="-342900">
              <a:lnSpc>
                <a:spcPct val="115000"/>
              </a:lnSpc>
              <a:spcAft>
                <a:spcPts val="1000"/>
              </a:spcAft>
              <a:buFont typeface="+mj-lt"/>
              <a:buAutoNum type="arabicPeriod"/>
              <a:tabLst>
                <a:tab pos="457200" algn="l"/>
              </a:tabLst>
            </a:pPr>
            <a:r>
              <a:rPr lang="ru-RU" sz="1600" b="1" dirty="0">
                <a:ea typeface="Calibri" panose="020F0502020204030204" pitchFamily="34" charset="0"/>
                <a:cs typeface="Times New Roman" panose="02020603050405020304" pitchFamily="18" charset="0"/>
              </a:rPr>
              <a:t>Использование </a:t>
            </a:r>
            <a:r>
              <a:rPr lang="ru-RU" sz="1600" b="1" dirty="0" err="1">
                <a:ea typeface="Calibri" panose="020F0502020204030204" pitchFamily="34" charset="0"/>
                <a:cs typeface="Times New Roman" panose="02020603050405020304" pitchFamily="18" charset="0"/>
              </a:rPr>
              <a:t>файрвола</a:t>
            </a:r>
            <a:r>
              <a:rPr lang="ru-RU" sz="1600" b="1" dirty="0">
                <a:ea typeface="Calibri" panose="020F0502020204030204" pitchFamily="34" charset="0"/>
                <a:cs typeface="Times New Roman" panose="02020603050405020304" pitchFamily="18" charset="0"/>
              </a:rPr>
              <a:t> приложений:</a:t>
            </a:r>
            <a:r>
              <a:rPr lang="ru-RU" sz="1600" dirty="0">
                <a:ea typeface="Calibri" panose="020F0502020204030204" pitchFamily="34" charset="0"/>
                <a:cs typeface="Times New Roman" panose="02020603050405020304" pitchFamily="18" charset="0"/>
              </a:rPr>
              <a:t> защитите вашу систему с помощью WAF (</a:t>
            </a:r>
            <a:r>
              <a:rPr lang="ru-RU" sz="1600" dirty="0" err="1">
                <a:ea typeface="Calibri" panose="020F0502020204030204" pitchFamily="34" charset="0"/>
                <a:cs typeface="Times New Roman" panose="02020603050405020304" pitchFamily="18" charset="0"/>
              </a:rPr>
              <a:t>Web</a:t>
            </a:r>
            <a:r>
              <a:rPr lang="ru-RU" sz="1600" dirty="0">
                <a:ea typeface="Calibri" panose="020F0502020204030204" pitchFamily="34" charset="0"/>
                <a:cs typeface="Times New Roman" panose="02020603050405020304" pitchFamily="18" charset="0"/>
              </a:rPr>
              <a:t> </a:t>
            </a:r>
            <a:r>
              <a:rPr lang="ru-RU" sz="1600" dirty="0" err="1">
                <a:ea typeface="Calibri" panose="020F0502020204030204" pitchFamily="34" charset="0"/>
                <a:cs typeface="Times New Roman" panose="02020603050405020304" pitchFamily="18" charset="0"/>
              </a:rPr>
              <a:t>Application</a:t>
            </a:r>
            <a:r>
              <a:rPr lang="ru-RU" sz="1600" dirty="0">
                <a:ea typeface="Calibri" panose="020F0502020204030204" pitchFamily="34" charset="0"/>
                <a:cs typeface="Times New Roman" panose="02020603050405020304" pitchFamily="18" charset="0"/>
              </a:rPr>
              <a:t> </a:t>
            </a:r>
            <a:r>
              <a:rPr lang="ru-RU" sz="1600" dirty="0" err="1">
                <a:ea typeface="Calibri" panose="020F0502020204030204" pitchFamily="34" charset="0"/>
                <a:cs typeface="Times New Roman" panose="02020603050405020304" pitchFamily="18" charset="0"/>
              </a:rPr>
              <a:t>Firewall</a:t>
            </a:r>
            <a:r>
              <a:rPr lang="ru-RU" sz="1600" dirty="0">
                <a:ea typeface="Calibri" panose="020F0502020204030204" pitchFamily="34" charset="0"/>
                <a:cs typeface="Times New Roman" panose="02020603050405020304" pitchFamily="18" charset="0"/>
              </a:rPr>
              <a:t>), который может обнаруживать и блокировать SQL инъекции.</a:t>
            </a:r>
          </a:p>
          <a:p>
            <a:pPr>
              <a:lnSpc>
                <a:spcPct val="115000"/>
              </a:lnSpc>
              <a:spcAft>
                <a:spcPts val="1000"/>
              </a:spcAft>
            </a:pPr>
            <a:r>
              <a:rPr lang="ru-RU" sz="1600" dirty="0">
                <a:ea typeface="Calibri" panose="020F0502020204030204" pitchFamily="34" charset="0"/>
                <a:cs typeface="Times New Roman" panose="02020603050405020304" pitchFamily="18" charset="0"/>
              </a:rPr>
              <a:t>SQL инъекция - серьезная угроза, и предупреждение этой атаки требует сочетания технических и образовательных мероприятий.</a:t>
            </a:r>
          </a:p>
        </p:txBody>
      </p:sp>
    </p:spTree>
    <p:extLst>
      <p:ext uri="{BB962C8B-B14F-4D97-AF65-F5344CB8AC3E}">
        <p14:creationId xmlns:p14="http://schemas.microsoft.com/office/powerpoint/2010/main" val="392805896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48270</TotalTime>
  <Words>7499</Words>
  <Application>Microsoft Office PowerPoint</Application>
  <PresentationFormat>Экран (4:3)</PresentationFormat>
  <Paragraphs>920</Paragraphs>
  <Slides>73</Slides>
  <Notes>5</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73</vt:i4>
      </vt:variant>
    </vt:vector>
  </HeadingPairs>
  <TitlesOfParts>
    <vt:vector size="79" baseType="lpstr">
      <vt:lpstr>Arial</vt:lpstr>
      <vt:lpstr>Calibri</vt:lpstr>
      <vt:lpstr>Courier New</vt:lpstr>
      <vt:lpstr>Symbol</vt:lpstr>
      <vt:lpstr>Times New Roman</vt:lpstr>
      <vt:lpstr>Тема Office</vt:lpstr>
      <vt:lpstr>Хранимые процедуры Триггеры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Скалярные функции (Scalar) в Transact-SQL</vt:lpstr>
      <vt:lpstr>Презентация PowerPoint</vt:lpstr>
      <vt:lpstr>Табличные функции (Inline)в Transact-SQL</vt:lpstr>
      <vt:lpstr>Презентация PowerPoint</vt:lpstr>
      <vt:lpstr>Многооператорные функции (Multi-statement)в Transact-SQL</vt:lpstr>
      <vt:lpstr>Презентация PowerPoint</vt:lpstr>
      <vt:lpstr>Удаление пользовательской функции в Transact−SQL</vt:lpstr>
      <vt:lpstr>Пример создания табличной функции</vt:lpstr>
      <vt:lpstr>Пример вызова функции из хранимой процедуры</vt:lpstr>
      <vt:lpstr>Пример вызова функции из хранимой процедуры</vt:lpstr>
      <vt:lpstr>Триггеры (Triggers)  в Transact−SQL</vt:lpstr>
      <vt:lpstr>Триггеры (Triggers)  в Transact−SQL</vt:lpstr>
      <vt:lpstr>Синтаксис создания/изменения триггера</vt:lpstr>
      <vt:lpstr>Триггеры и виртуальные таблицы deleted и inserted</vt:lpstr>
      <vt:lpstr>Синтаксис удаления триггера</vt:lpstr>
      <vt:lpstr>Реализовать ограничение на вводимое значение</vt:lpstr>
      <vt:lpstr>Триггер сохраняющий дату последнего изменения записи в таблице Student</vt:lpstr>
      <vt:lpstr>Триггер запрещающий изменение значения поля Mark и Exam_Date</vt:lpstr>
      <vt:lpstr>Триггер, не допускающий добавление более трех записей о результатах сдачи по одной и той же дисциплине одним и тем же студентом </vt:lpstr>
      <vt:lpstr>Триггер перемещает удаленную запись из таблицы Student в архивную таблицу  Archive_delete</vt:lpstr>
      <vt:lpstr>Индексы</vt:lpstr>
      <vt:lpstr>Структура сбалансированного B дерева</vt:lpstr>
      <vt:lpstr>Способы задания индекса</vt:lpstr>
      <vt:lpstr>Создание индексов в MS SQL Server</vt:lpstr>
      <vt:lpstr>Увидеть индексы в таблице</vt:lpstr>
      <vt:lpstr>Презентация PowerPoint</vt:lpstr>
      <vt:lpstr>Пример, работа кластеризованного индекс </vt:lpstr>
      <vt:lpstr>Ключевые различия между кластеризованными и неклстеризованными индексами</vt:lpstr>
      <vt:lpstr>Результаты тестов кластеризованного и некластеризованного индексов на объем занимаемого пространства и производительность </vt:lpstr>
      <vt:lpstr>Результаты тестов кластеризованного и некластеризованного индексов на объем занимаемого пространства и производительность </vt:lpstr>
      <vt:lpstr>Запрос -&gt; Оптимизатор запросов -&gt; План выполнения запроса</vt:lpstr>
      <vt:lpstr>Оптимизация БД и СУБД </vt:lpstr>
      <vt:lpstr>Статистика</vt:lpstr>
      <vt:lpstr>Перестройка индекса/реорганизация индекса</vt:lpstr>
      <vt:lpstr>Очистка кэш плана</vt:lpstr>
      <vt:lpstr>Оптимизация структуры таблиц</vt:lpstr>
      <vt:lpstr>Оптимизация запросов. Как найти проблемные запросы? </vt:lpstr>
      <vt:lpstr>Как найти проблемные запросы?  (SET STATISTICS IO, SET STATISTICS TIME)</vt:lpstr>
      <vt:lpstr>Оптимизация запросов</vt:lpstr>
      <vt:lpstr>Индексы для ускорения поиска</vt:lpstr>
      <vt:lpstr>Индексы для ускорения поиска (покрывающий индекс)</vt:lpstr>
      <vt:lpstr>Не коррелирующий подзапрос</vt:lpstr>
      <vt:lpstr>Коррелирующий подзапрос</vt:lpstr>
      <vt:lpstr>Оператор JOIN (выборка из всех столбцов)</vt:lpstr>
      <vt:lpstr>Оператор JOIN (выборка данных не из всех столбцов таблиц)</vt:lpstr>
      <vt:lpstr>Поиск по каждому индексному полю отдельно</vt:lpstr>
      <vt:lpstr>Зачем нужна оптимизация запросов? </vt:lpstr>
      <vt:lpstr>Рекомендации для увеличения производительности:</vt:lpstr>
      <vt:lpstr>Оптимизация запросов SELECT </vt:lpstr>
      <vt:lpstr>Корректно используйте JOIN</vt:lpstr>
      <vt:lpstr>Оптимизация WHERE в запросе SELECT</vt:lpstr>
      <vt:lpstr>Советы по оптимизации хранимых процедур и SQL пакетов</vt:lpstr>
      <vt:lpstr>Рекомендации для увеличения производительности: временные таблицы для больших таблиц, табличные переменные - для малых (меньше 1000).</vt:lpstr>
      <vt:lpstr>Обобщенные табличные выражения</vt:lpstr>
      <vt:lpstr>Лучшие кандидаты на установку индекса</vt:lpstr>
      <vt:lpstr>SQL инъекция (SQL injection - SQLi)</vt:lpstr>
      <vt:lpstr>Проблемы, вызванные SQL Инъекцией:</vt:lpstr>
      <vt:lpstr>Возможные SQL инъекции (SQL внедрения)</vt:lpstr>
      <vt:lpstr>Способы обнаружения SQL инъекции</vt:lpstr>
      <vt:lpstr>Возможные решения: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Системы управления базами данных</dc:title>
  <dc:creator>Ольга</dc:creator>
  <cp:lastModifiedBy>Айнур Есентемирова</cp:lastModifiedBy>
  <cp:revision>3808</cp:revision>
  <dcterms:created xsi:type="dcterms:W3CDTF">2020-09-07T15:45:04Z</dcterms:created>
  <dcterms:modified xsi:type="dcterms:W3CDTF">2026-04-16T06:06:43Z</dcterms:modified>
</cp:coreProperties>
</file>