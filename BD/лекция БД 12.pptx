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6" r:id="rId2"/>
    <p:sldId id="408" r:id="rId3"/>
    <p:sldId id="412" r:id="rId4"/>
    <p:sldId id="407" r:id="rId5"/>
    <p:sldId id="409" r:id="rId6"/>
    <p:sldId id="462" r:id="rId7"/>
    <p:sldId id="553" r:id="rId8"/>
    <p:sldId id="662" r:id="rId9"/>
    <p:sldId id="661" r:id="rId10"/>
    <p:sldId id="660" r:id="rId11"/>
    <p:sldId id="658" r:id="rId12"/>
    <p:sldId id="663" r:id="rId13"/>
    <p:sldId id="664" r:id="rId14"/>
    <p:sldId id="665" r:id="rId15"/>
    <p:sldId id="670" r:id="rId16"/>
    <p:sldId id="671" r:id="rId17"/>
    <p:sldId id="672" r:id="rId18"/>
    <p:sldId id="673" r:id="rId19"/>
    <p:sldId id="659" r:id="rId20"/>
    <p:sldId id="720" r:id="rId21"/>
    <p:sldId id="722" r:id="rId22"/>
    <p:sldId id="721" r:id="rId23"/>
    <p:sldId id="677"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Ольга" initials="О"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B3F7B5"/>
    <a:srgbClr val="0101FD"/>
    <a:srgbClr val="677369"/>
    <a:srgbClr val="000099"/>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Стиль из темы 1 - акцент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27F97BB-C833-4FB7-BDE5-3F7075034690}" styleName="Стиль из темы 2 - акцент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1" autoAdjust="0"/>
    <p:restoredTop sz="93979" autoAdjust="0"/>
  </p:normalViewPr>
  <p:slideViewPr>
    <p:cSldViewPr>
      <p:cViewPr varScale="1">
        <p:scale>
          <a:sx n="71" d="100"/>
          <a:sy n="71" d="100"/>
        </p:scale>
        <p:origin x="1638" y="66"/>
      </p:cViewPr>
      <p:guideLst>
        <p:guide orient="horz" pos="2160"/>
        <p:guide pos="2880"/>
      </p:guideLst>
    </p:cSldViewPr>
  </p:slideViewPr>
  <p:outlineViewPr>
    <p:cViewPr>
      <p:scale>
        <a:sx n="33" d="100"/>
        <a:sy n="33" d="100"/>
      </p:scale>
      <p:origin x="0" y="-88044"/>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626569-C46D-4190-A20C-A9FBA371D667}" type="doc">
      <dgm:prSet loTypeId="urn:microsoft.com/office/officeart/2005/8/layout/orgChart1" loCatId="hierarchy" qsTypeId="urn:microsoft.com/office/officeart/2005/8/quickstyle/3d1" qsCatId="3D" csTypeId="urn:microsoft.com/office/officeart/2005/8/colors/accent6_5" csCatId="accent6" phldr="1"/>
      <dgm:spPr/>
      <dgm:t>
        <a:bodyPr/>
        <a:lstStyle/>
        <a:p>
          <a:endParaRPr lang="ru-RU"/>
        </a:p>
      </dgm:t>
    </dgm:pt>
    <dgm:pt modelId="{00E2CADD-3BDB-4443-8E02-B5B4FB72A6A4}">
      <dgm:prSet phldrT="[Текст]" custT="1"/>
      <dgm:spPr/>
      <dgm:t>
        <a:bodyPr/>
        <a:lstStyle/>
        <a:p>
          <a:r>
            <a:rPr lang="ru-RU" sz="1800" b="1" dirty="0"/>
            <a:t>Варианты завершения транзакции</a:t>
          </a:r>
        </a:p>
      </dgm:t>
    </dgm:pt>
    <dgm:pt modelId="{0AEC67D0-9816-4171-8C0E-44624A5408A5}" type="parTrans" cxnId="{ABAD63DA-DA08-403A-A49C-122270836491}">
      <dgm:prSet/>
      <dgm:spPr/>
      <dgm:t>
        <a:bodyPr/>
        <a:lstStyle/>
        <a:p>
          <a:endParaRPr lang="ru-RU"/>
        </a:p>
      </dgm:t>
    </dgm:pt>
    <dgm:pt modelId="{1F0B3855-BC5D-4E4E-9771-4CE22B05FEA2}" type="sibTrans" cxnId="{ABAD63DA-DA08-403A-A49C-122270836491}">
      <dgm:prSet/>
      <dgm:spPr/>
      <dgm:t>
        <a:bodyPr/>
        <a:lstStyle/>
        <a:p>
          <a:endParaRPr lang="ru-RU"/>
        </a:p>
      </dgm:t>
    </dgm:pt>
    <dgm:pt modelId="{E5466571-63FF-4504-BCA8-0A8698A69E8D}">
      <dgm:prSet phldrT="[Текст]" custT="1"/>
      <dgm:spPr/>
      <dgm:t>
        <a:bodyPr/>
        <a:lstStyle/>
        <a:p>
          <a:r>
            <a:rPr lang="ru-RU" sz="1600" b="1" dirty="0"/>
            <a:t>Фиксация транзакции</a:t>
          </a:r>
        </a:p>
      </dgm:t>
    </dgm:pt>
    <dgm:pt modelId="{173081F3-88D6-4E7C-A316-2556924E1C73}" type="parTrans" cxnId="{2189080B-5910-4719-9306-4FBC21268232}">
      <dgm:prSet/>
      <dgm:spPr/>
      <dgm:t>
        <a:bodyPr/>
        <a:lstStyle/>
        <a:p>
          <a:endParaRPr lang="ru-RU"/>
        </a:p>
      </dgm:t>
    </dgm:pt>
    <dgm:pt modelId="{F634CF87-F5BB-4457-90C3-07DA8EDA5EBB}" type="sibTrans" cxnId="{2189080B-5910-4719-9306-4FBC21268232}">
      <dgm:prSet/>
      <dgm:spPr/>
      <dgm:t>
        <a:bodyPr/>
        <a:lstStyle/>
        <a:p>
          <a:endParaRPr lang="ru-RU"/>
        </a:p>
      </dgm:t>
    </dgm:pt>
    <dgm:pt modelId="{CCB332AA-35CB-47F8-9A7B-178EB56AC248}">
      <dgm:prSet phldrT="[Текст]" custT="1"/>
      <dgm:spPr/>
      <dgm:t>
        <a:bodyPr/>
        <a:lstStyle/>
        <a:p>
          <a:pPr marL="84138" indent="0" algn="l"/>
          <a:r>
            <a:rPr lang="ru-RU" sz="1400" b="1" dirty="0"/>
            <a:t>сохранение  изменений БД, выполненных в процессе выполнения транзакции</a:t>
          </a:r>
        </a:p>
      </dgm:t>
    </dgm:pt>
    <dgm:pt modelId="{85E4985E-3065-4334-A6C9-BB181D8950AB}" type="parTrans" cxnId="{7E206823-4C69-40E9-A911-2D8FDFC67468}">
      <dgm:prSet/>
      <dgm:spPr/>
      <dgm:t>
        <a:bodyPr/>
        <a:lstStyle/>
        <a:p>
          <a:endParaRPr lang="ru-RU"/>
        </a:p>
      </dgm:t>
    </dgm:pt>
    <dgm:pt modelId="{CE086BBC-CFE2-4D19-8DE9-BC110BF6EC0F}" type="sibTrans" cxnId="{7E206823-4C69-40E9-A911-2D8FDFC67468}">
      <dgm:prSet/>
      <dgm:spPr/>
      <dgm:t>
        <a:bodyPr/>
        <a:lstStyle/>
        <a:p>
          <a:endParaRPr lang="ru-RU"/>
        </a:p>
      </dgm:t>
    </dgm:pt>
    <dgm:pt modelId="{E9D7C66E-6D37-4665-9C67-C3151FC35D76}">
      <dgm:prSet phldrT="[Текст]" custT="1"/>
      <dgm:spPr/>
      <dgm:t>
        <a:bodyPr/>
        <a:lstStyle/>
        <a:p>
          <a:r>
            <a:rPr lang="ru-RU" sz="1600" b="1" dirty="0"/>
            <a:t>Откат транзакции</a:t>
          </a:r>
        </a:p>
      </dgm:t>
    </dgm:pt>
    <dgm:pt modelId="{FA95CD9B-7006-440A-9801-BBD35F400186}" type="parTrans" cxnId="{61C5FC75-A5C6-42F6-947C-C94EF701A578}">
      <dgm:prSet/>
      <dgm:spPr/>
      <dgm:t>
        <a:bodyPr/>
        <a:lstStyle/>
        <a:p>
          <a:endParaRPr lang="ru-RU"/>
        </a:p>
      </dgm:t>
    </dgm:pt>
    <dgm:pt modelId="{D1C2895F-2E18-4859-8E9F-B4FC95F785F0}" type="sibTrans" cxnId="{61C5FC75-A5C6-42F6-947C-C94EF701A578}">
      <dgm:prSet/>
      <dgm:spPr/>
      <dgm:t>
        <a:bodyPr/>
        <a:lstStyle/>
        <a:p>
          <a:endParaRPr lang="ru-RU"/>
        </a:p>
      </dgm:t>
    </dgm:pt>
    <dgm:pt modelId="{C4FF1884-8890-48C5-8475-75A4370B6589}">
      <dgm:prSet phldrT="[Текст]" custT="1"/>
      <dgm:spPr/>
      <dgm:t>
        <a:bodyPr/>
        <a:lstStyle/>
        <a:p>
          <a:pPr marL="84138" indent="0" algn="l"/>
          <a:r>
            <a:rPr lang="ru-RU" sz="1400" b="1" dirty="0"/>
            <a:t>отмена всех изменений БД, сделанных в процессе выполнения транзакции </a:t>
          </a:r>
        </a:p>
      </dgm:t>
    </dgm:pt>
    <dgm:pt modelId="{9DC48EE6-A6D2-41C0-AB4F-D20EE7B45646}" type="parTrans" cxnId="{A57304A5-0789-40F9-91CE-BD459B20D1A2}">
      <dgm:prSet/>
      <dgm:spPr/>
      <dgm:t>
        <a:bodyPr/>
        <a:lstStyle/>
        <a:p>
          <a:endParaRPr lang="ru-RU"/>
        </a:p>
      </dgm:t>
    </dgm:pt>
    <dgm:pt modelId="{A82F0B4F-DC29-4CB0-9D8C-9B5155DDE473}" type="sibTrans" cxnId="{A57304A5-0789-40F9-91CE-BD459B20D1A2}">
      <dgm:prSet/>
      <dgm:spPr/>
      <dgm:t>
        <a:bodyPr/>
        <a:lstStyle/>
        <a:p>
          <a:endParaRPr lang="ru-RU"/>
        </a:p>
      </dgm:t>
    </dgm:pt>
    <dgm:pt modelId="{36491EAB-83B7-49EF-9098-61EA9E1DE538}" type="pres">
      <dgm:prSet presAssocID="{57626569-C46D-4190-A20C-A9FBA371D667}" presName="hierChild1" presStyleCnt="0">
        <dgm:presLayoutVars>
          <dgm:orgChart val="1"/>
          <dgm:chPref val="1"/>
          <dgm:dir/>
          <dgm:animOne val="branch"/>
          <dgm:animLvl val="lvl"/>
          <dgm:resizeHandles/>
        </dgm:presLayoutVars>
      </dgm:prSet>
      <dgm:spPr/>
    </dgm:pt>
    <dgm:pt modelId="{79B2B3F9-24E7-4878-807E-A895522B9418}" type="pres">
      <dgm:prSet presAssocID="{00E2CADD-3BDB-4443-8E02-B5B4FB72A6A4}" presName="hierRoot1" presStyleCnt="0">
        <dgm:presLayoutVars>
          <dgm:hierBranch val="init"/>
        </dgm:presLayoutVars>
      </dgm:prSet>
      <dgm:spPr/>
    </dgm:pt>
    <dgm:pt modelId="{2686168A-E8D2-4514-A610-FF540C6EC573}" type="pres">
      <dgm:prSet presAssocID="{00E2CADD-3BDB-4443-8E02-B5B4FB72A6A4}" presName="rootComposite1" presStyleCnt="0"/>
      <dgm:spPr/>
    </dgm:pt>
    <dgm:pt modelId="{A7103B5E-98DA-48BE-947B-FE211294D9B5}" type="pres">
      <dgm:prSet presAssocID="{00E2CADD-3BDB-4443-8E02-B5B4FB72A6A4}" presName="rootText1" presStyleLbl="node0" presStyleIdx="0" presStyleCnt="1" custScaleX="228568">
        <dgm:presLayoutVars>
          <dgm:chPref val="3"/>
        </dgm:presLayoutVars>
      </dgm:prSet>
      <dgm:spPr/>
    </dgm:pt>
    <dgm:pt modelId="{124437CF-75F4-4383-AF61-33F957DABB22}" type="pres">
      <dgm:prSet presAssocID="{00E2CADD-3BDB-4443-8E02-B5B4FB72A6A4}" presName="rootConnector1" presStyleLbl="node1" presStyleIdx="0" presStyleCnt="0"/>
      <dgm:spPr/>
    </dgm:pt>
    <dgm:pt modelId="{2B902A0B-E3CB-45D3-971F-B4C6C60D6A82}" type="pres">
      <dgm:prSet presAssocID="{00E2CADD-3BDB-4443-8E02-B5B4FB72A6A4}" presName="hierChild2" presStyleCnt="0"/>
      <dgm:spPr/>
    </dgm:pt>
    <dgm:pt modelId="{F92F6228-4717-4673-A85E-868C0DACFA23}" type="pres">
      <dgm:prSet presAssocID="{173081F3-88D6-4E7C-A316-2556924E1C73}" presName="Name37" presStyleLbl="parChTrans1D2" presStyleIdx="0" presStyleCnt="2"/>
      <dgm:spPr/>
    </dgm:pt>
    <dgm:pt modelId="{E47416A7-C3B0-45BD-B51D-D2B960C746C5}" type="pres">
      <dgm:prSet presAssocID="{E5466571-63FF-4504-BCA8-0A8698A69E8D}" presName="hierRoot2" presStyleCnt="0">
        <dgm:presLayoutVars>
          <dgm:hierBranch val="init"/>
        </dgm:presLayoutVars>
      </dgm:prSet>
      <dgm:spPr/>
    </dgm:pt>
    <dgm:pt modelId="{51F2628C-CA40-4F0D-88C1-74EEAF022B1F}" type="pres">
      <dgm:prSet presAssocID="{E5466571-63FF-4504-BCA8-0A8698A69E8D}" presName="rootComposite" presStyleCnt="0"/>
      <dgm:spPr/>
    </dgm:pt>
    <dgm:pt modelId="{2EF63CAF-3949-4FDE-A3BE-73AEEAD607C8}" type="pres">
      <dgm:prSet presAssocID="{E5466571-63FF-4504-BCA8-0A8698A69E8D}" presName="rootText" presStyleLbl="node2" presStyleIdx="0" presStyleCnt="2" custScaleX="152809">
        <dgm:presLayoutVars>
          <dgm:chPref val="3"/>
        </dgm:presLayoutVars>
      </dgm:prSet>
      <dgm:spPr/>
    </dgm:pt>
    <dgm:pt modelId="{080EA0C4-66F9-4C83-86BC-D8B9A397362F}" type="pres">
      <dgm:prSet presAssocID="{E5466571-63FF-4504-BCA8-0A8698A69E8D}" presName="rootConnector" presStyleLbl="node2" presStyleIdx="0" presStyleCnt="2"/>
      <dgm:spPr/>
    </dgm:pt>
    <dgm:pt modelId="{2E2678A1-5516-4283-AE3B-4B88ABDCEE3C}" type="pres">
      <dgm:prSet presAssocID="{E5466571-63FF-4504-BCA8-0A8698A69E8D}" presName="hierChild4" presStyleCnt="0"/>
      <dgm:spPr/>
    </dgm:pt>
    <dgm:pt modelId="{CEB2EDF3-38AD-4653-B11B-0198E0E7873F}" type="pres">
      <dgm:prSet presAssocID="{85E4985E-3065-4334-A6C9-BB181D8950AB}" presName="Name37" presStyleLbl="parChTrans1D3" presStyleIdx="0" presStyleCnt="2"/>
      <dgm:spPr/>
    </dgm:pt>
    <dgm:pt modelId="{B68B28B0-1443-494D-BDEA-3669640EA6BE}" type="pres">
      <dgm:prSet presAssocID="{CCB332AA-35CB-47F8-9A7B-178EB56AC248}" presName="hierRoot2" presStyleCnt="0">
        <dgm:presLayoutVars>
          <dgm:hierBranch val="init"/>
        </dgm:presLayoutVars>
      </dgm:prSet>
      <dgm:spPr/>
    </dgm:pt>
    <dgm:pt modelId="{3EE3FF24-1CE6-489D-89EA-1C20D518B2F9}" type="pres">
      <dgm:prSet presAssocID="{CCB332AA-35CB-47F8-9A7B-178EB56AC248}" presName="rootComposite" presStyleCnt="0"/>
      <dgm:spPr/>
    </dgm:pt>
    <dgm:pt modelId="{93FAE002-EC6D-4024-8401-02638CBB1F52}" type="pres">
      <dgm:prSet presAssocID="{CCB332AA-35CB-47F8-9A7B-178EB56AC248}" presName="rootText" presStyleLbl="node3" presStyleIdx="0" presStyleCnt="2" custScaleX="117642">
        <dgm:presLayoutVars>
          <dgm:chPref val="3"/>
        </dgm:presLayoutVars>
      </dgm:prSet>
      <dgm:spPr/>
    </dgm:pt>
    <dgm:pt modelId="{72EC4DA8-8D24-4710-8A7B-B9801BBB26B3}" type="pres">
      <dgm:prSet presAssocID="{CCB332AA-35CB-47F8-9A7B-178EB56AC248}" presName="rootConnector" presStyleLbl="node3" presStyleIdx="0" presStyleCnt="2"/>
      <dgm:spPr/>
    </dgm:pt>
    <dgm:pt modelId="{4716E25E-BD8F-4DA4-BE91-50AB6EE8C0FD}" type="pres">
      <dgm:prSet presAssocID="{CCB332AA-35CB-47F8-9A7B-178EB56AC248}" presName="hierChild4" presStyleCnt="0"/>
      <dgm:spPr/>
    </dgm:pt>
    <dgm:pt modelId="{FA4E019D-DC7E-405A-8634-E0A60C2C4B44}" type="pres">
      <dgm:prSet presAssocID="{CCB332AA-35CB-47F8-9A7B-178EB56AC248}" presName="hierChild5" presStyleCnt="0"/>
      <dgm:spPr/>
    </dgm:pt>
    <dgm:pt modelId="{EE273F7F-DE63-481C-AB03-67FB63B2C8A6}" type="pres">
      <dgm:prSet presAssocID="{E5466571-63FF-4504-BCA8-0A8698A69E8D}" presName="hierChild5" presStyleCnt="0"/>
      <dgm:spPr/>
    </dgm:pt>
    <dgm:pt modelId="{4DB1A40E-3F05-4B43-8F01-10E6FA8B7E31}" type="pres">
      <dgm:prSet presAssocID="{FA95CD9B-7006-440A-9801-BBD35F400186}" presName="Name37" presStyleLbl="parChTrans1D2" presStyleIdx="1" presStyleCnt="2"/>
      <dgm:spPr/>
    </dgm:pt>
    <dgm:pt modelId="{38187150-22EF-433F-BAD3-20FAA1D7FE8B}" type="pres">
      <dgm:prSet presAssocID="{E9D7C66E-6D37-4665-9C67-C3151FC35D76}" presName="hierRoot2" presStyleCnt="0">
        <dgm:presLayoutVars>
          <dgm:hierBranch val="init"/>
        </dgm:presLayoutVars>
      </dgm:prSet>
      <dgm:spPr/>
    </dgm:pt>
    <dgm:pt modelId="{A83C0D14-3723-470F-85AE-D234C6BB76D2}" type="pres">
      <dgm:prSet presAssocID="{E9D7C66E-6D37-4665-9C67-C3151FC35D76}" presName="rootComposite" presStyleCnt="0"/>
      <dgm:spPr/>
    </dgm:pt>
    <dgm:pt modelId="{243FB038-481F-40D0-AC19-EAEE1EE3C3B0}" type="pres">
      <dgm:prSet presAssocID="{E9D7C66E-6D37-4665-9C67-C3151FC35D76}" presName="rootText" presStyleLbl="node2" presStyleIdx="1" presStyleCnt="2" custScaleX="159302">
        <dgm:presLayoutVars>
          <dgm:chPref val="3"/>
        </dgm:presLayoutVars>
      </dgm:prSet>
      <dgm:spPr/>
    </dgm:pt>
    <dgm:pt modelId="{21937760-04C5-4C45-9A6F-1CB56DE2224E}" type="pres">
      <dgm:prSet presAssocID="{E9D7C66E-6D37-4665-9C67-C3151FC35D76}" presName="rootConnector" presStyleLbl="node2" presStyleIdx="1" presStyleCnt="2"/>
      <dgm:spPr/>
    </dgm:pt>
    <dgm:pt modelId="{334B050A-44BF-45E5-A578-896D7C989A6B}" type="pres">
      <dgm:prSet presAssocID="{E9D7C66E-6D37-4665-9C67-C3151FC35D76}" presName="hierChild4" presStyleCnt="0"/>
      <dgm:spPr/>
    </dgm:pt>
    <dgm:pt modelId="{9FC40CF6-E9A7-4A47-A384-97FED9EEBFF0}" type="pres">
      <dgm:prSet presAssocID="{9DC48EE6-A6D2-41C0-AB4F-D20EE7B45646}" presName="Name37" presStyleLbl="parChTrans1D3" presStyleIdx="1" presStyleCnt="2"/>
      <dgm:spPr/>
    </dgm:pt>
    <dgm:pt modelId="{EBBEAF4F-3D02-44FE-8524-9007E076EDFB}" type="pres">
      <dgm:prSet presAssocID="{C4FF1884-8890-48C5-8475-75A4370B6589}" presName="hierRoot2" presStyleCnt="0">
        <dgm:presLayoutVars>
          <dgm:hierBranch val="init"/>
        </dgm:presLayoutVars>
      </dgm:prSet>
      <dgm:spPr/>
    </dgm:pt>
    <dgm:pt modelId="{F8C58358-0DD8-400E-9672-36C1A9B619A8}" type="pres">
      <dgm:prSet presAssocID="{C4FF1884-8890-48C5-8475-75A4370B6589}" presName="rootComposite" presStyleCnt="0"/>
      <dgm:spPr/>
    </dgm:pt>
    <dgm:pt modelId="{1E3F2EB8-9E80-46CA-8DC4-645577F57EF4}" type="pres">
      <dgm:prSet presAssocID="{C4FF1884-8890-48C5-8475-75A4370B6589}" presName="rootText" presStyleLbl="node3" presStyleIdx="1" presStyleCnt="2" custScaleX="118357">
        <dgm:presLayoutVars>
          <dgm:chPref val="3"/>
        </dgm:presLayoutVars>
      </dgm:prSet>
      <dgm:spPr/>
    </dgm:pt>
    <dgm:pt modelId="{9C0E642F-87C4-4879-808C-108577BEB439}" type="pres">
      <dgm:prSet presAssocID="{C4FF1884-8890-48C5-8475-75A4370B6589}" presName="rootConnector" presStyleLbl="node3" presStyleIdx="1" presStyleCnt="2"/>
      <dgm:spPr/>
    </dgm:pt>
    <dgm:pt modelId="{ABFD3B30-1886-45A8-936F-D7CA31A16127}" type="pres">
      <dgm:prSet presAssocID="{C4FF1884-8890-48C5-8475-75A4370B6589}" presName="hierChild4" presStyleCnt="0"/>
      <dgm:spPr/>
    </dgm:pt>
    <dgm:pt modelId="{9135AB7C-F1A6-4C4E-9E9B-55871B81E297}" type="pres">
      <dgm:prSet presAssocID="{C4FF1884-8890-48C5-8475-75A4370B6589}" presName="hierChild5" presStyleCnt="0"/>
      <dgm:spPr/>
    </dgm:pt>
    <dgm:pt modelId="{ED191562-B2C1-44BB-9B3F-744AF1B2BD29}" type="pres">
      <dgm:prSet presAssocID="{E9D7C66E-6D37-4665-9C67-C3151FC35D76}" presName="hierChild5" presStyleCnt="0"/>
      <dgm:spPr/>
    </dgm:pt>
    <dgm:pt modelId="{F082CCD2-C5AA-4D5A-8069-6F56D2391332}" type="pres">
      <dgm:prSet presAssocID="{00E2CADD-3BDB-4443-8E02-B5B4FB72A6A4}" presName="hierChild3" presStyleCnt="0"/>
      <dgm:spPr/>
    </dgm:pt>
  </dgm:ptLst>
  <dgm:cxnLst>
    <dgm:cxn modelId="{0CB65001-F383-4370-8AAD-D5ABD115F868}" type="presOf" srcId="{FA95CD9B-7006-440A-9801-BBD35F400186}" destId="{4DB1A40E-3F05-4B43-8F01-10E6FA8B7E31}" srcOrd="0" destOrd="0" presId="urn:microsoft.com/office/officeart/2005/8/layout/orgChart1"/>
    <dgm:cxn modelId="{09C65201-5E50-4D3C-A73B-C0A25F2E85A5}" type="presOf" srcId="{E9D7C66E-6D37-4665-9C67-C3151FC35D76}" destId="{243FB038-481F-40D0-AC19-EAEE1EE3C3B0}" srcOrd="0" destOrd="0" presId="urn:microsoft.com/office/officeart/2005/8/layout/orgChart1"/>
    <dgm:cxn modelId="{2189080B-5910-4719-9306-4FBC21268232}" srcId="{00E2CADD-3BDB-4443-8E02-B5B4FB72A6A4}" destId="{E5466571-63FF-4504-BCA8-0A8698A69E8D}" srcOrd="0" destOrd="0" parTransId="{173081F3-88D6-4E7C-A316-2556924E1C73}" sibTransId="{F634CF87-F5BB-4457-90C3-07DA8EDA5EBB}"/>
    <dgm:cxn modelId="{6233DB0B-FEE5-45C0-8A83-BDB5796A91A1}" type="presOf" srcId="{57626569-C46D-4190-A20C-A9FBA371D667}" destId="{36491EAB-83B7-49EF-9098-61EA9E1DE538}" srcOrd="0" destOrd="0" presId="urn:microsoft.com/office/officeart/2005/8/layout/orgChart1"/>
    <dgm:cxn modelId="{E016F222-FC33-449E-A3B3-6D642BC63811}" type="presOf" srcId="{E5466571-63FF-4504-BCA8-0A8698A69E8D}" destId="{080EA0C4-66F9-4C83-86BC-D8B9A397362F}" srcOrd="1" destOrd="0" presId="urn:microsoft.com/office/officeart/2005/8/layout/orgChart1"/>
    <dgm:cxn modelId="{7E206823-4C69-40E9-A911-2D8FDFC67468}" srcId="{E5466571-63FF-4504-BCA8-0A8698A69E8D}" destId="{CCB332AA-35CB-47F8-9A7B-178EB56AC248}" srcOrd="0" destOrd="0" parTransId="{85E4985E-3065-4334-A6C9-BB181D8950AB}" sibTransId="{CE086BBC-CFE2-4D19-8DE9-BC110BF6EC0F}"/>
    <dgm:cxn modelId="{34FF9828-FF9E-4AC8-91B6-08B4ECE9BE90}" type="presOf" srcId="{173081F3-88D6-4E7C-A316-2556924E1C73}" destId="{F92F6228-4717-4673-A85E-868C0DACFA23}" srcOrd="0" destOrd="0" presId="urn:microsoft.com/office/officeart/2005/8/layout/orgChart1"/>
    <dgm:cxn modelId="{FE553442-82AC-4608-A0C0-D7C9E00BD3E3}" type="presOf" srcId="{00E2CADD-3BDB-4443-8E02-B5B4FB72A6A4}" destId="{124437CF-75F4-4383-AF61-33F957DABB22}" srcOrd="1" destOrd="0" presId="urn:microsoft.com/office/officeart/2005/8/layout/orgChart1"/>
    <dgm:cxn modelId="{937D2266-657E-4DA5-81F7-EB98ED02B028}" type="presOf" srcId="{E5466571-63FF-4504-BCA8-0A8698A69E8D}" destId="{2EF63CAF-3949-4FDE-A3BE-73AEEAD607C8}" srcOrd="0" destOrd="0" presId="urn:microsoft.com/office/officeart/2005/8/layout/orgChart1"/>
    <dgm:cxn modelId="{A863C246-0631-4400-B030-EE2CF741D32C}" type="presOf" srcId="{C4FF1884-8890-48C5-8475-75A4370B6589}" destId="{9C0E642F-87C4-4879-808C-108577BEB439}" srcOrd="1" destOrd="0" presId="urn:microsoft.com/office/officeart/2005/8/layout/orgChart1"/>
    <dgm:cxn modelId="{AE7CBF74-EE4F-4CDD-9963-DD02C1D673BF}" type="presOf" srcId="{9DC48EE6-A6D2-41C0-AB4F-D20EE7B45646}" destId="{9FC40CF6-E9A7-4A47-A384-97FED9EEBFF0}" srcOrd="0" destOrd="0" presId="urn:microsoft.com/office/officeart/2005/8/layout/orgChart1"/>
    <dgm:cxn modelId="{61C5FC75-A5C6-42F6-947C-C94EF701A578}" srcId="{00E2CADD-3BDB-4443-8E02-B5B4FB72A6A4}" destId="{E9D7C66E-6D37-4665-9C67-C3151FC35D76}" srcOrd="1" destOrd="0" parTransId="{FA95CD9B-7006-440A-9801-BBD35F400186}" sibTransId="{D1C2895F-2E18-4859-8E9F-B4FC95F785F0}"/>
    <dgm:cxn modelId="{936CDE57-69EF-4928-A8EE-62787B3902EB}" type="presOf" srcId="{85E4985E-3065-4334-A6C9-BB181D8950AB}" destId="{CEB2EDF3-38AD-4653-B11B-0198E0E7873F}" srcOrd="0" destOrd="0" presId="urn:microsoft.com/office/officeart/2005/8/layout/orgChart1"/>
    <dgm:cxn modelId="{0F5D647F-86AA-4C1F-8F97-84791866DCA9}" type="presOf" srcId="{00E2CADD-3BDB-4443-8E02-B5B4FB72A6A4}" destId="{A7103B5E-98DA-48BE-947B-FE211294D9B5}" srcOrd="0" destOrd="0" presId="urn:microsoft.com/office/officeart/2005/8/layout/orgChart1"/>
    <dgm:cxn modelId="{DE8C5A94-5479-4EC6-AE1A-83B72FDF4E11}" type="presOf" srcId="{E9D7C66E-6D37-4665-9C67-C3151FC35D76}" destId="{21937760-04C5-4C45-9A6F-1CB56DE2224E}" srcOrd="1" destOrd="0" presId="urn:microsoft.com/office/officeart/2005/8/layout/orgChart1"/>
    <dgm:cxn modelId="{A57304A5-0789-40F9-91CE-BD459B20D1A2}" srcId="{E9D7C66E-6D37-4665-9C67-C3151FC35D76}" destId="{C4FF1884-8890-48C5-8475-75A4370B6589}" srcOrd="0" destOrd="0" parTransId="{9DC48EE6-A6D2-41C0-AB4F-D20EE7B45646}" sibTransId="{A82F0B4F-DC29-4CB0-9D8C-9B5155DDE473}"/>
    <dgm:cxn modelId="{CF3132B6-6F64-4DB0-A627-A663B48045F2}" type="presOf" srcId="{CCB332AA-35CB-47F8-9A7B-178EB56AC248}" destId="{72EC4DA8-8D24-4710-8A7B-B9801BBB26B3}" srcOrd="1" destOrd="0" presId="urn:microsoft.com/office/officeart/2005/8/layout/orgChart1"/>
    <dgm:cxn modelId="{B84470C6-60C6-4848-A077-561C151813BE}" type="presOf" srcId="{C4FF1884-8890-48C5-8475-75A4370B6589}" destId="{1E3F2EB8-9E80-46CA-8DC4-645577F57EF4}" srcOrd="0" destOrd="0" presId="urn:microsoft.com/office/officeart/2005/8/layout/orgChart1"/>
    <dgm:cxn modelId="{ABAD63DA-DA08-403A-A49C-122270836491}" srcId="{57626569-C46D-4190-A20C-A9FBA371D667}" destId="{00E2CADD-3BDB-4443-8E02-B5B4FB72A6A4}" srcOrd="0" destOrd="0" parTransId="{0AEC67D0-9816-4171-8C0E-44624A5408A5}" sibTransId="{1F0B3855-BC5D-4E4E-9771-4CE22B05FEA2}"/>
    <dgm:cxn modelId="{FBA1F8DF-F4F0-420C-B2A9-55AA2F558C7D}" type="presOf" srcId="{CCB332AA-35CB-47F8-9A7B-178EB56AC248}" destId="{93FAE002-EC6D-4024-8401-02638CBB1F52}" srcOrd="0" destOrd="0" presId="urn:microsoft.com/office/officeart/2005/8/layout/orgChart1"/>
    <dgm:cxn modelId="{F3439A0A-802A-4A1A-9533-BA305C105435}" type="presParOf" srcId="{36491EAB-83B7-49EF-9098-61EA9E1DE538}" destId="{79B2B3F9-24E7-4878-807E-A895522B9418}" srcOrd="0" destOrd="0" presId="urn:microsoft.com/office/officeart/2005/8/layout/orgChart1"/>
    <dgm:cxn modelId="{FA30D9F2-459C-45B6-9C6D-E6FA56529FD4}" type="presParOf" srcId="{79B2B3F9-24E7-4878-807E-A895522B9418}" destId="{2686168A-E8D2-4514-A610-FF540C6EC573}" srcOrd="0" destOrd="0" presId="urn:microsoft.com/office/officeart/2005/8/layout/orgChart1"/>
    <dgm:cxn modelId="{29F8872B-315F-4A60-AD2F-F551F6737969}" type="presParOf" srcId="{2686168A-E8D2-4514-A610-FF540C6EC573}" destId="{A7103B5E-98DA-48BE-947B-FE211294D9B5}" srcOrd="0" destOrd="0" presId="urn:microsoft.com/office/officeart/2005/8/layout/orgChart1"/>
    <dgm:cxn modelId="{2E2EF299-8A95-4E83-8F3D-D6C67CF3C36D}" type="presParOf" srcId="{2686168A-E8D2-4514-A610-FF540C6EC573}" destId="{124437CF-75F4-4383-AF61-33F957DABB22}" srcOrd="1" destOrd="0" presId="urn:microsoft.com/office/officeart/2005/8/layout/orgChart1"/>
    <dgm:cxn modelId="{B01EA3BA-B4C2-4C4A-B344-09B5285E697B}" type="presParOf" srcId="{79B2B3F9-24E7-4878-807E-A895522B9418}" destId="{2B902A0B-E3CB-45D3-971F-B4C6C60D6A82}" srcOrd="1" destOrd="0" presId="urn:microsoft.com/office/officeart/2005/8/layout/orgChart1"/>
    <dgm:cxn modelId="{CCEED856-435B-4B0D-A942-1808BA65ECC7}" type="presParOf" srcId="{2B902A0B-E3CB-45D3-971F-B4C6C60D6A82}" destId="{F92F6228-4717-4673-A85E-868C0DACFA23}" srcOrd="0" destOrd="0" presId="urn:microsoft.com/office/officeart/2005/8/layout/orgChart1"/>
    <dgm:cxn modelId="{84507F4F-8251-471A-818A-6B288AAC8E32}" type="presParOf" srcId="{2B902A0B-E3CB-45D3-971F-B4C6C60D6A82}" destId="{E47416A7-C3B0-45BD-B51D-D2B960C746C5}" srcOrd="1" destOrd="0" presId="urn:microsoft.com/office/officeart/2005/8/layout/orgChart1"/>
    <dgm:cxn modelId="{9E8F765F-48DA-476E-BA52-D0744F92C672}" type="presParOf" srcId="{E47416A7-C3B0-45BD-B51D-D2B960C746C5}" destId="{51F2628C-CA40-4F0D-88C1-74EEAF022B1F}" srcOrd="0" destOrd="0" presId="urn:microsoft.com/office/officeart/2005/8/layout/orgChart1"/>
    <dgm:cxn modelId="{A087828A-8A70-4B46-B999-85DCAE90799F}" type="presParOf" srcId="{51F2628C-CA40-4F0D-88C1-74EEAF022B1F}" destId="{2EF63CAF-3949-4FDE-A3BE-73AEEAD607C8}" srcOrd="0" destOrd="0" presId="urn:microsoft.com/office/officeart/2005/8/layout/orgChart1"/>
    <dgm:cxn modelId="{4BE9C8AD-A457-4742-A1DC-AD8ADD508B10}" type="presParOf" srcId="{51F2628C-CA40-4F0D-88C1-74EEAF022B1F}" destId="{080EA0C4-66F9-4C83-86BC-D8B9A397362F}" srcOrd="1" destOrd="0" presId="urn:microsoft.com/office/officeart/2005/8/layout/orgChart1"/>
    <dgm:cxn modelId="{D3F743E1-7ABF-4D04-9ED2-FA9039C0F792}" type="presParOf" srcId="{E47416A7-C3B0-45BD-B51D-D2B960C746C5}" destId="{2E2678A1-5516-4283-AE3B-4B88ABDCEE3C}" srcOrd="1" destOrd="0" presId="urn:microsoft.com/office/officeart/2005/8/layout/orgChart1"/>
    <dgm:cxn modelId="{899A622A-0A0A-4D77-82A7-B59E056ED594}" type="presParOf" srcId="{2E2678A1-5516-4283-AE3B-4B88ABDCEE3C}" destId="{CEB2EDF3-38AD-4653-B11B-0198E0E7873F}" srcOrd="0" destOrd="0" presId="urn:microsoft.com/office/officeart/2005/8/layout/orgChart1"/>
    <dgm:cxn modelId="{AF836F75-AD98-4A65-BB2E-4CE2890D9DFD}" type="presParOf" srcId="{2E2678A1-5516-4283-AE3B-4B88ABDCEE3C}" destId="{B68B28B0-1443-494D-BDEA-3669640EA6BE}" srcOrd="1" destOrd="0" presId="urn:microsoft.com/office/officeart/2005/8/layout/orgChart1"/>
    <dgm:cxn modelId="{2942DE5E-7FDB-47DB-BD63-82E1B5C8B199}" type="presParOf" srcId="{B68B28B0-1443-494D-BDEA-3669640EA6BE}" destId="{3EE3FF24-1CE6-489D-89EA-1C20D518B2F9}" srcOrd="0" destOrd="0" presId="urn:microsoft.com/office/officeart/2005/8/layout/orgChart1"/>
    <dgm:cxn modelId="{04F4EF93-B3A8-4815-B22F-12C54094C9BD}" type="presParOf" srcId="{3EE3FF24-1CE6-489D-89EA-1C20D518B2F9}" destId="{93FAE002-EC6D-4024-8401-02638CBB1F52}" srcOrd="0" destOrd="0" presId="urn:microsoft.com/office/officeart/2005/8/layout/orgChart1"/>
    <dgm:cxn modelId="{D15AFFD7-0DED-46B7-A48E-959875F14BC7}" type="presParOf" srcId="{3EE3FF24-1CE6-489D-89EA-1C20D518B2F9}" destId="{72EC4DA8-8D24-4710-8A7B-B9801BBB26B3}" srcOrd="1" destOrd="0" presId="urn:microsoft.com/office/officeart/2005/8/layout/orgChart1"/>
    <dgm:cxn modelId="{8B6D5432-4F3F-46F5-A5D7-3039455530A7}" type="presParOf" srcId="{B68B28B0-1443-494D-BDEA-3669640EA6BE}" destId="{4716E25E-BD8F-4DA4-BE91-50AB6EE8C0FD}" srcOrd="1" destOrd="0" presId="urn:microsoft.com/office/officeart/2005/8/layout/orgChart1"/>
    <dgm:cxn modelId="{1D9DD8A9-F973-4C61-AE4C-DB9E6A12921B}" type="presParOf" srcId="{B68B28B0-1443-494D-BDEA-3669640EA6BE}" destId="{FA4E019D-DC7E-405A-8634-E0A60C2C4B44}" srcOrd="2" destOrd="0" presId="urn:microsoft.com/office/officeart/2005/8/layout/orgChart1"/>
    <dgm:cxn modelId="{542AB98C-4C38-456A-8235-9B32DF116B7A}" type="presParOf" srcId="{E47416A7-C3B0-45BD-B51D-D2B960C746C5}" destId="{EE273F7F-DE63-481C-AB03-67FB63B2C8A6}" srcOrd="2" destOrd="0" presId="urn:microsoft.com/office/officeart/2005/8/layout/orgChart1"/>
    <dgm:cxn modelId="{BC066429-D802-4065-BF63-5E8624F7A01A}" type="presParOf" srcId="{2B902A0B-E3CB-45D3-971F-B4C6C60D6A82}" destId="{4DB1A40E-3F05-4B43-8F01-10E6FA8B7E31}" srcOrd="2" destOrd="0" presId="urn:microsoft.com/office/officeart/2005/8/layout/orgChart1"/>
    <dgm:cxn modelId="{A1C365F4-CD29-47A2-B8B7-E655A277ECAC}" type="presParOf" srcId="{2B902A0B-E3CB-45D3-971F-B4C6C60D6A82}" destId="{38187150-22EF-433F-BAD3-20FAA1D7FE8B}" srcOrd="3" destOrd="0" presId="urn:microsoft.com/office/officeart/2005/8/layout/orgChart1"/>
    <dgm:cxn modelId="{54062D60-1ECC-42C1-A5C4-4829FCD84D0B}" type="presParOf" srcId="{38187150-22EF-433F-BAD3-20FAA1D7FE8B}" destId="{A83C0D14-3723-470F-85AE-D234C6BB76D2}" srcOrd="0" destOrd="0" presId="urn:microsoft.com/office/officeart/2005/8/layout/orgChart1"/>
    <dgm:cxn modelId="{3CFD46BF-F97C-4D31-9FDE-0C3FF17D046E}" type="presParOf" srcId="{A83C0D14-3723-470F-85AE-D234C6BB76D2}" destId="{243FB038-481F-40D0-AC19-EAEE1EE3C3B0}" srcOrd="0" destOrd="0" presId="urn:microsoft.com/office/officeart/2005/8/layout/orgChart1"/>
    <dgm:cxn modelId="{E2DB25AF-709D-4330-9264-4F411A871CC6}" type="presParOf" srcId="{A83C0D14-3723-470F-85AE-D234C6BB76D2}" destId="{21937760-04C5-4C45-9A6F-1CB56DE2224E}" srcOrd="1" destOrd="0" presId="urn:microsoft.com/office/officeart/2005/8/layout/orgChart1"/>
    <dgm:cxn modelId="{F096BE33-6DD8-47C4-8973-0B3F211EA813}" type="presParOf" srcId="{38187150-22EF-433F-BAD3-20FAA1D7FE8B}" destId="{334B050A-44BF-45E5-A578-896D7C989A6B}" srcOrd="1" destOrd="0" presId="urn:microsoft.com/office/officeart/2005/8/layout/orgChart1"/>
    <dgm:cxn modelId="{3898E557-0393-4BEE-9AD6-DCA22DCF7ACE}" type="presParOf" srcId="{334B050A-44BF-45E5-A578-896D7C989A6B}" destId="{9FC40CF6-E9A7-4A47-A384-97FED9EEBFF0}" srcOrd="0" destOrd="0" presId="urn:microsoft.com/office/officeart/2005/8/layout/orgChart1"/>
    <dgm:cxn modelId="{33C080DE-895B-4514-89E6-11C2C2C7FD65}" type="presParOf" srcId="{334B050A-44BF-45E5-A578-896D7C989A6B}" destId="{EBBEAF4F-3D02-44FE-8524-9007E076EDFB}" srcOrd="1" destOrd="0" presId="urn:microsoft.com/office/officeart/2005/8/layout/orgChart1"/>
    <dgm:cxn modelId="{E9F496E2-B936-4854-B8FB-827FCE5A97FF}" type="presParOf" srcId="{EBBEAF4F-3D02-44FE-8524-9007E076EDFB}" destId="{F8C58358-0DD8-400E-9672-36C1A9B619A8}" srcOrd="0" destOrd="0" presId="urn:microsoft.com/office/officeart/2005/8/layout/orgChart1"/>
    <dgm:cxn modelId="{9236B669-84EF-479F-B288-219F07FA673C}" type="presParOf" srcId="{F8C58358-0DD8-400E-9672-36C1A9B619A8}" destId="{1E3F2EB8-9E80-46CA-8DC4-645577F57EF4}" srcOrd="0" destOrd="0" presId="urn:microsoft.com/office/officeart/2005/8/layout/orgChart1"/>
    <dgm:cxn modelId="{2EA8DB5D-5BF5-492D-81DF-70126E182B57}" type="presParOf" srcId="{F8C58358-0DD8-400E-9672-36C1A9B619A8}" destId="{9C0E642F-87C4-4879-808C-108577BEB439}" srcOrd="1" destOrd="0" presId="urn:microsoft.com/office/officeart/2005/8/layout/orgChart1"/>
    <dgm:cxn modelId="{7D1019B9-4694-4D71-822F-79C858391394}" type="presParOf" srcId="{EBBEAF4F-3D02-44FE-8524-9007E076EDFB}" destId="{ABFD3B30-1886-45A8-936F-D7CA31A16127}" srcOrd="1" destOrd="0" presId="urn:microsoft.com/office/officeart/2005/8/layout/orgChart1"/>
    <dgm:cxn modelId="{0D509647-EAB2-49D2-82E3-3184A588228C}" type="presParOf" srcId="{EBBEAF4F-3D02-44FE-8524-9007E076EDFB}" destId="{9135AB7C-F1A6-4C4E-9E9B-55871B81E297}" srcOrd="2" destOrd="0" presId="urn:microsoft.com/office/officeart/2005/8/layout/orgChart1"/>
    <dgm:cxn modelId="{98E29972-1FEE-4E6B-9768-F84B16A6A0B3}" type="presParOf" srcId="{38187150-22EF-433F-BAD3-20FAA1D7FE8B}" destId="{ED191562-B2C1-44BB-9B3F-744AF1B2BD29}" srcOrd="2" destOrd="0" presId="urn:microsoft.com/office/officeart/2005/8/layout/orgChart1"/>
    <dgm:cxn modelId="{5634BCF1-AF0F-4D11-9FA4-70D60B58924D}" type="presParOf" srcId="{79B2B3F9-24E7-4878-807E-A895522B9418}" destId="{F082CCD2-C5AA-4D5A-8069-6F56D239133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40CF6-E9A7-4A47-A384-97FED9EEBFF0}">
      <dsp:nvSpPr>
        <dsp:cNvPr id="0" name=""/>
        <dsp:cNvSpPr/>
      </dsp:nvSpPr>
      <dsp:spPr>
        <a:xfrm>
          <a:off x="4190801" y="2980728"/>
          <a:ext cx="527451" cy="1015378"/>
        </a:xfrm>
        <a:custGeom>
          <a:avLst/>
          <a:gdLst/>
          <a:ahLst/>
          <a:cxnLst/>
          <a:rect l="0" t="0" r="0" b="0"/>
          <a:pathLst>
            <a:path>
              <a:moveTo>
                <a:pt x="0" y="0"/>
              </a:moveTo>
              <a:lnTo>
                <a:pt x="0" y="1015378"/>
              </a:lnTo>
              <a:lnTo>
                <a:pt x="527451" y="1015378"/>
              </a:lnTo>
            </a:path>
          </a:pathLst>
        </a:custGeom>
        <a:noFill/>
        <a:ln w="25400" cap="flat" cmpd="sng" algn="ctr">
          <a:solidFill>
            <a:schemeClr val="accent6">
              <a:tint val="7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DB1A40E-3F05-4B43-8F01-10E6FA8B7E31}">
      <dsp:nvSpPr>
        <dsp:cNvPr id="0" name=""/>
        <dsp:cNvSpPr/>
      </dsp:nvSpPr>
      <dsp:spPr>
        <a:xfrm>
          <a:off x="3679057" y="1413513"/>
          <a:ext cx="1918281" cy="463542"/>
        </a:xfrm>
        <a:custGeom>
          <a:avLst/>
          <a:gdLst/>
          <a:ahLst/>
          <a:cxnLst/>
          <a:rect l="0" t="0" r="0" b="0"/>
          <a:pathLst>
            <a:path>
              <a:moveTo>
                <a:pt x="0" y="0"/>
              </a:moveTo>
              <a:lnTo>
                <a:pt x="0" y="231771"/>
              </a:lnTo>
              <a:lnTo>
                <a:pt x="1918281" y="231771"/>
              </a:lnTo>
              <a:lnTo>
                <a:pt x="1918281" y="463542"/>
              </a:lnTo>
            </a:path>
          </a:pathLst>
        </a:custGeom>
        <a:noFill/>
        <a:ln w="25400" cap="flat" cmpd="sng" algn="ctr">
          <a:solidFill>
            <a:schemeClr val="accent6">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EB2EDF3-38AD-4653-B11B-0198E0E7873F}">
      <dsp:nvSpPr>
        <dsp:cNvPr id="0" name=""/>
        <dsp:cNvSpPr/>
      </dsp:nvSpPr>
      <dsp:spPr>
        <a:xfrm>
          <a:off x="339905" y="2980728"/>
          <a:ext cx="505953" cy="1015378"/>
        </a:xfrm>
        <a:custGeom>
          <a:avLst/>
          <a:gdLst/>
          <a:ahLst/>
          <a:cxnLst/>
          <a:rect l="0" t="0" r="0" b="0"/>
          <a:pathLst>
            <a:path>
              <a:moveTo>
                <a:pt x="0" y="0"/>
              </a:moveTo>
              <a:lnTo>
                <a:pt x="0" y="1015378"/>
              </a:lnTo>
              <a:lnTo>
                <a:pt x="505953" y="1015378"/>
              </a:lnTo>
            </a:path>
          </a:pathLst>
        </a:custGeom>
        <a:noFill/>
        <a:ln w="25400" cap="flat" cmpd="sng" algn="ctr">
          <a:solidFill>
            <a:schemeClr val="accent6">
              <a:tint val="7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92F6228-4717-4673-A85E-868C0DACFA23}">
      <dsp:nvSpPr>
        <dsp:cNvPr id="0" name=""/>
        <dsp:cNvSpPr/>
      </dsp:nvSpPr>
      <dsp:spPr>
        <a:xfrm>
          <a:off x="1689113" y="1413513"/>
          <a:ext cx="1989943" cy="463542"/>
        </a:xfrm>
        <a:custGeom>
          <a:avLst/>
          <a:gdLst/>
          <a:ahLst/>
          <a:cxnLst/>
          <a:rect l="0" t="0" r="0" b="0"/>
          <a:pathLst>
            <a:path>
              <a:moveTo>
                <a:pt x="1989943" y="0"/>
              </a:moveTo>
              <a:lnTo>
                <a:pt x="1989943" y="231771"/>
              </a:lnTo>
              <a:lnTo>
                <a:pt x="0" y="231771"/>
              </a:lnTo>
              <a:lnTo>
                <a:pt x="0" y="463542"/>
              </a:lnTo>
            </a:path>
          </a:pathLst>
        </a:custGeom>
        <a:noFill/>
        <a:ln w="25400" cap="flat" cmpd="sng" algn="ctr">
          <a:solidFill>
            <a:schemeClr val="accent6">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7103B5E-98DA-48BE-947B-FE211294D9B5}">
      <dsp:nvSpPr>
        <dsp:cNvPr id="0" name=""/>
        <dsp:cNvSpPr/>
      </dsp:nvSpPr>
      <dsp:spPr>
        <a:xfrm>
          <a:off x="1156415" y="309841"/>
          <a:ext cx="5045282" cy="1103672"/>
        </a:xfrm>
        <a:prstGeom prst="rect">
          <a:avLst/>
        </a:prstGeom>
        <a:gradFill rotWithShape="0">
          <a:gsLst>
            <a:gs pos="0">
              <a:schemeClr val="accent6">
                <a:alpha val="80000"/>
                <a:hueOff val="0"/>
                <a:satOff val="0"/>
                <a:lumOff val="0"/>
                <a:alphaOff val="0"/>
                <a:shade val="51000"/>
                <a:satMod val="130000"/>
              </a:schemeClr>
            </a:gs>
            <a:gs pos="80000">
              <a:schemeClr val="accent6">
                <a:alpha val="80000"/>
                <a:hueOff val="0"/>
                <a:satOff val="0"/>
                <a:lumOff val="0"/>
                <a:alphaOff val="0"/>
                <a:shade val="93000"/>
                <a:satMod val="130000"/>
              </a:schemeClr>
            </a:gs>
            <a:gs pos="100000">
              <a:schemeClr val="accent6">
                <a:alpha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ru-RU" sz="1800" b="1" kern="1200" dirty="0"/>
            <a:t>Варианты завершения транзакции</a:t>
          </a:r>
        </a:p>
      </dsp:txBody>
      <dsp:txXfrm>
        <a:off x="1156415" y="309841"/>
        <a:ext cx="5045282" cy="1103672"/>
      </dsp:txXfrm>
    </dsp:sp>
    <dsp:sp modelId="{2EF63CAF-3949-4FDE-A3BE-73AEEAD607C8}">
      <dsp:nvSpPr>
        <dsp:cNvPr id="0" name=""/>
        <dsp:cNvSpPr/>
      </dsp:nvSpPr>
      <dsp:spPr>
        <a:xfrm>
          <a:off x="2603" y="1877055"/>
          <a:ext cx="3373020" cy="1103672"/>
        </a:xfrm>
        <a:prstGeom prst="rect">
          <a:avLst/>
        </a:prstGeom>
        <a:gradFill rotWithShape="0">
          <a:gsLst>
            <a:gs pos="0">
              <a:schemeClr val="accent6">
                <a:alpha val="70000"/>
                <a:hueOff val="0"/>
                <a:satOff val="0"/>
                <a:lumOff val="0"/>
                <a:alphaOff val="0"/>
                <a:shade val="51000"/>
                <a:satMod val="130000"/>
              </a:schemeClr>
            </a:gs>
            <a:gs pos="80000">
              <a:schemeClr val="accent6">
                <a:alpha val="70000"/>
                <a:hueOff val="0"/>
                <a:satOff val="0"/>
                <a:lumOff val="0"/>
                <a:alphaOff val="0"/>
                <a:shade val="93000"/>
                <a:satMod val="130000"/>
              </a:schemeClr>
            </a:gs>
            <a:gs pos="100000">
              <a:schemeClr val="accent6">
                <a:alpha val="7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ru-RU" sz="1600" b="1" kern="1200" dirty="0"/>
            <a:t>Фиксация транзакции</a:t>
          </a:r>
        </a:p>
      </dsp:txBody>
      <dsp:txXfrm>
        <a:off x="2603" y="1877055"/>
        <a:ext cx="3373020" cy="1103672"/>
      </dsp:txXfrm>
    </dsp:sp>
    <dsp:sp modelId="{93FAE002-EC6D-4024-8401-02638CBB1F52}">
      <dsp:nvSpPr>
        <dsp:cNvPr id="0" name=""/>
        <dsp:cNvSpPr/>
      </dsp:nvSpPr>
      <dsp:spPr>
        <a:xfrm>
          <a:off x="845858" y="3444270"/>
          <a:ext cx="2596764" cy="1103672"/>
        </a:xfrm>
        <a:prstGeom prst="rect">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84138" lvl="0" indent="0" algn="l" defTabSz="622300">
            <a:lnSpc>
              <a:spcPct val="90000"/>
            </a:lnSpc>
            <a:spcBef>
              <a:spcPct val="0"/>
            </a:spcBef>
            <a:spcAft>
              <a:spcPct val="35000"/>
            </a:spcAft>
            <a:buNone/>
          </a:pPr>
          <a:r>
            <a:rPr lang="ru-RU" sz="1400" b="1" kern="1200" dirty="0"/>
            <a:t>сохранение  изменений БД, выполненных в процессе выполнения транзакции</a:t>
          </a:r>
        </a:p>
      </dsp:txBody>
      <dsp:txXfrm>
        <a:off x="845858" y="3444270"/>
        <a:ext cx="2596764" cy="1103672"/>
      </dsp:txXfrm>
    </dsp:sp>
    <dsp:sp modelId="{243FB038-481F-40D0-AC19-EAEE1EE3C3B0}">
      <dsp:nvSpPr>
        <dsp:cNvPr id="0" name=""/>
        <dsp:cNvSpPr/>
      </dsp:nvSpPr>
      <dsp:spPr>
        <a:xfrm>
          <a:off x="3839166" y="1877055"/>
          <a:ext cx="3516343" cy="1103672"/>
        </a:xfrm>
        <a:prstGeom prst="rect">
          <a:avLst/>
        </a:prstGeom>
        <a:gradFill rotWithShape="0">
          <a:gsLst>
            <a:gs pos="0">
              <a:schemeClr val="accent6">
                <a:alpha val="70000"/>
                <a:hueOff val="0"/>
                <a:satOff val="0"/>
                <a:lumOff val="0"/>
                <a:alphaOff val="0"/>
                <a:shade val="51000"/>
                <a:satMod val="130000"/>
              </a:schemeClr>
            </a:gs>
            <a:gs pos="80000">
              <a:schemeClr val="accent6">
                <a:alpha val="70000"/>
                <a:hueOff val="0"/>
                <a:satOff val="0"/>
                <a:lumOff val="0"/>
                <a:alphaOff val="0"/>
                <a:shade val="93000"/>
                <a:satMod val="130000"/>
              </a:schemeClr>
            </a:gs>
            <a:gs pos="100000">
              <a:schemeClr val="accent6">
                <a:alpha val="7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ru-RU" sz="1600" b="1" kern="1200" dirty="0"/>
            <a:t>Откат транзакции</a:t>
          </a:r>
        </a:p>
      </dsp:txBody>
      <dsp:txXfrm>
        <a:off x="3839166" y="1877055"/>
        <a:ext cx="3516343" cy="1103672"/>
      </dsp:txXfrm>
    </dsp:sp>
    <dsp:sp modelId="{1E3F2EB8-9E80-46CA-8DC4-645577F57EF4}">
      <dsp:nvSpPr>
        <dsp:cNvPr id="0" name=""/>
        <dsp:cNvSpPr/>
      </dsp:nvSpPr>
      <dsp:spPr>
        <a:xfrm>
          <a:off x="4718252" y="3444270"/>
          <a:ext cx="2612546" cy="1103672"/>
        </a:xfrm>
        <a:prstGeom prst="rect">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84138" lvl="0" indent="0" algn="l" defTabSz="622300">
            <a:lnSpc>
              <a:spcPct val="90000"/>
            </a:lnSpc>
            <a:spcBef>
              <a:spcPct val="0"/>
            </a:spcBef>
            <a:spcAft>
              <a:spcPct val="35000"/>
            </a:spcAft>
            <a:buNone/>
          </a:pPr>
          <a:r>
            <a:rPr lang="ru-RU" sz="1400" b="1" kern="1200" dirty="0"/>
            <a:t>отмена всех изменений БД, сделанных в процессе выполнения транзакции </a:t>
          </a:r>
        </a:p>
      </dsp:txBody>
      <dsp:txXfrm>
        <a:off x="4718252" y="3444270"/>
        <a:ext cx="2612546" cy="110367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FF2B9B-0DFA-4845-BD9B-901AF91C68CD}" type="datetimeFigureOut">
              <a:rPr lang="ru-RU" smtClean="0"/>
              <a:pPr/>
              <a:t>02.04.2026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A3527A-6151-4A98-A75F-4D4E0D307F3E}"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1</a:t>
            </a:fld>
            <a:endParaRPr lang="ru-R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6805E711-7C8E-4257-A76A-06F3D3C05320}" type="datetime1">
              <a:rPr lang="ru-RU" smtClean="0"/>
              <a:pPr/>
              <a:t>02.04.2026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lvl1pPr>
              <a:defRPr sz="2800"/>
            </a:lvl1pPr>
          </a:lstStyle>
          <a:p>
            <a:r>
              <a:rPr lang="ru-RU" dirty="0"/>
              <a:t>Образец заголовка</a:t>
            </a:r>
          </a:p>
        </p:txBody>
      </p:sp>
      <p:sp>
        <p:nvSpPr>
          <p:cNvPr id="3" name="Содержимое 2"/>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10"/>
          </p:nvPr>
        </p:nvSpPr>
        <p:spPr/>
        <p:txBody>
          <a:bodyPr/>
          <a:lstStyle/>
          <a:p>
            <a:fld id="{C82BC58E-C9F6-48FD-B9E5-AE933892D04A}" type="datetime1">
              <a:rPr lang="ru-RU" smtClean="0"/>
              <a:pPr/>
              <a:t>02.04.2026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F4011C0-8750-4E8D-9BD1-DF579FD696AD}" type="datetime1">
              <a:rPr lang="ru-RU" smtClean="0"/>
              <a:pPr/>
              <a:t>02.04.2026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E89A03D0-05CB-4C72-A911-D19BD413180A}" type="datetime1">
              <a:rPr lang="ru-RU" smtClean="0"/>
              <a:pPr/>
              <a:t>02.04.2026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4BE2FE4-6142-4F31-B490-D105260BC39F}" type="datetime1">
              <a:rPr lang="ru-RU" smtClean="0"/>
              <a:pPr/>
              <a:t>02.04.2026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6CF83CA6-27E9-4E4D-BCEE-D3820ACE1C26}" type="datetime1">
              <a:rPr lang="ru-RU" smtClean="0"/>
              <a:pPr/>
              <a:t>02.04.2026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CAC190E-BB99-4A28-8238-D9D556E7C487}" type="datetime1">
              <a:rPr lang="ru-RU" smtClean="0"/>
              <a:pPr/>
              <a:t>02.04.2026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027213BA-A1C1-4A50-93E6-D90B2774F18F}" type="datetime1">
              <a:rPr lang="ru-RU" smtClean="0"/>
              <a:pPr/>
              <a:t>02.04.2026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9020698-BAFC-4F5D-B55E-E7DC063F46C5}" type="datetime1">
              <a:rPr lang="ru-RU" smtClean="0"/>
              <a:pPr/>
              <a:t>02.04.2026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6854DA7-58E9-4D54-B46F-2E208CCEBF8D}" type="datetime1">
              <a:rPr lang="ru-RU" smtClean="0"/>
              <a:pPr/>
              <a:t>02.04.2026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1F3EBCA-EEA3-4401-B722-FC2FACC9B1D1}" type="datetime1">
              <a:rPr lang="ru-RU" smtClean="0"/>
              <a:pPr/>
              <a:t>02.04.2026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A15DA-5244-4B85-8402-67565CA01B9A}" type="datetime1">
              <a:rPr lang="ru-RU" smtClean="0"/>
              <a:pPr/>
              <a:t>02.04.2026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7023B-4310-42C4-812D-874FAF4871B2}"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14348" y="2928935"/>
            <a:ext cx="7772400" cy="1285884"/>
          </a:xfrm>
          <a:solidFill>
            <a:schemeClr val="tx2">
              <a:lumMod val="40000"/>
              <a:lumOff val="60000"/>
            </a:schemeClr>
          </a:solidFill>
        </p:spPr>
        <p:style>
          <a:lnRef idx="2">
            <a:schemeClr val="accent1"/>
          </a:lnRef>
          <a:fillRef idx="1">
            <a:schemeClr val="lt1"/>
          </a:fillRef>
          <a:effectRef idx="0">
            <a:schemeClr val="accent1"/>
          </a:effectRef>
          <a:fontRef idx="minor">
            <a:schemeClr val="dk1"/>
          </a:fontRef>
        </p:style>
        <p:txBody>
          <a:bodyPr>
            <a:normAutofit/>
          </a:bodyPr>
          <a:lstStyle/>
          <a:p>
            <a:r>
              <a:rPr lang="ru-RU" b="1" dirty="0"/>
              <a:t>Транзакция </a:t>
            </a:r>
          </a:p>
        </p:txBody>
      </p:sp>
      <p:pic>
        <p:nvPicPr>
          <p:cNvPr id="1026" name="Picture 2"/>
          <p:cNvPicPr>
            <a:picLocks noChangeAspect="1" noChangeArrowheads="1"/>
          </p:cNvPicPr>
          <p:nvPr/>
        </p:nvPicPr>
        <p:blipFill>
          <a:blip r:embed="rId3" cstate="print"/>
          <a:srcRect r="2299" b="-197"/>
          <a:stretch>
            <a:fillRect/>
          </a:stretch>
        </p:blipFill>
        <p:spPr bwMode="auto">
          <a:xfrm>
            <a:off x="642910" y="0"/>
            <a:ext cx="3643306" cy="2786058"/>
          </a:xfrm>
          <a:prstGeom prst="rect">
            <a:avLst/>
          </a:prstGeom>
          <a:noFill/>
          <a:ln w="9525">
            <a:noFill/>
            <a:miter lim="800000"/>
            <a:headEnd/>
            <a:tailEnd/>
          </a:ln>
          <a:effectLst/>
        </p:spPr>
      </p:pic>
      <p:pic>
        <p:nvPicPr>
          <p:cNvPr id="2050" name="Picture 2"/>
          <p:cNvPicPr>
            <a:picLocks noChangeAspect="1" noChangeArrowheads="1"/>
          </p:cNvPicPr>
          <p:nvPr/>
        </p:nvPicPr>
        <p:blipFill>
          <a:blip r:embed="rId4" cstate="print"/>
          <a:srcRect/>
          <a:stretch>
            <a:fillRect/>
          </a:stretch>
        </p:blipFill>
        <p:spPr bwMode="auto">
          <a:xfrm>
            <a:off x="642910" y="4429132"/>
            <a:ext cx="2478333" cy="2138363"/>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cstate="print"/>
          <a:srcRect/>
          <a:stretch>
            <a:fillRect/>
          </a:stretch>
        </p:blipFill>
        <p:spPr bwMode="auto">
          <a:xfrm>
            <a:off x="5643570" y="214290"/>
            <a:ext cx="2643206" cy="2577490"/>
          </a:xfrm>
          <a:prstGeom prst="rect">
            <a:avLst/>
          </a:prstGeom>
          <a:noFill/>
          <a:ln w="9525">
            <a:noFill/>
            <a:miter lim="800000"/>
            <a:headEnd/>
            <a:tailEnd/>
          </a:ln>
          <a:effectLst/>
        </p:spPr>
      </p:pic>
      <p:pic>
        <p:nvPicPr>
          <p:cNvPr id="7" name="Picture 2"/>
          <p:cNvPicPr>
            <a:picLocks noChangeAspect="1" noChangeArrowheads="1"/>
          </p:cNvPicPr>
          <p:nvPr/>
        </p:nvPicPr>
        <p:blipFill>
          <a:blip r:embed="rId6" cstate="print"/>
          <a:srcRect t="10756" r="1538"/>
          <a:stretch>
            <a:fillRect/>
          </a:stretch>
        </p:blipFill>
        <p:spPr bwMode="auto">
          <a:xfrm>
            <a:off x="4071934" y="4357694"/>
            <a:ext cx="4429156" cy="212461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214290"/>
            <a:ext cx="8229600" cy="796908"/>
          </a:xfrm>
        </p:spPr>
        <p:txBody>
          <a:bodyPr>
            <a:normAutofit/>
          </a:bodyPr>
          <a:lstStyle/>
          <a:p>
            <a:r>
              <a:rPr lang="ru-RU" sz="4000" dirty="0"/>
              <a:t>Транзакция</a:t>
            </a:r>
          </a:p>
        </p:txBody>
      </p:sp>
      <p:sp>
        <p:nvSpPr>
          <p:cNvPr id="3" name="Содержимое 2"/>
          <p:cNvSpPr>
            <a:spLocks noGrp="1"/>
          </p:cNvSpPr>
          <p:nvPr>
            <p:ph idx="1"/>
          </p:nvPr>
        </p:nvSpPr>
        <p:spPr>
          <a:xfrm>
            <a:off x="642910" y="1285860"/>
            <a:ext cx="8229600" cy="1357322"/>
          </a:xfrm>
        </p:spPr>
        <p:txBody>
          <a:bodyPr>
            <a:normAutofit fontScale="70000" lnSpcReduction="20000"/>
          </a:bodyPr>
          <a:lstStyle/>
          <a:p>
            <a:pPr marL="0" indent="0">
              <a:buNone/>
            </a:pPr>
            <a:r>
              <a:rPr lang="ru-RU" b="1" dirty="0"/>
              <a:t>Транзакция </a:t>
            </a:r>
            <a:r>
              <a:rPr lang="ru-RU" dirty="0">
                <a:latin typeface="Calibri"/>
                <a:cs typeface="Calibri"/>
              </a:rPr>
              <a:t>−</a:t>
            </a:r>
            <a:r>
              <a:rPr lang="ru-RU" dirty="0"/>
              <a:t> это последовательность операций с данными, выполняющаяся как единое целое.</a:t>
            </a:r>
          </a:p>
          <a:p>
            <a:pPr marL="0" indent="0">
              <a:buNone/>
            </a:pPr>
            <a:r>
              <a:rPr lang="ru-RU" dirty="0"/>
              <a:t> </a:t>
            </a:r>
          </a:p>
          <a:p>
            <a:pPr marL="0" indent="0">
              <a:buNone/>
            </a:pPr>
            <a:r>
              <a:rPr lang="ru-RU" dirty="0"/>
              <a:t>Транзакции повышают надежность баз данных.</a:t>
            </a:r>
          </a:p>
        </p:txBody>
      </p:sp>
      <p:sp>
        <p:nvSpPr>
          <p:cNvPr id="4" name="Номер слайда 3"/>
          <p:cNvSpPr>
            <a:spLocks noGrp="1"/>
          </p:cNvSpPr>
          <p:nvPr>
            <p:ph type="sldNum" sz="quarter" idx="12"/>
          </p:nvPr>
        </p:nvSpPr>
        <p:spPr/>
        <p:txBody>
          <a:bodyPr/>
          <a:lstStyle/>
          <a:p>
            <a:fld id="{1F87023B-4310-42C4-812D-874FAF4871B2}" type="slidenum">
              <a:rPr lang="ru-RU" smtClean="0"/>
              <a:pPr/>
              <a:t>2</a:t>
            </a:fld>
            <a:endParaRPr lang="ru-RU"/>
          </a:p>
        </p:txBody>
      </p:sp>
      <p:sp>
        <p:nvSpPr>
          <p:cNvPr id="7" name="Содержимое 2"/>
          <p:cNvSpPr txBox="1">
            <a:spLocks/>
          </p:cNvSpPr>
          <p:nvPr/>
        </p:nvSpPr>
        <p:spPr>
          <a:xfrm>
            <a:off x="714348" y="2643182"/>
            <a:ext cx="8229600" cy="2571768"/>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p:cNvPicPr>
            <a:picLocks noChangeAspect="1" noChangeArrowheads="1"/>
          </p:cNvPicPr>
          <p:nvPr/>
        </p:nvPicPr>
        <p:blipFill>
          <a:blip r:embed="rId2" cstate="print"/>
          <a:srcRect/>
          <a:stretch>
            <a:fillRect/>
          </a:stretch>
        </p:blipFill>
        <p:spPr bwMode="auto">
          <a:xfrm>
            <a:off x="1071538" y="3143248"/>
            <a:ext cx="6972232" cy="1928826"/>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14290"/>
            <a:ext cx="8229600" cy="500042"/>
          </a:xfrm>
        </p:spPr>
        <p:txBody>
          <a:bodyPr>
            <a:noAutofit/>
          </a:bodyPr>
          <a:lstStyle/>
          <a:p>
            <a:r>
              <a:rPr lang="ru-RU" sz="4000" dirty="0"/>
              <a:t>Пример транзакции</a:t>
            </a:r>
          </a:p>
        </p:txBody>
      </p:sp>
      <p:sp>
        <p:nvSpPr>
          <p:cNvPr id="13" name="Содержимое 12"/>
          <p:cNvSpPr>
            <a:spLocks noGrp="1"/>
          </p:cNvSpPr>
          <p:nvPr>
            <p:ph idx="1"/>
          </p:nvPr>
        </p:nvSpPr>
        <p:spPr>
          <a:xfrm>
            <a:off x="357158" y="4143380"/>
            <a:ext cx="8229600" cy="2500330"/>
          </a:xfrm>
        </p:spPr>
        <p:txBody>
          <a:bodyPr>
            <a:normAutofit fontScale="62500" lnSpcReduction="20000"/>
          </a:bodyPr>
          <a:lstStyle/>
          <a:p>
            <a:pPr marL="514350" indent="-514350">
              <a:buNone/>
            </a:pPr>
            <a:r>
              <a:rPr lang="ru-RU" dirty="0"/>
              <a:t>1) </a:t>
            </a:r>
            <a:r>
              <a:rPr lang="en-US" b="1" dirty="0"/>
              <a:t>UPDATE</a:t>
            </a:r>
            <a:r>
              <a:rPr lang="en-US" dirty="0"/>
              <a:t> Bank_account </a:t>
            </a:r>
            <a:endParaRPr lang="ru-RU" dirty="0"/>
          </a:p>
          <a:p>
            <a:pPr marL="514350" indent="-514350">
              <a:buNone/>
            </a:pPr>
            <a:r>
              <a:rPr lang="en-US" b="1" dirty="0"/>
              <a:t>	SET</a:t>
            </a:r>
            <a:r>
              <a:rPr lang="en-US" dirty="0"/>
              <a:t> Balance = Balance - 500 </a:t>
            </a:r>
            <a:endParaRPr lang="ru-RU" dirty="0"/>
          </a:p>
          <a:p>
            <a:pPr>
              <a:buNone/>
            </a:pPr>
            <a:r>
              <a:rPr lang="en-US" b="1" dirty="0"/>
              <a:t>	   </a:t>
            </a:r>
            <a:r>
              <a:rPr lang="ru-RU" b="1" dirty="0"/>
              <a:t>WHERE</a:t>
            </a:r>
            <a:r>
              <a:rPr lang="ru-RU" dirty="0"/>
              <a:t> </a:t>
            </a:r>
            <a:r>
              <a:rPr lang="en-US" dirty="0"/>
              <a:t>Number_account </a:t>
            </a:r>
            <a:r>
              <a:rPr lang="ru-RU" dirty="0"/>
              <a:t>= 101</a:t>
            </a:r>
          </a:p>
          <a:p>
            <a:pPr>
              <a:buNone/>
            </a:pPr>
            <a:endParaRPr lang="ru-RU" dirty="0"/>
          </a:p>
          <a:p>
            <a:pPr>
              <a:buNone/>
            </a:pPr>
            <a:endParaRPr lang="ru-RU" dirty="0"/>
          </a:p>
          <a:p>
            <a:pPr>
              <a:buNone/>
            </a:pPr>
            <a:r>
              <a:rPr lang="ru-RU" dirty="0"/>
              <a:t>2) </a:t>
            </a:r>
            <a:r>
              <a:rPr lang="en-US" b="1" dirty="0"/>
              <a:t>UPDATE</a:t>
            </a:r>
            <a:r>
              <a:rPr lang="en-US" dirty="0"/>
              <a:t> Bank_account </a:t>
            </a:r>
            <a:endParaRPr lang="ru-RU" dirty="0"/>
          </a:p>
          <a:p>
            <a:pPr>
              <a:buNone/>
            </a:pPr>
            <a:r>
              <a:rPr lang="en-US" b="1" dirty="0"/>
              <a:t>	SET</a:t>
            </a:r>
            <a:r>
              <a:rPr lang="en-US" dirty="0"/>
              <a:t> Balance = Balance + 500 </a:t>
            </a:r>
            <a:endParaRPr lang="ru-RU" dirty="0"/>
          </a:p>
          <a:p>
            <a:pPr>
              <a:buNone/>
            </a:pPr>
            <a:r>
              <a:rPr lang="en-US" b="1" dirty="0"/>
              <a:t>	</a:t>
            </a:r>
            <a:r>
              <a:rPr lang="ru-RU" b="1" dirty="0"/>
              <a:t>WHERE </a:t>
            </a:r>
            <a:r>
              <a:rPr lang="en-US" dirty="0"/>
              <a:t>Number_account </a:t>
            </a:r>
            <a:r>
              <a:rPr lang="ru-RU" dirty="0"/>
              <a:t>= 10</a:t>
            </a:r>
            <a:r>
              <a:rPr lang="en-US" dirty="0"/>
              <a:t>9</a:t>
            </a:r>
            <a:endParaRPr lang="ru-RU" dirty="0"/>
          </a:p>
          <a:p>
            <a:pPr>
              <a:buNone/>
            </a:pPr>
            <a:endParaRPr lang="ru-RU" dirty="0"/>
          </a:p>
        </p:txBody>
      </p:sp>
      <p:sp>
        <p:nvSpPr>
          <p:cNvPr id="4" name="Номер слайда 3"/>
          <p:cNvSpPr>
            <a:spLocks noGrp="1"/>
          </p:cNvSpPr>
          <p:nvPr>
            <p:ph type="sldNum" sz="quarter" idx="12"/>
          </p:nvPr>
        </p:nvSpPr>
        <p:spPr/>
        <p:txBody>
          <a:bodyPr/>
          <a:lstStyle/>
          <a:p>
            <a:fld id="{1F87023B-4310-42C4-812D-874FAF4871B2}" type="slidenum">
              <a:rPr lang="ru-RU" smtClean="0"/>
              <a:pPr/>
              <a:t>3</a:t>
            </a:fld>
            <a:endParaRPr lang="ru-RU"/>
          </a:p>
        </p:txBody>
      </p:sp>
      <p:sp>
        <p:nvSpPr>
          <p:cNvPr id="7" name="Содержимое 2"/>
          <p:cNvSpPr txBox="1">
            <a:spLocks/>
          </p:cNvSpPr>
          <p:nvPr/>
        </p:nvSpPr>
        <p:spPr>
          <a:xfrm>
            <a:off x="357158" y="3000372"/>
            <a:ext cx="8229600" cy="1143008"/>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Содержимое 8"/>
          <p:cNvSpPr txBox="1">
            <a:spLocks/>
          </p:cNvSpPr>
          <p:nvPr/>
        </p:nvSpPr>
        <p:spPr>
          <a:xfrm>
            <a:off x="500034" y="3214686"/>
            <a:ext cx="8229600" cy="714380"/>
          </a:xfrm>
          <a:prstGeom prst="rect">
            <a:avLst/>
          </a:prstGeom>
        </p:spPr>
        <p:txBody>
          <a:bodyPr vert="horz" lIns="91440" tIns="45720" rIns="91440" bIns="45720" rtlCol="0">
            <a:noAutofit/>
          </a:bodyPr>
          <a:lstStyle/>
          <a:p>
            <a:pPr lvl="0">
              <a:spcBef>
                <a:spcPct val="20000"/>
              </a:spcBef>
            </a:pPr>
            <a:r>
              <a:rPr lang="ru-RU" dirty="0"/>
              <a:t>Нужно перевести </a:t>
            </a:r>
            <a:r>
              <a:rPr kumimoji="0" lang="ru-RU" b="0" i="0" u="none" strike="noStrike" kern="1200" cap="none" spc="0" normalizeH="0" baseline="0" noProof="0" dirty="0">
                <a:ln>
                  <a:noFill/>
                </a:ln>
                <a:solidFill>
                  <a:schemeClr val="tx1"/>
                </a:solidFill>
                <a:effectLst/>
                <a:uLnTx/>
                <a:uFillTx/>
                <a:latin typeface="+mn-lt"/>
                <a:ea typeface="+mn-ea"/>
                <a:cs typeface="+mn-cs"/>
              </a:rPr>
              <a:t>от одного клиента банка (с</a:t>
            </a:r>
            <a:r>
              <a:rPr kumimoji="0" lang="ru-RU" b="0" i="0" u="none" strike="noStrike" kern="1200" cap="none" spc="0" normalizeH="0" noProof="0" dirty="0">
                <a:ln>
                  <a:noFill/>
                </a:ln>
                <a:solidFill>
                  <a:schemeClr val="tx1"/>
                </a:solidFill>
                <a:effectLst/>
                <a:uLnTx/>
                <a:uFillTx/>
                <a:latin typeface="+mn-lt"/>
                <a:ea typeface="+mn-ea"/>
                <a:cs typeface="+mn-cs"/>
              </a:rPr>
              <a:t> номером счета </a:t>
            </a:r>
            <a:r>
              <a:rPr kumimoji="0" lang="ru-RU" b="0" i="0" u="none" strike="noStrike" kern="1200" cap="none" spc="0" normalizeH="0" baseline="0" noProof="0" dirty="0">
                <a:ln>
                  <a:noFill/>
                </a:ln>
                <a:solidFill>
                  <a:schemeClr val="tx1"/>
                </a:solidFill>
                <a:effectLst/>
                <a:uLnTx/>
                <a:uFillTx/>
                <a:latin typeface="+mn-lt"/>
                <a:ea typeface="+mn-ea"/>
                <a:cs typeface="+mn-cs"/>
              </a:rPr>
              <a:t>101) </a:t>
            </a:r>
            <a:r>
              <a:rPr lang="ru-RU" dirty="0"/>
              <a:t>другому клиенту банка  (с номером счета 109) денежную сумму в размере </a:t>
            </a:r>
            <a:r>
              <a:rPr kumimoji="0" lang="ru-RU" b="0" i="0" u="none" strike="noStrike" kern="1200" cap="none" spc="0" normalizeH="0" baseline="0" noProof="0" dirty="0">
                <a:ln>
                  <a:noFill/>
                </a:ln>
                <a:solidFill>
                  <a:schemeClr val="tx1"/>
                </a:solidFill>
                <a:effectLst/>
                <a:uLnTx/>
                <a:uFillTx/>
                <a:latin typeface="+mn-lt"/>
                <a:ea typeface="+mn-ea"/>
                <a:cs typeface="+mn-cs"/>
              </a:rPr>
              <a:t>500</a:t>
            </a:r>
            <a:r>
              <a:rPr kumimoji="0" lang="ru-RU" b="0" i="0" u="none" strike="noStrike" kern="1200" cap="none" spc="0" normalizeH="0" noProof="0" dirty="0">
                <a:ln>
                  <a:noFill/>
                </a:ln>
                <a:solidFill>
                  <a:schemeClr val="tx1"/>
                </a:solidFill>
                <a:effectLst/>
                <a:uLnTx/>
                <a:uFillTx/>
                <a:latin typeface="+mn-lt"/>
                <a:ea typeface="+mn-ea"/>
                <a:cs typeface="+mn-cs"/>
              </a:rPr>
              <a:t> руб.</a:t>
            </a:r>
            <a:endParaRPr kumimoji="0" lang="ru-RU"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TextBox 11"/>
          <p:cNvSpPr txBox="1"/>
          <p:nvPr/>
        </p:nvSpPr>
        <p:spPr>
          <a:xfrm>
            <a:off x="500034" y="928670"/>
            <a:ext cx="2502736" cy="369332"/>
          </a:xfrm>
          <a:prstGeom prst="rect">
            <a:avLst/>
          </a:prstGeom>
          <a:noFill/>
        </p:spPr>
        <p:txBody>
          <a:bodyPr wrap="none" rtlCol="0">
            <a:spAutoFit/>
          </a:bodyPr>
          <a:lstStyle/>
          <a:p>
            <a:r>
              <a:rPr lang="ru-RU" dirty="0"/>
              <a:t>таблица «Счет в банке»</a:t>
            </a:r>
          </a:p>
        </p:txBody>
      </p:sp>
      <p:graphicFrame>
        <p:nvGraphicFramePr>
          <p:cNvPr id="6" name="Таблица 5"/>
          <p:cNvGraphicFramePr>
            <a:graphicFrameLocks noGrp="1"/>
          </p:cNvGraphicFramePr>
          <p:nvPr>
            <p:extLst>
              <p:ext uri="{D42A27DB-BD31-4B8C-83A1-F6EECF244321}">
                <p14:modId xmlns:p14="http://schemas.microsoft.com/office/powerpoint/2010/main" val="2920997589"/>
              </p:ext>
            </p:extLst>
          </p:nvPr>
        </p:nvGraphicFramePr>
        <p:xfrm>
          <a:off x="539552" y="1366521"/>
          <a:ext cx="5688632" cy="1483360"/>
        </p:xfrm>
        <a:graphic>
          <a:graphicData uri="http://schemas.openxmlformats.org/drawingml/2006/table">
            <a:tbl>
              <a:tblPr firstRow="1" bandRow="1">
                <a:tableStyleId>{5C22544A-7EE6-4342-B048-85BDC9FD1C3A}</a:tableStyleId>
              </a:tblPr>
              <a:tblGrid>
                <a:gridCol w="1126719">
                  <a:extLst>
                    <a:ext uri="{9D8B030D-6E8A-4147-A177-3AD203B41FA5}">
                      <a16:colId xmlns:a16="http://schemas.microsoft.com/office/drawing/2014/main" val="2203376243"/>
                    </a:ext>
                  </a:extLst>
                </a:gridCol>
                <a:gridCol w="1465569">
                  <a:extLst>
                    <a:ext uri="{9D8B030D-6E8A-4147-A177-3AD203B41FA5}">
                      <a16:colId xmlns:a16="http://schemas.microsoft.com/office/drawing/2014/main" val="850169690"/>
                    </a:ext>
                  </a:extLst>
                </a:gridCol>
                <a:gridCol w="1080120">
                  <a:extLst>
                    <a:ext uri="{9D8B030D-6E8A-4147-A177-3AD203B41FA5}">
                      <a16:colId xmlns:a16="http://schemas.microsoft.com/office/drawing/2014/main" val="2156430592"/>
                    </a:ext>
                  </a:extLst>
                </a:gridCol>
                <a:gridCol w="2016224">
                  <a:extLst>
                    <a:ext uri="{9D8B030D-6E8A-4147-A177-3AD203B41FA5}">
                      <a16:colId xmlns:a16="http://schemas.microsoft.com/office/drawing/2014/main" val="3545289430"/>
                    </a:ext>
                  </a:extLst>
                </a:gridCol>
              </a:tblGrid>
              <a:tr h="370840">
                <a:tc>
                  <a:txBody>
                    <a:bodyPr/>
                    <a:lstStyle/>
                    <a:p>
                      <a:r>
                        <a:rPr lang="ru-RU" dirty="0"/>
                        <a:t>Код</a:t>
                      </a:r>
                    </a:p>
                  </a:txBody>
                  <a:tcPr/>
                </a:tc>
                <a:tc>
                  <a:txBody>
                    <a:bodyPr/>
                    <a:lstStyle/>
                    <a:p>
                      <a:r>
                        <a:rPr lang="ru-RU" dirty="0"/>
                        <a:t>Номер</a:t>
                      </a:r>
                      <a:r>
                        <a:rPr lang="ru-RU" baseline="0" dirty="0"/>
                        <a:t> счета</a:t>
                      </a:r>
                      <a:endParaRPr lang="ru-RU" dirty="0"/>
                    </a:p>
                  </a:txBody>
                  <a:tcPr/>
                </a:tc>
                <a:tc>
                  <a:txBody>
                    <a:bodyPr/>
                    <a:lstStyle/>
                    <a:p>
                      <a:r>
                        <a:rPr lang="ru-RU" dirty="0"/>
                        <a:t>Баланс</a:t>
                      </a:r>
                    </a:p>
                  </a:txBody>
                  <a:tcPr/>
                </a:tc>
                <a:tc>
                  <a:txBody>
                    <a:bodyPr/>
                    <a:lstStyle/>
                    <a:p>
                      <a:r>
                        <a:rPr lang="ru-RU" dirty="0"/>
                        <a:t>Код_клиента</a:t>
                      </a:r>
                      <a:r>
                        <a:rPr lang="en-US" dirty="0"/>
                        <a:t> (FK</a:t>
                      </a:r>
                      <a:r>
                        <a:rPr lang="ru-RU" dirty="0"/>
                        <a:t>)</a:t>
                      </a:r>
                    </a:p>
                  </a:txBody>
                  <a:tcPr/>
                </a:tc>
                <a:extLst>
                  <a:ext uri="{0D108BD9-81ED-4DB2-BD59-A6C34878D82A}">
                    <a16:rowId xmlns:a16="http://schemas.microsoft.com/office/drawing/2014/main" val="2174938916"/>
                  </a:ext>
                </a:extLst>
              </a:tr>
              <a:tr h="370840">
                <a:tc>
                  <a:txBody>
                    <a:bodyPr/>
                    <a:lstStyle/>
                    <a:p>
                      <a:r>
                        <a:rPr lang="ru-RU" dirty="0"/>
                        <a:t>1</a:t>
                      </a:r>
                    </a:p>
                  </a:txBody>
                  <a:tcPr/>
                </a:tc>
                <a:tc>
                  <a:txBody>
                    <a:bodyPr/>
                    <a:lstStyle/>
                    <a:p>
                      <a:r>
                        <a:rPr lang="ru-RU" dirty="0"/>
                        <a:t>101</a:t>
                      </a:r>
                    </a:p>
                  </a:txBody>
                  <a:tcPr/>
                </a:tc>
                <a:tc>
                  <a:txBody>
                    <a:bodyPr/>
                    <a:lstStyle/>
                    <a:p>
                      <a:r>
                        <a:rPr lang="ru-RU" dirty="0"/>
                        <a:t>1000</a:t>
                      </a:r>
                    </a:p>
                  </a:txBody>
                  <a:tcPr/>
                </a:tc>
                <a:tc>
                  <a:txBody>
                    <a:bodyPr/>
                    <a:lstStyle/>
                    <a:p>
                      <a:r>
                        <a:rPr lang="ru-RU" dirty="0"/>
                        <a:t>1</a:t>
                      </a:r>
                    </a:p>
                  </a:txBody>
                  <a:tcPr/>
                </a:tc>
                <a:extLst>
                  <a:ext uri="{0D108BD9-81ED-4DB2-BD59-A6C34878D82A}">
                    <a16:rowId xmlns:a16="http://schemas.microsoft.com/office/drawing/2014/main" val="1657225629"/>
                  </a:ext>
                </a:extLst>
              </a:tr>
              <a:tr h="370840">
                <a:tc>
                  <a:txBody>
                    <a:bodyPr/>
                    <a:lstStyle/>
                    <a:p>
                      <a:r>
                        <a:rPr lang="ru-RU" dirty="0"/>
                        <a:t>2</a:t>
                      </a:r>
                    </a:p>
                  </a:txBody>
                  <a:tcPr/>
                </a:tc>
                <a:tc>
                  <a:txBody>
                    <a:bodyPr/>
                    <a:lstStyle/>
                    <a:p>
                      <a:r>
                        <a:rPr lang="ru-RU" dirty="0"/>
                        <a:t>102</a:t>
                      </a:r>
                    </a:p>
                  </a:txBody>
                  <a:tcPr/>
                </a:tc>
                <a:tc>
                  <a:txBody>
                    <a:bodyPr/>
                    <a:lstStyle/>
                    <a:p>
                      <a:r>
                        <a:rPr lang="en-US" dirty="0"/>
                        <a:t>2</a:t>
                      </a:r>
                      <a:r>
                        <a:rPr lang="ru-RU" dirty="0"/>
                        <a:t>000</a:t>
                      </a:r>
                    </a:p>
                  </a:txBody>
                  <a:tcPr/>
                </a:tc>
                <a:tc>
                  <a:txBody>
                    <a:bodyPr/>
                    <a:lstStyle/>
                    <a:p>
                      <a:r>
                        <a:rPr lang="ru-RU" dirty="0"/>
                        <a:t>2</a:t>
                      </a:r>
                    </a:p>
                  </a:txBody>
                  <a:tcPr/>
                </a:tc>
                <a:extLst>
                  <a:ext uri="{0D108BD9-81ED-4DB2-BD59-A6C34878D82A}">
                    <a16:rowId xmlns:a16="http://schemas.microsoft.com/office/drawing/2014/main" val="2571155833"/>
                  </a:ext>
                </a:extLst>
              </a:tr>
              <a:tr h="370840">
                <a:tc>
                  <a:txBody>
                    <a:bodyPr/>
                    <a:lstStyle/>
                    <a:p>
                      <a:r>
                        <a:rPr lang="ru-RU" dirty="0"/>
                        <a:t>3</a:t>
                      </a:r>
                    </a:p>
                  </a:txBody>
                  <a:tcPr/>
                </a:tc>
                <a:tc>
                  <a:txBody>
                    <a:bodyPr/>
                    <a:lstStyle/>
                    <a:p>
                      <a:r>
                        <a:rPr lang="en-US" dirty="0"/>
                        <a:t>109</a:t>
                      </a:r>
                      <a:endParaRPr lang="ru-RU" dirty="0"/>
                    </a:p>
                  </a:txBody>
                  <a:tcPr/>
                </a:tc>
                <a:tc>
                  <a:txBody>
                    <a:bodyPr/>
                    <a:lstStyle/>
                    <a:p>
                      <a:r>
                        <a:rPr lang="en-US" dirty="0"/>
                        <a:t>500</a:t>
                      </a:r>
                      <a:endParaRPr lang="ru-RU" dirty="0"/>
                    </a:p>
                  </a:txBody>
                  <a:tcPr/>
                </a:tc>
                <a:tc>
                  <a:txBody>
                    <a:bodyPr/>
                    <a:lstStyle/>
                    <a:p>
                      <a:r>
                        <a:rPr lang="en-US" dirty="0"/>
                        <a:t>4</a:t>
                      </a:r>
                      <a:endParaRPr lang="ru-RU" dirty="0"/>
                    </a:p>
                  </a:txBody>
                  <a:tcPr/>
                </a:tc>
                <a:extLst>
                  <a:ext uri="{0D108BD9-81ED-4DB2-BD59-A6C34878D82A}">
                    <a16:rowId xmlns:a16="http://schemas.microsoft.com/office/drawing/2014/main" val="3504116377"/>
                  </a:ext>
                </a:extLst>
              </a:tr>
            </a:tbl>
          </a:graphicData>
        </a:graphic>
      </p:graphicFrame>
      <p:pic>
        <p:nvPicPr>
          <p:cNvPr id="9" name="Picture 4"/>
          <p:cNvPicPr>
            <a:picLocks noChangeAspect="1" noChangeArrowheads="1"/>
          </p:cNvPicPr>
          <p:nvPr/>
        </p:nvPicPr>
        <p:blipFill>
          <a:blip r:embed="rId2" cstate="print"/>
          <a:srcRect l="9638" t="5216" r="7229"/>
          <a:stretch>
            <a:fillRect/>
          </a:stretch>
        </p:blipFill>
        <p:spPr bwMode="auto">
          <a:xfrm>
            <a:off x="1115616" y="1416907"/>
            <a:ext cx="142878" cy="308558"/>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14290"/>
            <a:ext cx="8929718" cy="642894"/>
          </a:xfrm>
        </p:spPr>
        <p:txBody>
          <a:bodyPr>
            <a:normAutofit fontScale="90000"/>
          </a:bodyPr>
          <a:lstStyle/>
          <a:p>
            <a:r>
              <a:rPr lang="ru-RU" sz="2200" dirty="0"/>
              <a:t>Команды языка управления транзакциями (TCL - </a:t>
            </a:r>
            <a:r>
              <a:rPr lang="ru-RU" sz="2200" dirty="0" err="1"/>
              <a:t>Тгаnsасtiоn</a:t>
            </a:r>
            <a:r>
              <a:rPr lang="ru-RU" sz="2200" dirty="0"/>
              <a:t> </a:t>
            </a:r>
            <a:r>
              <a:rPr lang="ru-RU" sz="2200" dirty="0" err="1"/>
              <a:t>Соntrol</a:t>
            </a:r>
            <a:r>
              <a:rPr lang="ru-RU" sz="2200" dirty="0"/>
              <a:t> </a:t>
            </a:r>
            <a:r>
              <a:rPr lang="ru-RU" sz="2200" dirty="0" err="1"/>
              <a:t>Language</a:t>
            </a:r>
            <a:r>
              <a:rPr lang="ru-RU" sz="2200" dirty="0"/>
              <a:t>)</a:t>
            </a:r>
            <a:endParaRPr lang="ru-RU" dirty="0"/>
          </a:p>
        </p:txBody>
      </p:sp>
      <p:sp>
        <p:nvSpPr>
          <p:cNvPr id="4" name="Номер слайда 3"/>
          <p:cNvSpPr>
            <a:spLocks noGrp="1"/>
          </p:cNvSpPr>
          <p:nvPr>
            <p:ph type="sldNum" sz="quarter" idx="12"/>
          </p:nvPr>
        </p:nvSpPr>
        <p:spPr/>
        <p:txBody>
          <a:bodyPr/>
          <a:lstStyle/>
          <a:p>
            <a:fld id="{1F87023B-4310-42C4-812D-874FAF4871B2}" type="slidenum">
              <a:rPr lang="ru-RU" smtClean="0"/>
              <a:pPr/>
              <a:t>4</a:t>
            </a:fld>
            <a:endParaRPr lang="ru-RU"/>
          </a:p>
        </p:txBody>
      </p:sp>
      <p:graphicFrame>
        <p:nvGraphicFramePr>
          <p:cNvPr id="5" name="Таблица 4"/>
          <p:cNvGraphicFramePr>
            <a:graphicFrameLocks noGrp="1"/>
          </p:cNvGraphicFramePr>
          <p:nvPr>
            <p:extLst>
              <p:ext uri="{D42A27DB-BD31-4B8C-83A1-F6EECF244321}">
                <p14:modId xmlns:p14="http://schemas.microsoft.com/office/powerpoint/2010/main" val="3812021174"/>
              </p:ext>
            </p:extLst>
          </p:nvPr>
        </p:nvGraphicFramePr>
        <p:xfrm>
          <a:off x="357158" y="1214422"/>
          <a:ext cx="8215370" cy="4154141"/>
        </p:xfrm>
        <a:graphic>
          <a:graphicData uri="http://schemas.openxmlformats.org/drawingml/2006/table">
            <a:tbl>
              <a:tblPr/>
              <a:tblGrid>
                <a:gridCol w="1603459">
                  <a:extLst>
                    <a:ext uri="{9D8B030D-6E8A-4147-A177-3AD203B41FA5}">
                      <a16:colId xmlns:a16="http://schemas.microsoft.com/office/drawing/2014/main" val="20000"/>
                    </a:ext>
                  </a:extLst>
                </a:gridCol>
                <a:gridCol w="3029398">
                  <a:extLst>
                    <a:ext uri="{9D8B030D-6E8A-4147-A177-3AD203B41FA5}">
                      <a16:colId xmlns:a16="http://schemas.microsoft.com/office/drawing/2014/main" val="20001"/>
                    </a:ext>
                  </a:extLst>
                </a:gridCol>
                <a:gridCol w="3582513">
                  <a:extLst>
                    <a:ext uri="{9D8B030D-6E8A-4147-A177-3AD203B41FA5}">
                      <a16:colId xmlns:a16="http://schemas.microsoft.com/office/drawing/2014/main" val="20002"/>
                    </a:ext>
                  </a:extLst>
                </a:gridCol>
              </a:tblGrid>
              <a:tr h="367960">
                <a:tc>
                  <a:txBody>
                    <a:bodyPr/>
                    <a:lstStyle/>
                    <a:p>
                      <a:pPr algn="ctr">
                        <a:lnSpc>
                          <a:spcPct val="150000"/>
                        </a:lnSpc>
                        <a:spcAft>
                          <a:spcPts val="0"/>
                        </a:spcAft>
                      </a:pPr>
                      <a:r>
                        <a:rPr lang="ru-RU" sz="1600" b="1" dirty="0">
                          <a:latin typeface="Times New Roman"/>
                          <a:ea typeface="Times New Roman"/>
                          <a:cs typeface="Times New Roman"/>
                        </a:rPr>
                        <a:t>Команда</a:t>
                      </a:r>
                      <a:endParaRPr lang="ru-RU" sz="1600" dirty="0">
                        <a:latin typeface="Times New Roman"/>
                        <a:ea typeface="Calibri"/>
                        <a:cs typeface="Times New Roman"/>
                      </a:endParaRPr>
                    </a:p>
                  </a:txBody>
                  <a:tcPr marL="65863" marR="6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u-RU" sz="1600" b="1">
                          <a:latin typeface="Times New Roman"/>
                          <a:ea typeface="Times New Roman"/>
                          <a:cs typeface="Times New Roman"/>
                        </a:rPr>
                        <a:t>Смысл</a:t>
                      </a:r>
                      <a:endParaRPr lang="ru-RU" sz="1600">
                        <a:latin typeface="Times New Roman"/>
                        <a:ea typeface="Calibri"/>
                        <a:cs typeface="Times New Roman"/>
                      </a:endParaRPr>
                    </a:p>
                  </a:txBody>
                  <a:tcPr marL="65863" marR="6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u-RU" sz="1600" b="1">
                          <a:latin typeface="Times New Roman"/>
                          <a:ea typeface="Times New Roman"/>
                          <a:cs typeface="Times New Roman"/>
                        </a:rPr>
                        <a:t>Действие</a:t>
                      </a:r>
                      <a:endParaRPr lang="ru-RU" sz="1600">
                        <a:latin typeface="Times New Roman"/>
                        <a:ea typeface="Calibri"/>
                        <a:cs typeface="Times New Roman"/>
                      </a:endParaRPr>
                    </a:p>
                  </a:txBody>
                  <a:tcPr marL="65863" marR="6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58586">
                <a:tc>
                  <a:txBody>
                    <a:bodyPr/>
                    <a:lstStyle/>
                    <a:p>
                      <a:pPr>
                        <a:lnSpc>
                          <a:spcPct val="115000"/>
                        </a:lnSpc>
                        <a:spcAft>
                          <a:spcPts val="1000"/>
                        </a:spcAft>
                        <a:tabLst>
                          <a:tab pos="70739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SAVE TRANSACTION</a:t>
                      </a:r>
                      <a:endParaRPr lang="ru-RU"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a:effectLst/>
                          <a:latin typeface="Times New Roman" panose="02020603050405020304" pitchFamily="18" charset="0"/>
                          <a:ea typeface="Times New Roman" panose="02020603050405020304" pitchFamily="18" charset="0"/>
                          <a:cs typeface="Times New Roman" panose="02020603050405020304" pitchFamily="18" charset="0"/>
                        </a:rPr>
                        <a:t>Сохранить промежуточную точку выполнения транзакции</a:t>
                      </a:r>
                      <a:endParaRPr lang="ru-RU"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dirty="0">
                          <a:effectLst/>
                          <a:latin typeface="Times New Roman" panose="02020603050405020304" pitchFamily="18" charset="0"/>
                          <a:ea typeface="Times New Roman" panose="02020603050405020304" pitchFamily="18" charset="0"/>
                          <a:cs typeface="Times New Roman" panose="02020603050405020304" pitchFamily="18" charset="0"/>
                        </a:rPr>
                        <a:t>Сохранить промежуточное состояние БД, пометить его для того, чтобы можно было в дальнейшим к нему вернуться</a:t>
                      </a:r>
                      <a:endParaRPr lang="ru-RU"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4205">
                <a:tc>
                  <a:txBody>
                    <a:bodyPr/>
                    <a:lstStyle/>
                    <a:p>
                      <a:pPr>
                        <a:lnSpc>
                          <a:spcPct val="115000"/>
                        </a:lnSpc>
                        <a:spcAft>
                          <a:spcPts val="1000"/>
                        </a:spcAft>
                        <a:tabLst>
                          <a:tab pos="707390" algn="l"/>
                        </a:tabLst>
                      </a:pPr>
                      <a:r>
                        <a:rPr lang="en-US" sz="1600" dirty="0">
                          <a:latin typeface="Times New Roman"/>
                          <a:ea typeface="Times New Roman"/>
                          <a:cs typeface="Times New Roman"/>
                        </a:rPr>
                        <a:t>COMMIT</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dirty="0">
                          <a:latin typeface="Times New Roman"/>
                          <a:ea typeface="Times New Roman"/>
                          <a:cs typeface="Times New Roman"/>
                        </a:rPr>
                        <a:t>Завершить транзакцию</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dirty="0">
                          <a:latin typeface="Times New Roman"/>
                          <a:ea typeface="Times New Roman"/>
                          <a:cs typeface="Times New Roman"/>
                        </a:rPr>
                        <a:t>Завершить комплексную взаимосвязанную обработку информации, объединенную в транзакцию</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28410">
                <a:tc>
                  <a:txBody>
                    <a:bodyPr/>
                    <a:lstStyle/>
                    <a:p>
                      <a:pPr>
                        <a:lnSpc>
                          <a:spcPct val="115000"/>
                        </a:lnSpc>
                        <a:spcAft>
                          <a:spcPts val="1000"/>
                        </a:spcAft>
                        <a:tabLst>
                          <a:tab pos="707390" algn="l"/>
                        </a:tabLst>
                      </a:pPr>
                      <a:r>
                        <a:rPr lang="en-US" sz="1600" dirty="0">
                          <a:latin typeface="Times New Roman"/>
                          <a:ea typeface="Times New Roman"/>
                          <a:cs typeface="Times New Roman"/>
                        </a:rPr>
                        <a:t>ROLLBACK</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dirty="0">
                          <a:latin typeface="Times New Roman"/>
                          <a:ea typeface="Times New Roman"/>
                          <a:cs typeface="Times New Roman"/>
                        </a:rPr>
                        <a:t>Прерывание транзакции</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tabLst>
                          <a:tab pos="707390" algn="l"/>
                        </a:tabLst>
                      </a:pPr>
                      <a:r>
                        <a:rPr lang="ru-RU" sz="1600" dirty="0">
                          <a:latin typeface="Times New Roman"/>
                          <a:ea typeface="Times New Roman"/>
                          <a:cs typeface="Times New Roman"/>
                        </a:rPr>
                        <a:t>Отменить изменения, проведенные в ходе выполнения транзакции</a:t>
                      </a:r>
                      <a:endParaRPr lang="ru-RU" sz="1600" dirty="0">
                        <a:latin typeface="Times New Roman"/>
                        <a:ea typeface="Calibri"/>
                        <a:cs typeface="Times New Roman"/>
                      </a:endParaRPr>
                    </a:p>
                  </a:txBody>
                  <a:tcPr marL="65863" marR="6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Прямая соединительная линия 34"/>
          <p:cNvCxnSpPr>
            <a:stCxn id="6" idx="3"/>
            <a:endCxn id="7" idx="1"/>
          </p:cNvCxnSpPr>
          <p:nvPr/>
        </p:nvCxnSpPr>
        <p:spPr>
          <a:xfrm rot="5400000">
            <a:off x="-392941" y="3679033"/>
            <a:ext cx="4500594"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5</a:t>
            </a:fld>
            <a:endParaRPr lang="ru-RU"/>
          </a:p>
        </p:txBody>
      </p:sp>
      <p:sp>
        <p:nvSpPr>
          <p:cNvPr id="6" name="Блок-схема: магнитный диск 5"/>
          <p:cNvSpPr/>
          <p:nvPr/>
        </p:nvSpPr>
        <p:spPr>
          <a:xfrm>
            <a:off x="1000100" y="714356"/>
            <a:ext cx="1714512" cy="71438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База данных</a:t>
            </a:r>
          </a:p>
        </p:txBody>
      </p:sp>
      <p:sp>
        <p:nvSpPr>
          <p:cNvPr id="7" name="Блок-схема: магнитный диск 6"/>
          <p:cNvSpPr/>
          <p:nvPr/>
        </p:nvSpPr>
        <p:spPr>
          <a:xfrm>
            <a:off x="1000100" y="5929330"/>
            <a:ext cx="1714512" cy="68408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База данных</a:t>
            </a:r>
          </a:p>
        </p:txBody>
      </p:sp>
      <p:sp>
        <p:nvSpPr>
          <p:cNvPr id="8" name="Блок-схема: процесс 7"/>
          <p:cNvSpPr/>
          <p:nvPr/>
        </p:nvSpPr>
        <p:spPr>
          <a:xfrm>
            <a:off x="928662" y="2143116"/>
            <a:ext cx="1714512"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Команда 1</a:t>
            </a:r>
          </a:p>
        </p:txBody>
      </p:sp>
      <p:sp>
        <p:nvSpPr>
          <p:cNvPr id="9" name="Блок-схема: процесс 8"/>
          <p:cNvSpPr/>
          <p:nvPr/>
        </p:nvSpPr>
        <p:spPr>
          <a:xfrm>
            <a:off x="928662" y="3643314"/>
            <a:ext cx="1714512"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Команда  2</a:t>
            </a:r>
          </a:p>
        </p:txBody>
      </p:sp>
      <p:sp>
        <p:nvSpPr>
          <p:cNvPr id="12" name="Блок-схема: процесс 11"/>
          <p:cNvSpPr/>
          <p:nvPr/>
        </p:nvSpPr>
        <p:spPr>
          <a:xfrm>
            <a:off x="1000100" y="5214950"/>
            <a:ext cx="1714512"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COMMIT</a:t>
            </a:r>
          </a:p>
        </p:txBody>
      </p:sp>
      <p:sp>
        <p:nvSpPr>
          <p:cNvPr id="13" name="Блок-схема: процесс 12"/>
          <p:cNvSpPr/>
          <p:nvPr/>
        </p:nvSpPr>
        <p:spPr>
          <a:xfrm>
            <a:off x="3428992" y="2928934"/>
            <a:ext cx="1214446"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ROLLBACK</a:t>
            </a:r>
            <a:r>
              <a:rPr lang="ru-RU" dirty="0"/>
              <a:t>  </a:t>
            </a:r>
          </a:p>
        </p:txBody>
      </p:sp>
      <p:cxnSp>
        <p:nvCxnSpPr>
          <p:cNvPr id="15" name="Прямая со стрелкой 14"/>
          <p:cNvCxnSpPr/>
          <p:nvPr/>
        </p:nvCxnSpPr>
        <p:spPr>
          <a:xfrm>
            <a:off x="500034" y="785794"/>
            <a:ext cx="428628" cy="28575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0" y="214290"/>
            <a:ext cx="1357290" cy="523220"/>
          </a:xfrm>
          <a:prstGeom prst="rect">
            <a:avLst/>
          </a:prstGeom>
          <a:noFill/>
          <a:ln>
            <a:solidFill>
              <a:srgbClr val="0070C0"/>
            </a:solidFill>
          </a:ln>
        </p:spPr>
        <p:txBody>
          <a:bodyPr wrap="square" rtlCol="0">
            <a:spAutoFit/>
          </a:bodyPr>
          <a:lstStyle/>
          <a:p>
            <a:r>
              <a:rPr lang="ru-RU" sz="1400" dirty="0"/>
              <a:t>Начальное состояние БД</a:t>
            </a:r>
          </a:p>
        </p:txBody>
      </p:sp>
      <p:cxnSp>
        <p:nvCxnSpPr>
          <p:cNvPr id="17" name="Прямая со стрелкой 16"/>
          <p:cNvCxnSpPr>
            <a:stCxn id="18" idx="1"/>
          </p:cNvCxnSpPr>
          <p:nvPr/>
        </p:nvCxnSpPr>
        <p:spPr>
          <a:xfrm rot="10800000">
            <a:off x="2714612" y="6286520"/>
            <a:ext cx="428628" cy="20214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143240" y="6119336"/>
            <a:ext cx="2357454" cy="738664"/>
          </a:xfrm>
          <a:prstGeom prst="rect">
            <a:avLst/>
          </a:prstGeom>
          <a:noFill/>
          <a:ln>
            <a:solidFill>
              <a:srgbClr val="0070C0"/>
            </a:solidFill>
          </a:ln>
        </p:spPr>
        <p:txBody>
          <a:bodyPr wrap="square" rtlCol="0">
            <a:spAutoFit/>
          </a:bodyPr>
          <a:lstStyle/>
          <a:p>
            <a:r>
              <a:rPr lang="ru-RU" sz="1400" dirty="0"/>
              <a:t>Состояние БД после транзакции</a:t>
            </a:r>
            <a:endParaRPr lang="en-US" sz="1400" dirty="0"/>
          </a:p>
          <a:p>
            <a:r>
              <a:rPr lang="ru-RU" sz="1400" dirty="0"/>
              <a:t>(конечное состояние)</a:t>
            </a:r>
          </a:p>
        </p:txBody>
      </p:sp>
      <p:sp>
        <p:nvSpPr>
          <p:cNvPr id="20" name="Содержимое 12"/>
          <p:cNvSpPr txBox="1">
            <a:spLocks/>
          </p:cNvSpPr>
          <p:nvPr/>
        </p:nvSpPr>
        <p:spPr>
          <a:xfrm>
            <a:off x="5214942" y="1643050"/>
            <a:ext cx="3929058" cy="3500462"/>
          </a:xfrm>
          <a:prstGeom prst="rect">
            <a:avLst/>
          </a:prstGeom>
          <a:ln>
            <a:solidFill>
              <a:schemeClr val="bg1">
                <a:lumMod val="75000"/>
              </a:schemeClr>
            </a:solidFill>
          </a:ln>
        </p:spPr>
        <p:txBody>
          <a:bodyPr vert="horz" lIns="91440" tIns="45720" rIns="91440" bIns="45720" rtlCol="0">
            <a:normAutofit fontScale="32500" lnSpcReduction="20000"/>
          </a:bodyPr>
          <a:lstStyle/>
          <a:p>
            <a:pPr marL="342900" indent="-342900">
              <a:spcBef>
                <a:spcPct val="20000"/>
              </a:spcBef>
            </a:pPr>
            <a:r>
              <a:rPr lang="en-US" sz="4800" b="1" dirty="0"/>
              <a:t>BEGIN TRANSACTION</a:t>
            </a:r>
          </a:p>
          <a:p>
            <a:pPr marL="342900" indent="-342900">
              <a:spcBef>
                <a:spcPct val="20000"/>
              </a:spcBef>
            </a:pPr>
            <a:r>
              <a:rPr lang="en-US" sz="4800" b="1" dirty="0"/>
              <a:t>SAVE TRANSACTION </a:t>
            </a:r>
            <a:r>
              <a:rPr lang="en-US" sz="4800" dirty="0"/>
              <a:t>point1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4800" b="1" i="0" u="none" strike="noStrike" kern="1200" cap="none" spc="0" normalizeH="0" baseline="0" noProof="0" dirty="0">
                <a:ln>
                  <a:noFill/>
                </a:ln>
                <a:solidFill>
                  <a:schemeClr val="tx1"/>
                </a:solidFill>
                <a:effectLst/>
                <a:uLnTx/>
                <a:uFillTx/>
                <a:latin typeface="+mn-lt"/>
                <a:ea typeface="+mn-ea"/>
                <a:cs typeface="+mn-cs"/>
              </a:rPr>
              <a:t>	</a:t>
            </a:r>
            <a:r>
              <a:rPr kumimoji="0" lang="en-US" sz="4800" b="1" i="0" u="none" strike="noStrike" kern="1200" cap="none" spc="0" normalizeH="0" baseline="0" noProof="0" dirty="0">
                <a:ln>
                  <a:noFill/>
                </a:ln>
                <a:solidFill>
                  <a:schemeClr val="tx1"/>
                </a:solidFill>
                <a:effectLst/>
                <a:uLnTx/>
                <a:uFillTx/>
                <a:latin typeface="+mn-lt"/>
                <a:ea typeface="+mn-ea"/>
                <a:cs typeface="+mn-cs"/>
              </a:rPr>
              <a:t>UPDATE</a:t>
            </a:r>
            <a:r>
              <a:rPr kumimoji="0" lang="en-US" sz="4800" b="0" i="0" u="none" strike="noStrike" kern="1200" cap="none" spc="0" normalizeH="0" baseline="0" noProof="0" dirty="0">
                <a:ln>
                  <a:noFill/>
                </a:ln>
                <a:solidFill>
                  <a:schemeClr val="tx1"/>
                </a:solidFill>
                <a:effectLst/>
                <a:uLnTx/>
                <a:uFillTx/>
                <a:latin typeface="+mn-lt"/>
                <a:ea typeface="+mn-ea"/>
                <a:cs typeface="+mn-cs"/>
              </a:rPr>
              <a:t> Bank_account </a:t>
            </a:r>
            <a:endParaRPr kumimoji="0" lang="ru-RU" sz="4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r>
              <a:rPr kumimoji="0" lang="ru-RU" sz="4800" b="1" i="0" u="none" strike="noStrike" kern="1200" cap="none" spc="0" normalizeH="0" baseline="0" noProof="0" dirty="0">
                <a:ln>
                  <a:noFill/>
                </a:ln>
                <a:solidFill>
                  <a:schemeClr val="tx1"/>
                </a:solidFill>
                <a:effectLst/>
                <a:uLnTx/>
                <a:uFillTx/>
                <a:latin typeface="+mn-lt"/>
                <a:ea typeface="+mn-ea"/>
                <a:cs typeface="+mn-cs"/>
              </a:rPr>
              <a:t>		</a:t>
            </a:r>
            <a:r>
              <a:rPr kumimoji="0" lang="en-US" sz="4800" b="1" i="0" u="none" strike="noStrike" kern="1200" cap="none" spc="0" normalizeH="0" baseline="0" noProof="0" dirty="0">
                <a:ln>
                  <a:noFill/>
                </a:ln>
                <a:solidFill>
                  <a:schemeClr val="tx1"/>
                </a:solidFill>
                <a:effectLst/>
                <a:uLnTx/>
                <a:uFillTx/>
                <a:latin typeface="+mn-lt"/>
                <a:ea typeface="+mn-ea"/>
                <a:cs typeface="+mn-cs"/>
              </a:rPr>
              <a:t>SET</a:t>
            </a:r>
            <a:r>
              <a:rPr kumimoji="0" lang="en-US" sz="4800" b="0" i="0" u="none" strike="noStrike" kern="1200" cap="none" spc="0" normalizeH="0" baseline="0" noProof="0" dirty="0">
                <a:ln>
                  <a:noFill/>
                </a:ln>
                <a:solidFill>
                  <a:schemeClr val="tx1"/>
                </a:solidFill>
                <a:effectLst/>
                <a:uLnTx/>
                <a:uFillTx/>
                <a:latin typeface="+mn-lt"/>
                <a:ea typeface="+mn-ea"/>
                <a:cs typeface="+mn-cs"/>
              </a:rPr>
              <a:t> </a:t>
            </a:r>
            <a:r>
              <a:rPr lang="en-US" sz="4800" dirty="0"/>
              <a:t>Balance= Balance </a:t>
            </a:r>
            <a:r>
              <a:rPr kumimoji="0" lang="en-US" sz="4800" b="0" i="0" u="none" strike="noStrike" kern="1200" cap="none" spc="0" normalizeH="0" baseline="0" noProof="0" dirty="0">
                <a:ln>
                  <a:noFill/>
                </a:ln>
                <a:solidFill>
                  <a:schemeClr val="tx1"/>
                </a:solidFill>
                <a:effectLst/>
                <a:uLnTx/>
                <a:uFillTx/>
                <a:latin typeface="+mn-lt"/>
                <a:ea typeface="+mn-ea"/>
                <a:cs typeface="+mn-cs"/>
              </a:rPr>
              <a:t>- 500 </a:t>
            </a:r>
            <a:endParaRPr kumimoji="0" lang="ru-RU" sz="4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r>
              <a:rPr kumimoji="0" lang="ru-RU" sz="4800" b="1" i="0" u="none" strike="noStrike" kern="1200" cap="none" spc="0" normalizeH="0" baseline="0" noProof="0" dirty="0">
                <a:ln>
                  <a:noFill/>
                </a:ln>
                <a:solidFill>
                  <a:schemeClr val="tx1"/>
                </a:solidFill>
                <a:effectLst/>
                <a:uLnTx/>
                <a:uFillTx/>
                <a:latin typeface="+mn-lt"/>
                <a:ea typeface="+mn-ea"/>
                <a:cs typeface="+mn-cs"/>
              </a:rPr>
              <a:t>		WHERE</a:t>
            </a:r>
            <a:r>
              <a:rPr kumimoji="0" lang="ru-RU" sz="4800" b="0" i="0" u="none" strike="noStrike" kern="1200" cap="none" spc="0" normalizeH="0" baseline="0" noProof="0" dirty="0">
                <a:ln>
                  <a:noFill/>
                </a:ln>
                <a:solidFill>
                  <a:schemeClr val="tx1"/>
                </a:solidFill>
                <a:effectLst/>
                <a:uLnTx/>
                <a:uFillTx/>
                <a:latin typeface="+mn-lt"/>
                <a:ea typeface="+mn-ea"/>
                <a:cs typeface="+mn-cs"/>
              </a:rPr>
              <a:t> </a:t>
            </a:r>
            <a:r>
              <a:rPr lang="en-US" sz="4800" dirty="0"/>
              <a:t>Number_account </a:t>
            </a:r>
            <a:r>
              <a:rPr kumimoji="0" lang="ru-RU" sz="4800" b="0" i="0" u="none" strike="noStrike" kern="1200" cap="none" spc="0" normalizeH="0" baseline="0" noProof="0" dirty="0">
                <a:ln>
                  <a:noFill/>
                </a:ln>
                <a:solidFill>
                  <a:schemeClr val="tx1"/>
                </a:solidFill>
                <a:effectLst/>
                <a:uLnTx/>
                <a:uFillTx/>
                <a:latin typeface="+mn-lt"/>
                <a:ea typeface="+mn-ea"/>
                <a:cs typeface="+mn-cs"/>
              </a:rPr>
              <a:t>= 101</a:t>
            </a:r>
          </a:p>
          <a:p>
            <a:pPr marL="342900" lvl="0" indent="-342900">
              <a:spcBef>
                <a:spcPct val="20000"/>
              </a:spcBef>
            </a:pPr>
            <a:r>
              <a:rPr lang="ru-RU" sz="4800" b="1" dirty="0"/>
              <a:t>	</a:t>
            </a:r>
            <a:r>
              <a:rPr lang="en-US" sz="4800" b="1" dirty="0"/>
              <a:t>IF</a:t>
            </a:r>
            <a:r>
              <a:rPr lang="en-US" sz="4800" dirty="0"/>
              <a:t> (@@error </a:t>
            </a:r>
            <a:r>
              <a:rPr lang="ru-RU" sz="4800" dirty="0"/>
              <a:t>!=</a:t>
            </a:r>
            <a:r>
              <a:rPr lang="en-US" sz="4800" dirty="0"/>
              <a:t> 0)</a:t>
            </a:r>
          </a:p>
          <a:p>
            <a:pPr marL="342900" indent="-342900">
              <a:spcBef>
                <a:spcPct val="20000"/>
              </a:spcBef>
            </a:pPr>
            <a:r>
              <a:rPr lang="ru-RU" sz="4800" b="1" dirty="0"/>
              <a:t>		</a:t>
            </a:r>
            <a:r>
              <a:rPr lang="en-US" sz="4800" b="1" dirty="0"/>
              <a:t>ROLLBACK TRANSACTION </a:t>
            </a:r>
            <a:r>
              <a:rPr lang="en-US" sz="4800" dirty="0"/>
              <a:t>point1</a:t>
            </a:r>
            <a:endParaRPr lang="en-US" sz="4800" b="1"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4800" b="1" i="0" u="none" strike="noStrike" kern="1200" cap="none" spc="0" normalizeH="0" baseline="0" noProof="0" dirty="0">
                <a:ln>
                  <a:noFill/>
                </a:ln>
                <a:solidFill>
                  <a:schemeClr val="tx1"/>
                </a:solidFill>
                <a:effectLst/>
                <a:uLnTx/>
                <a:uFillTx/>
                <a:latin typeface="+mn-lt"/>
                <a:ea typeface="+mn-ea"/>
                <a:cs typeface="+mn-cs"/>
              </a:rPr>
              <a:t>	</a:t>
            </a:r>
            <a:r>
              <a:rPr kumimoji="0" lang="en-US" sz="4800" b="1" i="0" u="none" strike="noStrike" kern="1200" cap="none" spc="0" normalizeH="0" baseline="0" noProof="0" dirty="0">
                <a:ln>
                  <a:noFill/>
                </a:ln>
                <a:solidFill>
                  <a:schemeClr val="tx1"/>
                </a:solidFill>
                <a:effectLst/>
                <a:uLnTx/>
                <a:uFillTx/>
                <a:latin typeface="+mn-lt"/>
                <a:ea typeface="+mn-ea"/>
                <a:cs typeface="+mn-cs"/>
              </a:rPr>
              <a:t>UPDATE</a:t>
            </a:r>
            <a:r>
              <a:rPr kumimoji="0" lang="en-US" sz="4800" b="0" i="0" u="none" strike="noStrike" kern="1200" cap="none" spc="0" normalizeH="0" baseline="0" noProof="0" dirty="0">
                <a:ln>
                  <a:noFill/>
                </a:ln>
                <a:solidFill>
                  <a:schemeClr val="tx1"/>
                </a:solidFill>
                <a:effectLst/>
                <a:uLnTx/>
                <a:uFillTx/>
                <a:latin typeface="+mn-lt"/>
                <a:ea typeface="+mn-ea"/>
                <a:cs typeface="+mn-cs"/>
              </a:rPr>
              <a:t> Bank_account </a:t>
            </a:r>
            <a:endParaRPr kumimoji="0" lang="ru-RU" sz="4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r>
              <a:rPr lang="ru-RU" sz="4800" dirty="0"/>
              <a:t>		</a:t>
            </a:r>
            <a:r>
              <a:rPr kumimoji="0" lang="en-US" sz="4800" b="1" i="0" u="none" strike="noStrike" kern="1200" cap="none" spc="0" normalizeH="0" baseline="0" noProof="0" dirty="0">
                <a:ln>
                  <a:noFill/>
                </a:ln>
                <a:solidFill>
                  <a:schemeClr val="tx1"/>
                </a:solidFill>
                <a:effectLst/>
                <a:uLnTx/>
                <a:uFillTx/>
                <a:latin typeface="+mn-lt"/>
                <a:ea typeface="+mn-ea"/>
                <a:cs typeface="+mn-cs"/>
              </a:rPr>
              <a:t>SET</a:t>
            </a:r>
            <a:r>
              <a:rPr kumimoji="0" lang="en-US" sz="4800" b="0" i="0" u="none" strike="noStrike" kern="1200" cap="none" spc="0" normalizeH="0" baseline="0" noProof="0" dirty="0">
                <a:ln>
                  <a:noFill/>
                </a:ln>
                <a:solidFill>
                  <a:schemeClr val="tx1"/>
                </a:solidFill>
                <a:effectLst/>
                <a:uLnTx/>
                <a:uFillTx/>
                <a:latin typeface="+mn-lt"/>
                <a:ea typeface="+mn-ea"/>
                <a:cs typeface="+mn-cs"/>
              </a:rPr>
              <a:t> </a:t>
            </a:r>
            <a:r>
              <a:rPr lang="en-US" sz="4800" dirty="0"/>
              <a:t>Balance= Balance </a:t>
            </a:r>
            <a:r>
              <a:rPr kumimoji="0" lang="en-US" sz="4800" b="0" i="0" u="none" strike="noStrike" kern="1200" cap="none" spc="0" normalizeH="0" baseline="0" noProof="0" dirty="0">
                <a:ln>
                  <a:noFill/>
                </a:ln>
                <a:solidFill>
                  <a:schemeClr val="tx1"/>
                </a:solidFill>
                <a:effectLst/>
                <a:uLnTx/>
                <a:uFillTx/>
                <a:latin typeface="+mn-lt"/>
                <a:ea typeface="+mn-ea"/>
                <a:cs typeface="+mn-cs"/>
              </a:rPr>
              <a:t>+ 500 </a:t>
            </a:r>
            <a:endParaRPr kumimoji="0" lang="ru-RU" sz="4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r>
              <a:rPr kumimoji="0" lang="ru-RU" sz="4800" b="1" i="0" u="none" strike="noStrike" kern="1200" cap="none" spc="0" normalizeH="0" baseline="0" noProof="0" dirty="0">
                <a:ln>
                  <a:noFill/>
                </a:ln>
                <a:solidFill>
                  <a:schemeClr val="tx1"/>
                </a:solidFill>
                <a:effectLst/>
                <a:uLnTx/>
                <a:uFillTx/>
                <a:latin typeface="+mn-lt"/>
                <a:ea typeface="+mn-ea"/>
                <a:cs typeface="+mn-cs"/>
              </a:rPr>
              <a:t>		WHERE</a:t>
            </a:r>
            <a:r>
              <a:rPr kumimoji="0" lang="ru-RU" sz="4800" b="0" i="0" u="none" strike="noStrike" kern="1200" cap="none" spc="0" normalizeH="0" baseline="0" noProof="0" dirty="0">
                <a:ln>
                  <a:noFill/>
                </a:ln>
                <a:solidFill>
                  <a:schemeClr val="tx1"/>
                </a:solidFill>
                <a:effectLst/>
                <a:uLnTx/>
                <a:uFillTx/>
                <a:latin typeface="+mn-lt"/>
                <a:ea typeface="+mn-ea"/>
                <a:cs typeface="+mn-cs"/>
              </a:rPr>
              <a:t> </a:t>
            </a:r>
            <a:r>
              <a:rPr lang="en-US" sz="4800" dirty="0"/>
              <a:t>Number_account </a:t>
            </a:r>
            <a:r>
              <a:rPr kumimoji="0" lang="ru-RU" sz="4800" b="0" i="0" u="none" strike="noStrike" kern="1200" cap="none" spc="0" normalizeH="0" baseline="0" noProof="0" dirty="0">
                <a:ln>
                  <a:noFill/>
                </a:ln>
                <a:solidFill>
                  <a:schemeClr val="tx1"/>
                </a:solidFill>
                <a:effectLst/>
                <a:uLnTx/>
                <a:uFillTx/>
                <a:latin typeface="+mn-lt"/>
                <a:ea typeface="+mn-ea"/>
                <a:cs typeface="+mn-cs"/>
              </a:rPr>
              <a:t>= 109</a:t>
            </a:r>
          </a:p>
          <a:p>
            <a:pPr marL="342900" lvl="0" indent="-342900">
              <a:spcBef>
                <a:spcPct val="20000"/>
              </a:spcBef>
            </a:pPr>
            <a:r>
              <a:rPr lang="ru-RU" sz="4800" b="1" dirty="0"/>
              <a:t>	</a:t>
            </a:r>
            <a:r>
              <a:rPr lang="en-US" sz="4800" b="1" dirty="0"/>
              <a:t>IF</a:t>
            </a:r>
            <a:r>
              <a:rPr lang="en-US" sz="4800" dirty="0"/>
              <a:t> (@@error </a:t>
            </a:r>
            <a:r>
              <a:rPr lang="ru-RU" sz="4800" dirty="0"/>
              <a:t>!=</a:t>
            </a:r>
            <a:r>
              <a:rPr lang="en-US" sz="4800" dirty="0"/>
              <a:t> 0)</a:t>
            </a:r>
          </a:p>
          <a:p>
            <a:pPr marL="342900" indent="-342900">
              <a:spcBef>
                <a:spcPct val="20000"/>
              </a:spcBef>
            </a:pPr>
            <a:r>
              <a:rPr lang="ru-RU" sz="4800" b="1" dirty="0"/>
              <a:t>		</a:t>
            </a:r>
            <a:r>
              <a:rPr lang="en-US" sz="4800" b="1" dirty="0"/>
              <a:t>ROLLBACK TRANSACTION </a:t>
            </a:r>
            <a:r>
              <a:rPr lang="en-US" sz="4800" dirty="0"/>
              <a:t>point1</a:t>
            </a:r>
            <a:endParaRPr lang="ru-RU" sz="4800" dirty="0"/>
          </a:p>
          <a:p>
            <a:pPr marL="342900" indent="-342900">
              <a:spcBef>
                <a:spcPct val="20000"/>
              </a:spcBef>
            </a:pPr>
            <a:r>
              <a:rPr lang="en-US" sz="4800" b="1" dirty="0"/>
              <a:t>COMMIT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1" name="Блок-схема: решение 20"/>
          <p:cNvSpPr/>
          <p:nvPr/>
        </p:nvSpPr>
        <p:spPr>
          <a:xfrm>
            <a:off x="714348" y="2714620"/>
            <a:ext cx="2286016" cy="8572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Условие</a:t>
            </a:r>
          </a:p>
        </p:txBody>
      </p:sp>
      <p:sp>
        <p:nvSpPr>
          <p:cNvPr id="23" name="Заголовок 1"/>
          <p:cNvSpPr txBox="1">
            <a:spLocks/>
          </p:cNvSpPr>
          <p:nvPr/>
        </p:nvSpPr>
        <p:spPr>
          <a:xfrm>
            <a:off x="500034" y="0"/>
            <a:ext cx="8229600" cy="4286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0" i="0" u="none" strike="noStrike" kern="1200" cap="none" spc="0" normalizeH="0" baseline="0" noProof="0" dirty="0">
                <a:ln>
                  <a:noFill/>
                </a:ln>
                <a:solidFill>
                  <a:schemeClr val="tx1"/>
                </a:solidFill>
                <a:effectLst/>
                <a:uLnTx/>
                <a:uFillTx/>
                <a:latin typeface="+mj-lt"/>
                <a:ea typeface="+mj-ea"/>
                <a:cs typeface="+mj-cs"/>
              </a:rPr>
              <a:t>Примеры применения команд </a:t>
            </a:r>
            <a:r>
              <a:rPr kumimoji="0" lang="en-US" sz="2400" b="0" i="0" u="none" strike="noStrike" kern="1200" cap="none" spc="0" normalizeH="0" baseline="0" noProof="0" dirty="0">
                <a:ln>
                  <a:noFill/>
                </a:ln>
                <a:solidFill>
                  <a:schemeClr val="tx1"/>
                </a:solidFill>
                <a:effectLst/>
                <a:uLnTx/>
                <a:uFillTx/>
                <a:latin typeface="+mj-lt"/>
                <a:ea typeface="+mj-ea"/>
                <a:cs typeface="+mj-cs"/>
              </a:rPr>
              <a:t>TCL</a:t>
            </a:r>
            <a:endParaRPr kumimoji="0" lang="ru-RU"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27" name="Блок-схема: процесс 26"/>
          <p:cNvSpPr/>
          <p:nvPr/>
        </p:nvSpPr>
        <p:spPr>
          <a:xfrm>
            <a:off x="928662" y="1571612"/>
            <a:ext cx="1714512"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SAVE TRANSACTION</a:t>
            </a:r>
            <a:endParaRPr lang="ru-RU" sz="1400" dirty="0"/>
          </a:p>
        </p:txBody>
      </p:sp>
      <p:sp>
        <p:nvSpPr>
          <p:cNvPr id="28" name="Блок-схема: магнитный диск 27"/>
          <p:cNvSpPr/>
          <p:nvPr/>
        </p:nvSpPr>
        <p:spPr>
          <a:xfrm>
            <a:off x="3214678" y="1357298"/>
            <a:ext cx="1928826" cy="85725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400" dirty="0"/>
              <a:t>Точка сохранения БД </a:t>
            </a:r>
          </a:p>
          <a:p>
            <a:pPr algn="ctr"/>
            <a:r>
              <a:rPr lang="ru-RU" sz="1400" dirty="0"/>
              <a:t>«</a:t>
            </a:r>
            <a:r>
              <a:rPr lang="en-US" sz="1400" dirty="0"/>
              <a:t>point1</a:t>
            </a:r>
            <a:r>
              <a:rPr lang="ru-RU" sz="1400" dirty="0"/>
              <a:t>»</a:t>
            </a:r>
          </a:p>
        </p:txBody>
      </p:sp>
      <p:cxnSp>
        <p:nvCxnSpPr>
          <p:cNvPr id="46" name="Прямая со стрелкой 45"/>
          <p:cNvCxnSpPr>
            <a:endCxn id="28" idx="2"/>
          </p:cNvCxnSpPr>
          <p:nvPr/>
        </p:nvCxnSpPr>
        <p:spPr>
          <a:xfrm>
            <a:off x="2643174" y="1785926"/>
            <a:ext cx="571504"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5" name="Блок-схема: решение 54"/>
          <p:cNvSpPr/>
          <p:nvPr/>
        </p:nvSpPr>
        <p:spPr>
          <a:xfrm>
            <a:off x="714348" y="4286256"/>
            <a:ext cx="2286016" cy="8572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Условие</a:t>
            </a:r>
          </a:p>
        </p:txBody>
      </p:sp>
      <p:cxnSp>
        <p:nvCxnSpPr>
          <p:cNvPr id="56" name="Прямая со стрелкой 55"/>
          <p:cNvCxnSpPr/>
          <p:nvPr/>
        </p:nvCxnSpPr>
        <p:spPr>
          <a:xfrm>
            <a:off x="2928926" y="4714884"/>
            <a:ext cx="571504"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7" name="Прямая со стрелкой 56"/>
          <p:cNvCxnSpPr/>
          <p:nvPr/>
        </p:nvCxnSpPr>
        <p:spPr>
          <a:xfrm rot="5400000" flipH="1" flipV="1">
            <a:off x="3750463" y="2607463"/>
            <a:ext cx="642942"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4" name="Прямая со стрелкой 63"/>
          <p:cNvCxnSpPr/>
          <p:nvPr/>
        </p:nvCxnSpPr>
        <p:spPr>
          <a:xfrm>
            <a:off x="2857488" y="3143248"/>
            <a:ext cx="571504"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5" name="Блок-схема: процесс 64"/>
          <p:cNvSpPr/>
          <p:nvPr/>
        </p:nvSpPr>
        <p:spPr>
          <a:xfrm>
            <a:off x="3500430" y="4500570"/>
            <a:ext cx="1214446" cy="4286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ROLLBACK</a:t>
            </a:r>
            <a:r>
              <a:rPr lang="ru-RU" dirty="0"/>
              <a:t>  </a:t>
            </a:r>
          </a:p>
        </p:txBody>
      </p:sp>
      <p:cxnSp>
        <p:nvCxnSpPr>
          <p:cNvPr id="66" name="Прямая со стрелкой 65"/>
          <p:cNvCxnSpPr/>
          <p:nvPr/>
        </p:nvCxnSpPr>
        <p:spPr>
          <a:xfrm rot="5400000" flipH="1" flipV="1">
            <a:off x="3714744" y="3429000"/>
            <a:ext cx="2571768"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9" name="Прямая со стрелкой 68"/>
          <p:cNvCxnSpPr/>
          <p:nvPr/>
        </p:nvCxnSpPr>
        <p:spPr>
          <a:xfrm>
            <a:off x="4643438" y="4714884"/>
            <a:ext cx="357190" cy="1588"/>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000364" y="2786058"/>
            <a:ext cx="255198" cy="369332"/>
          </a:xfrm>
          <a:prstGeom prst="rect">
            <a:avLst/>
          </a:prstGeom>
          <a:noFill/>
        </p:spPr>
        <p:txBody>
          <a:bodyPr wrap="none" rtlCol="0">
            <a:spAutoFit/>
          </a:bodyPr>
          <a:lstStyle/>
          <a:p>
            <a:r>
              <a:rPr lang="ru-RU" b="1" dirty="0"/>
              <a:t>-</a:t>
            </a:r>
          </a:p>
        </p:txBody>
      </p:sp>
      <p:sp>
        <p:nvSpPr>
          <p:cNvPr id="30" name="TextBox 29"/>
          <p:cNvSpPr txBox="1"/>
          <p:nvPr/>
        </p:nvSpPr>
        <p:spPr>
          <a:xfrm>
            <a:off x="2000232" y="3357562"/>
            <a:ext cx="300082" cy="369332"/>
          </a:xfrm>
          <a:prstGeom prst="rect">
            <a:avLst/>
          </a:prstGeom>
          <a:noFill/>
        </p:spPr>
        <p:txBody>
          <a:bodyPr wrap="none" rtlCol="0">
            <a:spAutoFit/>
          </a:bodyPr>
          <a:lstStyle/>
          <a:p>
            <a:r>
              <a:rPr lang="ru-RU" dirty="0"/>
              <a:t>+</a:t>
            </a:r>
          </a:p>
        </p:txBody>
      </p:sp>
      <p:sp>
        <p:nvSpPr>
          <p:cNvPr id="31" name="TextBox 30"/>
          <p:cNvSpPr txBox="1"/>
          <p:nvPr/>
        </p:nvSpPr>
        <p:spPr>
          <a:xfrm>
            <a:off x="3071802" y="4357694"/>
            <a:ext cx="255198" cy="369332"/>
          </a:xfrm>
          <a:prstGeom prst="rect">
            <a:avLst/>
          </a:prstGeom>
          <a:noFill/>
        </p:spPr>
        <p:txBody>
          <a:bodyPr wrap="none" rtlCol="0">
            <a:spAutoFit/>
          </a:bodyPr>
          <a:lstStyle/>
          <a:p>
            <a:r>
              <a:rPr lang="ru-RU" b="1" dirty="0"/>
              <a:t>-</a:t>
            </a:r>
          </a:p>
        </p:txBody>
      </p:sp>
      <p:sp>
        <p:nvSpPr>
          <p:cNvPr id="32" name="TextBox 31"/>
          <p:cNvSpPr txBox="1"/>
          <p:nvPr/>
        </p:nvSpPr>
        <p:spPr>
          <a:xfrm>
            <a:off x="2071670" y="4929198"/>
            <a:ext cx="300082" cy="369332"/>
          </a:xfrm>
          <a:prstGeom prst="rect">
            <a:avLst/>
          </a:prstGeom>
          <a:noFill/>
        </p:spPr>
        <p:txBody>
          <a:bodyPr wrap="none" rtlCol="0">
            <a:spAutoFit/>
          </a:bodyPr>
          <a:lstStyle/>
          <a:p>
            <a:r>
              <a:rPr lang="ru-RU"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85720" y="214290"/>
            <a:ext cx="8715436" cy="2143140"/>
          </a:xfrm>
          <a:ln>
            <a:solidFill>
              <a:schemeClr val="bg1">
                <a:lumMod val="65000"/>
              </a:schemeClr>
            </a:solidFill>
          </a:ln>
        </p:spPr>
        <p:txBody>
          <a:bodyPr>
            <a:noAutofit/>
          </a:bodyPr>
          <a:lstStyle/>
          <a:p>
            <a:pPr>
              <a:buNone/>
            </a:pPr>
            <a:r>
              <a:rPr lang="ru-RU" sz="1350" dirty="0"/>
              <a:t>Оператор SQL состоит из:</a:t>
            </a:r>
          </a:p>
          <a:p>
            <a:pPr marL="269875" indent="-269875">
              <a:buFont typeface="+mj-lt"/>
              <a:buAutoNum type="arabicParenR"/>
            </a:pPr>
            <a:r>
              <a:rPr lang="ru-RU" sz="1350" dirty="0"/>
              <a:t>зарезервированных слов;</a:t>
            </a:r>
          </a:p>
          <a:p>
            <a:pPr marL="269875" indent="-269875">
              <a:buFont typeface="+mj-lt"/>
              <a:buAutoNum type="arabicParenR"/>
            </a:pPr>
            <a:r>
              <a:rPr lang="ru-RU" sz="1350" dirty="0"/>
              <a:t>пользовательских названий.</a:t>
            </a:r>
          </a:p>
          <a:p>
            <a:pPr marL="0" indent="0">
              <a:buNone/>
            </a:pPr>
            <a:r>
              <a:rPr lang="ru-RU" sz="1350" dirty="0"/>
              <a:t>Пользовательские названия могут быть идентификаторами или именами различных объектов базы данных.</a:t>
            </a:r>
          </a:p>
          <a:p>
            <a:pPr marL="0" indent="0">
              <a:buNone/>
            </a:pPr>
            <a:endParaRPr lang="ru-RU" sz="1350" dirty="0"/>
          </a:p>
          <a:p>
            <a:pPr marL="0" indent="0">
              <a:buNone/>
            </a:pPr>
            <a:r>
              <a:rPr lang="ru-RU" sz="1350" dirty="0"/>
              <a:t>Идентификаторы в </a:t>
            </a:r>
            <a:r>
              <a:rPr lang="ru-RU" sz="1350" dirty="0" err="1"/>
              <a:t>Transact</a:t>
            </a:r>
            <a:r>
              <a:rPr lang="ru-RU" sz="1350" dirty="0"/>
              <a:t> SQL должны состоять из символов алфавита, цифр или символа «_», начинаться с буквы и не могут содержать пробелы. </a:t>
            </a:r>
          </a:p>
          <a:p>
            <a:pPr marL="0" indent="0">
              <a:buNone/>
            </a:pPr>
            <a:r>
              <a:rPr lang="ru-RU" sz="1350" dirty="0"/>
              <a:t>Возможно включение других символов (@, #, $ в СУБД SQL </a:t>
            </a:r>
            <a:r>
              <a:rPr lang="ru-RU" sz="1350" dirty="0" err="1"/>
              <a:t>Server</a:t>
            </a:r>
            <a:r>
              <a:rPr lang="ru-RU" sz="1350" dirty="0"/>
              <a:t> и #, $ в СУБД </a:t>
            </a:r>
            <a:r>
              <a:rPr lang="ru-RU" sz="1350" dirty="0" err="1"/>
              <a:t>Oracle</a:t>
            </a:r>
            <a:r>
              <a:rPr lang="ru-RU" sz="1350" dirty="0"/>
              <a:t>).</a:t>
            </a:r>
          </a:p>
          <a:p>
            <a:pPr marL="0" indent="0">
              <a:buNone/>
            </a:pPr>
            <a:r>
              <a:rPr lang="ru-RU" sz="1350" dirty="0"/>
              <a:t>[ ] — идентификатор группировки слов в переменную.</a:t>
            </a:r>
          </a:p>
        </p:txBody>
      </p:sp>
      <p:sp>
        <p:nvSpPr>
          <p:cNvPr id="4" name="Номер слайда 3"/>
          <p:cNvSpPr>
            <a:spLocks noGrp="1"/>
          </p:cNvSpPr>
          <p:nvPr>
            <p:ph type="sldNum" sz="quarter" idx="12"/>
          </p:nvPr>
        </p:nvSpPr>
        <p:spPr/>
        <p:txBody>
          <a:bodyPr/>
          <a:lstStyle/>
          <a:p>
            <a:fld id="{1F87023B-4310-42C4-812D-874FAF4871B2}" type="slidenum">
              <a:rPr lang="ru-RU" smtClean="0"/>
              <a:pPr/>
              <a:t>6</a:t>
            </a:fld>
            <a:endParaRPr lang="ru-RU"/>
          </a:p>
        </p:txBody>
      </p:sp>
      <p:sp>
        <p:nvSpPr>
          <p:cNvPr id="6" name="Rectangle 3"/>
          <p:cNvSpPr>
            <a:spLocks noChangeArrowheads="1"/>
          </p:cNvSpPr>
          <p:nvPr/>
        </p:nvSpPr>
        <p:spPr bwMode="auto">
          <a:xfrm>
            <a:off x="285720" y="5786454"/>
            <a:ext cx="7858180" cy="923330"/>
          </a:xfrm>
          <a:prstGeom prst="rect">
            <a:avLst/>
          </a:prstGeom>
          <a:noFill/>
          <a:ln w="9525">
            <a:solidFill>
              <a:schemeClr val="bg1">
                <a:lumMod val="6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dirty="0">
                <a:ln>
                  <a:noFill/>
                </a:ln>
                <a:solidFill>
                  <a:schemeClr val="tx1"/>
                </a:solidFill>
                <a:effectLst/>
                <a:ea typeface="Times New Roman" pitchFamily="18" charset="0"/>
                <a:cs typeface="Times New Roman" pitchFamily="18" charset="0"/>
              </a:rPr>
              <a:t>Комментарии</a:t>
            </a:r>
            <a:r>
              <a:rPr kumimoji="0" lang="en-US" b="1" i="0" u="none" strike="noStrike" cap="none" normalizeH="0" baseline="0" dirty="0">
                <a:ln>
                  <a:noFill/>
                </a:ln>
                <a:solidFill>
                  <a:schemeClr val="tx1"/>
                </a:solidFill>
                <a:effectLst/>
                <a:ea typeface="Times New Roman" pitchFamily="18" charset="0"/>
                <a:cs typeface="Times New Roman" pitchFamily="18" charset="0"/>
              </a:rPr>
              <a:t> </a:t>
            </a:r>
            <a:r>
              <a:rPr kumimoji="0" lang="ru-RU" b="1" i="0" u="none" strike="noStrike" cap="none" normalizeH="0" baseline="0" dirty="0">
                <a:ln>
                  <a:noFill/>
                </a:ln>
                <a:solidFill>
                  <a:schemeClr val="tx1"/>
                </a:solidFill>
                <a:effectLst/>
                <a:ea typeface="Times New Roman" pitchFamily="18" charset="0"/>
                <a:cs typeface="Times New Roman" pitchFamily="18" charset="0"/>
              </a:rPr>
              <a:t> </a:t>
            </a:r>
            <a:r>
              <a:rPr kumimoji="0" lang="ru-RU" i="0" u="none" strike="noStrike" cap="none" normalizeH="0" baseline="0" dirty="0">
                <a:ln>
                  <a:noFill/>
                </a:ln>
                <a:solidFill>
                  <a:schemeClr val="tx1"/>
                </a:solidFill>
                <a:effectLst/>
                <a:ea typeface="Times New Roman" pitchFamily="18" charset="0"/>
                <a:cs typeface="Times New Roman" pitchFamily="18" charset="0"/>
              </a:rPr>
              <a:t>в</a:t>
            </a:r>
            <a:r>
              <a:rPr kumimoji="0" lang="ru-RU" b="1" i="0" u="none" strike="noStrike" cap="none" normalizeH="0" baseline="0" dirty="0">
                <a:ln>
                  <a:noFill/>
                </a:ln>
                <a:solidFill>
                  <a:schemeClr val="tx1"/>
                </a:solidFill>
                <a:effectLst/>
                <a:ea typeface="Times New Roman" pitchFamily="18" charset="0"/>
                <a:cs typeface="Times New Roman" pitchFamily="18" charset="0"/>
              </a:rPr>
              <a:t>  </a:t>
            </a:r>
            <a:r>
              <a:rPr kumimoji="0" lang="ru-RU" b="0" i="0" u="none" strike="noStrike" cap="none" normalizeH="0" baseline="0" dirty="0">
                <a:ln>
                  <a:noFill/>
                </a:ln>
                <a:solidFill>
                  <a:schemeClr val="tx1"/>
                </a:solidFill>
                <a:effectLst/>
                <a:ea typeface="Times New Roman" pitchFamily="18" charset="0"/>
                <a:cs typeface="Times New Roman" pitchFamily="18" charset="0"/>
              </a:rPr>
              <a:t>языке </a:t>
            </a:r>
            <a:r>
              <a:rPr kumimoji="0" lang="ru-RU" b="0" i="0" u="none" strike="noStrike" cap="none" normalizeH="0" baseline="0" dirty="0" err="1">
                <a:ln>
                  <a:noFill/>
                </a:ln>
                <a:solidFill>
                  <a:schemeClr val="tx1"/>
                </a:solidFill>
                <a:effectLst/>
                <a:ea typeface="Times New Roman" pitchFamily="18" charset="0"/>
                <a:cs typeface="Times New Roman" pitchFamily="18" charset="0"/>
              </a:rPr>
              <a:t>Transact</a:t>
            </a:r>
            <a:r>
              <a:rPr kumimoji="0" lang="ru-RU" b="0" i="0" u="none" strike="noStrike" cap="none" normalizeH="0" baseline="0" dirty="0">
                <a:ln>
                  <a:noFill/>
                </a:ln>
                <a:solidFill>
                  <a:schemeClr val="tx1"/>
                </a:solidFill>
                <a:effectLst/>
                <a:ea typeface="Times New Roman" pitchFamily="18" charset="0"/>
                <a:cs typeface="Times New Roman" pitchFamily="18" charset="0"/>
              </a:rPr>
              <a:t> </a:t>
            </a:r>
            <a:r>
              <a:rPr lang="ru-RU" dirty="0">
                <a:ea typeface="Times New Roman" pitchFamily="18" charset="0"/>
                <a:cs typeface="Times New Roman" pitchFamily="18" charset="0"/>
              </a:rPr>
              <a:t>- </a:t>
            </a:r>
            <a:r>
              <a:rPr kumimoji="0" lang="ru-RU" b="0" i="0" u="none" strike="noStrike" cap="none" normalizeH="0" baseline="0" dirty="0">
                <a:ln>
                  <a:noFill/>
                </a:ln>
                <a:solidFill>
                  <a:schemeClr val="tx1"/>
                </a:solidFill>
                <a:effectLst/>
                <a:ea typeface="Times New Roman" pitchFamily="18" charset="0"/>
                <a:cs typeface="Times New Roman" pitchFamily="18" charset="0"/>
              </a:rPr>
              <a:t>SQL:</a:t>
            </a:r>
            <a:endParaRPr kumimoji="0" lang="ru-RU"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a:ln>
                  <a:noFill/>
                </a:ln>
                <a:solidFill>
                  <a:schemeClr val="tx1"/>
                </a:solidFill>
                <a:effectLst/>
                <a:ea typeface="Times New Roman" pitchFamily="18" charset="0"/>
                <a:cs typeface="Times New Roman" pitchFamily="18" charset="0"/>
              </a:rPr>
              <a:t>1. /*Текст комментария*/ –для записи многострочных комментариев.</a:t>
            </a:r>
            <a:endParaRPr kumimoji="0" lang="ru-RU"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a:ln>
                  <a:noFill/>
                </a:ln>
                <a:solidFill>
                  <a:schemeClr val="tx1"/>
                </a:solidFill>
                <a:effectLst/>
                <a:ea typeface="Times New Roman" pitchFamily="18" charset="0"/>
                <a:cs typeface="Times New Roman" pitchFamily="18" charset="0"/>
              </a:rPr>
              <a:t>2. --Текст комментария –для однострочных комментариев.</a:t>
            </a:r>
            <a:endParaRPr kumimoji="0" lang="ru-RU" b="0" i="0" u="none" strike="noStrike" cap="none" normalizeH="0" baseline="0" dirty="0">
              <a:ln>
                <a:noFill/>
              </a:ln>
              <a:solidFill>
                <a:schemeClr val="tx1"/>
              </a:solidFill>
              <a:effectLst/>
              <a:cs typeface="Arial" pitchFamily="34" charset="0"/>
            </a:endParaRPr>
          </a:p>
        </p:txBody>
      </p:sp>
      <p:sp>
        <p:nvSpPr>
          <p:cNvPr id="7" name="Прямоугольник 6"/>
          <p:cNvSpPr/>
          <p:nvPr/>
        </p:nvSpPr>
        <p:spPr>
          <a:xfrm>
            <a:off x="285720" y="4714884"/>
            <a:ext cx="4572000" cy="923330"/>
          </a:xfrm>
          <a:prstGeom prst="rect">
            <a:avLst/>
          </a:prstGeom>
          <a:ln>
            <a:solidFill>
              <a:schemeClr val="bg1">
                <a:lumMod val="65000"/>
              </a:schemeClr>
            </a:solidFill>
          </a:ln>
        </p:spPr>
        <p:txBody>
          <a:bodyPr>
            <a:spAutoFit/>
          </a:bodyPr>
          <a:lstStyle/>
          <a:p>
            <a:r>
              <a:rPr lang="ru-RU" b="1" dirty="0"/>
              <a:t>Выбор базы данных для использования:</a:t>
            </a:r>
          </a:p>
          <a:p>
            <a:r>
              <a:rPr lang="ru-RU" dirty="0"/>
              <a:t>USE &lt;название БД&gt;</a:t>
            </a:r>
          </a:p>
          <a:p>
            <a:r>
              <a:rPr lang="ru-RU" dirty="0"/>
              <a:t>Например, </a:t>
            </a:r>
            <a:r>
              <a:rPr lang="en-US" dirty="0"/>
              <a:t> use  </a:t>
            </a:r>
            <a:r>
              <a:rPr lang="en-US" dirty="0" err="1"/>
              <a:t>Sudent_Ivanov</a:t>
            </a:r>
            <a:endParaRPr lang="ru-RU" dirty="0"/>
          </a:p>
        </p:txBody>
      </p:sp>
      <p:sp>
        <p:nvSpPr>
          <p:cNvPr id="8" name="Rectangle 1"/>
          <p:cNvSpPr>
            <a:spLocks noChangeArrowheads="1"/>
          </p:cNvSpPr>
          <p:nvPr/>
        </p:nvSpPr>
        <p:spPr bwMode="auto">
          <a:xfrm>
            <a:off x="279094" y="2455550"/>
            <a:ext cx="8572560" cy="2185214"/>
          </a:xfrm>
          <a:prstGeom prst="rect">
            <a:avLst/>
          </a:prstGeom>
          <a:noFill/>
          <a:ln w="9525">
            <a:solidFill>
              <a:schemeClr val="bg1">
                <a:lumMod val="6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ru-RU" sz="1700" b="0" i="0" u="none" strike="noStrike" cap="none" normalizeH="0" baseline="0" dirty="0">
                <a:ln>
                  <a:noFill/>
                </a:ln>
                <a:solidFill>
                  <a:schemeClr val="tx1"/>
                </a:solidFill>
                <a:effectLst/>
                <a:ea typeface="Times New Roman" pitchFamily="18" charset="0"/>
                <a:cs typeface="Times New Roman" pitchFamily="18" charset="0"/>
              </a:rPr>
              <a:t>Для обращения</a:t>
            </a:r>
            <a:r>
              <a:rPr kumimoji="0" lang="ru-RU" sz="1700" b="0" i="0" u="none" strike="noStrike" cap="none" normalizeH="0" dirty="0">
                <a:ln>
                  <a:noFill/>
                </a:ln>
                <a:solidFill>
                  <a:schemeClr val="tx1"/>
                </a:solidFill>
                <a:effectLst/>
                <a:ea typeface="Times New Roman" pitchFamily="18" charset="0"/>
                <a:cs typeface="Times New Roman" pitchFamily="18" charset="0"/>
              </a:rPr>
              <a:t> к </a:t>
            </a:r>
            <a:r>
              <a:rPr lang="ru-RU" sz="1700" dirty="0">
                <a:ea typeface="Times New Roman" pitchFamily="18" charset="0"/>
                <a:cs typeface="Times New Roman" pitchFamily="18" charset="0"/>
              </a:rPr>
              <a:t>таблице </a:t>
            </a:r>
            <a:r>
              <a:rPr kumimoji="0" lang="ru-RU" sz="1700" b="0" i="0" u="none" strike="noStrike" cap="none" normalizeH="0" dirty="0">
                <a:ln>
                  <a:noFill/>
                </a:ln>
                <a:solidFill>
                  <a:schemeClr val="tx1"/>
                </a:solidFill>
                <a:effectLst/>
                <a:ea typeface="Times New Roman" pitchFamily="18" charset="0"/>
                <a:cs typeface="Times New Roman" pitchFamily="18" charset="0"/>
              </a:rPr>
              <a:t>или </a:t>
            </a:r>
            <a:r>
              <a:rPr lang="ru-RU" sz="1700" dirty="0">
                <a:ea typeface="Times New Roman" pitchFamily="18" charset="0"/>
                <a:cs typeface="Times New Roman" pitchFamily="18" charset="0"/>
              </a:rPr>
              <a:t>полю таблицы </a:t>
            </a:r>
            <a:r>
              <a:rPr kumimoji="0" lang="ru-RU" sz="1700" b="0" i="0" u="none" strike="noStrike" cap="none" normalizeH="0" dirty="0">
                <a:ln>
                  <a:noFill/>
                </a:ln>
                <a:solidFill>
                  <a:schemeClr val="tx1"/>
                </a:solidFill>
                <a:effectLst/>
                <a:ea typeface="Times New Roman" pitchFamily="18" charset="0"/>
                <a:cs typeface="Times New Roman" pitchFamily="18" charset="0"/>
              </a:rPr>
              <a:t>можно указать </a:t>
            </a:r>
            <a:r>
              <a:rPr kumimoji="0" lang="ru-RU" sz="1700" b="0" i="0" u="none" strike="noStrike" cap="none" normalizeH="0" baseline="0" dirty="0">
                <a:ln>
                  <a:noFill/>
                </a:ln>
                <a:solidFill>
                  <a:schemeClr val="tx1"/>
                </a:solidFill>
                <a:effectLst/>
                <a:ea typeface="Times New Roman" pitchFamily="18" charset="0"/>
                <a:cs typeface="Times New Roman" pitchFamily="18" charset="0"/>
              </a:rPr>
              <a:t>составное имя:</a:t>
            </a:r>
            <a:endParaRPr kumimoji="0" lang="ru-RU" sz="1700" b="0" i="0" u="none" strike="noStrike" cap="none" normalizeH="0" baseline="0" dirty="0">
              <a:ln>
                <a:noFill/>
              </a:ln>
              <a:solidFill>
                <a:schemeClr val="tx1"/>
              </a:solidFill>
              <a:effectLst/>
              <a:cs typeface="Arial" pitchFamily="34" charset="0"/>
            </a:endParaRPr>
          </a:p>
          <a:p>
            <a:pPr lvl="0" eaLnBrk="0" fontAlgn="base" hangingPunct="0">
              <a:spcBef>
                <a:spcPct val="0"/>
              </a:spcBef>
              <a:spcAft>
                <a:spcPct val="0"/>
              </a:spcAft>
            </a:pPr>
            <a:r>
              <a:rPr kumimoji="0" lang="ru-RU" sz="1700" b="1" i="0" u="none" strike="noStrike" cap="none" normalizeH="0" baseline="0" dirty="0" err="1">
                <a:ln>
                  <a:noFill/>
                </a:ln>
                <a:solidFill>
                  <a:schemeClr val="tx1"/>
                </a:solidFill>
                <a:effectLst/>
                <a:ea typeface="Times New Roman" pitchFamily="18" charset="0"/>
                <a:cs typeface="Times New Roman" pitchFamily="18" charset="0"/>
              </a:rPr>
              <a:t>Название</a:t>
            </a:r>
            <a:r>
              <a:rPr lang="ru-RU" sz="1700" b="1" dirty="0" err="1">
                <a:ea typeface="Times New Roman" pitchFamily="18" charset="0"/>
                <a:cs typeface="Times New Roman" pitchFamily="18" charset="0"/>
              </a:rPr>
              <a:t>_</a:t>
            </a:r>
            <a:r>
              <a:rPr kumimoji="0" lang="ru-RU" sz="1700" b="1" i="0" u="none" strike="noStrike" cap="none" normalizeH="0" baseline="0" dirty="0" err="1">
                <a:ln>
                  <a:noFill/>
                </a:ln>
                <a:solidFill>
                  <a:schemeClr val="tx1"/>
                </a:solidFill>
                <a:effectLst/>
                <a:ea typeface="Times New Roman" pitchFamily="18" charset="0"/>
                <a:cs typeface="Times New Roman" pitchFamily="18" charset="0"/>
              </a:rPr>
              <a:t>БД.имя</a:t>
            </a:r>
            <a:r>
              <a:rPr lang="ru-RU" sz="1700" b="1" dirty="0" err="1">
                <a:ea typeface="Times New Roman" pitchFamily="18" charset="0"/>
                <a:cs typeface="Times New Roman" pitchFamily="18" charset="0"/>
              </a:rPr>
              <a:t>_</a:t>
            </a:r>
            <a:r>
              <a:rPr kumimoji="0" lang="ru-RU" sz="1700" b="1" i="0" u="none" strike="noStrike" cap="none" normalizeH="0" baseline="0" dirty="0" err="1">
                <a:ln>
                  <a:noFill/>
                </a:ln>
                <a:solidFill>
                  <a:schemeClr val="tx1"/>
                </a:solidFill>
                <a:effectLst/>
                <a:ea typeface="Times New Roman" pitchFamily="18" charset="0"/>
                <a:cs typeface="Times New Roman" pitchFamily="18" charset="0"/>
              </a:rPr>
              <a:t>владельца.название</a:t>
            </a:r>
            <a:r>
              <a:rPr lang="ru-RU" sz="1700" b="1" dirty="0" err="1">
                <a:ea typeface="Times New Roman" pitchFamily="18" charset="0"/>
                <a:cs typeface="Times New Roman" pitchFamily="18" charset="0"/>
              </a:rPr>
              <a:t>_</a:t>
            </a:r>
            <a:r>
              <a:rPr kumimoji="0" lang="ru-RU" sz="1700" b="1" i="0" u="none" strike="noStrike" cap="none" normalizeH="0" baseline="0" dirty="0" err="1">
                <a:ln>
                  <a:noFill/>
                </a:ln>
                <a:solidFill>
                  <a:schemeClr val="tx1"/>
                </a:solidFill>
                <a:effectLst/>
                <a:ea typeface="Times New Roman" pitchFamily="18" charset="0"/>
                <a:cs typeface="Times New Roman" pitchFamily="18" charset="0"/>
              </a:rPr>
              <a:t>таблицы.название_поля</a:t>
            </a:r>
            <a:r>
              <a:rPr kumimoji="0" lang="ru-RU" sz="1700" b="1" i="0" u="none" strike="noStrike" cap="none" normalizeH="0" baseline="0" dirty="0">
                <a:ln>
                  <a:noFill/>
                </a:ln>
                <a:solidFill>
                  <a:schemeClr val="tx1"/>
                </a:solidFill>
                <a:effectLst/>
                <a:ea typeface="Times New Roman" pitchFamily="18" charset="0"/>
                <a:cs typeface="Times New Roman" pitchFamily="18" charset="0"/>
              </a:rPr>
              <a:t> или </a:t>
            </a:r>
            <a:r>
              <a:rPr lang="ru-RU" sz="1700" b="1" dirty="0" err="1">
                <a:ea typeface="Times New Roman" pitchFamily="18" charset="0"/>
                <a:cs typeface="Times New Roman" pitchFamily="18" charset="0"/>
              </a:rPr>
              <a:t>название_таблицы.название_</a:t>
            </a:r>
            <a:r>
              <a:rPr kumimoji="0" lang="ru-RU" sz="1700" b="1" i="0" u="none" strike="noStrike" cap="none" normalizeH="0" baseline="0" dirty="0" err="1">
                <a:ln>
                  <a:noFill/>
                </a:ln>
                <a:solidFill>
                  <a:schemeClr val="tx1"/>
                </a:solidFill>
                <a:effectLst/>
                <a:ea typeface="Times New Roman" pitchFamily="18" charset="0"/>
                <a:cs typeface="Times New Roman" pitchFamily="18" charset="0"/>
              </a:rPr>
              <a:t>поля</a:t>
            </a:r>
            <a:endParaRPr kumimoji="0" lang="ru-RU" sz="1700" b="0" i="0" u="none" strike="noStrike" cap="none" normalizeH="0" baseline="0" dirty="0">
              <a:ln>
                <a:noFill/>
              </a:ln>
              <a:solidFill>
                <a:schemeClr val="tx1"/>
              </a:solidFill>
              <a:effectLst/>
              <a:cs typeface="Arial" pitchFamily="34" charset="0"/>
            </a:endParaRPr>
          </a:p>
          <a:p>
            <a:pPr marR="0" lvl="0" algn="l" defTabSz="914400" rtl="0" eaLnBrk="0" fontAlgn="base" latinLnBrk="0" hangingPunct="0">
              <a:lnSpc>
                <a:spcPct val="100000"/>
              </a:lnSpc>
              <a:spcBef>
                <a:spcPct val="0"/>
              </a:spcBef>
              <a:spcAft>
                <a:spcPct val="0"/>
              </a:spcAft>
              <a:buClrTx/>
              <a:buSzTx/>
              <a:buFontTx/>
              <a:buNone/>
              <a:tabLst/>
            </a:pPr>
            <a:endParaRPr kumimoji="0" lang="ru-RU" sz="1700" b="0" i="0" u="none" strike="noStrike" cap="none" normalizeH="0" baseline="0" dirty="0">
              <a:ln>
                <a:noFill/>
              </a:ln>
              <a:solidFill>
                <a:schemeClr val="tx1"/>
              </a:solidFill>
              <a:effectLst/>
              <a:cs typeface="Times New Roman" pitchFamily="18" charset="0"/>
            </a:endParaRPr>
          </a:p>
          <a:p>
            <a:pPr marR="0" lvl="0" algn="l" defTabSz="914400" rtl="0" eaLnBrk="0" fontAlgn="base" latinLnBrk="0" hangingPunct="0">
              <a:lnSpc>
                <a:spcPct val="100000"/>
              </a:lnSpc>
              <a:spcBef>
                <a:spcPct val="0"/>
              </a:spcBef>
              <a:spcAft>
                <a:spcPct val="0"/>
              </a:spcAft>
              <a:buClrTx/>
              <a:buSzTx/>
              <a:buFontTx/>
              <a:buNone/>
              <a:tabLst/>
            </a:pPr>
            <a:r>
              <a:rPr kumimoji="0" lang="ru-RU" sz="1700" b="0" i="0" u="none" strike="noStrike" cap="none" normalizeH="0" baseline="0" dirty="0">
                <a:ln>
                  <a:noFill/>
                </a:ln>
                <a:solidFill>
                  <a:schemeClr val="tx1"/>
                </a:solidFill>
                <a:effectLst/>
                <a:cs typeface="Times New Roman" pitchFamily="18" charset="0"/>
              </a:rPr>
              <a:t>Каждая из этих характеристик отделяется от предыдущей точкой:</a:t>
            </a:r>
            <a:endParaRPr kumimoji="0" lang="ru-RU" sz="1700" b="0" i="0" u="none" strike="noStrike" cap="none" normalizeH="0" baseline="0" dirty="0">
              <a:ln>
                <a:noFill/>
              </a:ln>
              <a:solidFill>
                <a:schemeClr val="tx1"/>
              </a:solidFill>
              <a:effectLst/>
              <a:cs typeface="Arial" pitchFamily="34" charset="0"/>
            </a:endParaRPr>
          </a:p>
          <a:p>
            <a:pPr marR="0" lvl="0" algn="l" defTabSz="914400" rtl="0" eaLnBrk="0" fontAlgn="base" latinLnBrk="0" hangingPunct="0">
              <a:lnSpc>
                <a:spcPct val="100000"/>
              </a:lnSpc>
              <a:spcBef>
                <a:spcPct val="0"/>
              </a:spcBef>
              <a:spcAft>
                <a:spcPct val="0"/>
              </a:spcAft>
              <a:buClrTx/>
              <a:buSzTx/>
              <a:buFontTx/>
              <a:buNone/>
              <a:tabLst/>
            </a:pPr>
            <a:r>
              <a:rPr kumimoji="0" lang="en-US" sz="1700" b="1" i="1" u="none" strike="noStrike" cap="none" normalizeH="0" baseline="0" dirty="0" err="1">
                <a:ln>
                  <a:noFill/>
                </a:ln>
                <a:solidFill>
                  <a:schemeClr val="tx1"/>
                </a:solidFill>
                <a:effectLst/>
                <a:ea typeface="Times New Roman" pitchFamily="18" charset="0"/>
                <a:cs typeface="Times New Roman" pitchFamily="18" charset="0"/>
              </a:rPr>
              <a:t>database.dbowner.table_name.column_name</a:t>
            </a:r>
            <a:r>
              <a:rPr kumimoji="0" lang="en-US" sz="1700" b="1" i="1" u="none" strike="noStrike" cap="none" normalizeH="0" baseline="0" dirty="0">
                <a:ln>
                  <a:noFill/>
                </a:ln>
                <a:solidFill>
                  <a:schemeClr val="tx1"/>
                </a:solidFill>
                <a:effectLst/>
                <a:cs typeface="Times New Roman" pitchFamily="18" charset="0"/>
              </a:rPr>
              <a:t>;</a:t>
            </a:r>
            <a:endParaRPr kumimoji="0" lang="ru-RU" sz="1700" b="0" i="0" u="none" strike="noStrike" cap="none" normalizeH="0" baseline="0" dirty="0">
              <a:ln>
                <a:noFill/>
              </a:ln>
              <a:solidFill>
                <a:schemeClr val="tx1"/>
              </a:solidFill>
              <a:effectLst/>
              <a:cs typeface="Arial" pitchFamily="34" charset="0"/>
            </a:endParaRPr>
          </a:p>
          <a:p>
            <a:pPr marR="0" lvl="0" algn="l" defTabSz="914400" rtl="0" eaLnBrk="0" fontAlgn="base" latinLnBrk="0" hangingPunct="0">
              <a:lnSpc>
                <a:spcPct val="100000"/>
              </a:lnSpc>
              <a:spcBef>
                <a:spcPct val="0"/>
              </a:spcBef>
              <a:spcAft>
                <a:spcPct val="0"/>
              </a:spcAft>
              <a:buClrTx/>
              <a:buSzTx/>
              <a:buFontTx/>
              <a:buNone/>
              <a:tabLst/>
            </a:pPr>
            <a:r>
              <a:rPr kumimoji="0" lang="ru-RU" sz="1700" b="0" i="0" u="none" strike="noStrike" cap="none" normalizeH="0" baseline="0" dirty="0">
                <a:ln>
                  <a:noFill/>
                </a:ln>
                <a:solidFill>
                  <a:schemeClr val="tx1"/>
                </a:solidFill>
                <a:effectLst/>
                <a:ea typeface="Times New Roman" pitchFamily="18" charset="0"/>
                <a:cs typeface="Times New Roman" pitchFamily="18" charset="0"/>
              </a:rPr>
              <a:t>Промежуточное значения – имя владельца можно не указывать, если это не приводит к конфликтам имен.</a:t>
            </a:r>
            <a:endParaRPr kumimoji="0" lang="ru-RU" sz="1700" b="0" i="0" u="none" strike="noStrike" cap="none" normalizeH="0" baseline="0" dirty="0">
              <a:ln>
                <a:noFill/>
              </a:ln>
              <a:solidFill>
                <a:schemeClr val="tx1"/>
              </a:solidFill>
              <a:effectLst/>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714356"/>
          </a:xfrm>
        </p:spPr>
        <p:txBody>
          <a:bodyPr>
            <a:normAutofit/>
          </a:bodyPr>
          <a:lstStyle/>
          <a:p>
            <a:r>
              <a:rPr lang="ru-RU" sz="2500" dirty="0"/>
              <a:t>Транзакции и целостность баз данных</a:t>
            </a:r>
          </a:p>
        </p:txBody>
      </p:sp>
      <p:sp>
        <p:nvSpPr>
          <p:cNvPr id="3" name="Номер слайда 2"/>
          <p:cNvSpPr>
            <a:spLocks noGrp="1"/>
          </p:cNvSpPr>
          <p:nvPr>
            <p:ph type="sldNum" sz="quarter" idx="12"/>
          </p:nvPr>
        </p:nvSpPr>
        <p:spPr/>
        <p:txBody>
          <a:bodyPr/>
          <a:lstStyle/>
          <a:p>
            <a:fld id="{1F87023B-4310-42C4-812D-874FAF4871B2}" type="slidenum">
              <a:rPr lang="ru-RU" smtClean="0"/>
              <a:pPr/>
              <a:t>7</a:t>
            </a:fld>
            <a:endParaRPr lang="ru-RU"/>
          </a:p>
        </p:txBody>
      </p:sp>
      <p:graphicFrame>
        <p:nvGraphicFramePr>
          <p:cNvPr id="9" name="Схема 8"/>
          <p:cNvGraphicFramePr/>
          <p:nvPr/>
        </p:nvGraphicFramePr>
        <p:xfrm>
          <a:off x="1000100" y="714356"/>
          <a:ext cx="7358114" cy="4857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7" name="Picture 3"/>
          <p:cNvPicPr>
            <a:picLocks noChangeAspect="1" noChangeArrowheads="1"/>
          </p:cNvPicPr>
          <p:nvPr/>
        </p:nvPicPr>
        <p:blipFill>
          <a:blip r:embed="rId7" cstate="print"/>
          <a:srcRect/>
          <a:stretch>
            <a:fillRect/>
          </a:stretch>
        </p:blipFill>
        <p:spPr bwMode="auto">
          <a:xfrm>
            <a:off x="2571736" y="5524500"/>
            <a:ext cx="4724400" cy="13335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92477"/>
            <a:ext cx="8229600" cy="418058"/>
          </a:xfrm>
        </p:spPr>
        <p:txBody>
          <a:bodyPr>
            <a:normAutofit fontScale="90000"/>
          </a:bodyPr>
          <a:lstStyle/>
          <a:p>
            <a:r>
              <a:rPr lang="ru-RU" dirty="0"/>
              <a:t>Пример</a:t>
            </a:r>
          </a:p>
        </p:txBody>
      </p:sp>
      <p:sp>
        <p:nvSpPr>
          <p:cNvPr id="3" name="Номер слайда 2"/>
          <p:cNvSpPr>
            <a:spLocks noGrp="1"/>
          </p:cNvSpPr>
          <p:nvPr>
            <p:ph type="sldNum" sz="quarter" idx="12"/>
          </p:nvPr>
        </p:nvSpPr>
        <p:spPr/>
        <p:txBody>
          <a:bodyPr/>
          <a:lstStyle/>
          <a:p>
            <a:fld id="{1F87023B-4310-42C4-812D-874FAF4871B2}" type="slidenum">
              <a:rPr lang="ru-RU" smtClean="0"/>
              <a:pPr/>
              <a:t>8</a:t>
            </a:fld>
            <a:endParaRPr lang="ru-RU"/>
          </a:p>
        </p:txBody>
      </p:sp>
      <p:sp>
        <p:nvSpPr>
          <p:cNvPr id="6" name="TextBox 5"/>
          <p:cNvSpPr txBox="1"/>
          <p:nvPr/>
        </p:nvSpPr>
        <p:spPr>
          <a:xfrm>
            <a:off x="179512" y="1010340"/>
            <a:ext cx="3923928" cy="5909310"/>
          </a:xfrm>
          <a:prstGeom prst="rect">
            <a:avLst/>
          </a:prstGeom>
          <a:noFill/>
        </p:spPr>
        <p:txBody>
          <a:bodyPr wrap="square" rtlCol="0">
            <a:spAutoFit/>
          </a:bodyPr>
          <a:lstStyle/>
          <a:p>
            <a:r>
              <a:rPr lang="en-US" dirty="0"/>
              <a:t>CREATE TABLE </a:t>
            </a:r>
            <a:r>
              <a:rPr lang="en-US" dirty="0" err="1"/>
              <a:t>Bank_account</a:t>
            </a:r>
            <a:endParaRPr lang="en-US" dirty="0"/>
          </a:p>
          <a:p>
            <a:r>
              <a:rPr lang="en-US" dirty="0"/>
              <a:t>(Id INT PRIMARY KEY IDENTITY(1,1),</a:t>
            </a:r>
          </a:p>
          <a:p>
            <a:r>
              <a:rPr lang="en-US" dirty="0" err="1"/>
              <a:t>Number_account</a:t>
            </a:r>
            <a:r>
              <a:rPr lang="en-US" dirty="0"/>
              <a:t> decimal(10,0),</a:t>
            </a:r>
          </a:p>
          <a:p>
            <a:r>
              <a:rPr lang="en-US" dirty="0"/>
              <a:t>Balance float)</a:t>
            </a:r>
          </a:p>
          <a:p>
            <a:endParaRPr lang="en-US" dirty="0"/>
          </a:p>
          <a:p>
            <a:r>
              <a:rPr lang="en-US" dirty="0"/>
              <a:t>INSERT INTO </a:t>
            </a:r>
            <a:r>
              <a:rPr lang="en-US" dirty="0" err="1"/>
              <a:t>Bank_account</a:t>
            </a:r>
            <a:endParaRPr lang="en-US" dirty="0"/>
          </a:p>
          <a:p>
            <a:r>
              <a:rPr lang="en-US" dirty="0"/>
              <a:t>VALUES(101, 2000), (102, 1000)</a:t>
            </a:r>
          </a:p>
          <a:p>
            <a:endParaRPr lang="en-US" dirty="0"/>
          </a:p>
          <a:p>
            <a:r>
              <a:rPr lang="en-US" b="1" dirty="0"/>
              <a:t>BEGIN TRANSACTION</a:t>
            </a:r>
          </a:p>
          <a:p>
            <a:r>
              <a:rPr lang="en-US" dirty="0"/>
              <a:t>UPDATE </a:t>
            </a:r>
            <a:r>
              <a:rPr lang="en-US" dirty="0" err="1"/>
              <a:t>Bank_account</a:t>
            </a:r>
            <a:r>
              <a:rPr lang="en-US" dirty="0"/>
              <a:t> </a:t>
            </a:r>
          </a:p>
          <a:p>
            <a:r>
              <a:rPr lang="en-US" dirty="0"/>
              <a:t>SET Balance = Balance - 500 </a:t>
            </a:r>
          </a:p>
          <a:p>
            <a:r>
              <a:rPr lang="en-US" dirty="0"/>
              <a:t>WHERE </a:t>
            </a:r>
            <a:r>
              <a:rPr lang="en-US" dirty="0" err="1"/>
              <a:t>Number_account</a:t>
            </a:r>
            <a:r>
              <a:rPr lang="en-US" dirty="0"/>
              <a:t> = 101</a:t>
            </a:r>
          </a:p>
          <a:p>
            <a:endParaRPr lang="en-US" dirty="0"/>
          </a:p>
          <a:p>
            <a:r>
              <a:rPr lang="en-US" dirty="0"/>
              <a:t>UPDATE </a:t>
            </a:r>
            <a:r>
              <a:rPr lang="en-US" dirty="0" err="1"/>
              <a:t>Bank_account</a:t>
            </a:r>
            <a:r>
              <a:rPr lang="en-US" dirty="0"/>
              <a:t> </a:t>
            </a:r>
          </a:p>
          <a:p>
            <a:r>
              <a:rPr lang="en-US" dirty="0"/>
              <a:t>SET Balance = Balance + 500 </a:t>
            </a:r>
          </a:p>
          <a:p>
            <a:r>
              <a:rPr lang="en-US" dirty="0"/>
              <a:t>WHERE </a:t>
            </a:r>
            <a:r>
              <a:rPr lang="en-US" dirty="0" err="1"/>
              <a:t>Number_account</a:t>
            </a:r>
            <a:r>
              <a:rPr lang="en-US" dirty="0"/>
              <a:t> = 102</a:t>
            </a:r>
          </a:p>
          <a:p>
            <a:endParaRPr lang="en-US" dirty="0"/>
          </a:p>
          <a:p>
            <a:r>
              <a:rPr lang="ru-RU" dirty="0"/>
              <a:t>--</a:t>
            </a:r>
            <a:r>
              <a:rPr lang="en-US" b="1" dirty="0"/>
              <a:t>COMMIT</a:t>
            </a:r>
            <a:endParaRPr lang="ru-RU" b="1" dirty="0"/>
          </a:p>
          <a:p>
            <a:endParaRPr lang="ru-RU" dirty="0"/>
          </a:p>
          <a:p>
            <a:r>
              <a:rPr lang="ru-RU" dirty="0"/>
              <a:t>-- </a:t>
            </a:r>
            <a:r>
              <a:rPr lang="en-US" b="1" dirty="0"/>
              <a:t>ROLLBACK</a:t>
            </a:r>
          </a:p>
          <a:p>
            <a:endParaRPr lang="ru-RU" dirty="0"/>
          </a:p>
        </p:txBody>
      </p:sp>
      <p:pic>
        <p:nvPicPr>
          <p:cNvPr id="7" name="Рисунок 6"/>
          <p:cNvPicPr>
            <a:picLocks noChangeAspect="1"/>
          </p:cNvPicPr>
          <p:nvPr/>
        </p:nvPicPr>
        <p:blipFill>
          <a:blip r:embed="rId2"/>
          <a:stretch>
            <a:fillRect/>
          </a:stretch>
        </p:blipFill>
        <p:spPr>
          <a:xfrm>
            <a:off x="4317112" y="2276872"/>
            <a:ext cx="2905125" cy="838200"/>
          </a:xfrm>
          <a:prstGeom prst="rect">
            <a:avLst/>
          </a:prstGeom>
        </p:spPr>
      </p:pic>
      <p:pic>
        <p:nvPicPr>
          <p:cNvPr id="8" name="Рисунок 7"/>
          <p:cNvPicPr>
            <a:picLocks noChangeAspect="1"/>
          </p:cNvPicPr>
          <p:nvPr/>
        </p:nvPicPr>
        <p:blipFill>
          <a:blip r:embed="rId3"/>
          <a:stretch>
            <a:fillRect/>
          </a:stretch>
        </p:blipFill>
        <p:spPr>
          <a:xfrm>
            <a:off x="4283968" y="4221088"/>
            <a:ext cx="2724150" cy="1133475"/>
          </a:xfrm>
          <a:prstGeom prst="rect">
            <a:avLst/>
          </a:prstGeom>
        </p:spPr>
      </p:pic>
      <p:pic>
        <p:nvPicPr>
          <p:cNvPr id="9" name="Рисунок 8"/>
          <p:cNvPicPr>
            <a:picLocks noChangeAspect="1"/>
          </p:cNvPicPr>
          <p:nvPr/>
        </p:nvPicPr>
        <p:blipFill>
          <a:blip r:embed="rId2"/>
          <a:stretch>
            <a:fillRect/>
          </a:stretch>
        </p:blipFill>
        <p:spPr>
          <a:xfrm>
            <a:off x="4283968" y="5896969"/>
            <a:ext cx="2905125" cy="838200"/>
          </a:xfrm>
          <a:prstGeom prst="rect">
            <a:avLst/>
          </a:prstGeom>
        </p:spPr>
      </p:pic>
    </p:spTree>
    <p:extLst>
      <p:ext uri="{BB962C8B-B14F-4D97-AF65-F5344CB8AC3E}">
        <p14:creationId xmlns:p14="http://schemas.microsoft.com/office/powerpoint/2010/main" val="160135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347154" y="2636847"/>
            <a:ext cx="4500562" cy="3416320"/>
          </a:xfrm>
          <a:prstGeom prst="rect">
            <a:avLst/>
          </a:prstGeom>
          <a:noFill/>
        </p:spPr>
        <p:txBody>
          <a:bodyPr wrap="square" rtlCol="0">
            <a:spAutoFit/>
          </a:bodyPr>
          <a:lstStyle/>
          <a:p>
            <a:pPr marL="342900" indent="-342900"/>
            <a:r>
              <a:rPr lang="ru-RU" dirty="0"/>
              <a:t>3) </a:t>
            </a:r>
            <a:r>
              <a:rPr lang="ru-RU" b="1" dirty="0" err="1">
                <a:ln w="1905">
                  <a:solidFill>
                    <a:schemeClr val="accent2">
                      <a:lumMod val="75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a:t>
            </a:r>
            <a:r>
              <a:rPr lang="ru-RU" dirty="0" err="1"/>
              <a:t>solation</a:t>
            </a:r>
            <a:r>
              <a:rPr lang="ru-RU" dirty="0"/>
              <a:t> (изолированность). </a:t>
            </a:r>
          </a:p>
          <a:p>
            <a:r>
              <a:rPr lang="ru-RU" dirty="0"/>
              <a:t>Результаты транзакции не должны быть видены другим транзакциям, пока она не завершиться.</a:t>
            </a:r>
          </a:p>
          <a:p>
            <a:pPr marL="342900" indent="-342900"/>
            <a:endParaRPr lang="ru-RU" dirty="0"/>
          </a:p>
          <a:p>
            <a:pPr marL="342900" indent="-342900"/>
            <a:endParaRPr lang="ru-RU" dirty="0"/>
          </a:p>
          <a:p>
            <a:pPr marL="342900" indent="-342900"/>
            <a:endParaRPr lang="ru-RU" dirty="0"/>
          </a:p>
          <a:p>
            <a:pPr marL="342900" indent="-342900"/>
            <a:endParaRPr lang="ru-RU" dirty="0"/>
          </a:p>
          <a:p>
            <a:pPr marL="342900" indent="-342900"/>
            <a:r>
              <a:rPr lang="ru-RU" dirty="0"/>
              <a:t>4) </a:t>
            </a:r>
            <a:r>
              <a:rPr lang="ru-RU" b="1" dirty="0">
                <a:ln w="1905">
                  <a:solidFill>
                    <a:schemeClr val="accent2">
                      <a:lumMod val="75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a:t>
            </a:r>
            <a:r>
              <a:rPr lang="ru-RU" dirty="0"/>
              <a:t>urability (устойчивость, долговечность).</a:t>
            </a:r>
          </a:p>
          <a:p>
            <a:r>
              <a:rPr lang="ru-RU" dirty="0"/>
              <a:t>Изменения, внесенные в БД в результате выполнения транзакции должны быть зафиксированы.</a:t>
            </a:r>
          </a:p>
        </p:txBody>
      </p:sp>
      <p:sp>
        <p:nvSpPr>
          <p:cNvPr id="9" name="TextBox 8"/>
          <p:cNvSpPr txBox="1"/>
          <p:nvPr/>
        </p:nvSpPr>
        <p:spPr>
          <a:xfrm>
            <a:off x="137127" y="2637470"/>
            <a:ext cx="3998328" cy="3970318"/>
          </a:xfrm>
          <a:prstGeom prst="rect">
            <a:avLst/>
          </a:prstGeom>
          <a:noFill/>
        </p:spPr>
        <p:txBody>
          <a:bodyPr wrap="square" rtlCol="0">
            <a:spAutoFit/>
          </a:bodyPr>
          <a:lstStyle/>
          <a:p>
            <a:r>
              <a:rPr lang="ru-RU" dirty="0"/>
              <a:t>1)</a:t>
            </a:r>
            <a:r>
              <a:rPr lang="ru-RU" b="1" dirty="0">
                <a:ln w="1905">
                  <a:solidFill>
                    <a:schemeClr val="accent2">
                      <a:lumMod val="5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a:t>
            </a:r>
            <a:r>
              <a:rPr lang="ru-RU" dirty="0"/>
              <a:t>tomic</a:t>
            </a:r>
            <a:r>
              <a:rPr lang="en-US" dirty="0" err="1"/>
              <a:t>ity</a:t>
            </a:r>
            <a:r>
              <a:rPr lang="ru-RU" dirty="0"/>
              <a:t> (атомарность). </a:t>
            </a:r>
          </a:p>
          <a:p>
            <a:r>
              <a:rPr lang="ru-RU" dirty="0"/>
              <a:t>Каждая транзакция в БД должна быть выполнена полностью либо не выполнена совсем. Не допускается частичное выполнение.  </a:t>
            </a:r>
          </a:p>
          <a:p>
            <a:endParaRPr lang="ru-RU" dirty="0"/>
          </a:p>
          <a:p>
            <a:pPr marL="342900" indent="-342900">
              <a:buAutoNum type="arabicParenR"/>
            </a:pPr>
            <a:endParaRPr lang="ru-RU" dirty="0"/>
          </a:p>
          <a:p>
            <a:pPr marL="342900" indent="-342900">
              <a:buAutoNum type="arabicParenR"/>
            </a:pPr>
            <a:endParaRPr lang="ru-RU" dirty="0"/>
          </a:p>
          <a:p>
            <a:pPr marL="342900" indent="-342900">
              <a:buAutoNum type="arabicParenR"/>
            </a:pPr>
            <a:endParaRPr lang="ru-RU" dirty="0"/>
          </a:p>
          <a:p>
            <a:pPr marL="342900" indent="-342900">
              <a:buFont typeface="+mj-lt"/>
              <a:buAutoNum type="arabicParenR"/>
            </a:pPr>
            <a:endParaRPr lang="ru-RU" dirty="0"/>
          </a:p>
          <a:p>
            <a:pPr marL="355600" indent="-355600">
              <a:tabLst>
                <a:tab pos="269875" algn="l"/>
              </a:tabLst>
            </a:pPr>
            <a:r>
              <a:rPr lang="ru-RU" dirty="0"/>
              <a:t>2) </a:t>
            </a:r>
            <a:r>
              <a:rPr lang="ru-RU" b="1" dirty="0" err="1">
                <a:ln w="1905">
                  <a:solidFill>
                    <a:schemeClr val="accent2">
                      <a:lumMod val="75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a:t>
            </a:r>
            <a:r>
              <a:rPr lang="ru-RU" dirty="0" err="1"/>
              <a:t>onsistency</a:t>
            </a:r>
            <a:r>
              <a:rPr lang="ru-RU" dirty="0"/>
              <a:t> (согласованность).</a:t>
            </a:r>
          </a:p>
          <a:p>
            <a:r>
              <a:rPr lang="ru-RU" dirty="0"/>
              <a:t>Должно быть согласованное состояние БД до и после выполнения транзакции.</a:t>
            </a:r>
          </a:p>
        </p:txBody>
      </p:sp>
      <p:sp>
        <p:nvSpPr>
          <p:cNvPr id="2" name="Заголовок 1"/>
          <p:cNvSpPr>
            <a:spLocks noGrp="1"/>
          </p:cNvSpPr>
          <p:nvPr>
            <p:ph type="title"/>
          </p:nvPr>
        </p:nvSpPr>
        <p:spPr>
          <a:xfrm>
            <a:off x="385762" y="-92939"/>
            <a:ext cx="8229600" cy="714356"/>
          </a:xfrm>
        </p:spPr>
        <p:txBody>
          <a:bodyPr>
            <a:normAutofit/>
          </a:bodyPr>
          <a:lstStyle/>
          <a:p>
            <a:r>
              <a:rPr lang="ru-RU" sz="3200" dirty="0"/>
              <a:t>Транзакции и целостность баз данных</a:t>
            </a:r>
          </a:p>
        </p:txBody>
      </p:sp>
      <p:sp>
        <p:nvSpPr>
          <p:cNvPr id="3" name="Номер слайда 2"/>
          <p:cNvSpPr>
            <a:spLocks noGrp="1"/>
          </p:cNvSpPr>
          <p:nvPr>
            <p:ph type="sldNum" sz="quarter" idx="12"/>
          </p:nvPr>
        </p:nvSpPr>
        <p:spPr>
          <a:xfrm>
            <a:off x="7089758" y="6492875"/>
            <a:ext cx="2133600" cy="365125"/>
          </a:xfrm>
        </p:spPr>
        <p:txBody>
          <a:bodyPr/>
          <a:lstStyle/>
          <a:p>
            <a:fld id="{1F87023B-4310-42C4-812D-874FAF4871B2}" type="slidenum">
              <a:rPr lang="ru-RU" smtClean="0"/>
              <a:pPr/>
              <a:t>9</a:t>
            </a:fld>
            <a:endParaRPr lang="ru-RU" dirty="0"/>
          </a:p>
        </p:txBody>
      </p:sp>
      <p:sp>
        <p:nvSpPr>
          <p:cNvPr id="4" name="TextBox 3"/>
          <p:cNvSpPr txBox="1"/>
          <p:nvPr/>
        </p:nvSpPr>
        <p:spPr>
          <a:xfrm>
            <a:off x="178563" y="621417"/>
            <a:ext cx="8643998" cy="1754326"/>
          </a:xfrm>
          <a:prstGeom prst="rect">
            <a:avLst/>
          </a:prstGeom>
          <a:noFill/>
        </p:spPr>
        <p:txBody>
          <a:bodyPr wrap="square" rtlCol="0">
            <a:spAutoFit/>
          </a:bodyPr>
          <a:lstStyle/>
          <a:p>
            <a:r>
              <a:rPr lang="ru-RU" dirty="0"/>
              <a:t>Количество операций, входящих в транзакцию, может быть от одной и более. </a:t>
            </a:r>
          </a:p>
          <a:p>
            <a:r>
              <a:rPr lang="ru-RU" dirty="0"/>
              <a:t>Разработчик решает, какие команды должны выполняться как одна транзакция, а какие могут быть разбиты на несколько последовательно выполняемых транзакций. </a:t>
            </a:r>
          </a:p>
          <a:p>
            <a:endParaRPr lang="ru-RU" dirty="0"/>
          </a:p>
          <a:p>
            <a:r>
              <a:rPr lang="ru-RU" dirty="0"/>
              <a:t>Транзакция обладает следующими важными свойствами (</a:t>
            </a:r>
            <a:r>
              <a:rPr lang="ru-RU" b="1" spc="100" dirty="0">
                <a:ln w="19050">
                  <a:solidFill>
                    <a:schemeClr val="accent2">
                      <a:lumMod val="75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ACID</a:t>
            </a:r>
            <a:r>
              <a:rPr lang="ru-RU" dirty="0"/>
              <a:t>), которые гарантируют правильность и надежность работы системы:</a:t>
            </a:r>
          </a:p>
        </p:txBody>
      </p:sp>
      <p:pic>
        <p:nvPicPr>
          <p:cNvPr id="2050" name="Picture 2"/>
          <p:cNvPicPr>
            <a:picLocks noChangeAspect="1" noChangeArrowheads="1"/>
          </p:cNvPicPr>
          <p:nvPr/>
        </p:nvPicPr>
        <p:blipFill>
          <a:blip r:embed="rId2" cstate="print"/>
          <a:srcRect/>
          <a:stretch>
            <a:fillRect/>
          </a:stretch>
        </p:blipFill>
        <p:spPr bwMode="auto">
          <a:xfrm>
            <a:off x="1043608" y="4122486"/>
            <a:ext cx="1597393" cy="1251291"/>
          </a:xfrm>
          <a:prstGeom prst="rect">
            <a:avLst/>
          </a:prstGeom>
          <a:noFill/>
          <a:ln w="9525">
            <a:noFill/>
            <a:miter lim="800000"/>
            <a:headEnd/>
            <a:tailEnd/>
          </a:ln>
          <a:effectLst/>
        </p:spPr>
      </p:pic>
      <p:pic>
        <p:nvPicPr>
          <p:cNvPr id="7" name="Picture 3"/>
          <p:cNvPicPr>
            <a:picLocks noChangeAspect="1" noChangeArrowheads="1"/>
          </p:cNvPicPr>
          <p:nvPr/>
        </p:nvPicPr>
        <p:blipFill>
          <a:blip r:embed="rId3" cstate="print"/>
          <a:srcRect t="7692" r="-1810" b="15385"/>
          <a:stretch>
            <a:fillRect/>
          </a:stretch>
        </p:blipFill>
        <p:spPr bwMode="auto">
          <a:xfrm>
            <a:off x="4860032" y="3986608"/>
            <a:ext cx="3474807" cy="631783"/>
          </a:xfrm>
          <a:prstGeom prst="rect">
            <a:avLst/>
          </a:prstGeom>
          <a:noFill/>
          <a:ln w="9525">
            <a:noFill/>
            <a:miter lim="800000"/>
            <a:headEnd/>
            <a:tailEnd/>
          </a:ln>
          <a:effectLst/>
        </p:spPr>
      </p:pic>
      <p:pic>
        <p:nvPicPr>
          <p:cNvPr id="8" name="Picture 3"/>
          <p:cNvPicPr>
            <a:picLocks noChangeAspect="1" noChangeArrowheads="1"/>
          </p:cNvPicPr>
          <p:nvPr/>
        </p:nvPicPr>
        <p:blipFill>
          <a:blip r:embed="rId4" cstate="print"/>
          <a:srcRect/>
          <a:stretch>
            <a:fillRect/>
          </a:stretch>
        </p:blipFill>
        <p:spPr bwMode="auto">
          <a:xfrm>
            <a:off x="5076056" y="6042509"/>
            <a:ext cx="2837141" cy="800806"/>
          </a:xfrm>
          <a:prstGeom prst="rect">
            <a:avLst/>
          </a:prstGeom>
          <a:noFill/>
          <a:ln w="9525">
            <a:noFill/>
            <a:miter lim="800000"/>
            <a:headEnd/>
            <a:tailEnd/>
          </a:ln>
          <a:effectLst/>
        </p:spPr>
      </p:pic>
      <p:cxnSp>
        <p:nvCxnSpPr>
          <p:cNvPr id="12" name="Прямая со стрелкой 11"/>
          <p:cNvCxnSpPr/>
          <p:nvPr/>
        </p:nvCxnSpPr>
        <p:spPr>
          <a:xfrm flipH="1">
            <a:off x="4214016" y="2637470"/>
            <a:ext cx="29466" cy="4221324"/>
          </a:xfrm>
          <a:prstGeom prst="straightConnector1">
            <a:avLst/>
          </a:prstGeom>
          <a:ln>
            <a:solidFill>
              <a:schemeClr val="accent6">
                <a:lumMod val="75000"/>
              </a:schemeClr>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a:off x="-2714676" y="5715016"/>
            <a:ext cx="142876"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14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1368" y="233703"/>
            <a:ext cx="7821032" cy="705925"/>
          </a:xfrm>
        </p:spPr>
        <p:txBody>
          <a:bodyPr>
            <a:noAutofit/>
          </a:bodyPr>
          <a:lstStyle/>
          <a:p>
            <a:r>
              <a:rPr lang="ru-RU" sz="3600" dirty="0"/>
              <a:t>Модели одновременного конкурентного доступа</a:t>
            </a:r>
          </a:p>
        </p:txBody>
      </p:sp>
      <p:sp>
        <p:nvSpPr>
          <p:cNvPr id="3" name="Номер слайда 2"/>
          <p:cNvSpPr>
            <a:spLocks noGrp="1"/>
          </p:cNvSpPr>
          <p:nvPr>
            <p:ph type="sldNum" sz="quarter" idx="12"/>
          </p:nvPr>
        </p:nvSpPr>
        <p:spPr/>
        <p:txBody>
          <a:bodyPr/>
          <a:lstStyle/>
          <a:p>
            <a:fld id="{1F87023B-4310-42C4-812D-874FAF4871B2}" type="slidenum">
              <a:rPr lang="ru-RU" smtClean="0"/>
              <a:pPr/>
              <a:t>10</a:t>
            </a:fld>
            <a:endParaRPr lang="ru-RU"/>
          </a:p>
        </p:txBody>
      </p:sp>
      <p:sp>
        <p:nvSpPr>
          <p:cNvPr id="6" name="Стрелка вниз 5"/>
          <p:cNvSpPr/>
          <p:nvPr/>
        </p:nvSpPr>
        <p:spPr>
          <a:xfrm rot="2057590">
            <a:off x="2447716" y="2183257"/>
            <a:ext cx="451309" cy="1255290"/>
          </a:xfrm>
          <a:prstGeom prst="down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Стрелка вниз 6"/>
          <p:cNvSpPr/>
          <p:nvPr/>
        </p:nvSpPr>
        <p:spPr>
          <a:xfrm rot="19711392">
            <a:off x="5145819" y="2101608"/>
            <a:ext cx="461520" cy="1240317"/>
          </a:xfrm>
          <a:prstGeom prst="down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351368" y="3456581"/>
            <a:ext cx="2596416" cy="369332"/>
          </a:xfrm>
          <a:prstGeom prst="rect">
            <a:avLst/>
          </a:prstGeom>
          <a:noFill/>
          <a:ln>
            <a:solidFill>
              <a:schemeClr val="accent3">
                <a:lumMod val="75000"/>
              </a:schemeClr>
            </a:solidFill>
          </a:ln>
        </p:spPr>
        <p:txBody>
          <a:bodyPr wrap="none" rtlCol="0">
            <a:spAutoFit/>
          </a:bodyPr>
          <a:lstStyle/>
          <a:p>
            <a:r>
              <a:rPr lang="ru-RU" dirty="0"/>
              <a:t>Пессимистичная модель</a:t>
            </a:r>
          </a:p>
        </p:txBody>
      </p:sp>
      <p:sp>
        <p:nvSpPr>
          <p:cNvPr id="9" name="TextBox 8"/>
          <p:cNvSpPr txBox="1"/>
          <p:nvPr/>
        </p:nvSpPr>
        <p:spPr>
          <a:xfrm>
            <a:off x="4960902" y="3456581"/>
            <a:ext cx="2504660" cy="369332"/>
          </a:xfrm>
          <a:prstGeom prst="rect">
            <a:avLst/>
          </a:prstGeom>
          <a:noFill/>
          <a:ln>
            <a:solidFill>
              <a:schemeClr val="accent3">
                <a:lumMod val="75000"/>
              </a:schemeClr>
            </a:solidFill>
          </a:ln>
        </p:spPr>
        <p:txBody>
          <a:bodyPr wrap="none" rtlCol="0">
            <a:spAutoFit/>
          </a:bodyPr>
          <a:lstStyle/>
          <a:p>
            <a:r>
              <a:rPr lang="ru-RU" dirty="0"/>
              <a:t>Оптимистичная модель</a:t>
            </a:r>
          </a:p>
        </p:txBody>
      </p:sp>
      <p:sp>
        <p:nvSpPr>
          <p:cNvPr id="10" name="TextBox 9"/>
          <p:cNvSpPr txBox="1"/>
          <p:nvPr/>
        </p:nvSpPr>
        <p:spPr>
          <a:xfrm>
            <a:off x="611560" y="1340768"/>
            <a:ext cx="7969408" cy="923330"/>
          </a:xfrm>
          <a:prstGeom prst="rect">
            <a:avLst/>
          </a:prstGeom>
          <a:noFill/>
        </p:spPr>
        <p:txBody>
          <a:bodyPr wrap="square" rtlCol="0">
            <a:spAutoFit/>
          </a:bodyPr>
          <a:lstStyle/>
          <a:p>
            <a:r>
              <a:rPr lang="ru-RU" dirty="0"/>
              <a:t>В многопользовательской среде предусмотрены две модели обновления данных в базе данных: оптимистичный параллелизм и пессимистичный параллелизм. </a:t>
            </a:r>
          </a:p>
        </p:txBody>
      </p:sp>
      <p:sp>
        <p:nvSpPr>
          <p:cNvPr id="11" name="TextBox 10"/>
          <p:cNvSpPr txBox="1"/>
          <p:nvPr/>
        </p:nvSpPr>
        <p:spPr>
          <a:xfrm>
            <a:off x="289704" y="3857720"/>
            <a:ext cx="4010217" cy="2585323"/>
          </a:xfrm>
          <a:prstGeom prst="rect">
            <a:avLst/>
          </a:prstGeom>
          <a:noFill/>
        </p:spPr>
        <p:txBody>
          <a:bodyPr wrap="square" rtlCol="0">
            <a:spAutoFit/>
          </a:bodyPr>
          <a:lstStyle/>
          <a:p>
            <a:r>
              <a:rPr lang="ru-RU" dirty="0"/>
              <a:t>предусматривает блокировку строк в источнике данных, что позволяет запретить другим пользователям модификацию данных, которая может отрицательно повлиять на работу текущего пользователя. Эта модель в основном используется в таких средах, где наблюдается интенсивная конкуренция по доступу к данным.</a:t>
            </a:r>
          </a:p>
        </p:txBody>
      </p:sp>
      <p:sp>
        <p:nvSpPr>
          <p:cNvPr id="12" name="TextBox 11"/>
          <p:cNvSpPr txBox="1"/>
          <p:nvPr/>
        </p:nvSpPr>
        <p:spPr>
          <a:xfrm>
            <a:off x="4936593" y="3857719"/>
            <a:ext cx="4057992" cy="2585323"/>
          </a:xfrm>
          <a:prstGeom prst="rect">
            <a:avLst/>
          </a:prstGeom>
          <a:noFill/>
        </p:spPr>
        <p:txBody>
          <a:bodyPr wrap="square" rtlCol="0">
            <a:spAutoFit/>
          </a:bodyPr>
          <a:lstStyle/>
          <a:p>
            <a:r>
              <a:rPr lang="ru-RU" dirty="0"/>
              <a:t>не блокируют строку при ее чтении. Когда пользователю требуется обновить строку, приложение должно определить, не изменялась ли эта строка другим пользователем после того, как она была открыта для чтения. Эта модель обычно используется в средах, характеризующихся низкой конкуренцией за данные.</a:t>
            </a:r>
          </a:p>
        </p:txBody>
      </p:sp>
    </p:spTree>
    <p:extLst>
      <p:ext uri="{BB962C8B-B14F-4D97-AF65-F5344CB8AC3E}">
        <p14:creationId xmlns:p14="http://schemas.microsoft.com/office/powerpoint/2010/main" val="2075715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90066"/>
          </a:xfrm>
        </p:spPr>
        <p:txBody>
          <a:bodyPr>
            <a:normAutofit fontScale="90000"/>
          </a:bodyPr>
          <a:lstStyle/>
          <a:p>
            <a:r>
              <a:rPr lang="ru-RU" b="1" dirty="0"/>
              <a:t>Уровни изоляции транзакций</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11</a:t>
            </a:fld>
            <a:endParaRPr lang="ru-RU"/>
          </a:p>
        </p:txBody>
      </p:sp>
      <p:sp>
        <p:nvSpPr>
          <p:cNvPr id="4" name="TextBox 3"/>
          <p:cNvSpPr txBox="1"/>
          <p:nvPr/>
        </p:nvSpPr>
        <p:spPr>
          <a:xfrm>
            <a:off x="450478" y="980728"/>
            <a:ext cx="8461453" cy="646331"/>
          </a:xfrm>
          <a:prstGeom prst="rect">
            <a:avLst/>
          </a:prstGeom>
          <a:noFill/>
        </p:spPr>
        <p:txBody>
          <a:bodyPr wrap="square" rtlCol="0">
            <a:spAutoFit/>
          </a:bodyPr>
          <a:lstStyle/>
          <a:p>
            <a:r>
              <a:rPr lang="ru-RU" dirty="0"/>
              <a:t>Уровни изоляции транзакций — это мера степени успешной изоляции транзакций данных от возможности изменения другими транзакциями. </a:t>
            </a:r>
          </a:p>
        </p:txBody>
      </p:sp>
      <p:sp>
        <p:nvSpPr>
          <p:cNvPr id="5" name="TextBox 4"/>
          <p:cNvSpPr txBox="1"/>
          <p:nvPr/>
        </p:nvSpPr>
        <p:spPr>
          <a:xfrm>
            <a:off x="450478" y="1833791"/>
            <a:ext cx="3628557" cy="369332"/>
          </a:xfrm>
          <a:prstGeom prst="rect">
            <a:avLst/>
          </a:prstGeom>
          <a:noFill/>
        </p:spPr>
        <p:txBody>
          <a:bodyPr wrap="none" rtlCol="0">
            <a:spAutoFit/>
          </a:bodyPr>
          <a:lstStyle/>
          <a:p>
            <a:r>
              <a:rPr lang="en-US" dirty="0"/>
              <a:t> SET TRANSACTION ISOLATION LEVEL</a:t>
            </a:r>
            <a:endParaRPr lang="ru-RU" dirty="0"/>
          </a:p>
        </p:txBody>
      </p:sp>
      <p:sp>
        <p:nvSpPr>
          <p:cNvPr id="8" name="TextBox 7"/>
          <p:cNvSpPr txBox="1"/>
          <p:nvPr/>
        </p:nvSpPr>
        <p:spPr>
          <a:xfrm>
            <a:off x="3943379" y="2203123"/>
            <a:ext cx="2252733" cy="2031325"/>
          </a:xfrm>
          <a:prstGeom prst="rect">
            <a:avLst/>
          </a:prstGeom>
          <a:noFill/>
        </p:spPr>
        <p:txBody>
          <a:bodyPr wrap="none" rtlCol="0">
            <a:spAutoFit/>
          </a:bodyPr>
          <a:lstStyle/>
          <a:p>
            <a:pPr>
              <a:lnSpc>
                <a:spcPct val="150000"/>
              </a:lnSpc>
            </a:pPr>
            <a:r>
              <a:rPr lang="en-US" dirty="0"/>
              <a:t>READ UNCOMMITTED</a:t>
            </a:r>
            <a:endParaRPr lang="ru-RU" dirty="0"/>
          </a:p>
          <a:p>
            <a:pPr>
              <a:lnSpc>
                <a:spcPct val="150000"/>
              </a:lnSpc>
            </a:pPr>
            <a:r>
              <a:rPr lang="en-US" dirty="0"/>
              <a:t>READ COMMITTED</a:t>
            </a:r>
            <a:endParaRPr lang="ru-RU" dirty="0"/>
          </a:p>
          <a:p>
            <a:pPr>
              <a:lnSpc>
                <a:spcPct val="150000"/>
              </a:lnSpc>
            </a:pPr>
            <a:r>
              <a:rPr lang="en-US" dirty="0"/>
              <a:t>REPEATABLE READ</a:t>
            </a:r>
            <a:endParaRPr lang="ru-RU" dirty="0"/>
          </a:p>
          <a:p>
            <a:pPr>
              <a:lnSpc>
                <a:spcPct val="150000"/>
              </a:lnSpc>
            </a:pPr>
            <a:r>
              <a:rPr lang="en-US" dirty="0">
                <a:solidFill>
                  <a:schemeClr val="dk1"/>
                </a:solidFill>
              </a:rPr>
              <a:t>SERIALIZABLE</a:t>
            </a:r>
            <a:endParaRPr lang="ru-RU" dirty="0"/>
          </a:p>
          <a:p>
            <a:endParaRPr lang="ru-RU" dirty="0"/>
          </a:p>
        </p:txBody>
      </p:sp>
      <p:sp>
        <p:nvSpPr>
          <p:cNvPr id="6" name="TextBox 5"/>
          <p:cNvSpPr txBox="1"/>
          <p:nvPr/>
        </p:nvSpPr>
        <p:spPr>
          <a:xfrm>
            <a:off x="6644659" y="2744923"/>
            <a:ext cx="2055563" cy="646331"/>
          </a:xfrm>
          <a:prstGeom prst="rect">
            <a:avLst/>
          </a:prstGeom>
          <a:noFill/>
        </p:spPr>
        <p:txBody>
          <a:bodyPr wrap="none" rtlCol="0">
            <a:spAutoFit/>
          </a:bodyPr>
          <a:lstStyle/>
          <a:p>
            <a:r>
              <a:rPr lang="ru-RU" dirty="0"/>
              <a:t>Пессимистическая </a:t>
            </a:r>
          </a:p>
          <a:p>
            <a:r>
              <a:rPr lang="ru-RU" dirty="0"/>
              <a:t>модель</a:t>
            </a:r>
          </a:p>
        </p:txBody>
      </p:sp>
      <p:sp>
        <p:nvSpPr>
          <p:cNvPr id="7" name="Правая фигурная скобка 6"/>
          <p:cNvSpPr/>
          <p:nvPr/>
        </p:nvSpPr>
        <p:spPr>
          <a:xfrm>
            <a:off x="5925592" y="2203123"/>
            <a:ext cx="541040" cy="1729933"/>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9" name="TextBox 8"/>
          <p:cNvSpPr txBox="1"/>
          <p:nvPr/>
        </p:nvSpPr>
        <p:spPr>
          <a:xfrm>
            <a:off x="5381913" y="4660947"/>
            <a:ext cx="1199559" cy="646331"/>
          </a:xfrm>
          <a:prstGeom prst="rect">
            <a:avLst/>
          </a:prstGeom>
          <a:noFill/>
        </p:spPr>
        <p:txBody>
          <a:bodyPr wrap="none" rtlCol="0">
            <a:spAutoFit/>
          </a:bodyPr>
          <a:lstStyle/>
          <a:p>
            <a:r>
              <a:rPr lang="en-US" dirty="0"/>
              <a:t>SNAPSHOT</a:t>
            </a:r>
          </a:p>
          <a:p>
            <a:endParaRPr lang="ru-RU" dirty="0"/>
          </a:p>
        </p:txBody>
      </p:sp>
      <p:sp>
        <p:nvSpPr>
          <p:cNvPr id="10" name="Правая фигурная скобка 9"/>
          <p:cNvSpPr/>
          <p:nvPr/>
        </p:nvSpPr>
        <p:spPr>
          <a:xfrm>
            <a:off x="6581472" y="4410849"/>
            <a:ext cx="539080" cy="792088"/>
          </a:xfrm>
          <a:prstGeom prst="righ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 name="TextBox 10"/>
          <p:cNvSpPr txBox="1"/>
          <p:nvPr/>
        </p:nvSpPr>
        <p:spPr>
          <a:xfrm>
            <a:off x="7120017" y="4471521"/>
            <a:ext cx="1963807" cy="646331"/>
          </a:xfrm>
          <a:prstGeom prst="rect">
            <a:avLst/>
          </a:prstGeom>
          <a:noFill/>
        </p:spPr>
        <p:txBody>
          <a:bodyPr wrap="none" rtlCol="0">
            <a:spAutoFit/>
          </a:bodyPr>
          <a:lstStyle/>
          <a:p>
            <a:r>
              <a:rPr lang="ru-RU" dirty="0"/>
              <a:t>Оптимистическая </a:t>
            </a:r>
          </a:p>
          <a:p>
            <a:r>
              <a:rPr lang="ru-RU" dirty="0"/>
              <a:t>модель</a:t>
            </a:r>
          </a:p>
        </p:txBody>
      </p:sp>
      <p:sp>
        <p:nvSpPr>
          <p:cNvPr id="12" name="TextBox 11"/>
          <p:cNvSpPr txBox="1"/>
          <p:nvPr/>
        </p:nvSpPr>
        <p:spPr>
          <a:xfrm>
            <a:off x="494454" y="5909739"/>
            <a:ext cx="6897850" cy="646331"/>
          </a:xfrm>
          <a:prstGeom prst="rect">
            <a:avLst/>
          </a:prstGeom>
          <a:noFill/>
        </p:spPr>
        <p:txBody>
          <a:bodyPr wrap="none" rtlCol="0">
            <a:spAutoFit/>
          </a:bodyPr>
          <a:lstStyle/>
          <a:p>
            <a:r>
              <a:rPr lang="ru-RU" dirty="0"/>
              <a:t>Пессимистическая модель основана на блокировках.</a:t>
            </a:r>
          </a:p>
          <a:p>
            <a:r>
              <a:rPr lang="ru-RU" dirty="0"/>
              <a:t>Оптимистическая модель основана на управлении версиями строк. </a:t>
            </a:r>
          </a:p>
        </p:txBody>
      </p:sp>
    </p:spTree>
    <p:extLst>
      <p:ext uri="{BB962C8B-B14F-4D97-AF65-F5344CB8AC3E}">
        <p14:creationId xmlns:p14="http://schemas.microsoft.com/office/powerpoint/2010/main" val="3983543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199" y="-13658"/>
            <a:ext cx="7859216" cy="620688"/>
          </a:xfrm>
        </p:spPr>
        <p:txBody>
          <a:bodyPr>
            <a:noAutofit/>
          </a:bodyPr>
          <a:lstStyle/>
          <a:p>
            <a:r>
              <a:rPr lang="ru-RU" sz="2800" dirty="0"/>
              <a:t>Уровень изоляции </a:t>
            </a:r>
            <a:r>
              <a:rPr lang="en-US" sz="2800" dirty="0"/>
              <a:t>READ UNCOMMITTED</a:t>
            </a:r>
            <a:endParaRPr lang="ru-RU" sz="28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12</a:t>
            </a:fld>
            <a:endParaRPr lang="ru-RU" dirty="0"/>
          </a:p>
        </p:txBody>
      </p:sp>
      <p:sp>
        <p:nvSpPr>
          <p:cNvPr id="4" name="Прямоугольник 3"/>
          <p:cNvSpPr/>
          <p:nvPr/>
        </p:nvSpPr>
        <p:spPr>
          <a:xfrm>
            <a:off x="155310" y="2040165"/>
            <a:ext cx="3912634" cy="2308324"/>
          </a:xfrm>
          <a:prstGeom prst="rect">
            <a:avLst/>
          </a:prstGeom>
        </p:spPr>
        <p:txBody>
          <a:bodyPr wrap="square">
            <a:spAutoFit/>
          </a:bodyPr>
          <a:lstStyle/>
          <a:p>
            <a:endParaRPr lang="ru-RU" dirty="0"/>
          </a:p>
          <a:p>
            <a:r>
              <a:rPr lang="ru-RU" dirty="0"/>
              <a:t>Клиент 1 выполняет транзакцию:</a:t>
            </a:r>
          </a:p>
          <a:p>
            <a:r>
              <a:rPr lang="ru-RU" b="1" dirty="0"/>
              <a:t>BEGIN TRANSACTION</a:t>
            </a:r>
          </a:p>
          <a:p>
            <a:r>
              <a:rPr lang="ru-RU" dirty="0"/>
              <a:t>UPDATE </a:t>
            </a:r>
            <a:r>
              <a:rPr lang="ru-RU" dirty="0" err="1"/>
              <a:t>Bank_account</a:t>
            </a:r>
            <a:r>
              <a:rPr lang="ru-RU" dirty="0"/>
              <a:t> </a:t>
            </a:r>
          </a:p>
          <a:p>
            <a:r>
              <a:rPr lang="ru-RU" dirty="0"/>
              <a:t>SET </a:t>
            </a:r>
            <a:r>
              <a:rPr lang="ru-RU" dirty="0" err="1"/>
              <a:t>Balance</a:t>
            </a:r>
            <a:r>
              <a:rPr lang="ru-RU" dirty="0"/>
              <a:t> = </a:t>
            </a:r>
            <a:r>
              <a:rPr lang="ru-RU" dirty="0" err="1"/>
              <a:t>Balance</a:t>
            </a:r>
            <a:r>
              <a:rPr lang="ru-RU" dirty="0"/>
              <a:t> - 500 </a:t>
            </a:r>
          </a:p>
          <a:p>
            <a:r>
              <a:rPr lang="ru-RU" dirty="0"/>
              <a:t>WHERE </a:t>
            </a:r>
            <a:r>
              <a:rPr lang="ru-RU" dirty="0" err="1"/>
              <a:t>Number_account</a:t>
            </a:r>
            <a:r>
              <a:rPr lang="ru-RU" dirty="0"/>
              <a:t> = 101</a:t>
            </a:r>
          </a:p>
          <a:p>
            <a:endParaRPr lang="ru-RU" dirty="0"/>
          </a:p>
          <a:p>
            <a:r>
              <a:rPr lang="ru-RU" b="1" dirty="0"/>
              <a:t>COMMIT</a:t>
            </a:r>
          </a:p>
        </p:txBody>
      </p:sp>
      <p:sp>
        <p:nvSpPr>
          <p:cNvPr id="6" name="Стрелка вправо 5"/>
          <p:cNvSpPr/>
          <p:nvPr/>
        </p:nvSpPr>
        <p:spPr>
          <a:xfrm>
            <a:off x="3530928" y="2764336"/>
            <a:ext cx="1656184" cy="383828"/>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Рисунок 10"/>
          <p:cNvPicPr>
            <a:picLocks noChangeAspect="1"/>
          </p:cNvPicPr>
          <p:nvPr/>
        </p:nvPicPr>
        <p:blipFill rotWithShape="1">
          <a:blip r:embed="rId2"/>
          <a:srcRect r="-2568" b="20494"/>
          <a:stretch/>
        </p:blipFill>
        <p:spPr>
          <a:xfrm>
            <a:off x="2909420" y="822393"/>
            <a:ext cx="2876211" cy="955505"/>
          </a:xfrm>
          <a:prstGeom prst="rect">
            <a:avLst/>
          </a:prstGeom>
        </p:spPr>
      </p:pic>
      <p:sp>
        <p:nvSpPr>
          <p:cNvPr id="12" name="TextBox 11"/>
          <p:cNvSpPr txBox="1"/>
          <p:nvPr/>
        </p:nvSpPr>
        <p:spPr>
          <a:xfrm>
            <a:off x="1577601" y="1826994"/>
            <a:ext cx="5808000" cy="646331"/>
          </a:xfrm>
          <a:prstGeom prst="rect">
            <a:avLst/>
          </a:prstGeom>
          <a:noFill/>
        </p:spPr>
        <p:txBody>
          <a:bodyPr wrap="none" rtlCol="0">
            <a:spAutoFit/>
          </a:bodyPr>
          <a:lstStyle/>
          <a:p>
            <a:r>
              <a:rPr lang="ru-RU" b="1" dirty="0"/>
              <a:t>SET TRANSACTION ISOLATION LEVEL </a:t>
            </a:r>
            <a:r>
              <a:rPr lang="ru-RU" b="1" dirty="0">
                <a:solidFill>
                  <a:schemeClr val="accent3">
                    <a:lumMod val="75000"/>
                  </a:schemeClr>
                </a:solidFill>
              </a:rPr>
              <a:t>READ UNCOMMITTED</a:t>
            </a:r>
          </a:p>
          <a:p>
            <a:endParaRPr lang="ru-RU" dirty="0"/>
          </a:p>
        </p:txBody>
      </p:sp>
      <p:pic>
        <p:nvPicPr>
          <p:cNvPr id="13" name="Рисунок 12"/>
          <p:cNvPicPr>
            <a:picLocks noChangeAspect="1"/>
          </p:cNvPicPr>
          <p:nvPr/>
        </p:nvPicPr>
        <p:blipFill rotWithShape="1">
          <a:blip r:embed="rId3"/>
          <a:srcRect l="538" t="33851" r="-2796" b="-1461"/>
          <a:stretch/>
        </p:blipFill>
        <p:spPr>
          <a:xfrm>
            <a:off x="5389491" y="2325752"/>
            <a:ext cx="3438290" cy="2157347"/>
          </a:xfrm>
          <a:prstGeom prst="rect">
            <a:avLst/>
          </a:prstGeom>
        </p:spPr>
      </p:pic>
      <p:pic>
        <p:nvPicPr>
          <p:cNvPr id="14" name="Рисунок 13"/>
          <p:cNvPicPr>
            <a:picLocks noChangeAspect="1"/>
          </p:cNvPicPr>
          <p:nvPr/>
        </p:nvPicPr>
        <p:blipFill>
          <a:blip r:embed="rId4"/>
          <a:stretch>
            <a:fillRect/>
          </a:stretch>
        </p:blipFill>
        <p:spPr>
          <a:xfrm>
            <a:off x="5338749" y="4537932"/>
            <a:ext cx="3305175" cy="2247900"/>
          </a:xfrm>
          <a:prstGeom prst="rect">
            <a:avLst/>
          </a:prstGeom>
        </p:spPr>
      </p:pic>
      <p:sp>
        <p:nvSpPr>
          <p:cNvPr id="15" name="Прямоугольник 14"/>
          <p:cNvSpPr/>
          <p:nvPr/>
        </p:nvSpPr>
        <p:spPr>
          <a:xfrm>
            <a:off x="187539" y="4483099"/>
            <a:ext cx="4988078" cy="2308324"/>
          </a:xfrm>
          <a:prstGeom prst="rect">
            <a:avLst/>
          </a:prstGeom>
        </p:spPr>
        <p:txBody>
          <a:bodyPr wrap="square">
            <a:spAutoFit/>
          </a:bodyPr>
          <a:lstStyle/>
          <a:p>
            <a:r>
              <a:rPr lang="ru-RU" dirty="0"/>
              <a:t>В это время Клиент 2 начинает выполнять транзакцию для другого счета:</a:t>
            </a:r>
          </a:p>
          <a:p>
            <a:r>
              <a:rPr lang="ru-RU" b="1" dirty="0"/>
              <a:t>BEGIN TRANSACTION</a:t>
            </a:r>
          </a:p>
          <a:p>
            <a:r>
              <a:rPr lang="ru-RU" dirty="0"/>
              <a:t>UPDATE </a:t>
            </a:r>
            <a:r>
              <a:rPr lang="ru-RU" dirty="0" err="1"/>
              <a:t>Bank_account</a:t>
            </a:r>
            <a:r>
              <a:rPr lang="ru-RU" dirty="0"/>
              <a:t> </a:t>
            </a:r>
          </a:p>
          <a:p>
            <a:r>
              <a:rPr lang="ru-RU" dirty="0"/>
              <a:t>SET </a:t>
            </a:r>
            <a:r>
              <a:rPr lang="ru-RU" dirty="0" err="1"/>
              <a:t>Balance</a:t>
            </a:r>
            <a:r>
              <a:rPr lang="ru-RU" dirty="0"/>
              <a:t> = </a:t>
            </a:r>
            <a:r>
              <a:rPr lang="ru-RU" dirty="0" err="1"/>
              <a:t>Balance</a:t>
            </a:r>
            <a:r>
              <a:rPr lang="ru-RU" dirty="0"/>
              <a:t> - 500 </a:t>
            </a:r>
          </a:p>
          <a:p>
            <a:r>
              <a:rPr lang="ru-RU" dirty="0"/>
              <a:t>WHERE </a:t>
            </a:r>
            <a:r>
              <a:rPr lang="ru-RU" dirty="0" err="1"/>
              <a:t>Number_account</a:t>
            </a:r>
            <a:r>
              <a:rPr lang="ru-RU" dirty="0"/>
              <a:t> = 102</a:t>
            </a:r>
          </a:p>
          <a:p>
            <a:endParaRPr lang="ru-RU" dirty="0"/>
          </a:p>
          <a:p>
            <a:r>
              <a:rPr lang="ru-RU" b="1" dirty="0"/>
              <a:t>COMMIT</a:t>
            </a:r>
          </a:p>
        </p:txBody>
      </p:sp>
      <p:sp>
        <p:nvSpPr>
          <p:cNvPr id="16" name="Стрелка вправо 15"/>
          <p:cNvSpPr/>
          <p:nvPr/>
        </p:nvSpPr>
        <p:spPr>
          <a:xfrm rot="2276752">
            <a:off x="4231054" y="6006283"/>
            <a:ext cx="1410119" cy="401562"/>
          </a:xfrm>
          <a:prstGeom prst="rightArrow">
            <a:avLst>
              <a:gd name="adj1" fmla="val 52965"/>
              <a:gd name="adj2" fmla="val 69798"/>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Стрелка вправо 16"/>
          <p:cNvSpPr/>
          <p:nvPr/>
        </p:nvSpPr>
        <p:spPr>
          <a:xfrm>
            <a:off x="3558715" y="5013176"/>
            <a:ext cx="1656184" cy="391818"/>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право 17"/>
          <p:cNvSpPr/>
          <p:nvPr/>
        </p:nvSpPr>
        <p:spPr>
          <a:xfrm rot="2276752">
            <a:off x="4221789" y="3739026"/>
            <a:ext cx="1410119" cy="371425"/>
          </a:xfrm>
          <a:prstGeom prst="rightArrow">
            <a:avLst>
              <a:gd name="adj1" fmla="val 52965"/>
              <a:gd name="adj2" fmla="val 69798"/>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 name="Прямая соединительная линия 6"/>
          <p:cNvCxnSpPr/>
          <p:nvPr/>
        </p:nvCxnSpPr>
        <p:spPr>
          <a:xfrm flipV="1">
            <a:off x="-31087" y="4483058"/>
            <a:ext cx="9025376" cy="26602"/>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318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5545504"/>
            <a:ext cx="8852727" cy="1200329"/>
          </a:xfrm>
          <a:prstGeom prst="rect">
            <a:avLst/>
          </a:prstGeom>
        </p:spPr>
        <p:txBody>
          <a:bodyPr wrap="square">
            <a:spAutoFit/>
          </a:bodyPr>
          <a:lstStyle/>
          <a:p>
            <a:r>
              <a:rPr lang="ru-RU" dirty="0"/>
              <a:t>Владелец счета 102 решив, что средств достаточно пытается совершить транзакцию для снятия наличных в размере 2000, но на счете 102 такой суммы нет. </a:t>
            </a:r>
          </a:p>
          <a:p>
            <a:r>
              <a:rPr lang="ru-RU" dirty="0"/>
              <a:t>Владелец счета 102 видел баланс в еще не завершенной транзакции (до </a:t>
            </a:r>
            <a:r>
              <a:rPr lang="en-US" dirty="0"/>
              <a:t>COMMIT </a:t>
            </a:r>
            <a:r>
              <a:rPr lang="ru-RU" dirty="0"/>
              <a:t>или </a:t>
            </a:r>
            <a:r>
              <a:rPr lang="en-US" dirty="0"/>
              <a:t>ROLLBACK</a:t>
            </a:r>
            <a:r>
              <a:rPr lang="ru-RU" dirty="0"/>
              <a:t>). </a:t>
            </a:r>
          </a:p>
        </p:txBody>
      </p:sp>
      <p:sp>
        <p:nvSpPr>
          <p:cNvPr id="13" name="Прямоугольник 12"/>
          <p:cNvSpPr/>
          <p:nvPr/>
        </p:nvSpPr>
        <p:spPr>
          <a:xfrm>
            <a:off x="-643" y="1717080"/>
            <a:ext cx="8964488" cy="2308324"/>
          </a:xfrm>
          <a:prstGeom prst="rect">
            <a:avLst/>
          </a:prstGeom>
        </p:spPr>
        <p:txBody>
          <a:bodyPr wrap="square">
            <a:spAutoFit/>
          </a:bodyPr>
          <a:lstStyle/>
          <a:p>
            <a:r>
              <a:rPr lang="ru-RU" dirty="0"/>
              <a:t>Сотрудником выполняется транзакция зачисления суммы денег на счет 102, но потом выполняет команду </a:t>
            </a:r>
            <a:r>
              <a:rPr lang="en-US" dirty="0"/>
              <a:t>ROLLBACK</a:t>
            </a:r>
            <a:r>
              <a:rPr lang="ru-RU" dirty="0"/>
              <a:t>:</a:t>
            </a:r>
          </a:p>
          <a:p>
            <a:r>
              <a:rPr lang="ru-RU" b="1" dirty="0"/>
              <a:t>BEGIN TRANSACTION</a:t>
            </a:r>
          </a:p>
          <a:p>
            <a:r>
              <a:rPr lang="ru-RU" dirty="0"/>
              <a:t>UPDATE </a:t>
            </a:r>
            <a:r>
              <a:rPr lang="ru-RU" dirty="0" err="1"/>
              <a:t>Bank_account</a:t>
            </a:r>
            <a:r>
              <a:rPr lang="ru-RU" dirty="0"/>
              <a:t> </a:t>
            </a:r>
          </a:p>
          <a:p>
            <a:r>
              <a:rPr lang="ru-RU" dirty="0"/>
              <a:t>SET </a:t>
            </a:r>
            <a:r>
              <a:rPr lang="ru-RU" dirty="0" err="1"/>
              <a:t>Balance</a:t>
            </a:r>
            <a:r>
              <a:rPr lang="ru-RU" dirty="0"/>
              <a:t> = </a:t>
            </a:r>
            <a:r>
              <a:rPr lang="ru-RU" dirty="0" err="1"/>
              <a:t>Balance</a:t>
            </a:r>
            <a:r>
              <a:rPr lang="ru-RU" dirty="0"/>
              <a:t> + 1000 </a:t>
            </a:r>
          </a:p>
          <a:p>
            <a:r>
              <a:rPr lang="ru-RU" dirty="0"/>
              <a:t>WHERE </a:t>
            </a:r>
            <a:r>
              <a:rPr lang="ru-RU" dirty="0" err="1"/>
              <a:t>Number_account</a:t>
            </a:r>
            <a:r>
              <a:rPr lang="ru-RU" dirty="0"/>
              <a:t> = 102</a:t>
            </a:r>
          </a:p>
          <a:p>
            <a:endParaRPr lang="ru-RU" dirty="0"/>
          </a:p>
          <a:p>
            <a:r>
              <a:rPr lang="en-US" b="1" dirty="0"/>
              <a:t>ROLLBACK</a:t>
            </a:r>
            <a:endParaRPr lang="ru-RU" b="1" dirty="0"/>
          </a:p>
        </p:txBody>
      </p:sp>
      <p:sp>
        <p:nvSpPr>
          <p:cNvPr id="2" name="Заголовок 1"/>
          <p:cNvSpPr>
            <a:spLocks noGrp="1"/>
          </p:cNvSpPr>
          <p:nvPr>
            <p:ph type="title"/>
          </p:nvPr>
        </p:nvSpPr>
        <p:spPr>
          <a:xfrm>
            <a:off x="0" y="-23750"/>
            <a:ext cx="9144000" cy="408017"/>
          </a:xfrm>
        </p:spPr>
        <p:txBody>
          <a:bodyPr>
            <a:noAutofit/>
          </a:bodyPr>
          <a:lstStyle/>
          <a:p>
            <a:pPr algn="l">
              <a:spcBef>
                <a:spcPts val="0"/>
              </a:spcBef>
              <a:defRPr/>
            </a:pPr>
            <a:r>
              <a:rPr lang="ru-RU" sz="1800" b="1" dirty="0"/>
              <a:t>Уровень изоляции </a:t>
            </a:r>
            <a:r>
              <a:rPr lang="en-US" sz="1800" b="1" dirty="0"/>
              <a:t>READ UNCOMMITTED</a:t>
            </a:r>
            <a:r>
              <a:rPr lang="ru-RU" sz="1800" b="1" dirty="0"/>
              <a:t>. Проблема уровня «Грязное» чтение (</a:t>
            </a:r>
            <a:r>
              <a:rPr lang="ru-RU" sz="1800" b="1" dirty="0" err="1"/>
              <a:t>dirty</a:t>
            </a:r>
            <a:r>
              <a:rPr lang="ru-RU" sz="1800" b="1" dirty="0"/>
              <a:t> </a:t>
            </a:r>
            <a:r>
              <a:rPr lang="ru-RU" sz="1800" b="1" dirty="0" err="1"/>
              <a:t>read</a:t>
            </a:r>
            <a:r>
              <a:rPr lang="ru-RU" sz="1800" b="1" dirty="0"/>
              <a:t>)</a:t>
            </a:r>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13</a:t>
            </a:fld>
            <a:endParaRPr lang="ru-RU" dirty="0"/>
          </a:p>
        </p:txBody>
      </p:sp>
      <p:sp>
        <p:nvSpPr>
          <p:cNvPr id="6" name="Стрелка вправо 5"/>
          <p:cNvSpPr/>
          <p:nvPr/>
        </p:nvSpPr>
        <p:spPr>
          <a:xfrm rot="20077680">
            <a:off x="2819187" y="2620588"/>
            <a:ext cx="862289" cy="277140"/>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 name="Рисунок 6"/>
          <p:cNvPicPr>
            <a:picLocks noChangeAspect="1"/>
          </p:cNvPicPr>
          <p:nvPr/>
        </p:nvPicPr>
        <p:blipFill>
          <a:blip r:embed="rId2"/>
          <a:stretch>
            <a:fillRect/>
          </a:stretch>
        </p:blipFill>
        <p:spPr>
          <a:xfrm>
            <a:off x="3675309" y="2033270"/>
            <a:ext cx="2076450" cy="819150"/>
          </a:xfrm>
          <a:prstGeom prst="rect">
            <a:avLst/>
          </a:prstGeom>
        </p:spPr>
      </p:pic>
      <p:sp>
        <p:nvSpPr>
          <p:cNvPr id="9" name="Прямоугольник 8"/>
          <p:cNvSpPr/>
          <p:nvPr/>
        </p:nvSpPr>
        <p:spPr>
          <a:xfrm>
            <a:off x="-1" y="3987781"/>
            <a:ext cx="9049605" cy="1477328"/>
          </a:xfrm>
          <a:prstGeom prst="rect">
            <a:avLst/>
          </a:prstGeom>
        </p:spPr>
        <p:txBody>
          <a:bodyPr wrap="square">
            <a:spAutoFit/>
          </a:bodyPr>
          <a:lstStyle/>
          <a:p>
            <a:r>
              <a:rPr lang="ru-RU" dirty="0"/>
              <a:t>Во время выполнения предыдущей транзакции, до выполнения команды   </a:t>
            </a:r>
            <a:r>
              <a:rPr lang="en-US" dirty="0"/>
              <a:t>ROLLBACK</a:t>
            </a:r>
            <a:r>
              <a:rPr lang="ru-RU" dirty="0"/>
              <a:t>, владелец счета 102 проверяет свой баланс:</a:t>
            </a:r>
          </a:p>
          <a:p>
            <a:r>
              <a:rPr lang="ru-RU" dirty="0"/>
              <a:t>SELECT *</a:t>
            </a:r>
          </a:p>
          <a:p>
            <a:r>
              <a:rPr lang="ru-RU" dirty="0"/>
              <a:t>FROM </a:t>
            </a:r>
            <a:r>
              <a:rPr lang="ru-RU" dirty="0" err="1"/>
              <a:t>Bank_account</a:t>
            </a:r>
            <a:endParaRPr lang="ru-RU" dirty="0"/>
          </a:p>
          <a:p>
            <a:r>
              <a:rPr lang="ru-RU" dirty="0"/>
              <a:t>WHERE </a:t>
            </a:r>
            <a:r>
              <a:rPr lang="ru-RU" dirty="0" err="1"/>
              <a:t>Number_account</a:t>
            </a:r>
            <a:r>
              <a:rPr lang="ru-RU" dirty="0"/>
              <a:t>=102</a:t>
            </a:r>
          </a:p>
        </p:txBody>
      </p:sp>
      <p:pic>
        <p:nvPicPr>
          <p:cNvPr id="11" name="Рисунок 10"/>
          <p:cNvPicPr>
            <a:picLocks noChangeAspect="1"/>
          </p:cNvPicPr>
          <p:nvPr/>
        </p:nvPicPr>
        <p:blipFill rotWithShape="1">
          <a:blip r:embed="rId3"/>
          <a:srcRect r="-2568" b="20494"/>
          <a:stretch/>
        </p:blipFill>
        <p:spPr>
          <a:xfrm>
            <a:off x="2915816" y="474100"/>
            <a:ext cx="2876211" cy="955505"/>
          </a:xfrm>
          <a:prstGeom prst="rect">
            <a:avLst/>
          </a:prstGeom>
        </p:spPr>
      </p:pic>
      <p:sp>
        <p:nvSpPr>
          <p:cNvPr id="12" name="TextBox 11"/>
          <p:cNvSpPr txBox="1"/>
          <p:nvPr/>
        </p:nvSpPr>
        <p:spPr>
          <a:xfrm>
            <a:off x="1577601" y="1393915"/>
            <a:ext cx="5808000" cy="646331"/>
          </a:xfrm>
          <a:prstGeom prst="rect">
            <a:avLst/>
          </a:prstGeom>
          <a:noFill/>
        </p:spPr>
        <p:txBody>
          <a:bodyPr wrap="none" rtlCol="0">
            <a:spAutoFit/>
          </a:bodyPr>
          <a:lstStyle/>
          <a:p>
            <a:r>
              <a:rPr lang="ru-RU" b="1" dirty="0"/>
              <a:t>SET TRANSACTION ISOLATION LEVEL </a:t>
            </a:r>
            <a:r>
              <a:rPr lang="ru-RU" b="1" dirty="0">
                <a:solidFill>
                  <a:schemeClr val="accent3">
                    <a:lumMod val="75000"/>
                  </a:schemeClr>
                </a:solidFill>
              </a:rPr>
              <a:t>READ UNCOMMITTED</a:t>
            </a:r>
          </a:p>
          <a:p>
            <a:endParaRPr lang="ru-RU" dirty="0"/>
          </a:p>
        </p:txBody>
      </p:sp>
      <p:cxnSp>
        <p:nvCxnSpPr>
          <p:cNvPr id="14" name="Прямая соединительная линия 13"/>
          <p:cNvCxnSpPr/>
          <p:nvPr/>
        </p:nvCxnSpPr>
        <p:spPr>
          <a:xfrm flipV="1">
            <a:off x="24229" y="3925222"/>
            <a:ext cx="9025376" cy="26602"/>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flipV="1">
            <a:off x="111118" y="5488133"/>
            <a:ext cx="9025376" cy="26602"/>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18" name="Рисунок 17"/>
          <p:cNvPicPr>
            <a:picLocks noChangeAspect="1"/>
          </p:cNvPicPr>
          <p:nvPr/>
        </p:nvPicPr>
        <p:blipFill>
          <a:blip r:embed="rId4"/>
          <a:stretch>
            <a:fillRect/>
          </a:stretch>
        </p:blipFill>
        <p:spPr>
          <a:xfrm>
            <a:off x="6694584" y="2040246"/>
            <a:ext cx="2143125" cy="695325"/>
          </a:xfrm>
          <a:prstGeom prst="rect">
            <a:avLst/>
          </a:prstGeom>
        </p:spPr>
      </p:pic>
      <p:sp>
        <p:nvSpPr>
          <p:cNvPr id="19" name="Стрелка вправо 18"/>
          <p:cNvSpPr/>
          <p:nvPr/>
        </p:nvSpPr>
        <p:spPr>
          <a:xfrm>
            <a:off x="5792027" y="2281675"/>
            <a:ext cx="862289" cy="277140"/>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1" name="Рисунок 20"/>
          <p:cNvPicPr>
            <a:picLocks noChangeAspect="1"/>
          </p:cNvPicPr>
          <p:nvPr/>
        </p:nvPicPr>
        <p:blipFill>
          <a:blip r:embed="rId2"/>
          <a:stretch>
            <a:fillRect/>
          </a:stretch>
        </p:blipFill>
        <p:spPr>
          <a:xfrm>
            <a:off x="3303917" y="3070115"/>
            <a:ext cx="2076450" cy="819150"/>
          </a:xfrm>
          <a:prstGeom prst="rect">
            <a:avLst/>
          </a:prstGeom>
        </p:spPr>
      </p:pic>
      <p:sp>
        <p:nvSpPr>
          <p:cNvPr id="22" name="Стрелка вправо 21"/>
          <p:cNvSpPr/>
          <p:nvPr/>
        </p:nvSpPr>
        <p:spPr>
          <a:xfrm rot="21425963">
            <a:off x="1571840" y="3648050"/>
            <a:ext cx="1710283" cy="184409"/>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3" name="Рисунок 22"/>
          <p:cNvPicPr>
            <a:picLocks noChangeAspect="1"/>
          </p:cNvPicPr>
          <p:nvPr/>
        </p:nvPicPr>
        <p:blipFill>
          <a:blip r:embed="rId4"/>
          <a:stretch>
            <a:fillRect/>
          </a:stretch>
        </p:blipFill>
        <p:spPr>
          <a:xfrm>
            <a:off x="4408623" y="4560347"/>
            <a:ext cx="2143125" cy="695325"/>
          </a:xfrm>
          <a:prstGeom prst="rect">
            <a:avLst/>
          </a:prstGeom>
        </p:spPr>
      </p:pic>
      <p:sp>
        <p:nvSpPr>
          <p:cNvPr id="24" name="Стрелка вправо 23"/>
          <p:cNvSpPr/>
          <p:nvPr/>
        </p:nvSpPr>
        <p:spPr>
          <a:xfrm>
            <a:off x="3268122" y="4859547"/>
            <a:ext cx="862289" cy="277140"/>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8234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7917" y="-112136"/>
            <a:ext cx="7859216" cy="620688"/>
          </a:xfrm>
        </p:spPr>
        <p:txBody>
          <a:bodyPr>
            <a:noAutofit/>
          </a:bodyPr>
          <a:lstStyle/>
          <a:p>
            <a:pPr>
              <a:lnSpc>
                <a:spcPct val="150000"/>
              </a:lnSpc>
            </a:pPr>
            <a:r>
              <a:rPr lang="ru-RU" sz="2800" dirty="0"/>
              <a:t>Уровень изоляции </a:t>
            </a:r>
            <a:r>
              <a:rPr lang="en-US" sz="2800" dirty="0"/>
              <a:t>READ COMMITTED</a:t>
            </a:r>
            <a:endParaRPr lang="ru-RU" sz="28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14</a:t>
            </a:fld>
            <a:endParaRPr lang="ru-RU" dirty="0"/>
          </a:p>
        </p:txBody>
      </p:sp>
      <p:sp>
        <p:nvSpPr>
          <p:cNvPr id="4" name="Прямоугольник 3"/>
          <p:cNvSpPr/>
          <p:nvPr/>
        </p:nvSpPr>
        <p:spPr>
          <a:xfrm>
            <a:off x="0" y="3599338"/>
            <a:ext cx="9066896" cy="1477328"/>
          </a:xfrm>
          <a:prstGeom prst="rect">
            <a:avLst/>
          </a:prstGeom>
        </p:spPr>
        <p:txBody>
          <a:bodyPr wrap="square">
            <a:spAutoFit/>
          </a:bodyPr>
          <a:lstStyle/>
          <a:p>
            <a:r>
              <a:rPr lang="ru-RU" dirty="0"/>
              <a:t>Владелец счета 102 не может узнать свой баланс, пока в предыдущей транзакции не выполнена команда </a:t>
            </a:r>
            <a:r>
              <a:rPr lang="en-US" dirty="0"/>
              <a:t>COMMIT </a:t>
            </a:r>
            <a:r>
              <a:rPr lang="ru-RU" dirty="0"/>
              <a:t>или </a:t>
            </a:r>
            <a:r>
              <a:rPr lang="en-US" dirty="0"/>
              <a:t>ROLLBACK</a:t>
            </a:r>
            <a:r>
              <a:rPr lang="ru-RU" dirty="0"/>
              <a:t>:</a:t>
            </a:r>
          </a:p>
          <a:p>
            <a:r>
              <a:rPr lang="ru-RU" dirty="0"/>
              <a:t>SELECT *</a:t>
            </a:r>
          </a:p>
          <a:p>
            <a:r>
              <a:rPr lang="ru-RU" dirty="0"/>
              <a:t>FROM </a:t>
            </a:r>
            <a:r>
              <a:rPr lang="ru-RU" dirty="0" err="1"/>
              <a:t>Bank_account</a:t>
            </a:r>
            <a:endParaRPr lang="ru-RU" dirty="0"/>
          </a:p>
          <a:p>
            <a:r>
              <a:rPr lang="ru-RU" dirty="0"/>
              <a:t>WHERE </a:t>
            </a:r>
            <a:r>
              <a:rPr lang="ru-RU" dirty="0" err="1"/>
              <a:t>Number_account</a:t>
            </a:r>
            <a:r>
              <a:rPr lang="ru-RU" dirty="0"/>
              <a:t>=102</a:t>
            </a:r>
          </a:p>
        </p:txBody>
      </p:sp>
      <p:sp>
        <p:nvSpPr>
          <p:cNvPr id="6" name="Стрелка вправо 5"/>
          <p:cNvSpPr/>
          <p:nvPr/>
        </p:nvSpPr>
        <p:spPr>
          <a:xfrm rot="1958234">
            <a:off x="2805320" y="5720000"/>
            <a:ext cx="2491002" cy="48156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Рисунок 10"/>
          <p:cNvPicPr>
            <a:picLocks noChangeAspect="1"/>
          </p:cNvPicPr>
          <p:nvPr/>
        </p:nvPicPr>
        <p:blipFill rotWithShape="1">
          <a:blip r:embed="rId2"/>
          <a:srcRect r="-2568" b="20494"/>
          <a:stretch/>
        </p:blipFill>
        <p:spPr>
          <a:xfrm>
            <a:off x="2878970" y="500067"/>
            <a:ext cx="2876211" cy="955505"/>
          </a:xfrm>
          <a:prstGeom prst="rect">
            <a:avLst/>
          </a:prstGeom>
        </p:spPr>
      </p:pic>
      <p:sp>
        <p:nvSpPr>
          <p:cNvPr id="12" name="TextBox 11"/>
          <p:cNvSpPr txBox="1"/>
          <p:nvPr/>
        </p:nvSpPr>
        <p:spPr>
          <a:xfrm>
            <a:off x="1467316" y="1389347"/>
            <a:ext cx="6090743" cy="784830"/>
          </a:xfrm>
          <a:prstGeom prst="rect">
            <a:avLst/>
          </a:prstGeom>
          <a:noFill/>
        </p:spPr>
        <p:txBody>
          <a:bodyPr wrap="square" rtlCol="0">
            <a:spAutoFit/>
          </a:bodyPr>
          <a:lstStyle/>
          <a:p>
            <a:pPr>
              <a:lnSpc>
                <a:spcPct val="150000"/>
              </a:lnSpc>
            </a:pPr>
            <a:r>
              <a:rPr lang="ru-RU" b="1" dirty="0"/>
              <a:t>SET TRANSACTION ISOLATION LEVEL </a:t>
            </a:r>
            <a:r>
              <a:rPr lang="en-US" b="1" dirty="0">
                <a:solidFill>
                  <a:srgbClr val="FFC000"/>
                </a:solidFill>
              </a:rPr>
              <a:t>READ COMMITTED</a:t>
            </a:r>
            <a:endParaRPr lang="ru-RU" b="1" dirty="0">
              <a:solidFill>
                <a:srgbClr val="FFC000"/>
              </a:solidFill>
            </a:endParaRPr>
          </a:p>
          <a:p>
            <a:endParaRPr lang="ru-RU" dirty="0"/>
          </a:p>
        </p:txBody>
      </p:sp>
      <p:sp>
        <p:nvSpPr>
          <p:cNvPr id="9" name="Прямоугольник 8"/>
          <p:cNvSpPr/>
          <p:nvPr/>
        </p:nvSpPr>
        <p:spPr>
          <a:xfrm>
            <a:off x="30443" y="1781762"/>
            <a:ext cx="8964488" cy="1754326"/>
          </a:xfrm>
          <a:prstGeom prst="rect">
            <a:avLst/>
          </a:prstGeom>
        </p:spPr>
        <p:txBody>
          <a:bodyPr wrap="square">
            <a:spAutoFit/>
          </a:bodyPr>
          <a:lstStyle/>
          <a:p>
            <a:r>
              <a:rPr lang="ru-RU" dirty="0"/>
              <a:t>Сотрудником выполняется транзакция зачисления суммы денег на счет 102:</a:t>
            </a:r>
          </a:p>
          <a:p>
            <a:r>
              <a:rPr lang="ru-RU" b="1" dirty="0"/>
              <a:t>BEGIN TRANSACTION</a:t>
            </a:r>
          </a:p>
          <a:p>
            <a:r>
              <a:rPr lang="ru-RU" dirty="0"/>
              <a:t>UPDATE </a:t>
            </a:r>
            <a:r>
              <a:rPr lang="ru-RU" dirty="0" err="1"/>
              <a:t>Bank_account</a:t>
            </a:r>
            <a:r>
              <a:rPr lang="ru-RU" dirty="0"/>
              <a:t> </a:t>
            </a:r>
          </a:p>
          <a:p>
            <a:r>
              <a:rPr lang="ru-RU" dirty="0"/>
              <a:t>SET </a:t>
            </a:r>
            <a:r>
              <a:rPr lang="ru-RU" dirty="0" err="1"/>
              <a:t>Balance</a:t>
            </a:r>
            <a:r>
              <a:rPr lang="ru-RU" dirty="0"/>
              <a:t> = </a:t>
            </a:r>
            <a:r>
              <a:rPr lang="ru-RU" dirty="0" err="1"/>
              <a:t>Balance</a:t>
            </a:r>
            <a:r>
              <a:rPr lang="ru-RU" dirty="0"/>
              <a:t> + 1000 </a:t>
            </a:r>
          </a:p>
          <a:p>
            <a:r>
              <a:rPr lang="ru-RU" dirty="0"/>
              <a:t>WHERE </a:t>
            </a:r>
            <a:r>
              <a:rPr lang="ru-RU" dirty="0" err="1"/>
              <a:t>Number_account</a:t>
            </a:r>
            <a:r>
              <a:rPr lang="ru-RU" dirty="0"/>
              <a:t> = 102</a:t>
            </a:r>
          </a:p>
          <a:p>
            <a:r>
              <a:rPr lang="en-US" b="1" dirty="0"/>
              <a:t>ROLLBACK</a:t>
            </a:r>
            <a:endParaRPr lang="ru-RU" b="1" dirty="0"/>
          </a:p>
        </p:txBody>
      </p:sp>
      <p:cxnSp>
        <p:nvCxnSpPr>
          <p:cNvPr id="10" name="Прямая соединительная линия 9"/>
          <p:cNvCxnSpPr/>
          <p:nvPr/>
        </p:nvCxnSpPr>
        <p:spPr>
          <a:xfrm flipV="1">
            <a:off x="-30445" y="3481518"/>
            <a:ext cx="9025376" cy="26602"/>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7" name="Рисунок 6"/>
          <p:cNvPicPr>
            <a:picLocks noChangeAspect="1"/>
          </p:cNvPicPr>
          <p:nvPr/>
        </p:nvPicPr>
        <p:blipFill>
          <a:blip r:embed="rId3"/>
          <a:stretch>
            <a:fillRect/>
          </a:stretch>
        </p:blipFill>
        <p:spPr>
          <a:xfrm>
            <a:off x="5220072" y="4229525"/>
            <a:ext cx="2733675" cy="2657475"/>
          </a:xfrm>
          <a:prstGeom prst="rect">
            <a:avLst/>
          </a:prstGeom>
        </p:spPr>
      </p:pic>
    </p:spTree>
    <p:extLst>
      <p:ext uri="{BB962C8B-B14F-4D97-AF65-F5344CB8AC3E}">
        <p14:creationId xmlns:p14="http://schemas.microsoft.com/office/powerpoint/2010/main" val="3150135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7073"/>
            <a:ext cx="9089441" cy="620688"/>
          </a:xfrm>
        </p:spPr>
        <p:txBody>
          <a:bodyPr>
            <a:noAutofit/>
          </a:bodyPr>
          <a:lstStyle/>
          <a:p>
            <a:pPr algn="l"/>
            <a:br>
              <a:rPr lang="en-US" sz="2000" dirty="0"/>
            </a:br>
            <a:r>
              <a:rPr lang="ru-RU" sz="2000" b="1" dirty="0"/>
              <a:t>Уровень изоляции </a:t>
            </a:r>
            <a:r>
              <a:rPr lang="en-US" sz="2000" b="1" dirty="0"/>
              <a:t>READ COMMITTED</a:t>
            </a:r>
            <a:r>
              <a:rPr lang="ru-RU" sz="2000" b="1" dirty="0"/>
              <a:t>. </a:t>
            </a:r>
            <a:br>
              <a:rPr lang="en-US" sz="2000" dirty="0"/>
            </a:br>
            <a:r>
              <a:rPr lang="ru-RU" sz="2000" dirty="0"/>
              <a:t>Проблема: неповторяющееся чтение (</a:t>
            </a:r>
            <a:r>
              <a:rPr lang="ru-RU" sz="2000" dirty="0" err="1"/>
              <a:t>non-repeatable</a:t>
            </a:r>
            <a:r>
              <a:rPr lang="ru-RU" sz="2000" dirty="0"/>
              <a:t> </a:t>
            </a:r>
            <a:r>
              <a:rPr lang="ru-RU" sz="2000" dirty="0" err="1"/>
              <a:t>read</a:t>
            </a:r>
            <a:r>
              <a:rPr lang="ru-RU" sz="2000" dirty="0"/>
              <a:t>)</a:t>
            </a:r>
            <a:br>
              <a:rPr lang="ru-RU" sz="2400" dirty="0"/>
            </a:br>
            <a:endParaRPr lang="ru-RU" sz="24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15</a:t>
            </a:fld>
            <a:endParaRPr lang="ru-RU" dirty="0"/>
          </a:p>
        </p:txBody>
      </p:sp>
      <p:sp>
        <p:nvSpPr>
          <p:cNvPr id="6" name="Стрелка вправо 5"/>
          <p:cNvSpPr/>
          <p:nvPr/>
        </p:nvSpPr>
        <p:spPr>
          <a:xfrm>
            <a:off x="3529686" y="2703867"/>
            <a:ext cx="1275107" cy="570967"/>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Рисунок 10"/>
          <p:cNvPicPr>
            <a:picLocks noChangeAspect="1"/>
          </p:cNvPicPr>
          <p:nvPr/>
        </p:nvPicPr>
        <p:blipFill rotWithShape="1">
          <a:blip r:embed="rId2"/>
          <a:srcRect r="-2568" b="20494"/>
          <a:stretch/>
        </p:blipFill>
        <p:spPr>
          <a:xfrm>
            <a:off x="2948701" y="627761"/>
            <a:ext cx="2876211" cy="955505"/>
          </a:xfrm>
          <a:prstGeom prst="rect">
            <a:avLst/>
          </a:prstGeom>
        </p:spPr>
      </p:pic>
      <p:sp>
        <p:nvSpPr>
          <p:cNvPr id="12" name="TextBox 11"/>
          <p:cNvSpPr txBox="1"/>
          <p:nvPr/>
        </p:nvSpPr>
        <p:spPr>
          <a:xfrm>
            <a:off x="1499348" y="1455336"/>
            <a:ext cx="6090743" cy="784830"/>
          </a:xfrm>
          <a:prstGeom prst="rect">
            <a:avLst/>
          </a:prstGeom>
          <a:noFill/>
        </p:spPr>
        <p:txBody>
          <a:bodyPr wrap="square" rtlCol="0">
            <a:spAutoFit/>
          </a:bodyPr>
          <a:lstStyle/>
          <a:p>
            <a:pPr>
              <a:lnSpc>
                <a:spcPct val="150000"/>
              </a:lnSpc>
            </a:pPr>
            <a:r>
              <a:rPr lang="ru-RU" b="1" dirty="0"/>
              <a:t>SET TRANSACTION ISOLATION LEVEL </a:t>
            </a:r>
            <a:r>
              <a:rPr lang="en-US" b="1" dirty="0">
                <a:solidFill>
                  <a:srgbClr val="FFC000"/>
                </a:solidFill>
              </a:rPr>
              <a:t>READ COMMITTED</a:t>
            </a:r>
            <a:endParaRPr lang="ru-RU" b="1" dirty="0">
              <a:solidFill>
                <a:srgbClr val="FFC000"/>
              </a:solidFill>
            </a:endParaRPr>
          </a:p>
          <a:p>
            <a:endParaRPr lang="ru-RU" dirty="0"/>
          </a:p>
        </p:txBody>
      </p:sp>
      <p:sp>
        <p:nvSpPr>
          <p:cNvPr id="13" name="Стрелка вправо 12"/>
          <p:cNvSpPr/>
          <p:nvPr/>
        </p:nvSpPr>
        <p:spPr>
          <a:xfrm rot="8292143">
            <a:off x="3235165" y="4553638"/>
            <a:ext cx="1864150" cy="570967"/>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p:cNvPicPr>
            <a:picLocks noChangeAspect="1"/>
          </p:cNvPicPr>
          <p:nvPr/>
        </p:nvPicPr>
        <p:blipFill>
          <a:blip r:embed="rId3"/>
          <a:stretch>
            <a:fillRect/>
          </a:stretch>
        </p:blipFill>
        <p:spPr>
          <a:xfrm>
            <a:off x="5140713" y="2384762"/>
            <a:ext cx="3457575" cy="1981200"/>
          </a:xfrm>
          <a:prstGeom prst="rect">
            <a:avLst/>
          </a:prstGeom>
        </p:spPr>
      </p:pic>
      <p:pic>
        <p:nvPicPr>
          <p:cNvPr id="5" name="Рисунок 4"/>
          <p:cNvPicPr>
            <a:picLocks noChangeAspect="1"/>
          </p:cNvPicPr>
          <p:nvPr/>
        </p:nvPicPr>
        <p:blipFill>
          <a:blip r:embed="rId4"/>
          <a:stretch>
            <a:fillRect/>
          </a:stretch>
        </p:blipFill>
        <p:spPr>
          <a:xfrm>
            <a:off x="338255" y="1847751"/>
            <a:ext cx="2828726" cy="2410098"/>
          </a:xfrm>
          <a:prstGeom prst="rect">
            <a:avLst/>
          </a:prstGeom>
        </p:spPr>
      </p:pic>
      <p:pic>
        <p:nvPicPr>
          <p:cNvPr id="8" name="Рисунок 7"/>
          <p:cNvPicPr>
            <a:picLocks noChangeAspect="1"/>
          </p:cNvPicPr>
          <p:nvPr/>
        </p:nvPicPr>
        <p:blipFill>
          <a:blip r:embed="rId5"/>
          <a:stretch>
            <a:fillRect/>
          </a:stretch>
        </p:blipFill>
        <p:spPr>
          <a:xfrm>
            <a:off x="307186" y="4315591"/>
            <a:ext cx="2813999" cy="2476560"/>
          </a:xfrm>
          <a:prstGeom prst="rect">
            <a:avLst/>
          </a:prstGeom>
        </p:spPr>
      </p:pic>
    </p:spTree>
    <p:extLst>
      <p:ext uri="{BB962C8B-B14F-4D97-AF65-F5344CB8AC3E}">
        <p14:creationId xmlns:p14="http://schemas.microsoft.com/office/powerpoint/2010/main" val="1343743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199" y="-13658"/>
            <a:ext cx="7859216" cy="620688"/>
          </a:xfrm>
        </p:spPr>
        <p:txBody>
          <a:bodyPr>
            <a:noAutofit/>
          </a:bodyPr>
          <a:lstStyle/>
          <a:p>
            <a:r>
              <a:rPr lang="ru-RU" sz="2800" dirty="0"/>
              <a:t>Уровень изоляции </a:t>
            </a:r>
            <a:r>
              <a:rPr lang="en-US" sz="2800" dirty="0">
                <a:solidFill>
                  <a:schemeClr val="dk1"/>
                </a:solidFill>
              </a:rPr>
              <a:t>REPEATABLE READ</a:t>
            </a:r>
            <a:endParaRPr lang="ru-RU" sz="28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16</a:t>
            </a:fld>
            <a:endParaRPr lang="ru-RU" dirty="0"/>
          </a:p>
        </p:txBody>
      </p:sp>
      <p:pic>
        <p:nvPicPr>
          <p:cNvPr id="11" name="Рисунок 10"/>
          <p:cNvPicPr>
            <a:picLocks noChangeAspect="1"/>
          </p:cNvPicPr>
          <p:nvPr/>
        </p:nvPicPr>
        <p:blipFill rotWithShape="1">
          <a:blip r:embed="rId2"/>
          <a:srcRect r="-2568" b="20494"/>
          <a:stretch/>
        </p:blipFill>
        <p:spPr>
          <a:xfrm>
            <a:off x="2909420" y="822393"/>
            <a:ext cx="2876211" cy="955505"/>
          </a:xfrm>
          <a:prstGeom prst="rect">
            <a:avLst/>
          </a:prstGeom>
        </p:spPr>
      </p:pic>
      <p:sp>
        <p:nvSpPr>
          <p:cNvPr id="12" name="TextBox 11"/>
          <p:cNvSpPr txBox="1"/>
          <p:nvPr/>
        </p:nvSpPr>
        <p:spPr>
          <a:xfrm>
            <a:off x="1479316" y="1866099"/>
            <a:ext cx="6090743" cy="784830"/>
          </a:xfrm>
          <a:prstGeom prst="rect">
            <a:avLst/>
          </a:prstGeom>
          <a:noFill/>
        </p:spPr>
        <p:txBody>
          <a:bodyPr wrap="square" rtlCol="0">
            <a:spAutoFit/>
          </a:bodyPr>
          <a:lstStyle/>
          <a:p>
            <a:pPr>
              <a:lnSpc>
                <a:spcPct val="150000"/>
              </a:lnSpc>
            </a:pPr>
            <a:r>
              <a:rPr lang="ru-RU" b="1" dirty="0"/>
              <a:t>SET TRANSACTION ISOLATION LEVEL </a:t>
            </a:r>
            <a:r>
              <a:rPr lang="en-US" dirty="0">
                <a:solidFill>
                  <a:schemeClr val="tx2">
                    <a:lumMod val="60000"/>
                    <a:lumOff val="40000"/>
                  </a:schemeClr>
                </a:solidFill>
              </a:rPr>
              <a:t>REPEATABLE READ</a:t>
            </a:r>
            <a:endParaRPr lang="ru-RU" b="1" dirty="0">
              <a:solidFill>
                <a:schemeClr val="tx2">
                  <a:lumMod val="60000"/>
                  <a:lumOff val="40000"/>
                </a:schemeClr>
              </a:solidFill>
            </a:endParaRPr>
          </a:p>
          <a:p>
            <a:endParaRPr lang="ru-RU" dirty="0"/>
          </a:p>
        </p:txBody>
      </p:sp>
      <p:pic>
        <p:nvPicPr>
          <p:cNvPr id="9" name="Рисунок 8"/>
          <p:cNvPicPr>
            <a:picLocks noChangeAspect="1"/>
          </p:cNvPicPr>
          <p:nvPr/>
        </p:nvPicPr>
        <p:blipFill>
          <a:blip r:embed="rId3"/>
          <a:stretch>
            <a:fillRect/>
          </a:stretch>
        </p:blipFill>
        <p:spPr>
          <a:xfrm>
            <a:off x="379811" y="2852936"/>
            <a:ext cx="2828726" cy="2410098"/>
          </a:xfrm>
          <a:prstGeom prst="rect">
            <a:avLst/>
          </a:prstGeom>
        </p:spPr>
      </p:pic>
      <p:pic>
        <p:nvPicPr>
          <p:cNvPr id="4" name="Рисунок 3"/>
          <p:cNvPicPr>
            <a:picLocks noChangeAspect="1"/>
          </p:cNvPicPr>
          <p:nvPr/>
        </p:nvPicPr>
        <p:blipFill>
          <a:blip r:embed="rId4"/>
          <a:stretch>
            <a:fillRect/>
          </a:stretch>
        </p:blipFill>
        <p:spPr>
          <a:xfrm>
            <a:off x="4786667" y="2742286"/>
            <a:ext cx="4207016" cy="2335423"/>
          </a:xfrm>
          <a:prstGeom prst="rect">
            <a:avLst/>
          </a:prstGeom>
        </p:spPr>
      </p:pic>
      <p:sp>
        <p:nvSpPr>
          <p:cNvPr id="6" name="Стрелка вправо 5"/>
          <p:cNvSpPr/>
          <p:nvPr/>
        </p:nvSpPr>
        <p:spPr>
          <a:xfrm rot="2529711">
            <a:off x="2772266" y="3996025"/>
            <a:ext cx="2168072" cy="427091"/>
          </a:xfrm>
          <a:prstGeom prst="rightArrow">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958521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7611" y="61585"/>
            <a:ext cx="8373069" cy="620688"/>
          </a:xfrm>
        </p:spPr>
        <p:txBody>
          <a:bodyPr>
            <a:noAutofit/>
          </a:bodyPr>
          <a:lstStyle/>
          <a:p>
            <a:pPr algn="l">
              <a:spcBef>
                <a:spcPts val="0"/>
              </a:spcBef>
              <a:defRPr/>
            </a:pPr>
            <a:r>
              <a:rPr lang="ru-RU" sz="2000" b="1" dirty="0"/>
              <a:t>Уровень изоляции </a:t>
            </a:r>
            <a:r>
              <a:rPr lang="en-US" sz="2000" b="1" dirty="0">
                <a:solidFill>
                  <a:schemeClr val="dk1"/>
                </a:solidFill>
              </a:rPr>
              <a:t>REPEATABLE READ</a:t>
            </a:r>
            <a:r>
              <a:rPr lang="ru-RU" sz="2000" b="1" dirty="0">
                <a:solidFill>
                  <a:schemeClr val="dk1"/>
                </a:solidFill>
              </a:rPr>
              <a:t>. </a:t>
            </a:r>
            <a:br>
              <a:rPr lang="en-US" sz="2000" dirty="0">
                <a:solidFill>
                  <a:schemeClr val="dk1"/>
                </a:solidFill>
              </a:rPr>
            </a:br>
            <a:r>
              <a:rPr lang="ru-RU" sz="2000" dirty="0">
                <a:solidFill>
                  <a:schemeClr val="dk1"/>
                </a:solidFill>
              </a:rPr>
              <a:t>Проблема: ф</a:t>
            </a:r>
            <a:r>
              <a:rPr lang="ru-RU" sz="2000" dirty="0"/>
              <a:t>антомное чтение (</a:t>
            </a:r>
            <a:r>
              <a:rPr lang="ru-RU" sz="2000" dirty="0" err="1"/>
              <a:t>phantom</a:t>
            </a:r>
            <a:r>
              <a:rPr lang="ru-RU" sz="2000" dirty="0"/>
              <a:t> </a:t>
            </a:r>
            <a:r>
              <a:rPr lang="ru-RU" sz="2000" dirty="0" err="1"/>
              <a:t>reads</a:t>
            </a:r>
            <a:r>
              <a:rPr lang="ru-RU" sz="2000" dirty="0"/>
              <a:t>)</a:t>
            </a:r>
            <a:r>
              <a:rPr lang="ru-RU" sz="2000" dirty="0">
                <a:solidFill>
                  <a:schemeClr val="dk1"/>
                </a:solidFill>
              </a:rPr>
              <a:t> </a:t>
            </a:r>
            <a:endParaRPr lang="ru-RU" sz="20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17</a:t>
            </a:fld>
            <a:endParaRPr lang="ru-RU" dirty="0"/>
          </a:p>
        </p:txBody>
      </p:sp>
      <p:sp>
        <p:nvSpPr>
          <p:cNvPr id="6" name="Стрелка вправо 5"/>
          <p:cNvSpPr/>
          <p:nvPr/>
        </p:nvSpPr>
        <p:spPr>
          <a:xfrm>
            <a:off x="3470404" y="2564025"/>
            <a:ext cx="1362979" cy="505718"/>
          </a:xfrm>
          <a:prstGeom prst="rightArrow">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Рисунок 10"/>
          <p:cNvPicPr>
            <a:picLocks noChangeAspect="1"/>
          </p:cNvPicPr>
          <p:nvPr/>
        </p:nvPicPr>
        <p:blipFill rotWithShape="1">
          <a:blip r:embed="rId2"/>
          <a:srcRect r="-2568" b="20494"/>
          <a:stretch/>
        </p:blipFill>
        <p:spPr>
          <a:xfrm>
            <a:off x="2987824" y="751138"/>
            <a:ext cx="2876211" cy="955505"/>
          </a:xfrm>
          <a:prstGeom prst="rect">
            <a:avLst/>
          </a:prstGeom>
        </p:spPr>
      </p:pic>
      <p:sp>
        <p:nvSpPr>
          <p:cNvPr id="12" name="TextBox 11"/>
          <p:cNvSpPr txBox="1"/>
          <p:nvPr/>
        </p:nvSpPr>
        <p:spPr>
          <a:xfrm>
            <a:off x="1258773" y="1608520"/>
            <a:ext cx="6090743" cy="784830"/>
          </a:xfrm>
          <a:prstGeom prst="rect">
            <a:avLst/>
          </a:prstGeom>
          <a:noFill/>
        </p:spPr>
        <p:txBody>
          <a:bodyPr wrap="square" rtlCol="0">
            <a:spAutoFit/>
          </a:bodyPr>
          <a:lstStyle/>
          <a:p>
            <a:pPr>
              <a:lnSpc>
                <a:spcPct val="150000"/>
              </a:lnSpc>
            </a:pPr>
            <a:r>
              <a:rPr lang="ru-RU" b="1" dirty="0"/>
              <a:t>SET TRANSACTION ISOLATION LEVEL </a:t>
            </a:r>
            <a:r>
              <a:rPr lang="en-US" dirty="0">
                <a:solidFill>
                  <a:schemeClr val="tx2">
                    <a:lumMod val="60000"/>
                    <a:lumOff val="40000"/>
                  </a:schemeClr>
                </a:solidFill>
              </a:rPr>
              <a:t>REPEATABLE READ</a:t>
            </a:r>
            <a:endParaRPr lang="ru-RU" b="1" dirty="0">
              <a:solidFill>
                <a:schemeClr val="tx2">
                  <a:lumMod val="60000"/>
                  <a:lumOff val="40000"/>
                </a:schemeClr>
              </a:solidFill>
            </a:endParaRPr>
          </a:p>
          <a:p>
            <a:endParaRPr lang="ru-RU" dirty="0"/>
          </a:p>
        </p:txBody>
      </p:sp>
      <p:pic>
        <p:nvPicPr>
          <p:cNvPr id="15" name="Рисунок 14"/>
          <p:cNvPicPr>
            <a:picLocks noChangeAspect="1"/>
          </p:cNvPicPr>
          <p:nvPr/>
        </p:nvPicPr>
        <p:blipFill>
          <a:blip r:embed="rId3"/>
          <a:stretch>
            <a:fillRect/>
          </a:stretch>
        </p:blipFill>
        <p:spPr>
          <a:xfrm>
            <a:off x="222355" y="2096814"/>
            <a:ext cx="3193149" cy="2208414"/>
          </a:xfrm>
          <a:prstGeom prst="rect">
            <a:avLst/>
          </a:prstGeom>
        </p:spPr>
      </p:pic>
      <p:pic>
        <p:nvPicPr>
          <p:cNvPr id="16" name="Рисунок 15"/>
          <p:cNvPicPr>
            <a:picLocks noChangeAspect="1"/>
          </p:cNvPicPr>
          <p:nvPr/>
        </p:nvPicPr>
        <p:blipFill>
          <a:blip r:embed="rId4"/>
          <a:stretch>
            <a:fillRect/>
          </a:stretch>
        </p:blipFill>
        <p:spPr>
          <a:xfrm>
            <a:off x="4888283" y="2439306"/>
            <a:ext cx="3194099" cy="1760582"/>
          </a:xfrm>
          <a:prstGeom prst="rect">
            <a:avLst/>
          </a:prstGeom>
        </p:spPr>
      </p:pic>
      <p:sp>
        <p:nvSpPr>
          <p:cNvPr id="13" name="Стрелка вправо 12"/>
          <p:cNvSpPr/>
          <p:nvPr/>
        </p:nvSpPr>
        <p:spPr>
          <a:xfrm rot="8772073">
            <a:off x="3862087" y="4345055"/>
            <a:ext cx="1362979" cy="505718"/>
          </a:xfrm>
          <a:prstGeom prst="rightArrow">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7" name="Рисунок 16"/>
          <p:cNvPicPr>
            <a:picLocks noChangeAspect="1"/>
          </p:cNvPicPr>
          <p:nvPr/>
        </p:nvPicPr>
        <p:blipFill>
          <a:blip r:embed="rId5"/>
          <a:stretch>
            <a:fillRect/>
          </a:stretch>
        </p:blipFill>
        <p:spPr>
          <a:xfrm>
            <a:off x="182455" y="4597914"/>
            <a:ext cx="3443598" cy="2405173"/>
          </a:xfrm>
          <a:prstGeom prst="rect">
            <a:avLst/>
          </a:prstGeom>
        </p:spPr>
      </p:pic>
    </p:spTree>
    <p:extLst>
      <p:ext uri="{BB962C8B-B14F-4D97-AF65-F5344CB8AC3E}">
        <p14:creationId xmlns:p14="http://schemas.microsoft.com/office/powerpoint/2010/main" val="3980252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94340"/>
            <a:ext cx="8373069" cy="620688"/>
          </a:xfrm>
        </p:spPr>
        <p:txBody>
          <a:bodyPr>
            <a:noAutofit/>
          </a:bodyPr>
          <a:lstStyle/>
          <a:p>
            <a:pPr>
              <a:spcBef>
                <a:spcPts val="0"/>
              </a:spcBef>
              <a:defRPr/>
            </a:pPr>
            <a:r>
              <a:rPr lang="ru-RU" sz="2400" dirty="0"/>
              <a:t>Уровень изоляции </a:t>
            </a:r>
            <a:r>
              <a:rPr lang="en-US" sz="2800" dirty="0">
                <a:solidFill>
                  <a:schemeClr val="dk1"/>
                </a:solidFill>
              </a:rPr>
              <a:t>SERIALIZABLE</a:t>
            </a:r>
            <a:endParaRPr lang="ru-RU" sz="2800" dirty="0"/>
          </a:p>
        </p:txBody>
      </p:sp>
      <p:sp>
        <p:nvSpPr>
          <p:cNvPr id="3" name="Номер слайда 2"/>
          <p:cNvSpPr>
            <a:spLocks noGrp="1"/>
          </p:cNvSpPr>
          <p:nvPr>
            <p:ph type="sldNum" sz="quarter" idx="12"/>
          </p:nvPr>
        </p:nvSpPr>
        <p:spPr>
          <a:xfrm>
            <a:off x="6991337" y="6492875"/>
            <a:ext cx="2133600" cy="365125"/>
          </a:xfrm>
        </p:spPr>
        <p:txBody>
          <a:bodyPr/>
          <a:lstStyle/>
          <a:p>
            <a:fld id="{1F87023B-4310-42C4-812D-874FAF4871B2}" type="slidenum">
              <a:rPr lang="ru-RU" smtClean="0"/>
              <a:pPr/>
              <a:t>18</a:t>
            </a:fld>
            <a:endParaRPr lang="ru-RU" dirty="0"/>
          </a:p>
        </p:txBody>
      </p:sp>
      <p:sp>
        <p:nvSpPr>
          <p:cNvPr id="12" name="TextBox 11"/>
          <p:cNvSpPr txBox="1"/>
          <p:nvPr/>
        </p:nvSpPr>
        <p:spPr>
          <a:xfrm>
            <a:off x="1547664" y="2508354"/>
            <a:ext cx="6090743" cy="646331"/>
          </a:xfrm>
          <a:prstGeom prst="rect">
            <a:avLst/>
          </a:prstGeom>
          <a:noFill/>
        </p:spPr>
        <p:txBody>
          <a:bodyPr wrap="square" rtlCol="0">
            <a:spAutoFit/>
          </a:bodyPr>
          <a:lstStyle/>
          <a:p>
            <a:r>
              <a:rPr lang="ru-RU" b="1" dirty="0"/>
              <a:t>SET TRANSACTION ISOLATION LEVEL </a:t>
            </a:r>
            <a:r>
              <a:rPr lang="en-US" dirty="0">
                <a:solidFill>
                  <a:schemeClr val="accent4">
                    <a:lumMod val="75000"/>
                  </a:schemeClr>
                </a:solidFill>
              </a:rPr>
              <a:t>SERIALIZABLE</a:t>
            </a:r>
            <a:endParaRPr lang="ru-RU" dirty="0">
              <a:solidFill>
                <a:schemeClr val="accent4">
                  <a:lumMod val="75000"/>
                </a:schemeClr>
              </a:solidFill>
            </a:endParaRPr>
          </a:p>
          <a:p>
            <a:endParaRPr lang="ru-RU" dirty="0"/>
          </a:p>
        </p:txBody>
      </p:sp>
      <p:pic>
        <p:nvPicPr>
          <p:cNvPr id="8" name="Рисунок 7"/>
          <p:cNvPicPr>
            <a:picLocks noChangeAspect="1"/>
          </p:cNvPicPr>
          <p:nvPr/>
        </p:nvPicPr>
        <p:blipFill>
          <a:blip r:embed="rId2"/>
          <a:stretch>
            <a:fillRect/>
          </a:stretch>
        </p:blipFill>
        <p:spPr>
          <a:xfrm>
            <a:off x="2975140" y="1102695"/>
            <a:ext cx="2520280" cy="1183436"/>
          </a:xfrm>
          <a:prstGeom prst="rect">
            <a:avLst/>
          </a:prstGeom>
        </p:spPr>
      </p:pic>
      <p:pic>
        <p:nvPicPr>
          <p:cNvPr id="5" name="Рисунок 4"/>
          <p:cNvPicPr>
            <a:picLocks noChangeAspect="1"/>
          </p:cNvPicPr>
          <p:nvPr/>
        </p:nvPicPr>
        <p:blipFill>
          <a:blip r:embed="rId3"/>
          <a:stretch>
            <a:fillRect/>
          </a:stretch>
        </p:blipFill>
        <p:spPr>
          <a:xfrm>
            <a:off x="469419" y="3186330"/>
            <a:ext cx="3320206" cy="2429610"/>
          </a:xfrm>
          <a:prstGeom prst="rect">
            <a:avLst/>
          </a:prstGeom>
        </p:spPr>
      </p:pic>
      <p:pic>
        <p:nvPicPr>
          <p:cNvPr id="7" name="Рисунок 6"/>
          <p:cNvPicPr>
            <a:picLocks noChangeAspect="1"/>
          </p:cNvPicPr>
          <p:nvPr/>
        </p:nvPicPr>
        <p:blipFill>
          <a:blip r:embed="rId4"/>
          <a:stretch>
            <a:fillRect/>
          </a:stretch>
        </p:blipFill>
        <p:spPr>
          <a:xfrm>
            <a:off x="5297524" y="3154685"/>
            <a:ext cx="3523037" cy="2224659"/>
          </a:xfrm>
          <a:prstGeom prst="rect">
            <a:avLst/>
          </a:prstGeom>
        </p:spPr>
      </p:pic>
      <p:sp>
        <p:nvSpPr>
          <p:cNvPr id="6" name="Стрелка вправо 5"/>
          <p:cNvSpPr/>
          <p:nvPr/>
        </p:nvSpPr>
        <p:spPr>
          <a:xfrm rot="2102868">
            <a:off x="3253869" y="4206357"/>
            <a:ext cx="2161136" cy="505718"/>
          </a:xfrm>
          <a:prstGeom prst="rightArrow">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4">
                  <a:lumMod val="75000"/>
                </a:schemeClr>
              </a:solidFill>
            </a:endParaRPr>
          </a:p>
        </p:txBody>
      </p:sp>
    </p:spTree>
    <p:extLst>
      <p:ext uri="{BB962C8B-B14F-4D97-AF65-F5344CB8AC3E}">
        <p14:creationId xmlns:p14="http://schemas.microsoft.com/office/powerpoint/2010/main" val="313002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09720" y="218677"/>
            <a:ext cx="8229600" cy="692696"/>
          </a:xfrm>
        </p:spPr>
        <p:txBody>
          <a:bodyPr>
            <a:normAutofit fontScale="90000"/>
          </a:bodyPr>
          <a:lstStyle/>
          <a:p>
            <a:r>
              <a:rPr lang="ru-RU" dirty="0"/>
              <a:t>Проблемы одновременного доступа</a:t>
            </a:r>
          </a:p>
        </p:txBody>
      </p:sp>
      <p:sp>
        <p:nvSpPr>
          <p:cNvPr id="3" name="Номер слайда 2"/>
          <p:cNvSpPr>
            <a:spLocks noGrp="1"/>
          </p:cNvSpPr>
          <p:nvPr>
            <p:ph type="sldNum" sz="quarter" idx="12"/>
          </p:nvPr>
        </p:nvSpPr>
        <p:spPr/>
        <p:txBody>
          <a:bodyPr/>
          <a:lstStyle/>
          <a:p>
            <a:fld id="{1F87023B-4310-42C4-812D-874FAF4871B2}" type="slidenum">
              <a:rPr lang="ru-RU" smtClean="0"/>
              <a:pPr/>
              <a:t>19</a:t>
            </a:fld>
            <a:endParaRPr lang="ru-RU"/>
          </a:p>
        </p:txBody>
      </p:sp>
      <p:graphicFrame>
        <p:nvGraphicFramePr>
          <p:cNvPr id="7" name="Таблица 6"/>
          <p:cNvGraphicFramePr>
            <a:graphicFrameLocks noGrp="1"/>
          </p:cNvGraphicFramePr>
          <p:nvPr>
            <p:extLst>
              <p:ext uri="{D42A27DB-BD31-4B8C-83A1-F6EECF244321}">
                <p14:modId xmlns:p14="http://schemas.microsoft.com/office/powerpoint/2010/main" val="2660168778"/>
              </p:ext>
            </p:extLst>
          </p:nvPr>
        </p:nvGraphicFramePr>
        <p:xfrm>
          <a:off x="1250786" y="2509108"/>
          <a:ext cx="7436013" cy="2677160"/>
        </p:xfrm>
        <a:graphic>
          <a:graphicData uri="http://schemas.openxmlformats.org/drawingml/2006/table">
            <a:tbl>
              <a:tblPr firstRow="1" bandRow="1">
                <a:tableStyleId>{F5AB1C69-6EDB-4FF4-983F-18BD219EF322}</a:tableStyleId>
              </a:tblPr>
              <a:tblGrid>
                <a:gridCol w="2332867">
                  <a:extLst>
                    <a:ext uri="{9D8B030D-6E8A-4147-A177-3AD203B41FA5}">
                      <a16:colId xmlns:a16="http://schemas.microsoft.com/office/drawing/2014/main" val="1160647772"/>
                    </a:ext>
                  </a:extLst>
                </a:gridCol>
                <a:gridCol w="1214713">
                  <a:extLst>
                    <a:ext uri="{9D8B030D-6E8A-4147-A177-3AD203B41FA5}">
                      <a16:colId xmlns:a16="http://schemas.microsoft.com/office/drawing/2014/main" val="249269029"/>
                    </a:ext>
                  </a:extLst>
                </a:gridCol>
                <a:gridCol w="2088232">
                  <a:extLst>
                    <a:ext uri="{9D8B030D-6E8A-4147-A177-3AD203B41FA5}">
                      <a16:colId xmlns:a16="http://schemas.microsoft.com/office/drawing/2014/main" val="3425331721"/>
                    </a:ext>
                  </a:extLst>
                </a:gridCol>
                <a:gridCol w="1800201">
                  <a:extLst>
                    <a:ext uri="{9D8B030D-6E8A-4147-A177-3AD203B41FA5}">
                      <a16:colId xmlns:a16="http://schemas.microsoft.com/office/drawing/2014/main" val="1114546078"/>
                    </a:ext>
                  </a:extLst>
                </a:gridCol>
              </a:tblGrid>
              <a:tr h="370840">
                <a:tc rowSpan="2">
                  <a:txBody>
                    <a:bodyPr/>
                    <a:lstStyle/>
                    <a:p>
                      <a:pPr algn="ctr"/>
                      <a:r>
                        <a:rPr lang="ru-RU" sz="1800" dirty="0"/>
                        <a:t>Уровни изоляции</a:t>
                      </a:r>
                    </a:p>
                  </a:txBody>
                  <a:tcPr anchor="ctr"/>
                </a:tc>
                <a:tc gridSpan="3">
                  <a:txBody>
                    <a:bodyPr/>
                    <a:lstStyle/>
                    <a:p>
                      <a:pPr algn="ctr"/>
                      <a:r>
                        <a:rPr lang="ru-RU" dirty="0"/>
                        <a:t>Возникающие проблемы</a:t>
                      </a:r>
                    </a:p>
                  </a:txBody>
                  <a:tcPr anchor="ct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2489492152"/>
                  </a:ext>
                </a:extLst>
              </a:tr>
              <a:tr h="370840">
                <a:tc vMerge="1">
                  <a:txBody>
                    <a:bodyPr/>
                    <a:lstStyle/>
                    <a:p>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t>«Грязное» чтение </a:t>
                      </a:r>
                    </a:p>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t>(</a:t>
                      </a:r>
                      <a:r>
                        <a:rPr lang="ru-RU" sz="1600" dirty="0" err="1"/>
                        <a:t>dirty</a:t>
                      </a:r>
                      <a:r>
                        <a:rPr lang="ru-RU" sz="1600" dirty="0"/>
                        <a:t> </a:t>
                      </a:r>
                      <a:r>
                        <a:rPr lang="ru-RU" sz="1600" dirty="0" err="1"/>
                        <a:t>read</a:t>
                      </a:r>
                      <a:r>
                        <a:rPr lang="ru-RU" sz="1600" dirty="0"/>
                        <a: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t>Неповторяющееся чтение (</a:t>
                      </a:r>
                      <a:r>
                        <a:rPr lang="ru-RU" sz="1600" dirty="0" err="1"/>
                        <a:t>non-repeatable</a:t>
                      </a:r>
                      <a:r>
                        <a:rPr lang="ru-RU" sz="1600" dirty="0"/>
                        <a:t> </a:t>
                      </a:r>
                      <a:r>
                        <a:rPr lang="ru-RU" sz="1600" dirty="0" err="1"/>
                        <a:t>read</a:t>
                      </a:r>
                      <a:r>
                        <a:rPr lang="ru-RU" sz="1600" dirty="0"/>
                        <a: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t>Фантомное чтение </a:t>
                      </a:r>
                    </a:p>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t>(</a:t>
                      </a:r>
                      <a:r>
                        <a:rPr lang="ru-RU" sz="1600" dirty="0" err="1"/>
                        <a:t>phantom</a:t>
                      </a:r>
                      <a:r>
                        <a:rPr lang="ru-RU" sz="1600" dirty="0"/>
                        <a:t> </a:t>
                      </a:r>
                      <a:r>
                        <a:rPr lang="ru-RU" sz="1600" dirty="0" err="1"/>
                        <a:t>reads</a:t>
                      </a:r>
                      <a:r>
                        <a:rPr lang="ru-RU" sz="1600" dirty="0"/>
                        <a:t>)</a:t>
                      </a:r>
                    </a:p>
                  </a:txBody>
                  <a:tcPr anchor="ctr"/>
                </a:tc>
                <a:extLst>
                  <a:ext uri="{0D108BD9-81ED-4DB2-BD59-A6C34878D82A}">
                    <a16:rowId xmlns:a16="http://schemas.microsoft.com/office/drawing/2014/main" val="3024387533"/>
                  </a:ext>
                </a:extLst>
              </a:tr>
              <a:tr h="370840">
                <a:tc>
                  <a:txBody>
                    <a:bodyPr/>
                    <a:lstStyle/>
                    <a:p>
                      <a:r>
                        <a:rPr lang="en-US" sz="1800" b="0" i="0" kern="1200" dirty="0">
                          <a:solidFill>
                            <a:schemeClr val="dk1"/>
                          </a:solidFill>
                          <a:effectLst/>
                          <a:latin typeface="+mn-lt"/>
                          <a:ea typeface="+mn-ea"/>
                          <a:cs typeface="+mn-cs"/>
                        </a:rPr>
                        <a:t>READ UNCOMMITTED</a:t>
                      </a:r>
                      <a:endParaRPr lang="ru-RU" dirty="0"/>
                    </a:p>
                  </a:txBody>
                  <a:tcPr/>
                </a:tc>
                <a:tc>
                  <a:txBody>
                    <a:bodyPr/>
                    <a:lstStyle/>
                    <a:p>
                      <a:r>
                        <a:rPr lang="ru-RU" dirty="0"/>
                        <a:t>+</a:t>
                      </a:r>
                    </a:p>
                  </a:txBody>
                  <a:tcPr/>
                </a:tc>
                <a:tc>
                  <a:txBody>
                    <a:bodyPr/>
                    <a:lstStyle/>
                    <a:p>
                      <a:r>
                        <a:rPr lang="ru-RU" dirty="0"/>
                        <a:t>+</a:t>
                      </a:r>
                    </a:p>
                  </a:txBody>
                  <a:tcPr/>
                </a:tc>
                <a:tc>
                  <a:txBody>
                    <a:bodyPr/>
                    <a:lstStyle/>
                    <a:p>
                      <a:r>
                        <a:rPr lang="ru-RU" dirty="0"/>
                        <a:t>+</a:t>
                      </a:r>
                    </a:p>
                  </a:txBody>
                  <a:tcPr/>
                </a:tc>
                <a:extLst>
                  <a:ext uri="{0D108BD9-81ED-4DB2-BD59-A6C34878D82A}">
                    <a16:rowId xmlns:a16="http://schemas.microsoft.com/office/drawing/2014/main" val="3457095739"/>
                  </a:ext>
                </a:extLst>
              </a:tr>
              <a:tr h="370840">
                <a:tc>
                  <a:txBody>
                    <a:bodyPr/>
                    <a:lstStyle/>
                    <a:p>
                      <a:r>
                        <a:rPr lang="en-US" sz="1800" b="0" i="0" kern="1200" dirty="0">
                          <a:solidFill>
                            <a:schemeClr val="dk1"/>
                          </a:solidFill>
                          <a:effectLst/>
                          <a:latin typeface="+mn-lt"/>
                          <a:ea typeface="+mn-ea"/>
                          <a:cs typeface="+mn-cs"/>
                        </a:rPr>
                        <a:t>READ COMMITTED</a:t>
                      </a:r>
                      <a:endParaRPr lang="ru-RU" dirty="0"/>
                    </a:p>
                  </a:txBody>
                  <a:tcPr/>
                </a:tc>
                <a:tc>
                  <a:txBody>
                    <a:bodyPr/>
                    <a:lstStyle/>
                    <a:p>
                      <a:endParaRPr lang="ru-RU" dirty="0"/>
                    </a:p>
                  </a:txBody>
                  <a:tcPr/>
                </a:tc>
                <a:tc>
                  <a:txBody>
                    <a:bodyPr/>
                    <a:lstStyle/>
                    <a:p>
                      <a:r>
                        <a:rPr lang="ru-RU" dirty="0"/>
                        <a:t>+</a:t>
                      </a:r>
                    </a:p>
                  </a:txBody>
                  <a:tcPr/>
                </a:tc>
                <a:tc>
                  <a:txBody>
                    <a:bodyPr/>
                    <a:lstStyle/>
                    <a:p>
                      <a:r>
                        <a:rPr lang="ru-RU" dirty="0"/>
                        <a:t>+</a:t>
                      </a:r>
                    </a:p>
                  </a:txBody>
                  <a:tcPr/>
                </a:tc>
                <a:extLst>
                  <a:ext uri="{0D108BD9-81ED-4DB2-BD59-A6C34878D82A}">
                    <a16:rowId xmlns:a16="http://schemas.microsoft.com/office/drawing/2014/main" val="94507507"/>
                  </a:ext>
                </a:extLst>
              </a:tr>
              <a:tr h="370840">
                <a:tc>
                  <a:txBody>
                    <a:bodyPr/>
                    <a:lstStyle/>
                    <a:p>
                      <a:r>
                        <a:rPr lang="en-US" sz="1800" b="0" i="0" kern="1200" dirty="0">
                          <a:solidFill>
                            <a:schemeClr val="dk1"/>
                          </a:solidFill>
                          <a:effectLst/>
                          <a:latin typeface="+mn-lt"/>
                          <a:ea typeface="+mn-ea"/>
                          <a:cs typeface="+mn-cs"/>
                        </a:rPr>
                        <a:t>REPEATABLE READ</a:t>
                      </a:r>
                      <a:endParaRPr lang="ru-RU" dirty="0"/>
                    </a:p>
                  </a:txBody>
                  <a:tcPr/>
                </a:tc>
                <a:tc>
                  <a:txBody>
                    <a:bodyPr/>
                    <a:lstStyle/>
                    <a:p>
                      <a:endParaRPr lang="ru-RU" dirty="0"/>
                    </a:p>
                  </a:txBody>
                  <a:tcPr/>
                </a:tc>
                <a:tc>
                  <a:txBody>
                    <a:bodyPr/>
                    <a:lstStyle/>
                    <a:p>
                      <a:endParaRPr lang="ru-RU" dirty="0"/>
                    </a:p>
                  </a:txBody>
                  <a:tcPr/>
                </a:tc>
                <a:tc>
                  <a:txBody>
                    <a:bodyPr/>
                    <a:lstStyle/>
                    <a:p>
                      <a:r>
                        <a:rPr lang="ru-RU" dirty="0"/>
                        <a:t>+</a:t>
                      </a:r>
                    </a:p>
                  </a:txBody>
                  <a:tcPr/>
                </a:tc>
                <a:extLst>
                  <a:ext uri="{0D108BD9-81ED-4DB2-BD59-A6C34878D82A}">
                    <a16:rowId xmlns:a16="http://schemas.microsoft.com/office/drawing/2014/main" val="1643768164"/>
                  </a:ext>
                </a:extLst>
              </a:tr>
              <a:tr h="370840">
                <a:tc>
                  <a:txBody>
                    <a:bodyPr/>
                    <a:lstStyle/>
                    <a:p>
                      <a:r>
                        <a:rPr lang="en-US" sz="1800" b="0" i="0" kern="1200" dirty="0">
                          <a:solidFill>
                            <a:schemeClr val="dk1"/>
                          </a:solidFill>
                          <a:effectLst/>
                          <a:latin typeface="+mn-lt"/>
                          <a:ea typeface="+mn-ea"/>
                          <a:cs typeface="+mn-cs"/>
                        </a:rPr>
                        <a:t>SERIALIZABLE</a:t>
                      </a:r>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extLst>
                  <a:ext uri="{0D108BD9-81ED-4DB2-BD59-A6C34878D82A}">
                    <a16:rowId xmlns:a16="http://schemas.microsoft.com/office/drawing/2014/main" val="1240106471"/>
                  </a:ext>
                </a:extLst>
              </a:tr>
            </a:tbl>
          </a:graphicData>
        </a:graphic>
      </p:graphicFrame>
      <p:sp>
        <p:nvSpPr>
          <p:cNvPr id="8" name="Прямоугольник 7"/>
          <p:cNvSpPr/>
          <p:nvPr/>
        </p:nvSpPr>
        <p:spPr>
          <a:xfrm>
            <a:off x="409720" y="1393857"/>
            <a:ext cx="8496944" cy="646331"/>
          </a:xfrm>
          <a:prstGeom prst="rect">
            <a:avLst/>
          </a:prstGeom>
        </p:spPr>
        <p:txBody>
          <a:bodyPr wrap="square">
            <a:spAutoFit/>
          </a:bodyPr>
          <a:lstStyle/>
          <a:p>
            <a:r>
              <a:rPr lang="ru-RU" dirty="0"/>
              <a:t>При одновременном изменении данных различными пользователями возможно возникновение следующих проблем:</a:t>
            </a:r>
          </a:p>
        </p:txBody>
      </p:sp>
      <p:sp>
        <p:nvSpPr>
          <p:cNvPr id="11" name="Двойная стрелка вверх/вниз 10"/>
          <p:cNvSpPr/>
          <p:nvPr/>
        </p:nvSpPr>
        <p:spPr>
          <a:xfrm>
            <a:off x="409720" y="3980325"/>
            <a:ext cx="370385" cy="936104"/>
          </a:xfrm>
          <a:prstGeom prst="upDownArrow">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p:cNvSpPr txBox="1"/>
          <p:nvPr/>
        </p:nvSpPr>
        <p:spPr>
          <a:xfrm>
            <a:off x="92347" y="3608247"/>
            <a:ext cx="1074268" cy="369332"/>
          </a:xfrm>
          <a:prstGeom prst="rect">
            <a:avLst/>
          </a:prstGeom>
          <a:noFill/>
        </p:spPr>
        <p:txBody>
          <a:bodyPr wrap="none" rtlCol="0">
            <a:spAutoFit/>
          </a:bodyPr>
          <a:lstStyle/>
          <a:p>
            <a:r>
              <a:rPr lang="ru-RU" dirty="0"/>
              <a:t>Скорость</a:t>
            </a:r>
          </a:p>
        </p:txBody>
      </p:sp>
      <p:sp>
        <p:nvSpPr>
          <p:cNvPr id="14" name="TextBox 13"/>
          <p:cNvSpPr txBox="1"/>
          <p:nvPr/>
        </p:nvSpPr>
        <p:spPr>
          <a:xfrm>
            <a:off x="-94187" y="4915418"/>
            <a:ext cx="1378198" cy="369332"/>
          </a:xfrm>
          <a:prstGeom prst="rect">
            <a:avLst/>
          </a:prstGeom>
          <a:noFill/>
        </p:spPr>
        <p:txBody>
          <a:bodyPr wrap="none" rtlCol="0">
            <a:spAutoFit/>
          </a:bodyPr>
          <a:lstStyle/>
          <a:p>
            <a:r>
              <a:rPr lang="ru-RU" dirty="0"/>
              <a:t>Надежность</a:t>
            </a:r>
          </a:p>
        </p:txBody>
      </p:sp>
    </p:spTree>
    <p:extLst>
      <p:ext uri="{BB962C8B-B14F-4D97-AF65-F5344CB8AC3E}">
        <p14:creationId xmlns:p14="http://schemas.microsoft.com/office/powerpoint/2010/main" val="1334198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476672"/>
          </a:xfrm>
        </p:spPr>
        <p:txBody>
          <a:bodyPr>
            <a:normAutofit fontScale="90000"/>
          </a:bodyPr>
          <a:lstStyle/>
          <a:p>
            <a:r>
              <a:rPr lang="ru-RU" dirty="0"/>
              <a:t>Уровень изоляции </a:t>
            </a:r>
            <a:r>
              <a:rPr lang="en-US" dirty="0"/>
              <a:t>SNAPSHOT</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20</a:t>
            </a:fld>
            <a:endParaRPr lang="ru-RU"/>
          </a:p>
        </p:txBody>
      </p:sp>
      <p:pic>
        <p:nvPicPr>
          <p:cNvPr id="4" name="Рисунок 3"/>
          <p:cNvPicPr>
            <a:picLocks noChangeAspect="1"/>
          </p:cNvPicPr>
          <p:nvPr/>
        </p:nvPicPr>
        <p:blipFill>
          <a:blip r:embed="rId2"/>
          <a:stretch>
            <a:fillRect/>
          </a:stretch>
        </p:blipFill>
        <p:spPr>
          <a:xfrm>
            <a:off x="132256" y="1859383"/>
            <a:ext cx="5100612" cy="2009332"/>
          </a:xfrm>
          <a:prstGeom prst="rect">
            <a:avLst/>
          </a:prstGeom>
        </p:spPr>
      </p:pic>
      <p:sp>
        <p:nvSpPr>
          <p:cNvPr id="5" name="Прямоугольник 4"/>
          <p:cNvSpPr/>
          <p:nvPr/>
        </p:nvSpPr>
        <p:spPr>
          <a:xfrm>
            <a:off x="179512" y="620688"/>
            <a:ext cx="8280920" cy="1200329"/>
          </a:xfrm>
          <a:prstGeom prst="rect">
            <a:avLst/>
          </a:prstGeom>
        </p:spPr>
        <p:txBody>
          <a:bodyPr wrap="square">
            <a:spAutoFit/>
          </a:bodyPr>
          <a:lstStyle/>
          <a:p>
            <a:r>
              <a:rPr lang="ru-RU" dirty="0"/>
              <a:t>Разрешение на уровни СУБД:</a:t>
            </a:r>
          </a:p>
          <a:p>
            <a:r>
              <a:rPr lang="ru-RU" dirty="0"/>
              <a:t>ALTER DATABASE </a:t>
            </a:r>
            <a:r>
              <a:rPr lang="ru-RU" dirty="0" err="1"/>
              <a:t>DATABASE</a:t>
            </a:r>
            <a:r>
              <a:rPr lang="ru-RU" dirty="0"/>
              <a:t>_</a:t>
            </a:r>
            <a:r>
              <a:rPr lang="en-US" dirty="0"/>
              <a:t>NAME</a:t>
            </a:r>
            <a:r>
              <a:rPr lang="ru-RU" dirty="0"/>
              <a:t> SET ALLOW_SNAPSHOT_ISOLATION ON</a:t>
            </a:r>
          </a:p>
          <a:p>
            <a:endParaRPr lang="ru-RU" dirty="0"/>
          </a:p>
          <a:p>
            <a:r>
              <a:rPr lang="en-US" dirty="0"/>
              <a:t>SET TRANSACTION ISOLATION LEVEL SNAPSHOT</a:t>
            </a:r>
            <a:endParaRPr lang="ru-RU" dirty="0"/>
          </a:p>
        </p:txBody>
      </p:sp>
      <p:pic>
        <p:nvPicPr>
          <p:cNvPr id="6" name="Рисунок 5"/>
          <p:cNvPicPr>
            <a:picLocks noChangeAspect="1"/>
          </p:cNvPicPr>
          <p:nvPr/>
        </p:nvPicPr>
        <p:blipFill>
          <a:blip r:embed="rId3"/>
          <a:stretch>
            <a:fillRect/>
          </a:stretch>
        </p:blipFill>
        <p:spPr>
          <a:xfrm>
            <a:off x="5991249" y="2689568"/>
            <a:ext cx="2714625" cy="2562225"/>
          </a:xfrm>
          <a:prstGeom prst="rect">
            <a:avLst/>
          </a:prstGeom>
        </p:spPr>
      </p:pic>
      <p:cxnSp>
        <p:nvCxnSpPr>
          <p:cNvPr id="8" name="Прямая соединительная линия 7"/>
          <p:cNvCxnSpPr/>
          <p:nvPr/>
        </p:nvCxnSpPr>
        <p:spPr>
          <a:xfrm>
            <a:off x="5652120" y="1267019"/>
            <a:ext cx="0" cy="5454456"/>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1" name="Стрелка вправо 10"/>
          <p:cNvSpPr/>
          <p:nvPr/>
        </p:nvSpPr>
        <p:spPr>
          <a:xfrm rot="1374138">
            <a:off x="4021999" y="3007487"/>
            <a:ext cx="1864150" cy="25724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2" name="Рисунок 11"/>
          <p:cNvPicPr>
            <a:picLocks noChangeAspect="1"/>
          </p:cNvPicPr>
          <p:nvPr/>
        </p:nvPicPr>
        <p:blipFill>
          <a:blip r:embed="rId4"/>
          <a:stretch>
            <a:fillRect/>
          </a:stretch>
        </p:blipFill>
        <p:spPr>
          <a:xfrm>
            <a:off x="146368" y="3994247"/>
            <a:ext cx="4793530" cy="2678533"/>
          </a:xfrm>
          <a:prstGeom prst="rect">
            <a:avLst/>
          </a:prstGeom>
        </p:spPr>
      </p:pic>
      <p:sp>
        <p:nvSpPr>
          <p:cNvPr id="10" name="Стрелка вправо 9"/>
          <p:cNvSpPr/>
          <p:nvPr/>
        </p:nvSpPr>
        <p:spPr>
          <a:xfrm rot="8680183" flipV="1">
            <a:off x="2555247" y="5316055"/>
            <a:ext cx="3529448" cy="356356"/>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90283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476672"/>
          </a:xfrm>
        </p:spPr>
        <p:txBody>
          <a:bodyPr>
            <a:normAutofit fontScale="90000"/>
          </a:bodyPr>
          <a:lstStyle/>
          <a:p>
            <a:r>
              <a:rPr lang="ru-RU" dirty="0"/>
              <a:t>Уровень изоляции </a:t>
            </a:r>
            <a:r>
              <a:rPr lang="en-US" dirty="0"/>
              <a:t>SNAPSHOT</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21</a:t>
            </a:fld>
            <a:endParaRPr lang="ru-RU"/>
          </a:p>
        </p:txBody>
      </p:sp>
      <p:sp>
        <p:nvSpPr>
          <p:cNvPr id="5" name="Прямоугольник 4"/>
          <p:cNvSpPr/>
          <p:nvPr/>
        </p:nvSpPr>
        <p:spPr>
          <a:xfrm>
            <a:off x="179512" y="620688"/>
            <a:ext cx="8280920" cy="923330"/>
          </a:xfrm>
          <a:prstGeom prst="rect">
            <a:avLst/>
          </a:prstGeom>
        </p:spPr>
        <p:txBody>
          <a:bodyPr wrap="square">
            <a:spAutoFit/>
          </a:bodyPr>
          <a:lstStyle/>
          <a:p>
            <a:r>
              <a:rPr lang="ru-RU" dirty="0"/>
              <a:t>Разрешение на уровни СУБД:</a:t>
            </a:r>
          </a:p>
          <a:p>
            <a:r>
              <a:rPr lang="ru-RU" dirty="0"/>
              <a:t>ALTER DATABASE </a:t>
            </a:r>
            <a:r>
              <a:rPr lang="ru-RU" dirty="0" err="1"/>
              <a:t>DATABASE</a:t>
            </a:r>
            <a:r>
              <a:rPr lang="ru-RU" dirty="0"/>
              <a:t>_</a:t>
            </a:r>
            <a:r>
              <a:rPr lang="en-US" dirty="0"/>
              <a:t>NAME</a:t>
            </a:r>
            <a:r>
              <a:rPr lang="ru-RU" dirty="0"/>
              <a:t> SET ALLOW_SNAPSHOT_ISOLATION ON</a:t>
            </a:r>
          </a:p>
          <a:p>
            <a:r>
              <a:rPr lang="en-US" dirty="0"/>
              <a:t>SET TRANSACTION ISOLATION LEVEL SNAPSHOT</a:t>
            </a:r>
            <a:endParaRPr lang="ru-RU" dirty="0"/>
          </a:p>
        </p:txBody>
      </p:sp>
      <p:cxnSp>
        <p:nvCxnSpPr>
          <p:cNvPr id="8" name="Прямая соединительная линия 7"/>
          <p:cNvCxnSpPr/>
          <p:nvPr/>
        </p:nvCxnSpPr>
        <p:spPr>
          <a:xfrm>
            <a:off x="4860032" y="1196752"/>
            <a:ext cx="0" cy="5454456"/>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1" name="Стрелка вправо 10"/>
          <p:cNvSpPr/>
          <p:nvPr/>
        </p:nvSpPr>
        <p:spPr>
          <a:xfrm rot="435384">
            <a:off x="3377636" y="2264456"/>
            <a:ext cx="1832211" cy="316447"/>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 name="Рисунок 6"/>
          <p:cNvPicPr>
            <a:picLocks noChangeAspect="1"/>
          </p:cNvPicPr>
          <p:nvPr/>
        </p:nvPicPr>
        <p:blipFill>
          <a:blip r:embed="rId2"/>
          <a:stretch>
            <a:fillRect/>
          </a:stretch>
        </p:blipFill>
        <p:spPr>
          <a:xfrm>
            <a:off x="202479" y="1544018"/>
            <a:ext cx="2505075" cy="2981325"/>
          </a:xfrm>
          <a:prstGeom prst="rect">
            <a:avLst/>
          </a:prstGeom>
        </p:spPr>
      </p:pic>
      <p:pic>
        <p:nvPicPr>
          <p:cNvPr id="9" name="Рисунок 8"/>
          <p:cNvPicPr>
            <a:picLocks noChangeAspect="1"/>
          </p:cNvPicPr>
          <p:nvPr/>
        </p:nvPicPr>
        <p:blipFill>
          <a:blip r:embed="rId3"/>
          <a:stretch>
            <a:fillRect/>
          </a:stretch>
        </p:blipFill>
        <p:spPr>
          <a:xfrm>
            <a:off x="202479" y="4647701"/>
            <a:ext cx="3979697" cy="2073774"/>
          </a:xfrm>
          <a:prstGeom prst="rect">
            <a:avLst/>
          </a:prstGeom>
        </p:spPr>
      </p:pic>
      <p:pic>
        <p:nvPicPr>
          <p:cNvPr id="13" name="Рисунок 12"/>
          <p:cNvPicPr>
            <a:picLocks noChangeAspect="1"/>
          </p:cNvPicPr>
          <p:nvPr/>
        </p:nvPicPr>
        <p:blipFill>
          <a:blip r:embed="rId4"/>
          <a:stretch>
            <a:fillRect/>
          </a:stretch>
        </p:blipFill>
        <p:spPr>
          <a:xfrm>
            <a:off x="5475411" y="2095048"/>
            <a:ext cx="2714625" cy="2562225"/>
          </a:xfrm>
          <a:prstGeom prst="rect">
            <a:avLst/>
          </a:prstGeom>
        </p:spPr>
      </p:pic>
      <p:sp>
        <p:nvSpPr>
          <p:cNvPr id="10" name="Стрелка вправо 9"/>
          <p:cNvSpPr/>
          <p:nvPr/>
        </p:nvSpPr>
        <p:spPr>
          <a:xfrm rot="7583618" flipV="1">
            <a:off x="2871935" y="5074869"/>
            <a:ext cx="2843609" cy="36246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545748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476672"/>
          </a:xfrm>
        </p:spPr>
        <p:txBody>
          <a:bodyPr>
            <a:normAutofit fontScale="90000"/>
          </a:bodyPr>
          <a:lstStyle/>
          <a:p>
            <a:r>
              <a:rPr lang="ru-RU" dirty="0"/>
              <a:t>Уровень изоляции </a:t>
            </a:r>
            <a:r>
              <a:rPr lang="en-US" dirty="0"/>
              <a:t>SNAPSHOT</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22</a:t>
            </a:fld>
            <a:endParaRPr lang="ru-RU"/>
          </a:p>
        </p:txBody>
      </p:sp>
      <p:sp>
        <p:nvSpPr>
          <p:cNvPr id="5" name="Прямоугольник 4"/>
          <p:cNvSpPr/>
          <p:nvPr/>
        </p:nvSpPr>
        <p:spPr>
          <a:xfrm>
            <a:off x="179512" y="620688"/>
            <a:ext cx="8280920" cy="923330"/>
          </a:xfrm>
          <a:prstGeom prst="rect">
            <a:avLst/>
          </a:prstGeom>
        </p:spPr>
        <p:txBody>
          <a:bodyPr wrap="square">
            <a:spAutoFit/>
          </a:bodyPr>
          <a:lstStyle/>
          <a:p>
            <a:r>
              <a:rPr lang="ru-RU" dirty="0"/>
              <a:t>Разрешение на уровни СУБД:</a:t>
            </a:r>
          </a:p>
          <a:p>
            <a:r>
              <a:rPr lang="ru-RU" dirty="0"/>
              <a:t>ALTER DATABASE </a:t>
            </a:r>
            <a:r>
              <a:rPr lang="ru-RU" dirty="0" err="1"/>
              <a:t>DATABASE</a:t>
            </a:r>
            <a:r>
              <a:rPr lang="ru-RU" dirty="0"/>
              <a:t>_</a:t>
            </a:r>
            <a:r>
              <a:rPr lang="en-US" dirty="0"/>
              <a:t>NAME</a:t>
            </a:r>
            <a:r>
              <a:rPr lang="ru-RU" dirty="0"/>
              <a:t> SET ALLOW_SNAPSHOT_ISOLATION ON</a:t>
            </a:r>
          </a:p>
          <a:p>
            <a:r>
              <a:rPr lang="en-US" dirty="0"/>
              <a:t>SET TRANSACTION ISOLATION LEVEL SNAPSHOT</a:t>
            </a:r>
            <a:endParaRPr lang="ru-RU" dirty="0"/>
          </a:p>
        </p:txBody>
      </p:sp>
      <p:cxnSp>
        <p:nvCxnSpPr>
          <p:cNvPr id="8" name="Прямая соединительная линия 7"/>
          <p:cNvCxnSpPr/>
          <p:nvPr/>
        </p:nvCxnSpPr>
        <p:spPr>
          <a:xfrm>
            <a:off x="4860032" y="1196752"/>
            <a:ext cx="0" cy="5454456"/>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15" name="Рисунок 14"/>
          <p:cNvPicPr>
            <a:picLocks noChangeAspect="1"/>
          </p:cNvPicPr>
          <p:nvPr/>
        </p:nvPicPr>
        <p:blipFill>
          <a:blip r:embed="rId2"/>
          <a:stretch>
            <a:fillRect/>
          </a:stretch>
        </p:blipFill>
        <p:spPr>
          <a:xfrm>
            <a:off x="107504" y="1582866"/>
            <a:ext cx="4668564" cy="2539753"/>
          </a:xfrm>
          <a:prstGeom prst="rect">
            <a:avLst/>
          </a:prstGeom>
        </p:spPr>
      </p:pic>
      <p:pic>
        <p:nvPicPr>
          <p:cNvPr id="16" name="Рисунок 15"/>
          <p:cNvPicPr>
            <a:picLocks noChangeAspect="1"/>
          </p:cNvPicPr>
          <p:nvPr/>
        </p:nvPicPr>
        <p:blipFill rotWithShape="1">
          <a:blip r:embed="rId3"/>
          <a:srcRect t="6059" r="8589"/>
          <a:stretch/>
        </p:blipFill>
        <p:spPr>
          <a:xfrm>
            <a:off x="4975602" y="1544018"/>
            <a:ext cx="3923956" cy="2167020"/>
          </a:xfrm>
          <a:prstGeom prst="rect">
            <a:avLst/>
          </a:prstGeom>
        </p:spPr>
      </p:pic>
      <p:sp>
        <p:nvSpPr>
          <p:cNvPr id="11" name="Стрелка вправо 10"/>
          <p:cNvSpPr/>
          <p:nvPr/>
        </p:nvSpPr>
        <p:spPr>
          <a:xfrm>
            <a:off x="2874335" y="2129454"/>
            <a:ext cx="1832211" cy="316447"/>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право 17"/>
          <p:cNvSpPr/>
          <p:nvPr/>
        </p:nvSpPr>
        <p:spPr>
          <a:xfrm rot="445810">
            <a:off x="2937828" y="6318895"/>
            <a:ext cx="2200578" cy="272333"/>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 name="Рисунок 19"/>
          <p:cNvPicPr>
            <a:picLocks noChangeAspect="1"/>
          </p:cNvPicPr>
          <p:nvPr/>
        </p:nvPicPr>
        <p:blipFill>
          <a:blip r:embed="rId4"/>
          <a:stretch>
            <a:fillRect/>
          </a:stretch>
        </p:blipFill>
        <p:spPr>
          <a:xfrm>
            <a:off x="179512" y="4293096"/>
            <a:ext cx="1843320" cy="2564904"/>
          </a:xfrm>
          <a:prstGeom prst="rect">
            <a:avLst/>
          </a:prstGeom>
        </p:spPr>
      </p:pic>
      <p:cxnSp>
        <p:nvCxnSpPr>
          <p:cNvPr id="21" name="Прямая соединительная линия 20"/>
          <p:cNvCxnSpPr/>
          <p:nvPr/>
        </p:nvCxnSpPr>
        <p:spPr>
          <a:xfrm flipV="1">
            <a:off x="85451" y="4189330"/>
            <a:ext cx="8951045" cy="22464"/>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24" name="Рисунок 23"/>
          <p:cNvPicPr>
            <a:picLocks noChangeAspect="1"/>
          </p:cNvPicPr>
          <p:nvPr/>
        </p:nvPicPr>
        <p:blipFill>
          <a:blip r:embed="rId5"/>
          <a:stretch>
            <a:fillRect/>
          </a:stretch>
        </p:blipFill>
        <p:spPr>
          <a:xfrm>
            <a:off x="5317949" y="4228094"/>
            <a:ext cx="2206550" cy="2474011"/>
          </a:xfrm>
          <a:prstGeom prst="rect">
            <a:avLst/>
          </a:prstGeom>
        </p:spPr>
      </p:pic>
      <p:sp>
        <p:nvSpPr>
          <p:cNvPr id="10" name="Стрелка вправо 9"/>
          <p:cNvSpPr/>
          <p:nvPr/>
        </p:nvSpPr>
        <p:spPr>
          <a:xfrm rot="8469518" flipV="1">
            <a:off x="1957324" y="4126765"/>
            <a:ext cx="3292293" cy="343953"/>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544244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4273"/>
            <a:ext cx="8229600" cy="490066"/>
          </a:xfrm>
        </p:spPr>
        <p:txBody>
          <a:bodyPr>
            <a:noAutofit/>
          </a:bodyPr>
          <a:lstStyle/>
          <a:p>
            <a:r>
              <a:rPr lang="ru-RU" sz="2800" dirty="0"/>
              <a:t>Журнал транзакций (</a:t>
            </a:r>
            <a:r>
              <a:rPr lang="en-US" sz="2800" dirty="0"/>
              <a:t>Write-Ahead Logging (WAL))</a:t>
            </a:r>
            <a:endParaRPr lang="ru-RU" sz="2800" dirty="0"/>
          </a:p>
        </p:txBody>
      </p:sp>
      <p:sp>
        <p:nvSpPr>
          <p:cNvPr id="3" name="Номер слайда 2"/>
          <p:cNvSpPr>
            <a:spLocks noGrp="1"/>
          </p:cNvSpPr>
          <p:nvPr>
            <p:ph type="sldNum" sz="quarter" idx="12"/>
          </p:nvPr>
        </p:nvSpPr>
        <p:spPr>
          <a:xfrm>
            <a:off x="7010400" y="6473403"/>
            <a:ext cx="2133600" cy="365125"/>
          </a:xfrm>
        </p:spPr>
        <p:txBody>
          <a:bodyPr/>
          <a:lstStyle/>
          <a:p>
            <a:fld id="{1F87023B-4310-42C4-812D-874FAF4871B2}" type="slidenum">
              <a:rPr lang="ru-RU" smtClean="0"/>
              <a:pPr/>
              <a:t>23</a:t>
            </a:fld>
            <a:endParaRPr lang="ru-RU"/>
          </a:p>
        </p:txBody>
      </p:sp>
      <p:sp>
        <p:nvSpPr>
          <p:cNvPr id="4" name="TextBox 3"/>
          <p:cNvSpPr txBox="1"/>
          <p:nvPr/>
        </p:nvSpPr>
        <p:spPr>
          <a:xfrm>
            <a:off x="229860" y="709778"/>
            <a:ext cx="8712968" cy="5355312"/>
          </a:xfrm>
          <a:prstGeom prst="rect">
            <a:avLst/>
          </a:prstGeom>
          <a:noFill/>
        </p:spPr>
        <p:txBody>
          <a:bodyPr wrap="square" rtlCol="0">
            <a:spAutoFit/>
          </a:bodyPr>
          <a:lstStyle/>
          <a:p>
            <a:r>
              <a:rPr lang="ru-RU" dirty="0"/>
              <a:t>Во всех случаях придерживаются стратегии "упреждающей" записи в журнал (так называемого </a:t>
            </a:r>
            <a:r>
              <a:rPr lang="ru-RU" b="1" i="1" dirty="0"/>
              <a:t>протокола </a:t>
            </a:r>
            <a:r>
              <a:rPr lang="ru-RU" b="1" i="1" dirty="0" err="1"/>
              <a:t>Write</a:t>
            </a:r>
            <a:r>
              <a:rPr lang="ru-RU" b="1" i="1" dirty="0"/>
              <a:t> </a:t>
            </a:r>
            <a:r>
              <a:rPr lang="ru-RU" b="1" i="1" dirty="0" err="1"/>
              <a:t>Ahead</a:t>
            </a:r>
            <a:r>
              <a:rPr lang="ru-RU" b="1" i="1" dirty="0"/>
              <a:t> </a:t>
            </a:r>
            <a:r>
              <a:rPr lang="ru-RU" b="1" i="1" dirty="0" err="1"/>
              <a:t>Log</a:t>
            </a:r>
            <a:r>
              <a:rPr lang="ru-RU" b="1" i="1" dirty="0"/>
              <a:t> - WAL</a:t>
            </a:r>
            <a:r>
              <a:rPr lang="ru-RU" dirty="0"/>
              <a:t>). Эта стратегия заключается в том, что запись об изменении любого объекта БД должна попасть во внешнюю память журнала раньше, чем измененный объект попадет во внешнюю память основной части БД. Если в СУБД корректно соблюдается протокол WAL, то с помощью журнала можно решить все проблемы восстановления БД после любого сбоя. </a:t>
            </a:r>
          </a:p>
          <a:p>
            <a:endParaRPr lang="ru-RU" dirty="0"/>
          </a:p>
          <a:p>
            <a:r>
              <a:rPr lang="ru-RU" dirty="0"/>
              <a:t>Если приложение выполняет инструкцию ROLLBACK или ядро СУБД обнаруживает ошибку, например, потерю связи с клиентом, записи журнала используются для отката изменений, сделанных незавершенной транзакцией.</a:t>
            </a:r>
          </a:p>
          <a:p>
            <a:endParaRPr lang="ru-RU" dirty="0"/>
          </a:p>
          <a:p>
            <a:r>
              <a:rPr lang="ru-RU" dirty="0"/>
              <a:t>Если на сервере происходит сбой, базы данных могут остаться в состоянии, когда часть изменений не переписана из буферного кэша в файлы данных, но в них имеются изменения, совершенные незаконченными транзакциями. Когда экземпляр SQL </a:t>
            </a:r>
            <a:r>
              <a:rPr lang="ru-RU" dirty="0" err="1"/>
              <a:t>Server</a:t>
            </a:r>
            <a:r>
              <a:rPr lang="ru-RU" dirty="0"/>
              <a:t> будет запущен, он выполнит восстановление каждой базы данных. Каждое изменение, записанное в журнале, которое, возможно, не было записано в файлы данных, накатывается</a:t>
            </a:r>
            <a:r>
              <a:rPr lang="ru-RU" baseline="30000" dirty="0"/>
              <a:t>1</a:t>
            </a:r>
            <a:r>
              <a:rPr lang="ru-RU" dirty="0"/>
              <a:t>. Чтобы сохранить целостность базы данных, будет также произведен откат каждой незавершенной транзакции, найденной в журнале транзакций.</a:t>
            </a:r>
          </a:p>
        </p:txBody>
      </p:sp>
      <p:sp>
        <p:nvSpPr>
          <p:cNvPr id="12" name="TextBox 11"/>
          <p:cNvSpPr txBox="1"/>
          <p:nvPr/>
        </p:nvSpPr>
        <p:spPr>
          <a:xfrm>
            <a:off x="215516" y="6376642"/>
            <a:ext cx="8229600" cy="461665"/>
          </a:xfrm>
          <a:prstGeom prst="rect">
            <a:avLst/>
          </a:prstGeom>
          <a:noFill/>
        </p:spPr>
        <p:txBody>
          <a:bodyPr wrap="square" rtlCol="0">
            <a:spAutoFit/>
          </a:bodyPr>
          <a:lstStyle/>
          <a:p>
            <a:r>
              <a:rPr lang="ru-RU" sz="1200" dirty="0"/>
              <a:t>1 накат (раскрутка)заключается во внесении в сохраненную копию БД результатов всех завершенных транзакций. При этом транзакции не обрабатываются повторно, а производятся изменения в БД согласно записям в журнале транзакций</a:t>
            </a:r>
          </a:p>
        </p:txBody>
      </p:sp>
    </p:spTree>
    <p:extLst>
      <p:ext uri="{BB962C8B-B14F-4D97-AF65-F5344CB8AC3E}">
        <p14:creationId xmlns:p14="http://schemas.microsoft.com/office/powerpoint/2010/main" val="266642466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48273</TotalTime>
  <Words>1614</Words>
  <Application>Microsoft Office PowerPoint</Application>
  <PresentationFormat>Экран (4:3)</PresentationFormat>
  <Paragraphs>283</Paragraphs>
  <Slides>23</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23</vt:i4>
      </vt:variant>
    </vt:vector>
  </HeadingPairs>
  <TitlesOfParts>
    <vt:vector size="27" baseType="lpstr">
      <vt:lpstr>Arial</vt:lpstr>
      <vt:lpstr>Calibri</vt:lpstr>
      <vt:lpstr>Times New Roman</vt:lpstr>
      <vt:lpstr>Тема Office</vt:lpstr>
      <vt:lpstr>Транзакция </vt:lpstr>
      <vt:lpstr>Транзакция</vt:lpstr>
      <vt:lpstr>Пример транзакции</vt:lpstr>
      <vt:lpstr>Команды языка управления транзакциями (TCL - Тгаnsасtiоn Соntrol Language)</vt:lpstr>
      <vt:lpstr>Презентация PowerPoint</vt:lpstr>
      <vt:lpstr>Презентация PowerPoint</vt:lpstr>
      <vt:lpstr>Транзакции и целостность баз данных</vt:lpstr>
      <vt:lpstr>Пример</vt:lpstr>
      <vt:lpstr>Транзакции и целостность баз данных</vt:lpstr>
      <vt:lpstr>Модели одновременного конкурентного доступа</vt:lpstr>
      <vt:lpstr>Уровни изоляции транзакций</vt:lpstr>
      <vt:lpstr>Уровень изоляции READ UNCOMMITTED</vt:lpstr>
      <vt:lpstr>Уровень изоляции READ UNCOMMITTED. Проблема уровня «Грязное» чтение (dirty read)</vt:lpstr>
      <vt:lpstr>Уровень изоляции READ COMMITTED</vt:lpstr>
      <vt:lpstr> Уровень изоляции READ COMMITTED.  Проблема: неповторяющееся чтение (non-repeatable read) </vt:lpstr>
      <vt:lpstr>Уровень изоляции REPEATABLE READ</vt:lpstr>
      <vt:lpstr>Уровень изоляции REPEATABLE READ.  Проблема: фантомное чтение (phantom reads) </vt:lpstr>
      <vt:lpstr>Уровень изоляции SERIALIZABLE</vt:lpstr>
      <vt:lpstr>Проблемы одновременного доступа</vt:lpstr>
      <vt:lpstr>Уровень изоляции SNAPSHOT</vt:lpstr>
      <vt:lpstr>Уровень изоляции SNAPSHOT</vt:lpstr>
      <vt:lpstr>Уровень изоляции SNAPSHOT</vt:lpstr>
      <vt:lpstr>Журнал транзакций (Write-Ahead Logging (WAL))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Системы управления базами данных</dc:title>
  <dc:creator>Ольга</dc:creator>
  <cp:lastModifiedBy>Айнур Есентемирова</cp:lastModifiedBy>
  <cp:revision>3808</cp:revision>
  <dcterms:created xsi:type="dcterms:W3CDTF">2020-09-07T15:45:04Z</dcterms:created>
  <dcterms:modified xsi:type="dcterms:W3CDTF">2026-04-02T11:25:20Z</dcterms:modified>
</cp:coreProperties>
</file>