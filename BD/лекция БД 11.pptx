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483" r:id="rId3"/>
    <p:sldId id="489" r:id="rId4"/>
    <p:sldId id="485" r:id="rId5"/>
    <p:sldId id="492" r:id="rId6"/>
    <p:sldId id="486" r:id="rId7"/>
    <p:sldId id="495" r:id="rId8"/>
    <p:sldId id="497" r:id="rId9"/>
    <p:sldId id="494" r:id="rId10"/>
    <p:sldId id="496" r:id="rId11"/>
    <p:sldId id="498" r:id="rId12"/>
    <p:sldId id="491" r:id="rId13"/>
    <p:sldId id="499" r:id="rId14"/>
    <p:sldId id="500" r:id="rId15"/>
    <p:sldId id="593" r:id="rId16"/>
    <p:sldId id="501" r:id="rId17"/>
    <p:sldId id="505" r:id="rId18"/>
    <p:sldId id="503" r:id="rId19"/>
    <p:sldId id="506" r:id="rId20"/>
    <p:sldId id="50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ьга" initials="О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B3F7B5"/>
    <a:srgbClr val="0101FD"/>
    <a:srgbClr val="677369"/>
    <a:srgbClr val="000099"/>
    <a:srgbClr val="FB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-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93979" autoAdjust="0"/>
  </p:normalViewPr>
  <p:slideViewPr>
    <p:cSldViewPr>
      <p:cViewPr varScale="1">
        <p:scale>
          <a:sx n="71" d="100"/>
          <a:sy n="71" d="100"/>
        </p:scale>
        <p:origin x="163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80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F2B9B-0DFA-4845-BD9B-901AF91C68CD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3527A-6151-4A98-A75F-4D4E0D307F3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E711-7C8E-4257-A76A-06F3D3C05320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C58E-C9F6-48FD-B9E5-AE933892D04A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11C0-8750-4E8D-9BD1-DF579FD696AD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A03D0-05CB-4C72-A911-D19BD413180A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2FE4-6142-4F31-B490-D105260BC39F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83CA6-27E9-4E4D-BCEE-D3820ACE1C26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190E-BB99-4A28-8238-D9D556E7C487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3BA-A1C1-4A50-93E6-D90B2774F18F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0698-BAFC-4F5D-B55E-E7DC063F46C5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4DA7-58E9-4D54-B46F-2E208CCEBF8D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EBCA-EEA3-4401-B722-FC2FACC9B1D1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15DA-5244-4B85-8402-67565CA01B9A}" type="datetime1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2928935"/>
            <a:ext cx="7772400" cy="1285884"/>
          </a:xfr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/>
              <a:t>Представления/VIEW в SQL (Виртуальные таблицы)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r="2299" b="-197"/>
          <a:stretch>
            <a:fillRect/>
          </a:stretch>
        </p:blipFill>
        <p:spPr bwMode="auto">
          <a:xfrm>
            <a:off x="642910" y="0"/>
            <a:ext cx="3643306" cy="27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4429132"/>
            <a:ext cx="2478333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43570" y="214290"/>
            <a:ext cx="2643206" cy="257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 cstate="print"/>
          <a:srcRect t="10756" r="1538"/>
          <a:stretch>
            <a:fillRect/>
          </a:stretch>
        </p:blipFill>
        <p:spPr bwMode="auto">
          <a:xfrm>
            <a:off x="4071934" y="4357694"/>
            <a:ext cx="4429156" cy="212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85545"/>
            <a:ext cx="857256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b="1" dirty="0"/>
              <a:t>Представления/</a:t>
            </a:r>
            <a:r>
              <a:rPr lang="en-US" sz="2400" b="1" dirty="0"/>
              <a:t>VIEW</a:t>
            </a:r>
            <a:r>
              <a:rPr lang="ru-RU" sz="2400" dirty="0"/>
              <a:t> или </a:t>
            </a:r>
            <a:r>
              <a:rPr lang="ru-RU" sz="2400" b="1" dirty="0"/>
              <a:t>виртуальная таблица </a:t>
            </a:r>
            <a:r>
              <a:rPr lang="ru-RU" sz="2400" dirty="0"/>
              <a:t>– это поименованная таблица, получаемая в результате выполнения команды SELECT с возможным изменением названия полей.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3214686"/>
            <a:ext cx="178595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Представление 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86116" y="2643182"/>
            <a:ext cx="5643602" cy="6429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Хранит код сложных запросов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86116" y="1714488"/>
            <a:ext cx="5643602" cy="6429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Освобождает от необходимости написания одного и того же кода для наиболее востребованных запросов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286116" y="3786190"/>
            <a:ext cx="5643602" cy="6429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Можно обращаться как к обычной таблице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286116" y="4857760"/>
            <a:ext cx="5643602" cy="6429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В отличии от базовой таблицы не занимает место в БД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286116" y="5929330"/>
            <a:ext cx="5643602" cy="6429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Как и базовую таблицу можно  использовать в предложении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SELECT, INSERT, UPDATE, DELETE</a:t>
            </a:r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V="1">
            <a:off x="2071670" y="2071678"/>
            <a:ext cx="1214447" cy="121444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6" idx="1"/>
          </p:cNvCxnSpPr>
          <p:nvPr/>
        </p:nvCxnSpPr>
        <p:spPr>
          <a:xfrm flipV="1">
            <a:off x="2071670" y="2964653"/>
            <a:ext cx="1214446" cy="60722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endCxn id="8" idx="1"/>
          </p:cNvCxnSpPr>
          <p:nvPr/>
        </p:nvCxnSpPr>
        <p:spPr>
          <a:xfrm>
            <a:off x="2071670" y="3714752"/>
            <a:ext cx="1214446" cy="392909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endCxn id="9" idx="1"/>
          </p:cNvCxnSpPr>
          <p:nvPr/>
        </p:nvCxnSpPr>
        <p:spPr>
          <a:xfrm rot="16200000" flipH="1">
            <a:off x="2053810" y="3946925"/>
            <a:ext cx="1250166" cy="121444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endCxn id="10" idx="1"/>
          </p:cNvCxnSpPr>
          <p:nvPr/>
        </p:nvCxnSpPr>
        <p:spPr>
          <a:xfrm rot="16200000" flipH="1">
            <a:off x="1625182" y="4589867"/>
            <a:ext cx="2107422" cy="121444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25EE116-DA52-4112-A0E7-85232F13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Представления/</a:t>
            </a:r>
            <a:r>
              <a:rPr lang="en-US" dirty="0"/>
              <a:t>VIEW</a:t>
            </a:r>
            <a:r>
              <a:rPr lang="ru-RU" sz="2800" dirty="0"/>
              <a:t> </a:t>
            </a:r>
            <a:r>
              <a:rPr lang="ru-RU" dirty="0"/>
              <a:t>в </a:t>
            </a:r>
            <a:r>
              <a:rPr lang="en-US" dirty="0"/>
              <a:t>SQL</a:t>
            </a:r>
            <a:r>
              <a:rPr lang="ru-RU" dirty="0"/>
              <a:t> (Виртуальные таблицы)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500430" y="1214422"/>
            <a:ext cx="178595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Представления позволяют 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00034" y="3714752"/>
            <a:ext cx="1714512" cy="14287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Ограничить число столбцов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 rot="10800000" flipV="1">
            <a:off x="1571604" y="2143116"/>
            <a:ext cx="2143140" cy="157163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20" idx="0"/>
          </p:cNvCxnSpPr>
          <p:nvPr/>
        </p:nvCxnSpPr>
        <p:spPr>
          <a:xfrm rot="5400000">
            <a:off x="3071802" y="2643182"/>
            <a:ext cx="1571636" cy="57150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endCxn id="21" idx="0"/>
          </p:cNvCxnSpPr>
          <p:nvPr/>
        </p:nvCxnSpPr>
        <p:spPr>
          <a:xfrm rot="16200000" flipH="1">
            <a:off x="4500562" y="2500306"/>
            <a:ext cx="1643074" cy="92869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5214942" y="2143116"/>
            <a:ext cx="2500330" cy="157163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2714612" y="3714752"/>
            <a:ext cx="1714512" cy="14287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Ограничить число строк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786314" y="3786190"/>
            <a:ext cx="2000264" cy="13573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Выводить дополнительные столбцы</a:t>
            </a: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7072330" y="3786190"/>
            <a:ext cx="1714512" cy="13573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Выводить группы строк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71472" y="857232"/>
            <a:ext cx="8143932" cy="52864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Синтаксис: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ru-RU" dirty="0">
                <a:solidFill>
                  <a:schemeClr val="tx1"/>
                </a:solidFill>
              </a:rPr>
              <a:t>CREATE</a:t>
            </a:r>
            <a:r>
              <a:rPr lang="en-US" dirty="0">
                <a:solidFill>
                  <a:schemeClr val="tx1"/>
                </a:solidFill>
              </a:rPr>
              <a:t>|ALTER ] </a:t>
            </a:r>
            <a:r>
              <a:rPr lang="ru-RU" dirty="0">
                <a:solidFill>
                  <a:schemeClr val="tx1"/>
                </a:solidFill>
              </a:rPr>
              <a:t>VIEW &lt;view_name&gt; [(</a:t>
            </a:r>
            <a:r>
              <a:rPr lang="en-US" dirty="0">
                <a:solidFill>
                  <a:schemeClr val="tx1"/>
                </a:solidFill>
              </a:rPr>
              <a:t>column</a:t>
            </a:r>
            <a:r>
              <a:rPr lang="ru-RU" dirty="0">
                <a:solidFill>
                  <a:schemeClr val="tx1"/>
                </a:solidFill>
              </a:rPr>
              <a:t>_</a:t>
            </a:r>
            <a:r>
              <a:rPr lang="en-US" dirty="0">
                <a:solidFill>
                  <a:schemeClr val="tx1"/>
                </a:solidFill>
              </a:rPr>
              <a:t>list</a:t>
            </a:r>
            <a:r>
              <a:rPr lang="ru-RU" dirty="0">
                <a:solidFill>
                  <a:schemeClr val="tx1"/>
                </a:solidFill>
              </a:rPr>
              <a:t>)] 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[WITH {ENCRYPTION | SCHEMABINDING| VIEW_METADATA}]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AS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SELECT &lt;column_names&gt;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FROM &lt;table_names&gt;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[WHERE </a:t>
            </a:r>
            <a:r>
              <a:rPr lang="en-US" dirty="0">
                <a:solidFill>
                  <a:schemeClr val="tx1"/>
                </a:solidFill>
              </a:rPr>
              <a:t>condition</a:t>
            </a:r>
            <a:r>
              <a:rPr lang="ru-RU" dirty="0">
                <a:solidFill>
                  <a:schemeClr val="tx1"/>
                </a:solidFill>
              </a:rPr>
              <a:t>] [WITH CHECK OPTION]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lang="ru-RU" dirty="0">
                <a:solidFill>
                  <a:schemeClr val="tx1"/>
                </a:solidFill>
              </a:rPr>
              <a:t>Опция WITH CHECK OPTION (в условии) указывает, что должна осуществляться проверка заданного условия при выполнении команды INSERT или UPDATE к </a:t>
            </a:r>
            <a:r>
              <a:rPr lang="ru-RU" u="sng" dirty="0">
                <a:solidFill>
                  <a:schemeClr val="tx1"/>
                </a:solidFill>
              </a:rPr>
              <a:t>представлению (виртуальной таблице)</a:t>
            </a:r>
            <a:r>
              <a:rPr lang="ru-RU" dirty="0">
                <a:solidFill>
                  <a:schemeClr val="tx1"/>
                </a:solidFill>
              </a:rPr>
              <a:t>. Если условие, заданное в описании представления, возвращает </a:t>
            </a:r>
            <a:r>
              <a:rPr lang="en-US" dirty="0">
                <a:solidFill>
                  <a:schemeClr val="tx1"/>
                </a:solidFill>
              </a:rPr>
              <a:t>TRUE</a:t>
            </a:r>
            <a:r>
              <a:rPr lang="ru-RU" dirty="0">
                <a:solidFill>
                  <a:schemeClr val="tx1"/>
                </a:solidFill>
              </a:rPr>
              <a:t>, то команда INSERT или UPDATE выполняется и происходит добавление записи или соответственно обновление записи в </a:t>
            </a:r>
            <a:r>
              <a:rPr lang="ru-RU" u="sng" dirty="0">
                <a:solidFill>
                  <a:schemeClr val="tx1"/>
                </a:solidFill>
              </a:rPr>
              <a:t>базовой таблице</a:t>
            </a:r>
            <a:r>
              <a:rPr lang="ru-RU" dirty="0">
                <a:solidFill>
                  <a:schemeClr val="tx1"/>
                </a:solidFill>
              </a:rPr>
              <a:t>, иначе выполнение команды отклоняется.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Представления/</a:t>
            </a:r>
            <a:r>
              <a:rPr lang="en-US" dirty="0"/>
              <a:t>VIEW</a:t>
            </a:r>
            <a:r>
              <a:rPr lang="ru-RU" dirty="0"/>
              <a:t> (Виртуальные таблицы)</a:t>
            </a:r>
            <a:endParaRPr lang="ru-RU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Представления/</a:t>
            </a:r>
            <a:r>
              <a:rPr lang="en-US" dirty="0"/>
              <a:t>VIEW</a:t>
            </a:r>
            <a:r>
              <a:rPr lang="ru-RU" dirty="0"/>
              <a:t> (Виртуальные таблицы)</a:t>
            </a:r>
            <a:endParaRPr lang="ru-RU" sz="2800" dirty="0"/>
          </a:p>
        </p:txBody>
      </p:sp>
      <p:sp>
        <p:nvSpPr>
          <p:cNvPr id="209921" name="Rectangle 1"/>
          <p:cNvSpPr>
            <a:spLocks noChangeArrowheads="1"/>
          </p:cNvSpPr>
          <p:nvPr/>
        </p:nvSpPr>
        <p:spPr bwMode="auto">
          <a:xfrm>
            <a:off x="214282" y="857232"/>
            <a:ext cx="8643998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Например, нужно</a:t>
            </a:r>
            <a:r>
              <a:rPr kumimoji="0" lang="ru-RU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создать представление для просмотра информации о студентах из города Уфа:</a:t>
            </a:r>
            <a:endParaRPr kumimoji="0" 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CREATE VIEW </a:t>
            </a:r>
            <a:r>
              <a:rPr lang="en-US" dirty="0">
                <a:ea typeface="Calibri" pitchFamily="34" charset="0"/>
                <a:cs typeface="Arial" pitchFamily="34" charset="0"/>
              </a:rPr>
              <a:t>Students_from_Ufa </a:t>
            </a:r>
            <a:endParaRPr lang="ru-RU" dirty="0">
              <a:ea typeface="Calibri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AS</a:t>
            </a:r>
            <a:r>
              <a:rPr kumimoji="0" 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* </a:t>
            </a:r>
            <a:endParaRPr kumimoji="0" 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FROM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Student 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WHERE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City = '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Уфа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‘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dirty="0"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cs typeface="Arial" pitchFamily="34" charset="0"/>
              </a:rPr>
              <a:t>Обращение к представлению </a:t>
            </a:r>
            <a:r>
              <a:rPr lang="ru-RU" b="1" dirty="0" err="1"/>
              <a:t>Students_from_Ufa</a:t>
            </a:r>
            <a:r>
              <a:rPr lang="ru-RU" dirty="0">
                <a:ea typeface="Calibri" pitchFamily="34" charset="0"/>
                <a:cs typeface="Arial" pitchFamily="34" charset="0"/>
              </a:rPr>
              <a:t>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b="1" dirty="0"/>
              <a:t>SELECT </a:t>
            </a:r>
            <a:r>
              <a:rPr lang="ru-RU" dirty="0"/>
              <a:t>*</a:t>
            </a:r>
          </a:p>
          <a:p>
            <a:r>
              <a:rPr lang="ru-RU" b="1" dirty="0"/>
              <a:t>FROM</a:t>
            </a:r>
            <a:r>
              <a:rPr lang="ru-RU" dirty="0"/>
              <a:t> </a:t>
            </a:r>
            <a:r>
              <a:rPr lang="en-US" dirty="0"/>
              <a:t>Students_from_Ufa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7515252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Представления таблиц и представления столбцов</a:t>
            </a:r>
            <a:endParaRPr lang="ru-RU" sz="2800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rot="5400000">
            <a:off x="858018" y="3642520"/>
            <a:ext cx="5857916" cy="158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28596" y="2285992"/>
            <a:ext cx="328614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CREATE VIEW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New_tab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1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_stud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AS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</a:t>
            </a:r>
            <a:r>
              <a:rPr kumimoji="0" 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* 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FROM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Student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600" dirty="0"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600" dirty="0"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itchFamily="18" charset="0"/>
              </a:rPr>
              <a:t>Вызов представления: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/>
              <a:t>SELECT </a:t>
            </a:r>
            <a:r>
              <a:rPr lang="ru-RU" sz="1600" dirty="0"/>
              <a:t>*</a:t>
            </a:r>
          </a:p>
          <a:p>
            <a:r>
              <a:rPr lang="ru-RU" sz="1600" b="1" dirty="0"/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New_tab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1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_stud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857620" y="2214554"/>
            <a:ext cx="528638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CREATE VIEW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New_tab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2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_stud </a:t>
            </a:r>
            <a:r>
              <a:rPr lang="en-US" sz="1600" dirty="0"/>
              <a:t>(</a:t>
            </a:r>
            <a:r>
              <a:rPr lang="en-US" sz="1600" dirty="0" err="1"/>
              <a:t>new_surname</a:t>
            </a:r>
            <a:r>
              <a:rPr lang="en-US" sz="1600" dirty="0"/>
              <a:t>, </a:t>
            </a:r>
            <a:r>
              <a:rPr lang="en-US" sz="1600" dirty="0" err="1"/>
              <a:t>new_name</a:t>
            </a:r>
            <a:r>
              <a:rPr lang="en-US" sz="1600" dirty="0"/>
              <a:t>, </a:t>
            </a:r>
            <a:r>
              <a:rPr lang="en-US" sz="1600" dirty="0" err="1"/>
              <a:t>new_stipend</a:t>
            </a:r>
            <a:r>
              <a:rPr lang="en-US" sz="1600" dirty="0"/>
              <a:t>, </a:t>
            </a:r>
            <a:r>
              <a:rPr lang="en-US" sz="1600" dirty="0" err="1"/>
              <a:t>new_kurs</a:t>
            </a:r>
            <a:r>
              <a:rPr lang="en-US" sz="1600" dirty="0"/>
              <a:t>, </a:t>
            </a:r>
            <a:r>
              <a:rPr lang="en-US" sz="1600" dirty="0" err="1"/>
              <a:t>new_city</a:t>
            </a:r>
            <a:r>
              <a:rPr lang="en-US" sz="1600" dirty="0"/>
              <a:t>, new_ birthday, </a:t>
            </a:r>
            <a:r>
              <a:rPr lang="en-US" sz="1600" dirty="0" err="1"/>
              <a:t>new_univ_id</a:t>
            </a:r>
            <a:r>
              <a:rPr lang="en-US" sz="1600" dirty="0"/>
              <a:t>) </a:t>
            </a:r>
            <a:r>
              <a:rPr lang="en-US" sz="1600" b="1" dirty="0">
                <a:solidFill>
                  <a:srgbClr val="0070C0"/>
                </a:solidFill>
              </a:rPr>
              <a:t>AS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endParaRPr lang="ru-RU" sz="1600" dirty="0">
              <a:solidFill>
                <a:srgbClr val="0070C0"/>
              </a:solidFill>
            </a:endParaRPr>
          </a:p>
          <a:p>
            <a:r>
              <a:rPr lang="en-US" sz="1600" b="1" dirty="0"/>
              <a:t>SELECT</a:t>
            </a:r>
            <a:r>
              <a:rPr lang="en-US" sz="1600" dirty="0"/>
              <a:t> Surname, Name, Stipend, </a:t>
            </a:r>
            <a:r>
              <a:rPr lang="en-US" sz="1600" dirty="0" err="1"/>
              <a:t>Kurs</a:t>
            </a:r>
            <a:r>
              <a:rPr lang="en-US" sz="1600" dirty="0"/>
              <a:t>, city, Birthday, </a:t>
            </a:r>
            <a:r>
              <a:rPr lang="en-US" sz="1600" dirty="0" err="1"/>
              <a:t>Univ_id</a:t>
            </a:r>
            <a:r>
              <a:rPr lang="en-US" sz="1600" dirty="0"/>
              <a:t> </a:t>
            </a:r>
            <a:endParaRPr lang="ru-RU" sz="1600" dirty="0"/>
          </a:p>
          <a:p>
            <a:r>
              <a:rPr lang="en-US" sz="1600" b="1" dirty="0"/>
              <a:t>FROM </a:t>
            </a:r>
            <a:r>
              <a:rPr lang="en-US" sz="1600" dirty="0"/>
              <a:t>Student</a:t>
            </a:r>
            <a:endParaRPr lang="ru-RU" sz="1600" dirty="0"/>
          </a:p>
          <a:p>
            <a:endParaRPr lang="ru-RU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cs typeface="Times New Roman" pitchFamily="18" charset="0"/>
              </a:rPr>
              <a:t>Вызов представления: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/>
              <a:t>SELECT </a:t>
            </a:r>
            <a:r>
              <a:rPr lang="ru-RU" sz="1600" dirty="0"/>
              <a:t>*</a:t>
            </a:r>
          </a:p>
          <a:p>
            <a:r>
              <a:rPr lang="ru-RU" sz="1600" b="1" dirty="0"/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New_tab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2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_stud </a:t>
            </a:r>
            <a:endParaRPr lang="ru-RU" sz="1600" dirty="0">
              <a:cs typeface="Arial" pitchFamily="34" charset="0"/>
            </a:endParaRPr>
          </a:p>
          <a:p>
            <a:endParaRPr lang="ru-RU" sz="1600" dirty="0"/>
          </a:p>
        </p:txBody>
      </p:sp>
      <p:sp>
        <p:nvSpPr>
          <p:cNvPr id="13" name="Стрелка вниз 12"/>
          <p:cNvSpPr/>
          <p:nvPr/>
        </p:nvSpPr>
        <p:spPr>
          <a:xfrm rot="1436554">
            <a:off x="2101780" y="887052"/>
            <a:ext cx="475663" cy="1305443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 rot="19861499">
            <a:off x="5972956" y="824758"/>
            <a:ext cx="475663" cy="127908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8715436" cy="928670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Представление с вложенным запросом, представление с группировкой</a:t>
            </a:r>
            <a:br>
              <a:rPr lang="ru-RU" dirty="0"/>
            </a:br>
            <a:endParaRPr lang="ru-R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42844" y="1142984"/>
            <a:ext cx="8643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Задание: создайте представление, которое представит информацию по сотрудникам, работающим в отделе «</a:t>
            </a:r>
            <a:r>
              <a:rPr lang="en-US" dirty="0"/>
              <a:t>IT</a:t>
            </a:r>
            <a:r>
              <a:rPr lang="ru-RU" dirty="0"/>
              <a:t>».</a:t>
            </a:r>
          </a:p>
          <a:p>
            <a:endParaRPr lang="en-US" dirty="0"/>
          </a:p>
          <a:p>
            <a:r>
              <a:rPr lang="en-US" b="1" dirty="0"/>
              <a:t>CREATE VIEW</a:t>
            </a:r>
            <a:r>
              <a:rPr lang="ru-RU" b="1" dirty="0"/>
              <a:t> </a:t>
            </a:r>
            <a:r>
              <a:rPr lang="en-US" dirty="0"/>
              <a:t>Cooperator</a:t>
            </a:r>
            <a:r>
              <a:rPr lang="ru-RU" dirty="0"/>
              <a:t>_</a:t>
            </a:r>
            <a:r>
              <a:rPr lang="en-US" dirty="0"/>
              <a:t>IT</a:t>
            </a:r>
          </a:p>
          <a:p>
            <a:r>
              <a:rPr lang="en-US" b="1" dirty="0"/>
              <a:t>AS</a:t>
            </a:r>
          </a:p>
          <a:p>
            <a:r>
              <a:rPr lang="en-US" b="1" dirty="0"/>
              <a:t>SELECT</a:t>
            </a:r>
            <a:r>
              <a:rPr lang="ru-RU" b="1" dirty="0"/>
              <a:t>  </a:t>
            </a:r>
            <a:r>
              <a:rPr lang="en-US" dirty="0"/>
              <a:t>Surname</a:t>
            </a:r>
            <a:r>
              <a:rPr lang="ru-RU" dirty="0"/>
              <a:t>, </a:t>
            </a:r>
            <a:r>
              <a:rPr lang="en-US" dirty="0"/>
              <a:t>Name, Phone</a:t>
            </a:r>
            <a:r>
              <a:rPr lang="ru-RU" dirty="0"/>
              <a:t>_</a:t>
            </a:r>
            <a:r>
              <a:rPr lang="en-US" dirty="0"/>
              <a:t>number, Start</a:t>
            </a:r>
            <a:r>
              <a:rPr lang="ru-RU" dirty="0"/>
              <a:t>_</a:t>
            </a:r>
            <a:r>
              <a:rPr lang="en-US" dirty="0"/>
              <a:t>date, Category </a:t>
            </a:r>
          </a:p>
          <a:p>
            <a:r>
              <a:rPr lang="en-US" b="1" dirty="0"/>
              <a:t>FROM</a:t>
            </a:r>
            <a:r>
              <a:rPr lang="en-US" dirty="0"/>
              <a:t> Cooperator</a:t>
            </a:r>
            <a:endParaRPr lang="ru-RU" dirty="0"/>
          </a:p>
          <a:p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Dept_id</a:t>
            </a:r>
            <a:r>
              <a:rPr lang="en-US" dirty="0"/>
              <a:t> </a:t>
            </a:r>
            <a:r>
              <a:rPr lang="en-US" b="1" dirty="0"/>
              <a:t>IN (SELECT</a:t>
            </a:r>
            <a:r>
              <a:rPr lang="en-US" dirty="0"/>
              <a:t> </a:t>
            </a:r>
            <a:r>
              <a:rPr lang="en-US" dirty="0" err="1"/>
              <a:t>Dept_id</a:t>
            </a:r>
            <a:endParaRPr lang="ru-RU" dirty="0"/>
          </a:p>
          <a:p>
            <a:r>
              <a:rPr lang="en-US" dirty="0"/>
              <a:t>		</a:t>
            </a:r>
            <a:r>
              <a:rPr lang="en-US" b="1" dirty="0"/>
              <a:t>FROM</a:t>
            </a:r>
            <a:r>
              <a:rPr lang="en-US" dirty="0"/>
              <a:t> Department</a:t>
            </a:r>
            <a:endParaRPr lang="ru-RU" dirty="0"/>
          </a:p>
          <a:p>
            <a:r>
              <a:rPr lang="en-US" dirty="0"/>
              <a:t>		</a:t>
            </a:r>
            <a:r>
              <a:rPr lang="en-US" b="1" dirty="0"/>
              <a:t>WHERE</a:t>
            </a:r>
            <a:r>
              <a:rPr lang="en-US" dirty="0"/>
              <a:t> Name = 'IT')</a:t>
            </a:r>
            <a:endParaRPr lang="ru-RU" dirty="0"/>
          </a:p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14282" y="4272677"/>
            <a:ext cx="84297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Задание: создайте представление, которое представит отделы, входящие в состав компании с максимальным коэффициентом</a:t>
            </a:r>
            <a:r>
              <a:rPr lang="en-US" dirty="0"/>
              <a:t>.</a:t>
            </a:r>
            <a:endParaRPr lang="ru-RU" dirty="0"/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CREATE VIEW</a:t>
            </a:r>
            <a:r>
              <a:rPr lang="ru-RU" b="1" dirty="0"/>
              <a:t> </a:t>
            </a:r>
            <a:r>
              <a:rPr lang="en-US" dirty="0" err="1"/>
              <a:t>Company_max_coefficient</a:t>
            </a:r>
            <a:endParaRPr lang="en-US" dirty="0"/>
          </a:p>
          <a:p>
            <a:r>
              <a:rPr lang="en-US" b="1" dirty="0"/>
              <a:t>AS</a:t>
            </a:r>
          </a:p>
          <a:p>
            <a:r>
              <a:rPr lang="en-US" b="1" dirty="0"/>
              <a:t>SELECT </a:t>
            </a:r>
            <a:r>
              <a:rPr lang="en-US" dirty="0"/>
              <a:t>Full</a:t>
            </a:r>
            <a:r>
              <a:rPr lang="ru-RU" dirty="0"/>
              <a:t>_</a:t>
            </a:r>
            <a:r>
              <a:rPr lang="en-US" dirty="0"/>
              <a:t>name, MAX(Coefficient)</a:t>
            </a:r>
          </a:p>
          <a:p>
            <a:r>
              <a:rPr lang="en-US" b="1" dirty="0"/>
              <a:t>FROM</a:t>
            </a:r>
            <a:r>
              <a:rPr lang="en-US" dirty="0"/>
              <a:t> Department </a:t>
            </a:r>
            <a:r>
              <a:rPr lang="en-US" b="1" dirty="0"/>
              <a:t>JOIN</a:t>
            </a:r>
            <a:r>
              <a:rPr lang="en-US" dirty="0"/>
              <a:t> Company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Department.Company</a:t>
            </a:r>
            <a:r>
              <a:rPr lang="ru-RU" dirty="0"/>
              <a:t>_</a:t>
            </a:r>
            <a:r>
              <a:rPr lang="en-US" dirty="0"/>
              <a:t>id = </a:t>
            </a:r>
            <a:r>
              <a:rPr lang="en-US" dirty="0" err="1"/>
              <a:t>Company.Company</a:t>
            </a:r>
            <a:r>
              <a:rPr lang="ru-RU" dirty="0"/>
              <a:t>_</a:t>
            </a:r>
            <a:r>
              <a:rPr lang="en-US" dirty="0"/>
              <a:t>id </a:t>
            </a:r>
            <a:endParaRPr lang="ru-RU" dirty="0"/>
          </a:p>
          <a:p>
            <a:r>
              <a:rPr lang="en-US" b="1" dirty="0"/>
              <a:t>GROUP BY </a:t>
            </a:r>
            <a:r>
              <a:rPr lang="en-US" dirty="0"/>
              <a:t>Full</a:t>
            </a:r>
            <a:r>
              <a:rPr lang="ru-RU" dirty="0"/>
              <a:t>_</a:t>
            </a:r>
            <a:r>
              <a:rPr lang="en-US" dirty="0"/>
              <a:t>name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Представления</a:t>
            </a:r>
            <a:r>
              <a:rPr lang="en-US" dirty="0"/>
              <a:t> c </a:t>
            </a:r>
            <a:r>
              <a:rPr lang="ru-RU" dirty="0"/>
              <a:t>командами модификации</a:t>
            </a:r>
            <a:endParaRPr lang="ru-RU" sz="2800" dirty="0"/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357158" y="856357"/>
            <a:ext cx="8143932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ea typeface="Calibri" pitchFamily="34" charset="0"/>
                <a:cs typeface="Arial" pitchFamily="34" charset="0"/>
              </a:rPr>
              <a:t>Создание представления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: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CREATE VIEW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AS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S</a:t>
            </a:r>
            <a:r>
              <a:rPr lang="en-US" sz="1600" dirty="0"/>
              <a:t>urname, Name, City, Birthday</a:t>
            </a:r>
            <a:endParaRPr kumimoji="0" lang="en-US" sz="16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baseline="0" dirty="0">
                <a:ea typeface="Calibri" pitchFamily="34" charset="0"/>
                <a:cs typeface="Arial" pitchFamily="34" charset="0"/>
              </a:rPr>
              <a:t>FROM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Student</a:t>
            </a:r>
            <a:endParaRPr kumimoji="0" 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Arial" pitchFamily="34" charset="0"/>
              </a:rPr>
              <a:t>UPDATE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City = '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Уфа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'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WHERE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Student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_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id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=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6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*</a:t>
            </a: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INSERT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INTO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  VALUES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('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Иванов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', '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Иван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', NULL, NULL)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DELETE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WHERE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Surname= '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Иванов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 AND Name='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Иван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‘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cs typeface="Times New Roman" pitchFamily="18" charset="0"/>
              </a:rPr>
              <a:t>Вызов представления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r>
              <a:rPr lang="ru-RU" sz="1600" dirty="0">
                <a:cs typeface="Times New Roman" pitchFamily="18" charset="0"/>
              </a:rPr>
              <a:t>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/>
              <a:t>SELECT </a:t>
            </a:r>
            <a:r>
              <a:rPr lang="ru-RU" sz="1600" dirty="0"/>
              <a:t>*</a:t>
            </a:r>
          </a:p>
          <a:p>
            <a:r>
              <a:rPr lang="ru-RU" sz="1600" b="1" dirty="0"/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Student_view</a:t>
            </a:r>
            <a:endParaRPr lang="ru-RU" sz="1600" dirty="0"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*</a:t>
            </a:r>
            <a:r>
              <a:rPr lang="ru-RU" sz="1600" b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ru-RU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данные будут добавлены</a:t>
            </a:r>
            <a:r>
              <a:rPr lang="ru-RU" sz="1600" b="1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,</a:t>
            </a:r>
            <a:r>
              <a:rPr lang="ru-RU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 если поле первичного ключа в таблице </a:t>
            </a: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Student</a:t>
            </a:r>
            <a:r>
              <a:rPr lang="ru-RU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 является автоинкрементным, иначе нужно добавить в представлении поле первичного ключа </a:t>
            </a: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Student</a:t>
            </a:r>
            <a:r>
              <a:rPr lang="ru-RU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_</a:t>
            </a:r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Id </a:t>
            </a:r>
            <a:r>
              <a:rPr lang="ru-RU" sz="1600" i="1" dirty="0">
                <a:solidFill>
                  <a:schemeClr val="accent2">
                    <a:lumMod val="75000"/>
                  </a:schemeClr>
                </a:solidFill>
                <a:ea typeface="Calibri" pitchFamily="34" charset="0"/>
                <a:cs typeface="Arial" pitchFamily="34" charset="0"/>
              </a:rPr>
              <a:t>и при вставке новой записи, добавить значение для этого поля</a:t>
            </a:r>
            <a:endParaRPr kumimoji="0" lang="ru-RU" sz="1600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</p:spPr>
        <p:txBody>
          <a:bodyPr>
            <a:noAutofit/>
          </a:bodyPr>
          <a:lstStyle/>
          <a:p>
            <a:r>
              <a:rPr lang="ru-RU" sz="2200" dirty="0"/>
              <a:t>Применение команд модификации к представлениям, скрывающим поля</a:t>
            </a: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285720" y="785794"/>
            <a:ext cx="885828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ea typeface="Calibri" pitchFamily="34" charset="0"/>
                <a:cs typeface="Arial" pitchFamily="34" charset="0"/>
              </a:rPr>
              <a:t>Создадим таблицу «Издательство»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: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CREATE TABLE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Publishing_house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ea typeface="Calibri" pitchFamily="34" charset="0"/>
                <a:cs typeface="Arial" pitchFamily="34" charset="0"/>
              </a:rPr>
              <a:t>(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Id_publ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INT PRIMARY KEY IDENTITY (1, 1),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VARCHAR(30)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CHECK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(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NOT LIKE </a:t>
            </a:r>
            <a:r>
              <a:rPr lang="en-US" sz="1400" dirty="0">
                <a:ea typeface="Calibri" pitchFamily="34" charset="0"/>
                <a:cs typeface="Arial" pitchFamily="34" charset="0"/>
              </a:rPr>
              <a:t>'%[-^:\|.,/=&gt;&lt;"@#?№&amp;*+0-9a-zA-Z~%]%‘</a:t>
            </a:r>
            <a:r>
              <a:rPr lang="en-US" sz="1400" b="1" dirty="0">
                <a:ea typeface="Calibri" pitchFamily="34" charset="0"/>
                <a:cs typeface="Arial" pitchFamily="34" charset="0"/>
              </a:rPr>
              <a:t>ESCAPE</a:t>
            </a:r>
            <a:r>
              <a:rPr lang="en-US" sz="1400" dirty="0">
                <a:ea typeface="Calibri" pitchFamily="34" charset="0"/>
                <a:cs typeface="Arial" pitchFamily="34" charset="0"/>
              </a:rPr>
              <a:t> ‘~')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ea typeface="Calibri" pitchFamily="34" charset="0"/>
                <a:cs typeface="Arial" pitchFamily="34" charset="0"/>
              </a:rPr>
              <a:t>City VARCHAR(20)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CHECK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(City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NOT LIKE </a:t>
            </a:r>
            <a:r>
              <a:rPr lang="en-US" sz="1400" dirty="0">
                <a:ea typeface="Calibri" pitchFamily="34" charset="0"/>
                <a:cs typeface="Arial" pitchFamily="34" charset="0"/>
              </a:rPr>
              <a:t>'%[^:\|.,/=&gt;&lt;"@#?№&amp;*+0-9a-zA-Z~%]%‘</a:t>
            </a:r>
            <a:r>
              <a:rPr lang="en-US" sz="1400" b="1" dirty="0">
                <a:ea typeface="Calibri" pitchFamily="34" charset="0"/>
                <a:cs typeface="Arial" pitchFamily="34" charset="0"/>
              </a:rPr>
              <a:t>ESCAPE</a:t>
            </a:r>
            <a:r>
              <a:rPr lang="en-US" sz="1400" dirty="0">
                <a:ea typeface="Calibri" pitchFamily="34" charset="0"/>
                <a:cs typeface="Arial" pitchFamily="34" charset="0"/>
              </a:rPr>
              <a:t> ‘~')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ea typeface="Calibri" pitchFamily="34" charset="0"/>
                <a:cs typeface="Arial" pitchFamily="34" charset="0"/>
              </a:rPr>
              <a:t>Address VARCHAR(30)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CHECK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(</a:t>
            </a:r>
            <a:r>
              <a:rPr lang="en-US" sz="1600" dirty="0"/>
              <a:t>Address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NOT LIKE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'%[-^:\|.,/=&gt;&lt;"@#?№&amp;*+0-9a-zA-Z~%]%‘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ESCAPE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‘~'),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ea typeface="Calibri" pitchFamily="34" charset="0"/>
                <a:cs typeface="Arial" pitchFamily="34" charset="0"/>
              </a:rPr>
              <a:t>Telephone VARCHAR(12)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CHECK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(Telephone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LIKE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'+[1-9][0-9][0-9][0-9][0-9][0-9][0-9][0-9][0-9][0-9][0-9]'),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TINYINT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CHECK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(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BETWEEN 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1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AND 10))</a:t>
            </a:r>
            <a:endParaRPr lang="ru-RU" sz="1600" dirty="0">
              <a:ea typeface="Calibri" pitchFamily="34" charset="0"/>
              <a:cs typeface="Arial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4282" y="2887682"/>
            <a:ext cx="471490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ea typeface="Calibri" pitchFamily="34" charset="0"/>
                <a:cs typeface="Arial" pitchFamily="34" charset="0"/>
              </a:rPr>
              <a:t>Создадим представление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CREATE VIEW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AS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City,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Telephone </a:t>
            </a:r>
            <a:endParaRPr kumimoji="0" lang="en-US" sz="16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baseline="0" dirty="0">
                <a:ea typeface="Calibri" pitchFamily="34" charset="0"/>
                <a:cs typeface="Arial" pitchFamily="34" charset="0"/>
              </a:rPr>
              <a:t>FROM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Publishing_house</a:t>
            </a:r>
            <a:endParaRPr kumimoji="0" 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*</a:t>
            </a: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INSERT INTO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  VALUES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(</a:t>
            </a:r>
            <a:r>
              <a:rPr lang="en-US" sz="1600" dirty="0"/>
              <a:t>'</a:t>
            </a:r>
            <a:r>
              <a:rPr lang="ru-RU" sz="1600" dirty="0" err="1"/>
              <a:t>Эксмо</a:t>
            </a:r>
            <a:r>
              <a:rPr lang="en-US" sz="1600" dirty="0"/>
              <a:t>-</a:t>
            </a:r>
            <a:r>
              <a:rPr lang="ru-RU" sz="1600" dirty="0"/>
              <a:t>АСТ</a:t>
            </a:r>
            <a:r>
              <a:rPr lang="en-US" sz="1600" dirty="0"/>
              <a:t>' </a:t>
            </a:r>
            <a:r>
              <a:rPr lang="ru-RU" sz="1600" dirty="0"/>
              <a:t>,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Москва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', 8, </a:t>
            </a:r>
            <a:r>
              <a:rPr lang="en-US" sz="1600" i="1" dirty="0">
                <a:ea typeface="Calibri" pitchFamily="34" charset="0"/>
                <a:cs typeface="Arial" pitchFamily="34" charset="0"/>
              </a:rPr>
              <a:t>NULL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UPDATE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SET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= Raiting+1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WHERE</a:t>
            </a: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=</a:t>
            </a:r>
            <a:r>
              <a:rPr lang="en-US" sz="1600" dirty="0"/>
              <a:t> '</a:t>
            </a:r>
            <a:r>
              <a:rPr lang="ru-RU" sz="1600" dirty="0" err="1"/>
              <a:t>Эксмо</a:t>
            </a:r>
            <a:r>
              <a:rPr lang="en-US" sz="1600" dirty="0"/>
              <a:t>-</a:t>
            </a:r>
            <a:r>
              <a:rPr lang="ru-RU" sz="1600" dirty="0"/>
              <a:t>АСТ</a:t>
            </a:r>
            <a:r>
              <a:rPr lang="en-US" sz="1600" dirty="0"/>
              <a:t>'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*</a:t>
            </a:r>
            <a:r>
              <a:rPr lang="ru-RU" sz="1400" b="1" dirty="0">
                <a:ea typeface="Calibri" pitchFamily="34" charset="0"/>
                <a:cs typeface="Arial" pitchFamily="34" charset="0"/>
              </a:rPr>
              <a:t> </a:t>
            </a:r>
            <a:r>
              <a:rPr lang="ru-RU" sz="1400" i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данные будут добавлены</a:t>
            </a:r>
            <a:r>
              <a:rPr lang="ru-RU" sz="1400" b="1" i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,</a:t>
            </a:r>
            <a:r>
              <a:rPr lang="ru-RU" sz="1400" i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 если поле первичного ключа в таблице </a:t>
            </a:r>
            <a:r>
              <a:rPr lang="en-US" sz="1400" i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Publishing_house</a:t>
            </a:r>
            <a:r>
              <a:rPr lang="ru-RU" sz="1400" i="1" dirty="0">
                <a:solidFill>
                  <a:schemeClr val="accent2"/>
                </a:solidFill>
                <a:ea typeface="Calibri" pitchFamily="34" charset="0"/>
                <a:cs typeface="Arial" pitchFamily="34" charset="0"/>
              </a:rPr>
              <a:t> является автоинкрементным</a:t>
            </a:r>
            <a:endParaRPr kumimoji="0" lang="ru-RU" sz="1400" i="1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929158" y="4071942"/>
            <a:ext cx="421484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DELETE </a:t>
            </a:r>
            <a:r>
              <a:rPr lang="en-US" sz="1600" b="1" dirty="0">
                <a:ea typeface="Calibri" pitchFamily="34" charset="0"/>
                <a:cs typeface="Arial" pitchFamily="34" charset="0"/>
              </a:rPr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WHERE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= </a:t>
            </a:r>
            <a:r>
              <a:rPr lang="en-US" sz="1600" dirty="0"/>
              <a:t>'</a:t>
            </a:r>
            <a:r>
              <a:rPr lang="ru-RU" sz="1600" dirty="0" err="1"/>
              <a:t>Эксмо</a:t>
            </a:r>
            <a:r>
              <a:rPr lang="en-US" sz="1600" dirty="0"/>
              <a:t>-</a:t>
            </a:r>
            <a:r>
              <a:rPr lang="ru-RU" sz="1600" dirty="0"/>
              <a:t>АСТ</a:t>
            </a:r>
            <a:r>
              <a:rPr lang="en-US" sz="1600" dirty="0"/>
              <a:t>'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cs typeface="Times New Roman" pitchFamily="18" charset="0"/>
              </a:rPr>
              <a:t>Вызов представления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:</a:t>
            </a:r>
            <a:endParaRPr lang="ru-RU" sz="1600" dirty="0"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/>
              <a:t>SELECT </a:t>
            </a:r>
            <a:r>
              <a:rPr lang="ru-RU" sz="1600" dirty="0"/>
              <a:t>*</a:t>
            </a:r>
          </a:p>
          <a:p>
            <a:r>
              <a:rPr lang="ru-RU" sz="1600" b="1" dirty="0"/>
              <a:t>FROM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Publishing_house_view</a:t>
            </a:r>
            <a:endParaRPr lang="ru-RU" sz="1600" dirty="0"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ea typeface="Calibri" pitchFamily="34" charset="0"/>
              <a:cs typeface="Arial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rot="5400000">
            <a:off x="3751257" y="5321313"/>
            <a:ext cx="2357454" cy="15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57166"/>
          </a:xfrm>
        </p:spPr>
        <p:txBody>
          <a:bodyPr>
            <a:noAutofit/>
          </a:bodyPr>
          <a:lstStyle/>
          <a:p>
            <a:r>
              <a:rPr lang="ru-RU" sz="2300" dirty="0"/>
              <a:t>Представления/</a:t>
            </a:r>
            <a:r>
              <a:rPr lang="en-US" sz="2300" dirty="0"/>
              <a:t>VIEW</a:t>
            </a:r>
            <a:r>
              <a:rPr lang="ru-RU" sz="2300" dirty="0"/>
              <a:t>, скрывающие строки и команды модификации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63915"/>
            <a:ext cx="9001156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ea typeface="Calibri" pitchFamily="34" charset="0"/>
                <a:cs typeface="Arial" pitchFamily="34" charset="0"/>
              </a:rPr>
              <a:t>Создание представления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Publishing_house_view_more_than_5 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: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CREATE VIEW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Publishing_house_view_more_than_5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AS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SELECT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City,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Telephone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FROM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Publishing_house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WHERE</a:t>
            </a:r>
            <a:r>
              <a:rPr lang="en-US" sz="1600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&gt;5;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solidFill>
                <a:srgbClr val="0070C0"/>
              </a:solidFill>
              <a:ea typeface="Calibri" pitchFamily="34" charset="0"/>
              <a:cs typeface="Arial" pitchFamily="34" charset="0"/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INSERT INTO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Publishing_house_view_more_than_5</a:t>
            </a:r>
            <a:endParaRPr lang="ru-RU" sz="1600" dirty="0"/>
          </a:p>
          <a:p>
            <a:r>
              <a:rPr lang="en-US" sz="1600" b="1" dirty="0"/>
              <a:t>VALUES</a:t>
            </a:r>
            <a:r>
              <a:rPr lang="ru-RU" sz="1600" dirty="0"/>
              <a:t> ('Лань',  'Санкт-Петербург', </a:t>
            </a:r>
            <a:r>
              <a:rPr lang="ru-RU" sz="1600" i="1" dirty="0"/>
              <a:t>4</a:t>
            </a:r>
            <a:r>
              <a:rPr lang="ru-RU" sz="1600" dirty="0"/>
              <a:t>, </a:t>
            </a:r>
            <a:r>
              <a:rPr lang="en-US" sz="1600" i="1" dirty="0"/>
              <a:t>NULL</a:t>
            </a:r>
            <a:r>
              <a:rPr lang="ru-RU" sz="1600" dirty="0"/>
              <a:t>);</a:t>
            </a:r>
          </a:p>
          <a:p>
            <a:endParaRPr lang="ru-RU" sz="16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UPDATE </a:t>
            </a:r>
            <a:r>
              <a:rPr lang="en-US" sz="1600" dirty="0"/>
              <a:t>Publishing_house_view_more_than_5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SET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= 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3</a:t>
            </a:r>
            <a:endParaRPr lang="en-US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WHERE</a:t>
            </a: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=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</a:t>
            </a:r>
            <a:r>
              <a:rPr lang="ru-RU" sz="1600" dirty="0" err="1">
                <a:ea typeface="Calibri" pitchFamily="34" charset="0"/>
                <a:cs typeface="Arial" pitchFamily="34" charset="0"/>
              </a:rPr>
              <a:t>Эксмо</a:t>
            </a:r>
            <a:r>
              <a:rPr lang="en-US" sz="1600" dirty="0"/>
              <a:t> -</a:t>
            </a:r>
            <a:r>
              <a:rPr lang="ru-RU" sz="1600" dirty="0"/>
              <a:t>АСТ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'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endParaRPr lang="ru-RU" sz="1600" dirty="0"/>
          </a:p>
          <a:p>
            <a:r>
              <a:rPr lang="ru-RU" sz="1600" dirty="0"/>
              <a:t>При вызов представления, добавленная и обновленная записи не будут выведены, поскольку в этих записях в поле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,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 значения не соответствуют условию заданному при создании представления</a:t>
            </a:r>
            <a:r>
              <a:rPr lang="ru-RU" sz="1600" dirty="0"/>
              <a:t>:</a:t>
            </a:r>
          </a:p>
          <a:p>
            <a:r>
              <a:rPr lang="en-US" sz="1600" b="1" dirty="0">
                <a:ea typeface="Calibri" pitchFamily="34" charset="0"/>
                <a:cs typeface="Arial" pitchFamily="34" charset="0"/>
              </a:rPr>
              <a:t>SELECT</a:t>
            </a:r>
            <a:r>
              <a:rPr lang="ru-RU" sz="1600" b="1" dirty="0">
                <a:ea typeface="Calibri" pitchFamily="34" charset="0"/>
                <a:cs typeface="Arial" pitchFamily="34" charset="0"/>
              </a:rPr>
              <a:t> *</a:t>
            </a:r>
          </a:p>
          <a:p>
            <a:r>
              <a:rPr lang="en-US" sz="1600" b="1" dirty="0">
                <a:ea typeface="Calibri" pitchFamily="34" charset="0"/>
                <a:cs typeface="Arial" pitchFamily="34" charset="0"/>
              </a:rPr>
              <a:t>FROM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Publishing_house_view_more_than_5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endParaRPr lang="ru-RU" sz="1600" dirty="0">
              <a:cs typeface="Arial" pitchFamily="34" charset="0"/>
            </a:endParaRPr>
          </a:p>
          <a:p>
            <a:r>
              <a:rPr lang="ru-RU" sz="1600" dirty="0">
                <a:cs typeface="Arial" pitchFamily="34" charset="0"/>
              </a:rPr>
              <a:t>Решением проблемы может стать добавление опции </a:t>
            </a:r>
            <a:r>
              <a:rPr lang="ru-RU" sz="1600" b="1" dirty="0"/>
              <a:t>WITH CHECK OPTION: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CREATE VIEW 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Publishing_house_view_more_than_5</a:t>
            </a:r>
            <a:endParaRPr lang="ru-RU" sz="1600" dirty="0">
              <a:ea typeface="Calibri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AS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SELECT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Name_publ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City,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, Telephone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ea typeface="Calibri" pitchFamily="34" charset="0"/>
                <a:cs typeface="Arial" pitchFamily="34" charset="0"/>
              </a:rPr>
              <a:t>FROM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 Publishing_house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WHERE</a:t>
            </a:r>
            <a:r>
              <a:rPr lang="en-US" sz="1600" dirty="0">
                <a:solidFill>
                  <a:srgbClr val="0070C0"/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 err="1">
                <a:ea typeface="Calibri" pitchFamily="34" charset="0"/>
                <a:cs typeface="Arial" pitchFamily="34" charset="0"/>
              </a:rPr>
              <a:t>Raiting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&gt;5</a:t>
            </a:r>
            <a:r>
              <a:rPr lang="ru-RU" sz="1600" dirty="0">
                <a:ea typeface="Calibri" pitchFamily="34" charset="0"/>
                <a:cs typeface="Arial" pitchFamily="34" charset="0"/>
              </a:rPr>
              <a:t> </a:t>
            </a:r>
            <a:r>
              <a:rPr lang="ru-RU" sz="1600" b="1" dirty="0">
                <a:solidFill>
                  <a:srgbClr val="0070C0"/>
                </a:solidFill>
              </a:rPr>
              <a:t>WITH CHECK OPTION</a:t>
            </a:r>
            <a:r>
              <a:rPr lang="en-US" sz="1600" dirty="0">
                <a:ea typeface="Calibri" pitchFamily="34" charset="0"/>
                <a:cs typeface="Arial" pitchFamily="34" charset="0"/>
              </a:rPr>
              <a:t>;</a:t>
            </a:r>
            <a:endParaRPr lang="ru-RU" dirty="0">
              <a:ea typeface="Calibri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Агрегатные функции в представлениях</a:t>
            </a:r>
            <a:endParaRPr lang="ru-RU" sz="2800" dirty="0"/>
          </a:p>
        </p:txBody>
      </p:sp>
      <p:sp>
        <p:nvSpPr>
          <p:cNvPr id="111617" name="Rectangle 1"/>
          <p:cNvSpPr>
            <a:spLocks noChangeArrowheads="1"/>
          </p:cNvSpPr>
          <p:nvPr/>
        </p:nvSpPr>
        <p:spPr bwMode="auto">
          <a:xfrm>
            <a:off x="142844" y="857233"/>
            <a:ext cx="8786874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Представление для просмотра успеваемости: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CREATE VIEW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Total_day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AS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 </a:t>
            </a:r>
            <a:r>
              <a:rPr lang="en-US" sz="1600" dirty="0"/>
              <a:t>Surname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,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Name,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COUNT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Subj_id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)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AS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Subj_quantity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,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ea typeface="Calibri" pitchFamily="34" charset="0"/>
                <a:cs typeface="Arial" pitchFamily="34" charset="0"/>
              </a:rPr>
              <a:t>		    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AVG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(CAST(Mark as float))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AS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Mark_avg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FROM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Exam_mark e,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Student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s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WHERE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e.Student_id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=s.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Student_id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GROUP BY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 </a:t>
            </a:r>
            <a:r>
              <a:rPr lang="en-US" sz="1600" dirty="0"/>
              <a:t>Surname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,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Name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;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600" dirty="0">
                <a:ea typeface="Calibri" pitchFamily="34" charset="0"/>
                <a:cs typeface="Arial" pitchFamily="34" charset="0"/>
              </a:rPr>
              <a:t>Ув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идеть данные можно с помощью простого запроса к представлению: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SELECT * 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FROM </a:t>
            </a:r>
            <a:r>
              <a:rPr kumimoji="0" 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Total_day</a:t>
            </a: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;</a:t>
            </a: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600" dirty="0">
              <a:cs typeface="Arial" pitchFamily="34" charset="0"/>
            </a:endParaRPr>
          </a:p>
          <a:p>
            <a:r>
              <a:rPr lang="en-US" sz="1600" b="1" dirty="0"/>
              <a:t>CREATE VIEW</a:t>
            </a:r>
            <a:r>
              <a:rPr lang="en-US" sz="1600" dirty="0"/>
              <a:t> </a:t>
            </a:r>
            <a:r>
              <a:rPr lang="en-US" sz="1600" dirty="0" err="1"/>
              <a:t>Student_Subject</a:t>
            </a:r>
            <a:r>
              <a:rPr lang="en-US" sz="1600" dirty="0"/>
              <a:t>  </a:t>
            </a:r>
            <a:r>
              <a:rPr lang="en-US" sz="1600" b="1" dirty="0"/>
              <a:t>AS</a:t>
            </a:r>
            <a:endParaRPr lang="ru-RU" sz="1600" dirty="0"/>
          </a:p>
          <a:p>
            <a:r>
              <a:rPr lang="en-US" sz="1600" b="1" dirty="0"/>
              <a:t>SELECT</a:t>
            </a:r>
            <a:r>
              <a:rPr lang="en-US" sz="1600" dirty="0"/>
              <a:t> Surname, </a:t>
            </a:r>
            <a:r>
              <a:rPr lang="en-US" sz="1600" dirty="0" err="1"/>
              <a:t>Subj_name</a:t>
            </a:r>
            <a:r>
              <a:rPr lang="ru-RU" sz="1600" dirty="0"/>
              <a:t>, </a:t>
            </a:r>
            <a:r>
              <a:rPr lang="en-US" sz="1600" dirty="0"/>
              <a:t>Mark </a:t>
            </a:r>
            <a:endParaRPr lang="ru-RU" sz="1600" dirty="0"/>
          </a:p>
          <a:p>
            <a:r>
              <a:rPr lang="en-US" sz="1600" b="1" dirty="0"/>
              <a:t>FROM </a:t>
            </a:r>
            <a:r>
              <a:rPr lang="en-US" sz="1600" dirty="0"/>
              <a:t>Student a, Exam_mark b, Subject c 	</a:t>
            </a:r>
            <a:endParaRPr lang="ru-RU" sz="1600" dirty="0"/>
          </a:p>
          <a:p>
            <a:r>
              <a:rPr lang="en-US" sz="1600" b="1" dirty="0"/>
              <a:t>WHERE </a:t>
            </a:r>
            <a:r>
              <a:rPr lang="en-US" sz="1600" dirty="0" err="1"/>
              <a:t>a.Student_id</a:t>
            </a:r>
            <a:r>
              <a:rPr lang="en-US" sz="1600" dirty="0"/>
              <a:t> = </a:t>
            </a:r>
            <a:r>
              <a:rPr lang="en-US" sz="1600" dirty="0" err="1"/>
              <a:t>b.Student_id</a:t>
            </a:r>
            <a:r>
              <a:rPr lang="en-US" sz="1600" dirty="0"/>
              <a:t> </a:t>
            </a:r>
            <a:r>
              <a:rPr lang="en-US" sz="1600" b="1" dirty="0"/>
              <a:t>AND</a:t>
            </a:r>
            <a:r>
              <a:rPr lang="en-US" sz="1600" dirty="0"/>
              <a:t> </a:t>
            </a:r>
            <a:r>
              <a:rPr lang="en-US" sz="1600" dirty="0" err="1"/>
              <a:t>b.Subj_id</a:t>
            </a:r>
            <a:r>
              <a:rPr lang="en-US" sz="1600" dirty="0"/>
              <a:t> = </a:t>
            </a:r>
            <a:r>
              <a:rPr lang="en-US" sz="1600" dirty="0" err="1"/>
              <a:t>c.Subj_id</a:t>
            </a:r>
            <a:endParaRPr lang="en-US" sz="1600" dirty="0"/>
          </a:p>
          <a:p>
            <a:endParaRPr lang="ru-RU" sz="1600" dirty="0"/>
          </a:p>
          <a:p>
            <a:pPr lvl="0"/>
            <a:r>
              <a:rPr lang="ru-RU" sz="1600" dirty="0">
                <a:cs typeface="Arial" pitchFamily="34" charset="0"/>
              </a:rPr>
              <a:t>Создав представление </a:t>
            </a:r>
            <a:r>
              <a:rPr lang="en-US" sz="1600" dirty="0" err="1"/>
              <a:t>Student_Subject</a:t>
            </a:r>
            <a:r>
              <a:rPr lang="en-US" sz="1600" dirty="0"/>
              <a:t> </a:t>
            </a:r>
            <a:r>
              <a:rPr lang="ru-RU" sz="1600" dirty="0">
                <a:cs typeface="Arial" pitchFamily="34" charset="0"/>
              </a:rPr>
              <a:t>, можно будет узнать, следующую информацию: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282" y="5572140"/>
            <a:ext cx="32656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SELECT</a:t>
            </a:r>
            <a:r>
              <a:rPr lang="en-US" sz="1600" dirty="0"/>
              <a:t> Surname</a:t>
            </a:r>
            <a:endParaRPr lang="ru-RU" sz="1600" dirty="0"/>
          </a:p>
          <a:p>
            <a:r>
              <a:rPr lang="en-US" sz="1600" b="1" dirty="0"/>
              <a:t>FROM</a:t>
            </a:r>
            <a:r>
              <a:rPr lang="en-US" sz="1600" dirty="0"/>
              <a:t> </a:t>
            </a:r>
            <a:r>
              <a:rPr lang="en-US" sz="1600" dirty="0" err="1"/>
              <a:t>Student_Subject</a:t>
            </a:r>
            <a:endParaRPr lang="ru-RU" sz="1600" dirty="0"/>
          </a:p>
          <a:p>
            <a:r>
              <a:rPr lang="en-US" sz="1600" b="1" dirty="0"/>
              <a:t>WHERE</a:t>
            </a:r>
            <a:r>
              <a:rPr lang="en-US" sz="1600" dirty="0"/>
              <a:t> </a:t>
            </a:r>
            <a:r>
              <a:rPr lang="en-US" sz="1600" dirty="0" err="1"/>
              <a:t>Subj_name</a:t>
            </a:r>
            <a:r>
              <a:rPr lang="en-US" sz="1600" dirty="0"/>
              <a:t> = '</a:t>
            </a:r>
            <a:r>
              <a:rPr lang="ru-RU" sz="1600" dirty="0"/>
              <a:t>Базы данных</a:t>
            </a:r>
            <a:r>
              <a:rPr lang="en-US" sz="1600" dirty="0"/>
              <a:t>';</a:t>
            </a:r>
            <a:endParaRPr lang="ru-RU" sz="1600" dirty="0"/>
          </a:p>
          <a:p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857752" y="5572140"/>
            <a:ext cx="25891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SELECT</a:t>
            </a:r>
            <a:r>
              <a:rPr lang="en-US" sz="1600" dirty="0"/>
              <a:t> </a:t>
            </a:r>
            <a:r>
              <a:rPr lang="en-US" sz="1600" dirty="0" err="1"/>
              <a:t>Subj_name</a:t>
            </a:r>
            <a:r>
              <a:rPr lang="en-US" sz="1600" dirty="0"/>
              <a:t> </a:t>
            </a:r>
            <a:endParaRPr lang="ru-RU" sz="1600" dirty="0"/>
          </a:p>
          <a:p>
            <a:r>
              <a:rPr lang="en-US" sz="1600" b="1" dirty="0"/>
              <a:t>FROM</a:t>
            </a:r>
            <a:r>
              <a:rPr lang="en-US" sz="1600" dirty="0"/>
              <a:t> </a:t>
            </a:r>
            <a:r>
              <a:rPr lang="en-US" sz="1600" dirty="0" err="1"/>
              <a:t>Student_Subject</a:t>
            </a:r>
            <a:endParaRPr lang="ru-RU" sz="1600" dirty="0"/>
          </a:p>
          <a:p>
            <a:r>
              <a:rPr lang="en-US" sz="1600" b="1" dirty="0"/>
              <a:t>WHERE</a:t>
            </a:r>
            <a:r>
              <a:rPr lang="en-US" sz="1600" dirty="0"/>
              <a:t> Surname</a:t>
            </a:r>
            <a:r>
              <a:rPr lang="ru-RU" sz="1600" dirty="0"/>
              <a:t> = 'Иванов';</a:t>
            </a:r>
          </a:p>
          <a:p>
            <a:endParaRPr lang="ru-RU" sz="1600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5720" y="3929066"/>
            <a:ext cx="8501122" cy="15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4282" y="2433245"/>
            <a:ext cx="857256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ea typeface="Times New Roman" pitchFamily="18" charset="0"/>
                <a:cs typeface="Calibri" pitchFamily="34" charset="0"/>
              </a:rPr>
              <a:t>Представление для просмотра  сколько сотрудников  однофамильцев есть  в каждом отделе: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CREATE VIEW 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С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ount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_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с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ooperator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_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homonym </a:t>
            </a:r>
            <a:endParaRPr lang="ru-RU" sz="1800" dirty="0">
              <a:ea typeface="Times New Roman" pitchFamily="18" charset="0"/>
              <a:cs typeface="Calibri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AS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SELECT 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d.Name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 '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Отдел', 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c.Surname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 '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Фамилия', </a:t>
            </a:r>
            <a:r>
              <a:rPr lang="en-US" sz="1800" b="1" dirty="0">
                <a:ea typeface="Times New Roman" pitchFamily="18" charset="0"/>
                <a:cs typeface="Calibri" pitchFamily="34" charset="0"/>
              </a:rPr>
              <a:t>COUNT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(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c.Surname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) '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Количество'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FROM 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Cooperator  c, Department d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WHERE 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c.Dept_id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=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d.Dept_id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800" b="1" dirty="0">
                <a:ea typeface="Times New Roman" pitchFamily="18" charset="0"/>
                <a:cs typeface="Calibri" pitchFamily="34" charset="0"/>
              </a:rPr>
              <a:t>		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GROUP BY 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d.Name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,</a:t>
            </a:r>
            <a:r>
              <a:rPr lang="ru-RU" sz="1800" dirty="0"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c.Surname</a:t>
            </a:r>
            <a:endParaRPr lang="ru-RU" sz="1800" dirty="0">
              <a:ea typeface="Times New Roman" pitchFamily="18" charset="0"/>
              <a:cs typeface="Calibri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ea typeface="Times New Roman" pitchFamily="18" charset="0"/>
                <a:cs typeface="Calibri" pitchFamily="34" charset="0"/>
              </a:rPr>
              <a:t>HAVING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 </a:t>
            </a:r>
            <a:r>
              <a:rPr lang="en-US" sz="1800" b="1" dirty="0">
                <a:ea typeface="Times New Roman" pitchFamily="18" charset="0"/>
                <a:cs typeface="Calibri" pitchFamily="34" charset="0"/>
              </a:rPr>
              <a:t>COUNT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(</a:t>
            </a:r>
            <a:r>
              <a:rPr lang="en-US" sz="1800" dirty="0" err="1">
                <a:ea typeface="Times New Roman" pitchFamily="18" charset="0"/>
                <a:cs typeface="Calibri" pitchFamily="34" charset="0"/>
              </a:rPr>
              <a:t>c.Surname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) &gt;1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ea typeface="Times New Roman" pitchFamily="18" charset="0"/>
                <a:cs typeface="Calibri" pitchFamily="34" charset="0"/>
              </a:rPr>
              <a:t>ORDER BY </a:t>
            </a:r>
            <a:r>
              <a:rPr lang="en-US" sz="1800" dirty="0">
                <a:ea typeface="Times New Roman" pitchFamily="18" charset="0"/>
                <a:cs typeface="Calibri" pitchFamily="34" charset="0"/>
              </a:rPr>
              <a:t>3</a:t>
            </a:r>
            <a:r>
              <a:rPr lang="en-US" sz="1800" b="1" dirty="0">
                <a:ea typeface="Times New Roman" pitchFamily="18" charset="0"/>
                <a:cs typeface="Calibri" pitchFamily="34" charset="0"/>
              </a:rPr>
              <a:t> DESC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cs typeface="Arial" pitchFamily="34" charset="0"/>
              </a:rPr>
              <a:t>OFFSET 0 ROWS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cs typeface="Arial" pitchFamily="34" charset="0"/>
              </a:rPr>
              <a:t>    FETCH NEXT 10 ROWS ONLY</a:t>
            </a:r>
            <a:endParaRPr kumimoji="0" lang="en-US" sz="1800" b="1" i="0" u="none" cap="none" normalizeH="0" baseline="0" dirty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Ограничения в представлениях:</a:t>
            </a:r>
            <a:endParaRPr lang="ru-R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14282" y="1071546"/>
            <a:ext cx="8643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>
                <a:ea typeface="Times New Roman" pitchFamily="18" charset="0"/>
                <a:cs typeface="Calibri" pitchFamily="34" charset="0"/>
              </a:rPr>
              <a:t>В представлении можно применять сортировку  </a:t>
            </a:r>
            <a:r>
              <a:rPr lang="en-US" b="1" dirty="0">
                <a:ea typeface="Times New Roman" pitchFamily="18" charset="0"/>
                <a:cs typeface="Calibri" pitchFamily="34" charset="0"/>
              </a:rPr>
              <a:t>ORDER BY  </a:t>
            </a:r>
            <a:r>
              <a:rPr lang="ru-RU" dirty="0">
                <a:ea typeface="Times New Roman" pitchFamily="18" charset="0"/>
                <a:cs typeface="Calibri" pitchFamily="34" charset="0"/>
              </a:rPr>
              <a:t>если указать оператор  </a:t>
            </a:r>
            <a:r>
              <a:rPr lang="en-US" b="1" dirty="0">
                <a:ea typeface="Times New Roman" pitchFamily="18" charset="0"/>
                <a:cs typeface="Calibri" pitchFamily="34" charset="0"/>
              </a:rPr>
              <a:t>OFFSET</a:t>
            </a:r>
            <a:r>
              <a:rPr lang="ru-RU" dirty="0">
                <a:ea typeface="Times New Roman" pitchFamily="18" charset="0"/>
                <a:cs typeface="Calibri" pitchFamily="34" charset="0"/>
              </a:rPr>
              <a:t>.</a:t>
            </a:r>
            <a:endParaRPr lang="ru-RU" dirty="0">
              <a:cs typeface="Arial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Модифицируемые и </a:t>
            </a:r>
            <a:r>
              <a:rPr lang="ru-RU" dirty="0" err="1"/>
              <a:t>немодифицируемые</a:t>
            </a:r>
            <a:r>
              <a:rPr lang="ru-RU" dirty="0"/>
              <a:t> представления</a:t>
            </a:r>
            <a:endParaRPr lang="ru-R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85720" y="857232"/>
            <a:ext cx="86439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Модифицируемое представление</a:t>
            </a:r>
            <a:r>
              <a:rPr lang="ru-RU" dirty="0"/>
              <a:t> — это  представление, относительно которого можно применить команды модификации UPDATE/INSERT/DELETE.</a:t>
            </a:r>
          </a:p>
          <a:p>
            <a:endParaRPr lang="ru-RU" dirty="0"/>
          </a:p>
          <a:p>
            <a:r>
              <a:rPr lang="ru-RU" dirty="0"/>
              <a:t>Критерии модифицируемости представления: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Содержит первичный ключ базовой таблицы, если ключ не автоинкрементный.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Не содержит агрегатные функции.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Не содержит  ключевое слово </a:t>
            </a:r>
            <a:r>
              <a:rPr lang="en-US" b="1" dirty="0"/>
              <a:t>DISTINCT</a:t>
            </a:r>
            <a:r>
              <a:rPr lang="ru-RU" dirty="0"/>
              <a:t>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Нет </a:t>
            </a:r>
            <a:r>
              <a:rPr lang="en-US" b="1" dirty="0"/>
              <a:t>GROUP BY</a:t>
            </a:r>
            <a:r>
              <a:rPr lang="ru-RU" dirty="0"/>
              <a:t> или </a:t>
            </a:r>
            <a:r>
              <a:rPr lang="en-US" b="1" dirty="0"/>
              <a:t>HAVING</a:t>
            </a:r>
            <a:r>
              <a:rPr lang="ru-RU" dirty="0"/>
              <a:t> в определении представления.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Нет подзапросов.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Может быть использовано в другом представлении, но это представление должно быть также модифицируемыми.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dirty="0"/>
              <a:t>В определении представления нет полей вывода константы или выражения значений.</a:t>
            </a:r>
            <a:endParaRPr lang="en-US" dirty="0"/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Если в описание представления более одной базовой таблицы</a:t>
            </a:r>
            <a:r>
              <a:rPr lang="en-US" dirty="0"/>
              <a:t> =&gt;</a:t>
            </a:r>
            <a:r>
              <a:rPr lang="ru-RU" dirty="0"/>
              <a:t> команды модификации могут быть применены только к полям одной из них.</a:t>
            </a:r>
          </a:p>
          <a:p>
            <a:pPr marL="342900" lvl="0" indent="-342900">
              <a:buFont typeface="+mj-lt"/>
              <a:buAutoNum type="arabicParenR"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658196" cy="642942"/>
          </a:xfrm>
        </p:spPr>
        <p:txBody>
          <a:bodyPr>
            <a:noAutofit/>
          </a:bodyPr>
          <a:lstStyle/>
          <a:p>
            <a:r>
              <a:rPr lang="ru-RU" sz="2000" dirty="0"/>
              <a:t>Пример, модифицируемого представления с оператором соединения </a:t>
            </a:r>
            <a:r>
              <a:rPr lang="en-US" sz="2000" dirty="0"/>
              <a:t>JOIN</a:t>
            </a:r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Создадим таблицу «Книга» для хранения данных о книге:</a:t>
            </a:r>
            <a:endParaRPr lang="en-US" sz="1400" dirty="0"/>
          </a:p>
          <a:p>
            <a:r>
              <a:rPr lang="en-US" sz="1400" dirty="0">
                <a:solidFill>
                  <a:srgbClr val="0000FF"/>
                </a:solidFill>
              </a:rPr>
              <a:t>CREATE TABLE </a:t>
            </a:r>
            <a:r>
              <a:rPr lang="en-US" sz="1400" dirty="0">
                <a:solidFill>
                  <a:srgbClr val="008080"/>
                </a:solidFill>
              </a:rPr>
              <a:t>Book</a:t>
            </a:r>
          </a:p>
          <a:p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Id_book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INT PRIMARY KEY IDENTITY </a:t>
            </a:r>
            <a:r>
              <a:rPr lang="en-US" sz="1400" dirty="0">
                <a:solidFill>
                  <a:srgbClr val="808080"/>
                </a:solidFill>
              </a:rPr>
              <a:t>(1, 1),</a:t>
            </a:r>
          </a:p>
          <a:p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VARCHAR</a:t>
            </a:r>
            <a:r>
              <a:rPr lang="en-US" sz="1400" dirty="0">
                <a:solidFill>
                  <a:srgbClr val="808080"/>
                </a:solidFill>
              </a:rPr>
              <a:t>(30) </a:t>
            </a:r>
            <a:r>
              <a:rPr lang="en-US" sz="1400" dirty="0">
                <a:solidFill>
                  <a:srgbClr val="0000FF"/>
                </a:solidFill>
              </a:rPr>
              <a:t>CHECK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NOT LIKE </a:t>
            </a:r>
            <a:r>
              <a:rPr lang="en-US" sz="1400" dirty="0">
                <a:solidFill>
                  <a:srgbClr val="FF0000"/>
                </a:solidFill>
              </a:rPr>
              <a:t>'%[-^:\|.,/=&gt;&lt;"@#?№&amp;*+0-9~%]%' </a:t>
            </a:r>
            <a:r>
              <a:rPr lang="en-US" sz="1400" dirty="0">
                <a:solidFill>
                  <a:srgbClr val="0000FF"/>
                </a:solidFill>
              </a:rPr>
              <a:t>ESCAPE </a:t>
            </a:r>
            <a:r>
              <a:rPr lang="en-US" sz="1400" dirty="0">
                <a:solidFill>
                  <a:srgbClr val="FF0000"/>
                </a:solidFill>
              </a:rPr>
              <a:t>'~'</a:t>
            </a:r>
            <a:r>
              <a:rPr lang="en-US" sz="1400" dirty="0">
                <a:solidFill>
                  <a:srgbClr val="808080"/>
                </a:solidFill>
              </a:rPr>
              <a:t>),</a:t>
            </a:r>
          </a:p>
          <a:p>
            <a:r>
              <a:rPr lang="en-US" sz="1400" dirty="0" err="1">
                <a:solidFill>
                  <a:srgbClr val="008080"/>
                </a:solidFill>
              </a:rPr>
              <a:t>Surname_author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VARCHAR</a:t>
            </a:r>
            <a:r>
              <a:rPr lang="en-US" sz="1400" dirty="0">
                <a:solidFill>
                  <a:srgbClr val="808080"/>
                </a:solidFill>
              </a:rPr>
              <a:t>(30) </a:t>
            </a:r>
            <a:r>
              <a:rPr lang="en-US" sz="1400" dirty="0">
                <a:solidFill>
                  <a:srgbClr val="0000FF"/>
                </a:solidFill>
              </a:rPr>
              <a:t>CHECK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Surname_author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NOT LIKE </a:t>
            </a:r>
            <a:r>
              <a:rPr lang="en-US" sz="1400" dirty="0">
                <a:solidFill>
                  <a:srgbClr val="FF0000"/>
                </a:solidFill>
              </a:rPr>
              <a:t>'%[-^:\|.,/=&gt;&lt;"@#?№&amp;*+0-9a-zA-Z~%]%' </a:t>
            </a:r>
            <a:r>
              <a:rPr lang="en-US" sz="1400" dirty="0">
                <a:solidFill>
                  <a:srgbClr val="0000FF"/>
                </a:solidFill>
              </a:rPr>
              <a:t>ESCAPE </a:t>
            </a:r>
            <a:r>
              <a:rPr lang="en-US" sz="1400" dirty="0">
                <a:solidFill>
                  <a:srgbClr val="FF0000"/>
                </a:solidFill>
              </a:rPr>
              <a:t>'~'</a:t>
            </a:r>
            <a:r>
              <a:rPr lang="en-US" sz="1400" dirty="0">
                <a:solidFill>
                  <a:srgbClr val="808080"/>
                </a:solidFill>
              </a:rPr>
              <a:t>),</a:t>
            </a:r>
          </a:p>
          <a:p>
            <a:r>
              <a:rPr lang="en-US" sz="1400" dirty="0" err="1">
                <a:solidFill>
                  <a:srgbClr val="008080"/>
                </a:solidFill>
              </a:rPr>
              <a:t>Name_author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VARCHAR</a:t>
            </a:r>
            <a:r>
              <a:rPr lang="en-US" sz="1400" dirty="0">
                <a:solidFill>
                  <a:srgbClr val="808080"/>
                </a:solidFill>
              </a:rPr>
              <a:t>(30) </a:t>
            </a:r>
            <a:r>
              <a:rPr lang="en-US" sz="1400" dirty="0">
                <a:solidFill>
                  <a:srgbClr val="0000FF"/>
                </a:solidFill>
              </a:rPr>
              <a:t>CHECK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Name_author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NOT LIKE </a:t>
            </a:r>
            <a:r>
              <a:rPr lang="en-US" sz="1400" dirty="0">
                <a:solidFill>
                  <a:srgbClr val="FF0000"/>
                </a:solidFill>
              </a:rPr>
              <a:t>'%[-^:\|.,/=&gt;&lt;"@#?№&amp;*+0-9a-zA-Z~%]%' </a:t>
            </a:r>
            <a:r>
              <a:rPr lang="en-US" sz="1400" dirty="0">
                <a:solidFill>
                  <a:srgbClr val="0000FF"/>
                </a:solidFill>
              </a:rPr>
              <a:t>ESCAPE </a:t>
            </a:r>
            <a:r>
              <a:rPr lang="en-US" sz="1400" dirty="0">
                <a:solidFill>
                  <a:srgbClr val="FF0000"/>
                </a:solidFill>
              </a:rPr>
              <a:t>'~'</a:t>
            </a:r>
            <a:r>
              <a:rPr lang="en-US" sz="1400" dirty="0">
                <a:solidFill>
                  <a:srgbClr val="808080"/>
                </a:solidFill>
              </a:rPr>
              <a:t>),</a:t>
            </a:r>
          </a:p>
          <a:p>
            <a:r>
              <a:rPr lang="en-US" sz="1400" dirty="0" err="1">
                <a:solidFill>
                  <a:srgbClr val="008080"/>
                </a:solidFill>
              </a:rPr>
              <a:t>Publication_date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date DEFAULT </a:t>
            </a:r>
            <a:r>
              <a:rPr lang="en-US" sz="1400" dirty="0" err="1">
                <a:solidFill>
                  <a:srgbClr val="FF00FF"/>
                </a:solidFill>
              </a:rPr>
              <a:t>Getdate</a:t>
            </a:r>
            <a:r>
              <a:rPr lang="en-US" sz="1400" dirty="0">
                <a:solidFill>
                  <a:srgbClr val="808080"/>
                </a:solidFill>
              </a:rPr>
              <a:t>(),</a:t>
            </a:r>
          </a:p>
          <a:p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INT FOREIGN KEY REFERENCES </a:t>
            </a:r>
            <a:r>
              <a:rPr lang="en-US" sz="1400" dirty="0">
                <a:solidFill>
                  <a:srgbClr val="008080"/>
                </a:solidFill>
              </a:rPr>
              <a:t>Publishing_house</a:t>
            </a:r>
            <a:r>
              <a:rPr lang="en-US" sz="1400" dirty="0">
                <a:solidFill>
                  <a:srgbClr val="808080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5" y="2357430"/>
            <a:ext cx="9068445" cy="482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Создадим представление для просмотра информации о книге и в каком издательстве была издана:</a:t>
            </a:r>
            <a:endParaRPr lang="en-US" sz="1400" dirty="0"/>
          </a:p>
          <a:p>
            <a:r>
              <a:rPr lang="en-US" sz="1400" dirty="0">
                <a:solidFill>
                  <a:srgbClr val="0000FF"/>
                </a:solidFill>
              </a:rPr>
              <a:t>CREATE VIEW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Name_publ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>
                <a:solidFill>
                  <a:srgbClr val="008080"/>
                </a:solidFill>
              </a:rPr>
              <a:t>City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Surname_author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Name_author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Publication_date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808080"/>
                </a:solidFill>
              </a:rPr>
              <a:t>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AS</a:t>
            </a:r>
          </a:p>
          <a:p>
            <a:r>
              <a:rPr lang="en-US" sz="1400" dirty="0">
                <a:solidFill>
                  <a:srgbClr val="0000FF"/>
                </a:solidFill>
              </a:rPr>
              <a:t>SELECT </a:t>
            </a:r>
            <a:r>
              <a:rPr lang="en-US" sz="1400" dirty="0" err="1">
                <a:solidFill>
                  <a:srgbClr val="008080"/>
                </a:solidFill>
              </a:rPr>
              <a:t>Name_publ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>
                <a:solidFill>
                  <a:srgbClr val="008080"/>
                </a:solidFill>
              </a:rPr>
              <a:t>City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Surname_author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Name_author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Publication_date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>
                <a:solidFill>
                  <a:srgbClr val="008080"/>
                </a:solidFill>
              </a:rPr>
              <a:t>b</a:t>
            </a:r>
            <a:r>
              <a:rPr lang="en-US" sz="1400" dirty="0">
                <a:solidFill>
                  <a:srgbClr val="808080"/>
                </a:solidFill>
              </a:rPr>
              <a:t>.</a:t>
            </a:r>
            <a:r>
              <a:rPr lang="en-US" sz="1400" dirty="0">
                <a:solidFill>
                  <a:srgbClr val="008080"/>
                </a:solidFill>
              </a:rPr>
              <a:t>Id_publ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FROM </a:t>
            </a:r>
            <a:r>
              <a:rPr lang="en-US" sz="1400" dirty="0">
                <a:solidFill>
                  <a:srgbClr val="008080"/>
                </a:solidFill>
              </a:rPr>
              <a:t>Publishing_house p </a:t>
            </a:r>
            <a:r>
              <a:rPr lang="en-US" sz="1400" dirty="0">
                <a:solidFill>
                  <a:srgbClr val="808080"/>
                </a:solidFill>
              </a:rPr>
              <a:t>JOIN </a:t>
            </a:r>
            <a:r>
              <a:rPr lang="en-US" sz="1400" dirty="0">
                <a:solidFill>
                  <a:srgbClr val="008080"/>
                </a:solidFill>
              </a:rPr>
              <a:t>Book b </a:t>
            </a:r>
            <a:r>
              <a:rPr lang="en-US" sz="1400" dirty="0">
                <a:solidFill>
                  <a:srgbClr val="0000FF"/>
                </a:solidFill>
              </a:rPr>
              <a:t>ON </a:t>
            </a:r>
            <a:r>
              <a:rPr lang="en-US" sz="1400" dirty="0" err="1">
                <a:solidFill>
                  <a:srgbClr val="008080"/>
                </a:solidFill>
              </a:rPr>
              <a:t>p</a:t>
            </a:r>
            <a:r>
              <a:rPr lang="en-US" sz="1400" dirty="0" err="1">
                <a:solidFill>
                  <a:srgbClr val="808080"/>
                </a:solidFill>
              </a:rPr>
              <a:t>.</a:t>
            </a:r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808080"/>
                </a:solidFill>
              </a:rPr>
              <a:t>=</a:t>
            </a:r>
            <a:r>
              <a:rPr lang="en-US" sz="1400" dirty="0">
                <a:solidFill>
                  <a:srgbClr val="008080"/>
                </a:solidFill>
              </a:rPr>
              <a:t>b</a:t>
            </a:r>
            <a:r>
              <a:rPr lang="en-US" sz="1400" dirty="0">
                <a:solidFill>
                  <a:srgbClr val="808080"/>
                </a:solidFill>
              </a:rPr>
              <a:t>.</a:t>
            </a:r>
            <a:r>
              <a:rPr lang="en-US" sz="1400" dirty="0">
                <a:solidFill>
                  <a:srgbClr val="008080"/>
                </a:solidFill>
              </a:rPr>
              <a:t>Id_publ</a:t>
            </a:r>
            <a:endParaRPr lang="ru-RU" sz="1400" dirty="0">
              <a:solidFill>
                <a:srgbClr val="008080"/>
              </a:solidFill>
            </a:endParaRPr>
          </a:p>
          <a:p>
            <a:endParaRPr lang="ru-RU" sz="1400" dirty="0"/>
          </a:p>
          <a:p>
            <a:r>
              <a:rPr lang="ru-RU" sz="1400" dirty="0"/>
              <a:t>Команда добавления данных не выполнится:</a:t>
            </a:r>
            <a:endParaRPr lang="en-US" sz="1400" dirty="0"/>
          </a:p>
          <a:p>
            <a:r>
              <a:rPr lang="en-US" sz="1350" dirty="0">
                <a:solidFill>
                  <a:srgbClr val="0000FF"/>
                </a:solidFill>
              </a:rPr>
              <a:t>INSERT INTO </a:t>
            </a:r>
            <a:r>
              <a:rPr lang="en-US" sz="1350" dirty="0" err="1">
                <a:solidFill>
                  <a:srgbClr val="008080"/>
                </a:solidFill>
              </a:rPr>
              <a:t>Publishing_house_view</a:t>
            </a:r>
            <a:r>
              <a:rPr lang="en-US" sz="1350" dirty="0">
                <a:solidFill>
                  <a:srgbClr val="0000FF"/>
                </a:solidFill>
              </a:rPr>
              <a:t> </a:t>
            </a:r>
            <a:r>
              <a:rPr lang="en-US" sz="1350" dirty="0">
                <a:solidFill>
                  <a:srgbClr val="808080"/>
                </a:solidFill>
              </a:rPr>
              <a:t>(</a:t>
            </a:r>
            <a:r>
              <a:rPr lang="en-US" sz="1350" dirty="0" err="1">
                <a:solidFill>
                  <a:srgbClr val="008080"/>
                </a:solidFill>
              </a:rPr>
              <a:t>Name_publ</a:t>
            </a:r>
            <a:r>
              <a:rPr lang="en-US" sz="1350" dirty="0">
                <a:solidFill>
                  <a:srgbClr val="808080"/>
                </a:solidFill>
              </a:rPr>
              <a:t>, </a:t>
            </a:r>
            <a:r>
              <a:rPr lang="en-US" sz="1350" dirty="0">
                <a:solidFill>
                  <a:srgbClr val="008080"/>
                </a:solidFill>
              </a:rPr>
              <a:t>City</a:t>
            </a:r>
            <a:r>
              <a:rPr lang="en-US" sz="1350" dirty="0">
                <a:solidFill>
                  <a:srgbClr val="808080"/>
                </a:solidFill>
              </a:rPr>
              <a:t>, </a:t>
            </a:r>
            <a:r>
              <a:rPr lang="en-US" sz="1350" dirty="0" err="1">
                <a:solidFill>
                  <a:srgbClr val="008080"/>
                </a:solidFill>
              </a:rPr>
              <a:t>Name_book</a:t>
            </a:r>
            <a:r>
              <a:rPr lang="en-US" sz="1350" dirty="0" err="1">
                <a:solidFill>
                  <a:srgbClr val="808080"/>
                </a:solidFill>
              </a:rPr>
              <a:t>,</a:t>
            </a:r>
            <a:r>
              <a:rPr lang="en-US" sz="1350" dirty="0" err="1">
                <a:solidFill>
                  <a:srgbClr val="008080"/>
                </a:solidFill>
              </a:rPr>
              <a:t>Surname_author</a:t>
            </a:r>
            <a:r>
              <a:rPr lang="en-US" sz="1350" dirty="0" err="1">
                <a:solidFill>
                  <a:srgbClr val="808080"/>
                </a:solidFill>
              </a:rPr>
              <a:t>,</a:t>
            </a:r>
            <a:r>
              <a:rPr lang="en-US" sz="1350" dirty="0" err="1">
                <a:solidFill>
                  <a:srgbClr val="008080"/>
                </a:solidFill>
              </a:rPr>
              <a:t>Name_author</a:t>
            </a:r>
            <a:r>
              <a:rPr lang="en-US" sz="1350" dirty="0">
                <a:solidFill>
                  <a:srgbClr val="808080"/>
                </a:solidFill>
              </a:rPr>
              <a:t>, </a:t>
            </a:r>
            <a:r>
              <a:rPr lang="en-US" sz="1350" dirty="0" err="1">
                <a:solidFill>
                  <a:srgbClr val="008080"/>
                </a:solidFill>
              </a:rPr>
              <a:t>Publication_date</a:t>
            </a:r>
            <a:r>
              <a:rPr lang="en-US" sz="1350" dirty="0">
                <a:solidFill>
                  <a:srgbClr val="808080"/>
                </a:solidFill>
              </a:rPr>
              <a:t>,</a:t>
            </a:r>
            <a:r>
              <a:rPr lang="ru-RU" sz="1350" dirty="0">
                <a:solidFill>
                  <a:srgbClr val="808080"/>
                </a:solidFill>
              </a:rPr>
              <a:t> </a:t>
            </a:r>
            <a:r>
              <a:rPr lang="en-US" sz="1350" dirty="0" err="1">
                <a:solidFill>
                  <a:srgbClr val="008080"/>
                </a:solidFill>
              </a:rPr>
              <a:t>Id_publ</a:t>
            </a:r>
            <a:r>
              <a:rPr lang="en-US" sz="1350" dirty="0">
                <a:solidFill>
                  <a:srgbClr val="808080"/>
                </a:solidFill>
              </a:rPr>
              <a:t>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VALUES 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>
                <a:solidFill>
                  <a:srgbClr val="FF0000"/>
                </a:solidFill>
              </a:rPr>
              <a:t>'</a:t>
            </a:r>
            <a:r>
              <a:rPr lang="ru-RU" sz="1400" dirty="0">
                <a:solidFill>
                  <a:srgbClr val="FF0000"/>
                </a:solidFill>
              </a:rPr>
              <a:t>Азбука-Аттикус'</a:t>
            </a:r>
            <a:r>
              <a:rPr lang="ru-RU" sz="1400" dirty="0">
                <a:solidFill>
                  <a:srgbClr val="808080"/>
                </a:solidFill>
              </a:rPr>
              <a:t>, </a:t>
            </a:r>
            <a:r>
              <a:rPr lang="en-US" sz="1400" dirty="0">
                <a:solidFill>
                  <a:srgbClr val="808080"/>
                </a:solidFill>
              </a:rPr>
              <a:t>Null, </a:t>
            </a:r>
            <a:r>
              <a:rPr lang="en-US" sz="1400" dirty="0">
                <a:solidFill>
                  <a:srgbClr val="FF0000"/>
                </a:solidFill>
              </a:rPr>
              <a:t>'</a:t>
            </a:r>
            <a:r>
              <a:rPr lang="ru-RU" sz="1400" dirty="0">
                <a:solidFill>
                  <a:srgbClr val="FF0000"/>
                </a:solidFill>
              </a:rPr>
              <a:t>Школа </a:t>
            </a:r>
            <a:r>
              <a:rPr lang="ru-RU" sz="1400" dirty="0" err="1">
                <a:solidFill>
                  <a:srgbClr val="FF0000"/>
                </a:solidFill>
              </a:rPr>
              <a:t>волшебства'</a:t>
            </a:r>
            <a:r>
              <a:rPr lang="ru-RU" sz="1400" dirty="0" err="1">
                <a:solidFill>
                  <a:srgbClr val="808080"/>
                </a:solidFill>
              </a:rPr>
              <a:t>,</a:t>
            </a:r>
            <a:r>
              <a:rPr lang="ru-RU" sz="1400" dirty="0" err="1">
                <a:solidFill>
                  <a:srgbClr val="FF0000"/>
                </a:solidFill>
              </a:rPr>
              <a:t>'Энде'</a:t>
            </a:r>
            <a:r>
              <a:rPr lang="ru-RU" sz="1400" dirty="0" err="1">
                <a:solidFill>
                  <a:srgbClr val="808080"/>
                </a:solidFill>
              </a:rPr>
              <a:t>,</a:t>
            </a:r>
            <a:r>
              <a:rPr lang="ru-RU" sz="1400" dirty="0" err="1">
                <a:solidFill>
                  <a:srgbClr val="FF0000"/>
                </a:solidFill>
              </a:rPr>
              <a:t>'Михаэль</a:t>
            </a:r>
            <a:r>
              <a:rPr lang="ru-RU" sz="1400" dirty="0">
                <a:solidFill>
                  <a:srgbClr val="FF0000"/>
                </a:solidFill>
              </a:rPr>
              <a:t>'</a:t>
            </a:r>
            <a:r>
              <a:rPr lang="ru-RU" sz="1400" dirty="0">
                <a:solidFill>
                  <a:srgbClr val="808080"/>
                </a:solidFill>
              </a:rPr>
              <a:t>, </a:t>
            </a:r>
            <a:r>
              <a:rPr lang="ru-RU" sz="1400" dirty="0">
                <a:solidFill>
                  <a:srgbClr val="FF0000"/>
                </a:solidFill>
              </a:rPr>
              <a:t>'01.10.2021'</a:t>
            </a:r>
            <a:r>
              <a:rPr lang="ru-RU" sz="1400" dirty="0">
                <a:solidFill>
                  <a:srgbClr val="808080"/>
                </a:solidFill>
              </a:rPr>
              <a:t>)</a:t>
            </a:r>
          </a:p>
          <a:p>
            <a:endParaRPr lang="ru-RU" sz="1400" dirty="0"/>
          </a:p>
          <a:p>
            <a:r>
              <a:rPr lang="ru-RU" sz="1400" dirty="0"/>
              <a:t>Команды добавления данных выполнятся  успешно:</a:t>
            </a:r>
            <a:endParaRPr lang="en-US" sz="1400" dirty="0"/>
          </a:p>
          <a:p>
            <a:r>
              <a:rPr lang="en-US" sz="1400" dirty="0">
                <a:solidFill>
                  <a:srgbClr val="0000FF"/>
                </a:solidFill>
              </a:rPr>
              <a:t>INSERT INTO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Name_publ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>
                <a:solidFill>
                  <a:srgbClr val="008080"/>
                </a:solidFill>
              </a:rPr>
              <a:t>City</a:t>
            </a:r>
            <a:r>
              <a:rPr lang="en-US" sz="1400" dirty="0">
                <a:solidFill>
                  <a:srgbClr val="808080"/>
                </a:solidFill>
              </a:rPr>
              <a:t>)</a:t>
            </a:r>
          </a:p>
          <a:p>
            <a:r>
              <a:rPr lang="ru-RU" sz="1400" dirty="0">
                <a:solidFill>
                  <a:srgbClr val="0000FF"/>
                </a:solidFill>
              </a:rPr>
              <a:t>VALUES </a:t>
            </a:r>
            <a:r>
              <a:rPr lang="ru-RU" sz="1400" dirty="0">
                <a:solidFill>
                  <a:srgbClr val="808080"/>
                </a:solidFill>
              </a:rPr>
              <a:t>(</a:t>
            </a:r>
            <a:r>
              <a:rPr lang="ru-RU" sz="1400" dirty="0">
                <a:solidFill>
                  <a:srgbClr val="FF0000"/>
                </a:solidFill>
              </a:rPr>
              <a:t>'Феникс'</a:t>
            </a:r>
            <a:r>
              <a:rPr lang="ru-RU" sz="1400" dirty="0">
                <a:solidFill>
                  <a:srgbClr val="808080"/>
                </a:solidFill>
              </a:rPr>
              <a:t>, </a:t>
            </a:r>
            <a:r>
              <a:rPr lang="ru-RU" sz="1400" dirty="0">
                <a:solidFill>
                  <a:srgbClr val="FF0000"/>
                </a:solidFill>
              </a:rPr>
              <a:t>'Ростов-на-Дону'</a:t>
            </a:r>
            <a:r>
              <a:rPr lang="ru-RU" sz="1400" dirty="0">
                <a:solidFill>
                  <a:srgbClr val="808080"/>
                </a:solidFill>
              </a:rPr>
              <a:t>)</a:t>
            </a:r>
            <a:r>
              <a:rPr lang="ru-RU" sz="1400" dirty="0">
                <a:solidFill>
                  <a:srgbClr val="008000"/>
                </a:solidFill>
              </a:rPr>
              <a:t>/*запись добавиться в </a:t>
            </a:r>
            <a:r>
              <a:rPr lang="ru-RU" sz="1400" dirty="0" err="1">
                <a:solidFill>
                  <a:srgbClr val="008000"/>
                </a:solidFill>
              </a:rPr>
              <a:t>таблицуPublishing_house</a:t>
            </a:r>
            <a:r>
              <a:rPr lang="ru-RU" sz="1400" dirty="0">
                <a:solidFill>
                  <a:srgbClr val="008000"/>
                </a:solidFill>
              </a:rPr>
              <a:t>*/</a:t>
            </a:r>
          </a:p>
          <a:p>
            <a:r>
              <a:rPr lang="ru-RU" sz="1400" dirty="0"/>
              <a:t>и</a:t>
            </a:r>
          </a:p>
          <a:p>
            <a:r>
              <a:rPr lang="en-US" sz="1400" dirty="0">
                <a:solidFill>
                  <a:srgbClr val="0000FF"/>
                </a:solidFill>
              </a:rPr>
              <a:t>INSERT INTO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(</a:t>
            </a:r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Surname_author</a:t>
            </a:r>
            <a:r>
              <a:rPr lang="en-US" sz="1400" dirty="0" err="1">
                <a:solidFill>
                  <a:srgbClr val="808080"/>
                </a:solidFill>
              </a:rPr>
              <a:t>,</a:t>
            </a:r>
            <a:r>
              <a:rPr lang="en-US" sz="1400" dirty="0" err="1">
                <a:solidFill>
                  <a:srgbClr val="008080"/>
                </a:solidFill>
              </a:rPr>
              <a:t>Name_author</a:t>
            </a:r>
            <a:r>
              <a:rPr lang="en-US" sz="1400" dirty="0">
                <a:solidFill>
                  <a:srgbClr val="8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Publication_date</a:t>
            </a:r>
            <a:r>
              <a:rPr lang="en-US" sz="1400" dirty="0">
                <a:solidFill>
                  <a:srgbClr val="008080"/>
                </a:solidFill>
              </a:rPr>
              <a:t>, </a:t>
            </a:r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)</a:t>
            </a:r>
          </a:p>
          <a:p>
            <a:r>
              <a:rPr lang="ru-RU" sz="1400" dirty="0">
                <a:solidFill>
                  <a:srgbClr val="0000FF"/>
                </a:solidFill>
              </a:rPr>
              <a:t>VALUES </a:t>
            </a:r>
            <a:r>
              <a:rPr lang="ru-RU" sz="1400" dirty="0">
                <a:solidFill>
                  <a:srgbClr val="808080"/>
                </a:solidFill>
              </a:rPr>
              <a:t>(</a:t>
            </a:r>
            <a:r>
              <a:rPr lang="ru-RU" sz="1400" dirty="0">
                <a:solidFill>
                  <a:srgbClr val="FF0000"/>
                </a:solidFill>
              </a:rPr>
              <a:t>'Базы </a:t>
            </a:r>
            <a:r>
              <a:rPr lang="ru-RU" sz="1400" dirty="0" err="1">
                <a:solidFill>
                  <a:srgbClr val="FF0000"/>
                </a:solidFill>
              </a:rPr>
              <a:t>данных'</a:t>
            </a:r>
            <a:r>
              <a:rPr lang="ru-RU" sz="1400" dirty="0" err="1">
                <a:solidFill>
                  <a:srgbClr val="808080"/>
                </a:solidFill>
              </a:rPr>
              <a:t>,</a:t>
            </a:r>
            <a:r>
              <a:rPr lang="ru-RU" sz="1400" dirty="0" err="1">
                <a:solidFill>
                  <a:srgbClr val="FF0000"/>
                </a:solidFill>
              </a:rPr>
              <a:t>'Иванов'</a:t>
            </a:r>
            <a:r>
              <a:rPr lang="ru-RU" sz="1400" dirty="0" err="1">
                <a:solidFill>
                  <a:srgbClr val="808080"/>
                </a:solidFill>
              </a:rPr>
              <a:t>,</a:t>
            </a:r>
            <a:r>
              <a:rPr lang="ru-RU" sz="1400" dirty="0" err="1">
                <a:solidFill>
                  <a:srgbClr val="FF0000"/>
                </a:solidFill>
              </a:rPr>
              <a:t>'Иван</a:t>
            </a:r>
            <a:r>
              <a:rPr lang="ru-RU" sz="1400" dirty="0">
                <a:solidFill>
                  <a:srgbClr val="FF0000"/>
                </a:solidFill>
              </a:rPr>
              <a:t>'</a:t>
            </a:r>
            <a:r>
              <a:rPr lang="ru-RU" sz="1400" dirty="0">
                <a:solidFill>
                  <a:srgbClr val="808080"/>
                </a:solidFill>
              </a:rPr>
              <a:t>, </a:t>
            </a:r>
            <a:r>
              <a:rPr lang="ru-RU" sz="1400" dirty="0">
                <a:solidFill>
                  <a:srgbClr val="FF0000"/>
                </a:solidFill>
              </a:rPr>
              <a:t>'01.04.2020'</a:t>
            </a:r>
            <a:r>
              <a:rPr lang="en-US" sz="1400">
                <a:solidFill>
                  <a:srgbClr val="FF0000"/>
                </a:solidFill>
              </a:rPr>
              <a:t>, 3</a:t>
            </a:r>
            <a:r>
              <a:rPr lang="ru-RU" sz="1400">
                <a:solidFill>
                  <a:srgbClr val="808080"/>
                </a:solidFill>
              </a:rPr>
              <a:t>) </a:t>
            </a:r>
            <a:r>
              <a:rPr lang="ru-RU" sz="1400" dirty="0">
                <a:solidFill>
                  <a:srgbClr val="008000"/>
                </a:solidFill>
              </a:rPr>
              <a:t>/*запись добавиться в таблицу </a:t>
            </a:r>
            <a:r>
              <a:rPr lang="ru-RU" sz="1400" dirty="0" err="1">
                <a:solidFill>
                  <a:srgbClr val="008000"/>
                </a:solidFill>
              </a:rPr>
              <a:t>Book</a:t>
            </a:r>
            <a:r>
              <a:rPr lang="ru-RU" sz="1400" dirty="0">
                <a:solidFill>
                  <a:srgbClr val="008000"/>
                </a:solidFill>
              </a:rPr>
              <a:t>*/</a:t>
            </a:r>
          </a:p>
          <a:p>
            <a:endParaRPr lang="ru-RU" sz="1400" dirty="0"/>
          </a:p>
          <a:p>
            <a:r>
              <a:rPr lang="ru-RU" sz="1400" dirty="0"/>
              <a:t>Чтобы добавленные записи увидеть через представление </a:t>
            </a:r>
            <a:r>
              <a:rPr lang="en-US" sz="1400" dirty="0" err="1"/>
              <a:t>Publishing_house_view</a:t>
            </a:r>
            <a:r>
              <a:rPr lang="ru-RU" sz="1400" dirty="0"/>
              <a:t> нужно добавить значение внешнего ключа в таблицу </a:t>
            </a:r>
            <a:r>
              <a:rPr lang="en-US" sz="1400" dirty="0"/>
              <a:t>Book</a:t>
            </a:r>
            <a:r>
              <a:rPr lang="ru-RU" sz="1400" dirty="0"/>
              <a:t> на соответствующее издательство.</a:t>
            </a:r>
            <a:endParaRPr lang="en-US" sz="1400" dirty="0"/>
          </a:p>
          <a:p>
            <a:endParaRPr lang="en-US" sz="1400" dirty="0"/>
          </a:p>
          <a:p>
            <a:endParaRPr lang="ru-RU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9532" t="10667" r="53906" b="77845"/>
          <a:stretch>
            <a:fillRect/>
          </a:stretch>
        </p:blipFill>
        <p:spPr bwMode="auto">
          <a:xfrm>
            <a:off x="142844" y="142852"/>
            <a:ext cx="4143404" cy="853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19922" t="10613" r="51563" b="77899"/>
          <a:stretch>
            <a:fillRect/>
          </a:stretch>
        </p:blipFill>
        <p:spPr bwMode="auto">
          <a:xfrm>
            <a:off x="4429092" y="142852"/>
            <a:ext cx="4714908" cy="904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 l="17969" t="52462" r="52734" b="36871"/>
          <a:stretch>
            <a:fillRect/>
          </a:stretch>
        </p:blipFill>
        <p:spPr bwMode="auto">
          <a:xfrm>
            <a:off x="3286116" y="1428736"/>
            <a:ext cx="494570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214282" y="2571744"/>
            <a:ext cx="385765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prstClr val="black"/>
                </a:solidFill>
              </a:rPr>
              <a:t>Команда обновления данных выполнится:</a:t>
            </a:r>
          </a:p>
          <a:p>
            <a:r>
              <a:rPr lang="en-US" sz="1400" dirty="0">
                <a:solidFill>
                  <a:srgbClr val="0000FF"/>
                </a:solidFill>
              </a:rPr>
              <a:t>UPDATE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SET </a:t>
            </a:r>
            <a:r>
              <a:rPr lang="en-US" sz="1400" dirty="0" err="1">
                <a:solidFill>
                  <a:srgbClr val="008080"/>
                </a:solidFill>
              </a:rPr>
              <a:t>Name_book</a:t>
            </a:r>
            <a:r>
              <a:rPr lang="en-US" sz="1400" dirty="0">
                <a:solidFill>
                  <a:srgbClr val="808080"/>
                </a:solidFill>
              </a:rPr>
              <a:t>=</a:t>
            </a:r>
            <a:r>
              <a:rPr lang="en-US" sz="1400" dirty="0">
                <a:solidFill>
                  <a:srgbClr val="FF0000"/>
                </a:solidFill>
              </a:rPr>
              <a:t>'</a:t>
            </a:r>
            <a:r>
              <a:rPr lang="ru-RU" sz="1400" dirty="0">
                <a:solidFill>
                  <a:srgbClr val="FF0000"/>
                </a:solidFill>
              </a:rPr>
              <a:t>Молекулярная физика'</a:t>
            </a:r>
          </a:p>
          <a:p>
            <a:r>
              <a:rPr lang="en-US" sz="1400" dirty="0">
                <a:solidFill>
                  <a:srgbClr val="0000FF"/>
                </a:solidFill>
              </a:rPr>
              <a:t>WHERE </a:t>
            </a:r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=3</a:t>
            </a:r>
            <a:endParaRPr lang="ru-RU" sz="1400" dirty="0">
              <a:solidFill>
                <a:srgbClr val="808080"/>
              </a:solidFill>
            </a:endParaRPr>
          </a:p>
          <a:p>
            <a:endParaRPr lang="ru-RU" sz="1400" dirty="0">
              <a:solidFill>
                <a:srgbClr val="80808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42844" y="1475890"/>
            <a:ext cx="38576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prstClr val="black"/>
                </a:solidFill>
              </a:rPr>
              <a:t>Вызов представления: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Select</a:t>
            </a:r>
            <a:r>
              <a:rPr lang="en-US" sz="1400" dirty="0">
                <a:solidFill>
                  <a:srgbClr val="808080"/>
                </a:solidFill>
              </a:rPr>
              <a:t>*</a:t>
            </a:r>
          </a:p>
          <a:p>
            <a:r>
              <a:rPr lang="en-US" sz="1400" dirty="0">
                <a:solidFill>
                  <a:srgbClr val="0000FF"/>
                </a:solidFill>
              </a:rPr>
              <a:t>From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/>
          <a:srcRect l="18360" t="45952" r="47265" b="42560"/>
          <a:stretch>
            <a:fillRect/>
          </a:stretch>
        </p:blipFill>
        <p:spPr bwMode="auto">
          <a:xfrm>
            <a:off x="2571736" y="3357562"/>
            <a:ext cx="628654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Прямоугольник 13"/>
          <p:cNvSpPr/>
          <p:nvPr/>
        </p:nvSpPr>
        <p:spPr>
          <a:xfrm>
            <a:off x="285720" y="4500570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1400" dirty="0">
                <a:solidFill>
                  <a:prstClr val="black"/>
                </a:solidFill>
              </a:rPr>
              <a:t>Команда удаления данных  не выполнится:</a:t>
            </a:r>
          </a:p>
          <a:p>
            <a:r>
              <a:rPr lang="en-US" sz="1400" dirty="0">
                <a:solidFill>
                  <a:srgbClr val="0000FF"/>
                </a:solidFill>
              </a:rPr>
              <a:t>DELETE FROM </a:t>
            </a:r>
            <a:r>
              <a:rPr lang="en-US" sz="1400" dirty="0" err="1">
                <a:solidFill>
                  <a:srgbClr val="008080"/>
                </a:solidFill>
              </a:rPr>
              <a:t>Publishing_house_view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WHERE </a:t>
            </a:r>
            <a:r>
              <a:rPr lang="en-US" sz="1400" dirty="0" err="1">
                <a:solidFill>
                  <a:srgbClr val="008080"/>
                </a:solidFill>
              </a:rPr>
              <a:t>Id_publ</a:t>
            </a:r>
            <a:r>
              <a:rPr lang="en-US" sz="1400" dirty="0">
                <a:solidFill>
                  <a:srgbClr val="008080"/>
                </a:solidFill>
              </a:rPr>
              <a:t> </a:t>
            </a:r>
            <a:r>
              <a:rPr lang="en-US" sz="1400" dirty="0">
                <a:solidFill>
                  <a:srgbClr val="808080"/>
                </a:solidFill>
              </a:rPr>
              <a:t>=7</a:t>
            </a:r>
            <a:endParaRPr lang="ru-RU" sz="1400" dirty="0">
              <a:solidFill>
                <a:srgbClr val="808080"/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 cstate="print"/>
          <a:srcRect l="17968" t="51641" r="35937" b="40154"/>
          <a:stretch>
            <a:fillRect/>
          </a:stretch>
        </p:blipFill>
        <p:spPr bwMode="auto">
          <a:xfrm>
            <a:off x="428564" y="5286388"/>
            <a:ext cx="8429716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ru-RU" dirty="0"/>
              <a:t>Команды изменения описания представления, удаления представления </a:t>
            </a:r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35891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ALTER VIEW</a:t>
            </a:r>
            <a:r>
              <a:rPr lang="ru-RU" dirty="0"/>
              <a:t> &lt;имя представления&gt; </a:t>
            </a:r>
          </a:p>
          <a:p>
            <a:r>
              <a:rPr lang="ru-RU" dirty="0"/>
              <a:t>описание представления</a:t>
            </a:r>
          </a:p>
          <a:p>
            <a:endParaRPr lang="ru-RU" dirty="0"/>
          </a:p>
          <a:p>
            <a:r>
              <a:rPr lang="en-US" b="1" dirty="0"/>
              <a:t>DROP VIEW</a:t>
            </a:r>
            <a:r>
              <a:rPr lang="ru-RU" dirty="0"/>
              <a:t> &lt;имя представления&gt;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00034" y="2500306"/>
            <a:ext cx="68303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Например, добавим условие в описании представления:</a:t>
            </a:r>
          </a:p>
          <a:p>
            <a:r>
              <a:rPr lang="en-US" b="1" dirty="0">
                <a:solidFill>
                  <a:srgbClr val="0070C0"/>
                </a:solidFill>
              </a:rPr>
              <a:t>ALTER VIEW </a:t>
            </a:r>
            <a:r>
              <a:rPr lang="en-US" dirty="0" err="1"/>
              <a:t>Publishing_house_view</a:t>
            </a:r>
            <a:endParaRPr lang="en-US" dirty="0"/>
          </a:p>
          <a:p>
            <a:r>
              <a:rPr lang="en-US" b="1" dirty="0"/>
              <a:t>AS</a:t>
            </a:r>
          </a:p>
          <a:p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Name_publ,Name_book,Surname_author,Name_author</a:t>
            </a:r>
            <a:endParaRPr lang="en-US" dirty="0"/>
          </a:p>
          <a:p>
            <a:r>
              <a:rPr lang="en-US" b="1" dirty="0"/>
              <a:t>FROM</a:t>
            </a:r>
            <a:r>
              <a:rPr lang="en-US" dirty="0"/>
              <a:t> Publishing_house p JOIN Book b ON </a:t>
            </a:r>
            <a:r>
              <a:rPr lang="en-US" dirty="0" err="1"/>
              <a:t>p.Id_publ</a:t>
            </a:r>
            <a:r>
              <a:rPr lang="en-US" dirty="0"/>
              <a:t>=</a:t>
            </a:r>
            <a:r>
              <a:rPr lang="en-US" dirty="0" err="1"/>
              <a:t>b.Id_publ</a:t>
            </a:r>
            <a:endParaRPr lang="en-US" dirty="0"/>
          </a:p>
          <a:p>
            <a:r>
              <a:rPr lang="en-US" b="1" dirty="0"/>
              <a:t>WHERE </a:t>
            </a:r>
            <a:r>
              <a:rPr lang="en-US" dirty="0" err="1"/>
              <a:t>Publication_date</a:t>
            </a:r>
            <a:r>
              <a:rPr lang="en-US" dirty="0"/>
              <a:t> BETWEEN '01.01.2020' AND '01.</a:t>
            </a:r>
            <a:r>
              <a:rPr lang="ru-RU" dirty="0"/>
              <a:t>0</a:t>
            </a:r>
            <a:r>
              <a:rPr lang="en-US" dirty="0"/>
              <a:t>5.2020'</a:t>
            </a:r>
          </a:p>
          <a:p>
            <a:endParaRPr lang="en-US" dirty="0"/>
          </a:p>
          <a:p>
            <a:r>
              <a:rPr lang="ru-RU" dirty="0"/>
              <a:t>Удалим ранее созданное представление: </a:t>
            </a:r>
          </a:p>
          <a:p>
            <a:r>
              <a:rPr lang="en-US" b="1" dirty="0">
                <a:solidFill>
                  <a:srgbClr val="0070C0"/>
                </a:solidFill>
              </a:rPr>
              <a:t>DROP VIEW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dirty="0" err="1"/>
              <a:t>Publishing_house_view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71472" y="928670"/>
            <a:ext cx="828680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b="1" dirty="0"/>
              <a:t>Оператор </a:t>
            </a:r>
            <a:r>
              <a:rPr lang="en-US" sz="1600" b="1" dirty="0"/>
              <a:t>CASE </a:t>
            </a:r>
            <a:r>
              <a:rPr lang="ru-RU" sz="1600" dirty="0"/>
              <a:t>позволяет осуществить проверку условий и возвратить в зависимости от выполнения того или иного условия тот или иной результат.</a:t>
            </a:r>
            <a:endParaRPr lang="en-US" sz="1600" dirty="0"/>
          </a:p>
          <a:p>
            <a:pPr>
              <a:spcAft>
                <a:spcPts val="0"/>
              </a:spcAft>
            </a:pPr>
            <a:endParaRPr lang="ru-RU" sz="1600" dirty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ru-RU" sz="1600" b="1" dirty="0">
                <a:ea typeface="Times New Roman"/>
                <a:cs typeface="Times New Roman"/>
              </a:rPr>
              <a:t>Синтаксис простого </a:t>
            </a:r>
            <a:r>
              <a:rPr lang="en-US" sz="1600" b="1" dirty="0">
                <a:solidFill>
                  <a:srgbClr val="171717"/>
                </a:solidFill>
                <a:ea typeface="Calibri"/>
                <a:cs typeface="Times New Roman"/>
              </a:rPr>
              <a:t>CASE</a:t>
            </a:r>
            <a:r>
              <a:rPr lang="en-US" sz="1600" b="1" dirty="0">
                <a:ea typeface="Times New Roman"/>
                <a:cs typeface="Times New Roman"/>
              </a:rPr>
              <a:t> </a:t>
            </a:r>
            <a:r>
              <a:rPr lang="ru-RU" sz="1600" b="1" dirty="0">
                <a:ea typeface="Times New Roman"/>
                <a:cs typeface="Times New Roman"/>
              </a:rPr>
              <a:t>выражения</a:t>
            </a:r>
            <a:r>
              <a:rPr lang="en-US" sz="1600" b="1" dirty="0">
                <a:ea typeface="Times New Roman"/>
                <a:cs typeface="Times New Roman"/>
              </a:rPr>
              <a:t>:</a:t>
            </a:r>
            <a:endParaRPr lang="ru-RU" sz="16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CASE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input_expression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   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WHEN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when_expression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THEN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result_expression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 [ ...n ] 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    [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ELSE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else_result_expression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&gt;] 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END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  </a:t>
            </a: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71717"/>
                </a:solidFill>
                <a:ea typeface="Calibri"/>
                <a:cs typeface="Times New Roman"/>
              </a:rPr>
              <a:t> </a:t>
            </a:r>
            <a:endParaRPr lang="ru-RU" sz="1600" dirty="0">
              <a:solidFill>
                <a:srgbClr val="171717"/>
              </a:solidFill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endParaRPr lang="en-US" sz="1600" dirty="0">
              <a:solidFill>
                <a:srgbClr val="171717"/>
              </a:solidFill>
              <a:ea typeface="Calibri"/>
              <a:cs typeface="Times New Roman"/>
            </a:endParaRPr>
          </a:p>
          <a:p>
            <a:r>
              <a:rPr lang="ru-RU" sz="1600" b="1" dirty="0"/>
              <a:t>Синтаксис поискового CASE выражения:</a:t>
            </a:r>
            <a:endParaRPr lang="ru-RU" sz="1600" dirty="0"/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CASE</a:t>
            </a:r>
            <a:r>
              <a:rPr lang="ru-RU" sz="1600" dirty="0">
                <a:solidFill>
                  <a:srgbClr val="171717"/>
                </a:solidFill>
                <a:ea typeface="Times New Roman"/>
                <a:cs typeface="Times New Roman"/>
              </a:rPr>
              <a:t>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   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WHEN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b</a:t>
            </a:r>
            <a:r>
              <a:rPr lang="en-US" sz="1600">
                <a:solidFill>
                  <a:srgbClr val="171717"/>
                </a:solidFill>
                <a:ea typeface="Times New Roman"/>
                <a:cs typeface="Times New Roman"/>
              </a:rPr>
              <a:t>oolean_expression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THEN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result_expression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 [ ...n ] 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    [ </a:t>
            </a: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ELSE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 &lt;</a:t>
            </a:r>
            <a:r>
              <a:rPr lang="en-US" sz="1600" dirty="0" err="1">
                <a:solidFill>
                  <a:srgbClr val="171717"/>
                </a:solidFill>
                <a:ea typeface="Times New Roman"/>
                <a:cs typeface="Times New Roman"/>
              </a:rPr>
              <a:t>else_result_expression</a:t>
            </a:r>
            <a:r>
              <a:rPr lang="en-US" sz="1600" dirty="0">
                <a:solidFill>
                  <a:srgbClr val="171717"/>
                </a:solidFill>
                <a:ea typeface="Times New Roman"/>
                <a:cs typeface="Times New Roman"/>
              </a:rPr>
              <a:t>&gt;]  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101FD"/>
                </a:solidFill>
                <a:ea typeface="Times New Roman"/>
                <a:cs typeface="Times New Roman"/>
              </a:rPr>
              <a:t>END</a:t>
            </a:r>
            <a:endParaRPr lang="ru-RU" sz="1600" dirty="0">
              <a:ea typeface="Calibri"/>
              <a:cs typeface="Times New Roman"/>
            </a:endParaRPr>
          </a:p>
          <a:p>
            <a:endParaRPr lang="ru-RU" sz="1600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642942"/>
          </a:xfrm>
        </p:spPr>
        <p:txBody>
          <a:bodyPr>
            <a:normAutofit/>
          </a:bodyPr>
          <a:lstStyle/>
          <a:p>
            <a:r>
              <a:rPr lang="ru-RU" dirty="0"/>
              <a:t>Условный оператор </a:t>
            </a:r>
            <a:r>
              <a:rPr lang="en-US" dirty="0"/>
              <a:t>CASE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/>
          <a:lstStyle/>
          <a:p>
            <a:r>
              <a:rPr lang="ru-RU" dirty="0"/>
              <a:t>Пример с условным оператором </a:t>
            </a:r>
            <a:r>
              <a:rPr lang="en-US" dirty="0"/>
              <a:t>CASE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58016" y="6492875"/>
            <a:ext cx="2285984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214414" y="22145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28596" y="642918"/>
            <a:ext cx="8001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Премировать сотрудников: </a:t>
            </a:r>
            <a:r>
              <a:rPr lang="en-US" sz="1600" dirty="0"/>
              <a:t>IT</a:t>
            </a:r>
            <a:r>
              <a:rPr lang="ru-RU" sz="1600" dirty="0"/>
              <a:t>-отдела - 50% от ЗП;</a:t>
            </a:r>
          </a:p>
          <a:p>
            <a:r>
              <a:rPr lang="ru-RU" sz="1600" dirty="0"/>
              <a:t>		             Бухгалтерии -  40% от ЗП;</a:t>
            </a:r>
          </a:p>
          <a:p>
            <a:r>
              <a:rPr lang="ru-RU" sz="1600" dirty="0"/>
              <a:t>	                                Остальных отделов  по 30% от ЗП.</a:t>
            </a:r>
          </a:p>
          <a:p>
            <a:endParaRPr lang="ru-R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1214414" y="29289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14282" y="1500174"/>
            <a:ext cx="77153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SELECT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ru-RU" sz="1600" dirty="0" err="1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r>
              <a:rPr lang="ru-RU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ru-RU" sz="1600" dirty="0" err="1">
                <a:solidFill>
                  <a:srgbClr val="008080"/>
                </a:solidFill>
                <a:ea typeface="Calibri"/>
                <a:cs typeface="Times New Roman"/>
              </a:rPr>
              <a:t>Name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Отдел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 '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Surname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Фамилия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Salary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Зарплата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>
                <a:ea typeface="Calibri"/>
                <a:cs typeface="Times New Roman"/>
              </a:rPr>
              <a:t>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CASE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Name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00"/>
                </a:solidFill>
                <a:ea typeface="Calibri"/>
                <a:cs typeface="Times New Roman"/>
              </a:rPr>
              <a:t>-- </a:t>
            </a:r>
            <a:r>
              <a:rPr lang="ru-RU" sz="1600" dirty="0">
                <a:solidFill>
                  <a:srgbClr val="008000"/>
                </a:solidFill>
                <a:ea typeface="Calibri"/>
                <a:cs typeface="Times New Roman"/>
              </a:rPr>
              <a:t>проверяемое значение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'IT'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'50%'</a:t>
            </a:r>
            <a:r>
              <a:rPr lang="en-US" sz="1600" dirty="0">
                <a:ea typeface="Calibri"/>
                <a:cs typeface="Times New Roman"/>
              </a:rPr>
              <a:t>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Бухгалтерия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'40%'</a:t>
            </a:r>
            <a:r>
              <a:rPr lang="en-US" sz="1600" dirty="0">
                <a:ea typeface="Calibri"/>
                <a:cs typeface="Times New Roman"/>
              </a:rPr>
              <a:t>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ELSE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'30%'</a:t>
            </a:r>
            <a:r>
              <a:rPr lang="en-US" sz="1600" dirty="0">
                <a:ea typeface="Calibri"/>
                <a:cs typeface="Times New Roman"/>
              </a:rPr>
              <a:t>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END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Надбавка к ЗП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Salary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/</a:t>
            </a:r>
            <a:r>
              <a:rPr lang="en-US" sz="1600" dirty="0">
                <a:ea typeface="Calibri"/>
                <a:cs typeface="Times New Roman"/>
              </a:rPr>
              <a:t>100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*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CASE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Name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'IT'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50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Бухгалтерия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40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ELSE</a:t>
            </a:r>
            <a:r>
              <a:rPr lang="en-US" sz="1600" dirty="0">
                <a:ea typeface="Calibri"/>
                <a:cs typeface="Times New Roman"/>
              </a:rPr>
              <a:t> 30 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ea typeface="Calibri"/>
                <a:cs typeface="Times New Roman"/>
              </a:rPr>
              <a:t>			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END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Премия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‘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FROM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Cooperator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c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Department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endParaRPr lang="ru-RU" sz="1600" dirty="0">
              <a:ea typeface="Calibri"/>
              <a:cs typeface="Times New Roman"/>
            </a:endParaRPr>
          </a:p>
          <a:p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WHERE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c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Dept_id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=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Dept_id</a:t>
            </a:r>
            <a:endParaRPr lang="ru-RU" sz="1600" dirty="0">
              <a:solidFill>
                <a:srgbClr val="008080"/>
              </a:solidFill>
              <a:ea typeface="Calibri"/>
              <a:cs typeface="Times New Roman"/>
            </a:endParaRPr>
          </a:p>
          <a:p>
            <a:r>
              <a:rPr lang="ru-RU" sz="1600" dirty="0">
                <a:solidFill>
                  <a:srgbClr val="0000FF"/>
                </a:solidFill>
                <a:ea typeface="Calibri"/>
                <a:cs typeface="Times New Roman"/>
              </a:rPr>
              <a:t>ORDER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0000FF"/>
                </a:solidFill>
                <a:ea typeface="Calibri"/>
                <a:cs typeface="Times New Roman"/>
              </a:rPr>
              <a:t>BY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ru-RU" sz="1600" dirty="0" err="1">
                <a:solidFill>
                  <a:srgbClr val="008080"/>
                </a:solidFill>
                <a:ea typeface="Calibri"/>
                <a:cs typeface="Times New Roman"/>
              </a:rPr>
              <a:t>d</a:t>
            </a:r>
            <a:r>
              <a:rPr lang="ru-RU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ru-RU" sz="1600" dirty="0" err="1">
                <a:solidFill>
                  <a:srgbClr val="008080"/>
                </a:solidFill>
                <a:ea typeface="Calibri"/>
                <a:cs typeface="Times New Roman"/>
              </a:rPr>
              <a:t>Name</a:t>
            </a:r>
            <a:endParaRPr lang="ru-RU" sz="1600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6116" y="4786322"/>
            <a:ext cx="5286380" cy="187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582594"/>
          </a:xfrm>
        </p:spPr>
        <p:txBody>
          <a:bodyPr/>
          <a:lstStyle/>
          <a:p>
            <a:r>
              <a:rPr lang="ru-RU" dirty="0"/>
              <a:t>Пример с условным оператором </a:t>
            </a:r>
            <a:r>
              <a:rPr lang="en-US" dirty="0"/>
              <a:t>CASE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5720" y="928670"/>
            <a:ext cx="8489440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>
                <a:ea typeface="Calibri"/>
                <a:cs typeface="Times New Roman"/>
              </a:rPr>
              <a:t>Вывести средние оценки по студентам и расшифровать значения оценок</a:t>
            </a:r>
          </a:p>
          <a:p>
            <a:pPr>
              <a:spcAft>
                <a:spcPts val="0"/>
              </a:spcAft>
            </a:pPr>
            <a:endParaRPr lang="en-US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101FD"/>
                </a:solidFill>
                <a:ea typeface="Calibri"/>
                <a:cs typeface="Times New Roman"/>
              </a:rPr>
              <a:t>SELECT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Surname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ROUND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CAST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AS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Float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)),</a:t>
            </a:r>
            <a:r>
              <a:rPr lang="ru-RU" sz="1600" dirty="0">
                <a:ea typeface="Calibri"/>
                <a:cs typeface="Times New Roman"/>
              </a:rPr>
              <a:t>2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)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'Средняя оценка'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008080"/>
                </a:solidFill>
                <a:ea typeface="Calibri"/>
                <a:cs typeface="Times New Roman"/>
              </a:rPr>
              <a:t>[Расшифровка оценки]</a:t>
            </a:r>
            <a:r>
              <a:rPr lang="ru-RU" sz="1600" dirty="0"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808080"/>
                </a:solidFill>
                <a:ea typeface="Calibri"/>
                <a:cs typeface="Times New Roman"/>
              </a:rPr>
              <a:t>=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CASE</a:t>
            </a:r>
            <a:r>
              <a:rPr lang="en-US" sz="1600" dirty="0">
                <a:ea typeface="Calibri"/>
                <a:cs typeface="Times New Roman"/>
              </a:rPr>
              <a:t> 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ea typeface="Calibri"/>
                <a:cs typeface="Times New Roman"/>
              </a:rPr>
              <a:t>      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)&gt;</a:t>
            </a:r>
            <a:r>
              <a:rPr lang="en-US" sz="1600" dirty="0">
                <a:ea typeface="Calibri"/>
                <a:cs typeface="Times New Roman"/>
              </a:rPr>
              <a:t>4.5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 err="1">
                <a:solidFill>
                  <a:srgbClr val="FF0000"/>
                </a:solidFill>
                <a:ea typeface="Calibri"/>
                <a:cs typeface="Times New Roman"/>
              </a:rPr>
              <a:t>отл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ea typeface="Calibri"/>
                <a:cs typeface="Times New Roman"/>
              </a:rPr>
              <a:t>      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)&gt;</a:t>
            </a:r>
            <a:r>
              <a:rPr lang="en-US" sz="1600" dirty="0">
                <a:ea typeface="Calibri"/>
                <a:cs typeface="Times New Roman"/>
              </a:rPr>
              <a:t>3.5 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AND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)&lt;=</a:t>
            </a:r>
            <a:r>
              <a:rPr lang="en-US" sz="1600" dirty="0">
                <a:ea typeface="Calibri"/>
                <a:cs typeface="Times New Roman"/>
              </a:rPr>
              <a:t>4.5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хор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ea typeface="Calibri"/>
                <a:cs typeface="Times New Roman"/>
              </a:rPr>
              <a:t>      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)&gt;=</a:t>
            </a:r>
            <a:r>
              <a:rPr lang="en-US" sz="1600" dirty="0">
                <a:ea typeface="Calibri"/>
                <a:cs typeface="Times New Roman"/>
              </a:rPr>
              <a:t>3 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AND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)&lt;=</a:t>
            </a:r>
            <a:r>
              <a:rPr lang="en-US" sz="1600" dirty="0">
                <a:ea typeface="Calibri"/>
                <a:cs typeface="Times New Roman"/>
              </a:rPr>
              <a:t>3.5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удов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ea typeface="Calibri"/>
                <a:cs typeface="Times New Roman"/>
              </a:rPr>
              <a:t>      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FF"/>
                </a:solidFill>
                <a:ea typeface="Calibri"/>
                <a:cs typeface="Times New Roman"/>
              </a:rPr>
              <a:t>AVG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Mark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)&lt;</a:t>
            </a:r>
            <a:r>
              <a:rPr lang="en-US" sz="1600" dirty="0">
                <a:ea typeface="Calibri"/>
                <a:cs typeface="Times New Roman"/>
              </a:rPr>
              <a:t>3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THEN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r>
              <a:rPr lang="ru-RU" sz="1600" dirty="0">
                <a:solidFill>
                  <a:srgbClr val="FF0000"/>
                </a:solidFill>
                <a:ea typeface="Calibri"/>
                <a:cs typeface="Times New Roman"/>
              </a:rPr>
              <a:t>неуд</a:t>
            </a:r>
            <a:r>
              <a:rPr lang="en-US" sz="1600" dirty="0">
                <a:solidFill>
                  <a:srgbClr val="FF0000"/>
                </a:solidFill>
                <a:ea typeface="Calibri"/>
                <a:cs typeface="Times New Roman"/>
              </a:rPr>
              <a:t>'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ea typeface="Calibri"/>
                <a:cs typeface="Times New Roman"/>
              </a:rPr>
              <a:t>       </a:t>
            </a:r>
            <a:r>
              <a:rPr lang="ru-RU" sz="1600" dirty="0">
                <a:ea typeface="Calibri"/>
                <a:cs typeface="Times New Roman"/>
              </a:rPr>
              <a:t>--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ELSE '</a:t>
            </a:r>
            <a:r>
              <a:rPr lang="ru-RU" sz="1600" dirty="0">
                <a:solidFill>
                  <a:srgbClr val="008080"/>
                </a:solidFill>
                <a:ea typeface="Calibri"/>
                <a:cs typeface="Times New Roman"/>
              </a:rPr>
              <a:t>без расшифровки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'</a:t>
            </a:r>
            <a:endParaRPr lang="ru-RU" sz="1600" dirty="0">
              <a:solidFill>
                <a:srgbClr val="008080"/>
              </a:solidFill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END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FROM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Exam_marks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e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Student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8080"/>
                </a:solidFill>
                <a:ea typeface="Calibri"/>
                <a:cs typeface="Times New Roman"/>
              </a:rPr>
              <a:t>s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WHERE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e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Student_Id</a:t>
            </a:r>
            <a:r>
              <a:rPr lang="en-US" sz="1600" dirty="0">
                <a:solidFill>
                  <a:srgbClr val="808080"/>
                </a:solidFill>
                <a:ea typeface="Calibri"/>
                <a:cs typeface="Times New Roman"/>
              </a:rPr>
              <a:t>=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s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Student_Id</a:t>
            </a:r>
            <a:endParaRPr lang="ru-RU" sz="16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GROUP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Calibri"/>
                <a:cs typeface="Times New Roman"/>
              </a:rPr>
              <a:t>BY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e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Student_Id</a:t>
            </a:r>
            <a:r>
              <a:rPr lang="en-US" sz="1600" dirty="0" err="1">
                <a:solidFill>
                  <a:srgbClr val="808080"/>
                </a:solidFill>
                <a:ea typeface="Calibri"/>
                <a:cs typeface="Times New Roman"/>
              </a:rPr>
              <a:t>,</a:t>
            </a:r>
            <a:r>
              <a:rPr lang="en-US" sz="1600" dirty="0" err="1">
                <a:solidFill>
                  <a:srgbClr val="008080"/>
                </a:solidFill>
                <a:ea typeface="Calibri"/>
                <a:cs typeface="Times New Roman"/>
              </a:rPr>
              <a:t>Surname</a:t>
            </a:r>
            <a:endParaRPr lang="ru-RU" sz="1600" dirty="0">
              <a:ea typeface="Calibri"/>
              <a:cs typeface="Times New Roman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84" y="4786322"/>
            <a:ext cx="414340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0" y="1142984"/>
            <a:ext cx="9144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>
                <a:ea typeface="Calibri"/>
                <a:cs typeface="Times New Roman"/>
              </a:rPr>
              <a:t>Посчитать сколько на каждом курсе оценок со значениями 2, 3, 4, 5</a:t>
            </a:r>
          </a:p>
          <a:p>
            <a:pPr>
              <a:spcAft>
                <a:spcPts val="0"/>
              </a:spcAft>
            </a:pPr>
            <a:endParaRPr lang="ru-RU" sz="1600" dirty="0">
              <a:ea typeface="Calibri"/>
              <a:cs typeface="Times New Roman"/>
            </a:endParaRPr>
          </a:p>
          <a:p>
            <a:endParaRPr lang="ru-RU" sz="1600" dirty="0"/>
          </a:p>
          <a:p>
            <a:r>
              <a:rPr lang="en-US" sz="1600" dirty="0">
                <a:solidFill>
                  <a:srgbClr val="0000FF"/>
                </a:solidFill>
              </a:rPr>
              <a:t>SELECT </a:t>
            </a:r>
            <a:r>
              <a:rPr lang="en-US" sz="1600" dirty="0">
                <a:solidFill>
                  <a:srgbClr val="008080"/>
                </a:solidFill>
              </a:rPr>
              <a:t>Surname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ru-RU" sz="1600" dirty="0">
                <a:solidFill>
                  <a:srgbClr val="808080"/>
                </a:solidFill>
              </a:rPr>
              <a:t> </a:t>
            </a:r>
            <a:r>
              <a:rPr lang="en-US" sz="1600" dirty="0">
                <a:solidFill>
                  <a:srgbClr val="008080"/>
                </a:solidFill>
              </a:rPr>
              <a:t>Name</a:t>
            </a:r>
            <a:r>
              <a:rPr lang="en-US" sz="1600" dirty="0">
                <a:solidFill>
                  <a:srgbClr val="808080"/>
                </a:solidFill>
              </a:rPr>
              <a:t>, </a:t>
            </a:r>
            <a:r>
              <a:rPr lang="en-US" sz="1600" dirty="0" err="1">
                <a:solidFill>
                  <a:srgbClr val="008080"/>
                </a:solidFill>
              </a:rPr>
              <a:t>Kurse</a:t>
            </a:r>
            <a:r>
              <a:rPr lang="en-US" sz="1600" dirty="0">
                <a:solidFill>
                  <a:srgbClr val="00808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ru-RU" sz="1600" dirty="0">
                <a:solidFill>
                  <a:srgbClr val="FF0000"/>
                </a:solidFill>
              </a:rPr>
              <a:t>Номер курса'</a:t>
            </a:r>
            <a:r>
              <a:rPr lang="ru-RU" sz="1600" dirty="0">
                <a:solidFill>
                  <a:srgbClr val="808080"/>
                </a:solidFill>
              </a:rPr>
              <a:t>, </a:t>
            </a:r>
          </a:p>
          <a:p>
            <a:r>
              <a:rPr lang="ru-RU" sz="1600" dirty="0">
                <a:solidFill>
                  <a:srgbClr val="808080"/>
                </a:solidFill>
              </a:rPr>
              <a:t>		            </a:t>
            </a:r>
            <a:r>
              <a:rPr lang="en-US" sz="1600" dirty="0">
                <a:solidFill>
                  <a:srgbClr val="FF00FF"/>
                </a:solidFill>
              </a:rPr>
              <a:t>SUM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  <a:r>
              <a:rPr lang="en-US" sz="1600" dirty="0">
                <a:solidFill>
                  <a:srgbClr val="0000FF"/>
                </a:solidFill>
              </a:rPr>
              <a:t>CASE WHEN </a:t>
            </a:r>
            <a:r>
              <a:rPr lang="en-US" sz="1600" dirty="0">
                <a:solidFill>
                  <a:srgbClr val="008080"/>
                </a:solidFill>
              </a:rPr>
              <a:t>Mark</a:t>
            </a:r>
            <a:r>
              <a:rPr lang="en-US" sz="1600" dirty="0">
                <a:solidFill>
                  <a:srgbClr val="808080"/>
                </a:solidFill>
              </a:rPr>
              <a:t>=2 </a:t>
            </a:r>
            <a:r>
              <a:rPr lang="en-US" sz="1600" dirty="0">
                <a:solidFill>
                  <a:srgbClr val="0000FF"/>
                </a:solidFill>
              </a:rPr>
              <a:t>THEN 1 ELSE 0 END</a:t>
            </a:r>
            <a:r>
              <a:rPr lang="en-US" sz="1600" dirty="0">
                <a:solidFill>
                  <a:srgbClr val="808080"/>
                </a:solidFill>
              </a:rPr>
              <a:t>)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ru-RU" sz="1600" dirty="0">
                <a:solidFill>
                  <a:srgbClr val="FF0000"/>
                </a:solidFill>
              </a:rPr>
              <a:t>Количество 2'</a:t>
            </a:r>
            <a:r>
              <a:rPr lang="ru-RU" sz="1600" dirty="0">
                <a:solidFill>
                  <a:srgbClr val="808080"/>
                </a:solidFill>
              </a:rPr>
              <a:t>,</a:t>
            </a:r>
          </a:p>
          <a:p>
            <a:r>
              <a:rPr lang="en-US" sz="1600" dirty="0">
                <a:solidFill>
                  <a:srgbClr val="808080"/>
                </a:solidFill>
              </a:rPr>
              <a:t>		            </a:t>
            </a:r>
            <a:r>
              <a:rPr lang="en-US" sz="1600" dirty="0">
                <a:solidFill>
                  <a:srgbClr val="FF00FF"/>
                </a:solidFill>
              </a:rPr>
              <a:t>SUM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  <a:r>
              <a:rPr lang="en-US" sz="1600" dirty="0">
                <a:solidFill>
                  <a:srgbClr val="0000FF"/>
                </a:solidFill>
              </a:rPr>
              <a:t>CASE WHEN </a:t>
            </a:r>
            <a:r>
              <a:rPr lang="en-US" sz="1600" dirty="0">
                <a:solidFill>
                  <a:srgbClr val="008080"/>
                </a:solidFill>
              </a:rPr>
              <a:t>Mark</a:t>
            </a:r>
            <a:r>
              <a:rPr lang="en-US" sz="1600" dirty="0">
                <a:solidFill>
                  <a:srgbClr val="808080"/>
                </a:solidFill>
              </a:rPr>
              <a:t>=3 </a:t>
            </a:r>
            <a:r>
              <a:rPr lang="en-US" sz="1600" dirty="0">
                <a:solidFill>
                  <a:srgbClr val="0000FF"/>
                </a:solidFill>
              </a:rPr>
              <a:t>THEN 1 ELSE 0 END</a:t>
            </a:r>
            <a:r>
              <a:rPr lang="en-US" sz="1600" dirty="0">
                <a:solidFill>
                  <a:srgbClr val="808080"/>
                </a:solidFill>
              </a:rPr>
              <a:t>)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 err="1">
                <a:solidFill>
                  <a:srgbClr val="FF0000"/>
                </a:solidFill>
              </a:rPr>
              <a:t>Количество</a:t>
            </a:r>
            <a:r>
              <a:rPr lang="en-US" sz="1600" dirty="0">
                <a:solidFill>
                  <a:srgbClr val="FF0000"/>
                </a:solidFill>
              </a:rPr>
              <a:t> 3'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</a:p>
          <a:p>
            <a:r>
              <a:rPr lang="en-US" sz="1600" dirty="0">
                <a:solidFill>
                  <a:srgbClr val="808080"/>
                </a:solidFill>
              </a:rPr>
              <a:t>		            </a:t>
            </a:r>
            <a:r>
              <a:rPr lang="en-US" sz="1600" dirty="0">
                <a:solidFill>
                  <a:srgbClr val="FF00FF"/>
                </a:solidFill>
              </a:rPr>
              <a:t>SUM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  <a:r>
              <a:rPr lang="en-US" sz="1600" dirty="0">
                <a:solidFill>
                  <a:srgbClr val="0000FF"/>
                </a:solidFill>
              </a:rPr>
              <a:t>CASE WHEN </a:t>
            </a:r>
            <a:r>
              <a:rPr lang="en-US" sz="1600" dirty="0">
                <a:solidFill>
                  <a:srgbClr val="008080"/>
                </a:solidFill>
              </a:rPr>
              <a:t>Mark</a:t>
            </a:r>
            <a:r>
              <a:rPr lang="en-US" sz="1600" dirty="0">
                <a:solidFill>
                  <a:srgbClr val="808080"/>
                </a:solidFill>
              </a:rPr>
              <a:t>=4 </a:t>
            </a:r>
            <a:r>
              <a:rPr lang="en-US" sz="1600" dirty="0">
                <a:solidFill>
                  <a:srgbClr val="0000FF"/>
                </a:solidFill>
              </a:rPr>
              <a:t>THEN 1 ELSE 0 END</a:t>
            </a:r>
            <a:r>
              <a:rPr lang="en-US" sz="1600" dirty="0">
                <a:solidFill>
                  <a:srgbClr val="808080"/>
                </a:solidFill>
              </a:rPr>
              <a:t>)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 err="1">
                <a:solidFill>
                  <a:srgbClr val="FF0000"/>
                </a:solidFill>
              </a:rPr>
              <a:t>Количество</a:t>
            </a:r>
            <a:r>
              <a:rPr lang="en-US" sz="1600" dirty="0">
                <a:solidFill>
                  <a:srgbClr val="FF0000"/>
                </a:solidFill>
              </a:rPr>
              <a:t> 4'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</a:p>
          <a:p>
            <a:r>
              <a:rPr lang="en-US" sz="1600" dirty="0">
                <a:solidFill>
                  <a:srgbClr val="808080"/>
                </a:solidFill>
              </a:rPr>
              <a:t>		            </a:t>
            </a:r>
            <a:r>
              <a:rPr lang="en-US" sz="1600" dirty="0">
                <a:solidFill>
                  <a:srgbClr val="FF00FF"/>
                </a:solidFill>
              </a:rPr>
              <a:t>SUM</a:t>
            </a:r>
            <a:r>
              <a:rPr lang="en-US" sz="1600" dirty="0">
                <a:solidFill>
                  <a:srgbClr val="808080"/>
                </a:solidFill>
              </a:rPr>
              <a:t>(</a:t>
            </a:r>
            <a:r>
              <a:rPr lang="en-US" sz="1600" dirty="0">
                <a:solidFill>
                  <a:srgbClr val="0000FF"/>
                </a:solidFill>
              </a:rPr>
              <a:t>CASE WHEN </a:t>
            </a:r>
            <a:r>
              <a:rPr lang="en-US" sz="1600" dirty="0">
                <a:solidFill>
                  <a:srgbClr val="008080"/>
                </a:solidFill>
              </a:rPr>
              <a:t>Mark</a:t>
            </a:r>
            <a:r>
              <a:rPr lang="en-US" sz="1600" dirty="0">
                <a:solidFill>
                  <a:srgbClr val="808080"/>
                </a:solidFill>
              </a:rPr>
              <a:t>=5 </a:t>
            </a:r>
            <a:r>
              <a:rPr lang="en-US" sz="1600" dirty="0">
                <a:solidFill>
                  <a:srgbClr val="0000FF"/>
                </a:solidFill>
              </a:rPr>
              <a:t>THEN 1 ELSE 0 END</a:t>
            </a:r>
            <a:r>
              <a:rPr lang="en-US" sz="1600" dirty="0">
                <a:solidFill>
                  <a:srgbClr val="808080"/>
                </a:solidFill>
              </a:rPr>
              <a:t>) </a:t>
            </a:r>
            <a:r>
              <a:rPr lang="en-US" sz="1600" dirty="0">
                <a:solidFill>
                  <a:srgbClr val="FF0000"/>
                </a:solidFill>
              </a:rPr>
              <a:t>'</a:t>
            </a:r>
            <a:r>
              <a:rPr lang="en-US" sz="1600" dirty="0" err="1">
                <a:solidFill>
                  <a:srgbClr val="FF0000"/>
                </a:solidFill>
              </a:rPr>
              <a:t>Количество</a:t>
            </a:r>
            <a:r>
              <a:rPr lang="en-US" sz="1600" dirty="0">
                <a:solidFill>
                  <a:srgbClr val="FF0000"/>
                </a:solidFill>
              </a:rPr>
              <a:t> 5'</a:t>
            </a:r>
          </a:p>
          <a:p>
            <a:r>
              <a:rPr lang="en-US" sz="1600" dirty="0">
                <a:solidFill>
                  <a:srgbClr val="0000FF"/>
                </a:solidFill>
              </a:rPr>
              <a:t>FROM </a:t>
            </a:r>
            <a:r>
              <a:rPr lang="en-US" sz="1600" dirty="0">
                <a:solidFill>
                  <a:srgbClr val="008080"/>
                </a:solidFill>
              </a:rPr>
              <a:t>Student s</a:t>
            </a:r>
            <a:r>
              <a:rPr lang="en-US" sz="1600" dirty="0">
                <a:solidFill>
                  <a:srgbClr val="808080"/>
                </a:solidFill>
              </a:rPr>
              <a:t>, </a:t>
            </a:r>
            <a:r>
              <a:rPr lang="en-US" sz="1600" dirty="0">
                <a:solidFill>
                  <a:srgbClr val="008080"/>
                </a:solidFill>
              </a:rPr>
              <a:t>Exam_mark e</a:t>
            </a:r>
          </a:p>
          <a:p>
            <a:r>
              <a:rPr lang="en-US" sz="1600" dirty="0">
                <a:solidFill>
                  <a:srgbClr val="0000FF"/>
                </a:solidFill>
              </a:rPr>
              <a:t>WHERE </a:t>
            </a:r>
            <a:r>
              <a:rPr lang="en-US" sz="1600" dirty="0" err="1">
                <a:solidFill>
                  <a:srgbClr val="008080"/>
                </a:solidFill>
              </a:rPr>
              <a:t>s</a:t>
            </a:r>
            <a:r>
              <a:rPr lang="en-US" sz="1600" dirty="0" err="1">
                <a:solidFill>
                  <a:srgbClr val="808080"/>
                </a:solidFill>
              </a:rPr>
              <a:t>.</a:t>
            </a:r>
            <a:r>
              <a:rPr lang="en-US" sz="1600" dirty="0" err="1">
                <a:solidFill>
                  <a:srgbClr val="008080"/>
                </a:solidFill>
              </a:rPr>
              <a:t>STUDENT_ID</a:t>
            </a:r>
            <a:r>
              <a:rPr lang="en-US" sz="1600" dirty="0">
                <a:solidFill>
                  <a:srgbClr val="808080"/>
                </a:solidFill>
              </a:rPr>
              <a:t>=</a:t>
            </a:r>
            <a:r>
              <a:rPr lang="en-US" sz="1600" dirty="0" err="1">
                <a:solidFill>
                  <a:srgbClr val="008080"/>
                </a:solidFill>
              </a:rPr>
              <a:t>e</a:t>
            </a:r>
            <a:r>
              <a:rPr lang="en-US" sz="1600" dirty="0" err="1">
                <a:solidFill>
                  <a:srgbClr val="808080"/>
                </a:solidFill>
              </a:rPr>
              <a:t>.</a:t>
            </a:r>
            <a:r>
              <a:rPr lang="en-US" sz="1600" dirty="0" err="1">
                <a:solidFill>
                  <a:srgbClr val="008080"/>
                </a:solidFill>
              </a:rPr>
              <a:t>Student_Id</a:t>
            </a:r>
            <a:endParaRPr lang="en-US" sz="1600" dirty="0">
              <a:solidFill>
                <a:srgbClr val="008080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GROUP BY </a:t>
            </a:r>
            <a:r>
              <a:rPr lang="en-US" sz="1600" dirty="0" err="1">
                <a:solidFill>
                  <a:srgbClr val="008080"/>
                </a:solidFill>
              </a:rPr>
              <a:t>Kurse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ru-RU" sz="1600" dirty="0">
                <a:solidFill>
                  <a:srgbClr val="808080"/>
                </a:solidFill>
              </a:rPr>
              <a:t> </a:t>
            </a:r>
            <a:r>
              <a:rPr lang="en-US" sz="1600" dirty="0">
                <a:solidFill>
                  <a:srgbClr val="008080"/>
                </a:solidFill>
              </a:rPr>
              <a:t>Surname</a:t>
            </a:r>
            <a:r>
              <a:rPr lang="en-US" sz="1600" dirty="0">
                <a:solidFill>
                  <a:srgbClr val="808080"/>
                </a:solidFill>
              </a:rPr>
              <a:t>,</a:t>
            </a:r>
            <a:r>
              <a:rPr lang="ru-RU" sz="1600" dirty="0">
                <a:solidFill>
                  <a:srgbClr val="808080"/>
                </a:solidFill>
              </a:rPr>
              <a:t> </a:t>
            </a:r>
            <a:r>
              <a:rPr lang="en-US" sz="1600" dirty="0">
                <a:solidFill>
                  <a:srgbClr val="008080"/>
                </a:solidFill>
              </a:rPr>
              <a:t>Name</a:t>
            </a:r>
            <a:endParaRPr lang="ru-RU" sz="1400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28596" y="214290"/>
            <a:ext cx="8229600" cy="58259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Пример</a:t>
            </a:r>
            <a:r>
              <a:rPr lang="ru-RU" sz="2500" dirty="0">
                <a:latin typeface="+mj-lt"/>
                <a:ea typeface="+mj-ea"/>
                <a:cs typeface="+mj-cs"/>
              </a:rPr>
              <a:t> </a:t>
            </a:r>
            <a:r>
              <a:rPr kumimoji="0" lang="ru-RU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 условным оператором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CASE</a:t>
            </a:r>
            <a:endParaRPr kumimoji="0" lang="ru-RU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7969" t="46772" r="51953" b="41740"/>
          <a:stretch>
            <a:fillRect/>
          </a:stretch>
        </p:blipFill>
        <p:spPr bwMode="auto">
          <a:xfrm>
            <a:off x="1428728" y="4143380"/>
            <a:ext cx="550072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48272</TotalTime>
  <Words>2562</Words>
  <Application>Microsoft Office PowerPoint</Application>
  <PresentationFormat>Экран (4:3)</PresentationFormat>
  <Paragraphs>343</Paragraphs>
  <Slides>20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Тема Office</vt:lpstr>
      <vt:lpstr>Представления/VIEW в SQL (Виртуальные таблицы)</vt:lpstr>
      <vt:lpstr>Презентация PowerPoint</vt:lpstr>
      <vt:lpstr>Представления/VIEW в SQL (Виртуальные таблицы)</vt:lpstr>
      <vt:lpstr>Представления/VIEW (Виртуальные таблицы)</vt:lpstr>
      <vt:lpstr>Представления/VIEW (Виртуальные таблицы)</vt:lpstr>
      <vt:lpstr>Представления таблиц и представления столбцов</vt:lpstr>
      <vt:lpstr>Представление с вложенным запросом, представление с группировкой </vt:lpstr>
      <vt:lpstr>Представления c командами модификации</vt:lpstr>
      <vt:lpstr>Применение команд модификации к представлениям, скрывающим поля</vt:lpstr>
      <vt:lpstr>Представления/VIEW, скрывающие строки и команды модификации</vt:lpstr>
      <vt:lpstr>Агрегатные функции в представлениях</vt:lpstr>
      <vt:lpstr>Ограничения в представлениях:</vt:lpstr>
      <vt:lpstr>Модифицируемые и немодифицируемые представления</vt:lpstr>
      <vt:lpstr>Пример, модифицируемого представления с оператором соединения JOIN</vt:lpstr>
      <vt:lpstr>Презентация PowerPoint</vt:lpstr>
      <vt:lpstr>Команды изменения описания представления, удаления представления </vt:lpstr>
      <vt:lpstr>Условный оператор CASE</vt:lpstr>
      <vt:lpstr>Пример с условным оператором CASE</vt:lpstr>
      <vt:lpstr>Пример с условным оператором CASE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управления базами данных</dc:title>
  <dc:creator>Ольга</dc:creator>
  <cp:lastModifiedBy>Айнур Есентемирова</cp:lastModifiedBy>
  <cp:revision>3808</cp:revision>
  <dcterms:created xsi:type="dcterms:W3CDTF">2020-09-07T15:45:04Z</dcterms:created>
  <dcterms:modified xsi:type="dcterms:W3CDTF">2026-04-02T11:32:27Z</dcterms:modified>
</cp:coreProperties>
</file>