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sldIdLst>
    <p:sldId id="256" r:id="rId2"/>
    <p:sldId id="751" r:id="rId3"/>
    <p:sldId id="752" r:id="rId4"/>
    <p:sldId id="318" r:id="rId5"/>
    <p:sldId id="320" r:id="rId6"/>
    <p:sldId id="322" r:id="rId7"/>
    <p:sldId id="324" r:id="rId8"/>
    <p:sldId id="325" r:id="rId9"/>
    <p:sldId id="323" r:id="rId10"/>
    <p:sldId id="754" r:id="rId11"/>
    <p:sldId id="753" r:id="rId12"/>
    <p:sldId id="321" r:id="rId13"/>
    <p:sldId id="749" r:id="rId14"/>
    <p:sldId id="327" r:id="rId15"/>
    <p:sldId id="755" r:id="rId16"/>
    <p:sldId id="750" r:id="rId17"/>
    <p:sldId id="328" r:id="rId18"/>
    <p:sldId id="330" r:id="rId19"/>
    <p:sldId id="756" r:id="rId20"/>
    <p:sldId id="757" r:id="rId21"/>
    <p:sldId id="758" r:id="rId22"/>
    <p:sldId id="759" r:id="rId23"/>
    <p:sldId id="329" r:id="rId24"/>
    <p:sldId id="331" r:id="rId25"/>
    <p:sldId id="332" r:id="rId26"/>
    <p:sldId id="360" r:id="rId27"/>
    <p:sldId id="760" r:id="rId28"/>
    <p:sldId id="761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ьга" initials="О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B3F7B5"/>
    <a:srgbClr val="0101FD"/>
    <a:srgbClr val="677369"/>
    <a:srgbClr val="000099"/>
    <a:srgbClr val="FB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-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3979" autoAdjust="0"/>
  </p:normalViewPr>
  <p:slideViewPr>
    <p:cSldViewPr>
      <p:cViewPr varScale="1">
        <p:scale>
          <a:sx n="71" d="100"/>
          <a:sy n="71" d="100"/>
        </p:scale>
        <p:origin x="16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80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F2B9B-0DFA-4845-BD9B-901AF91C68CD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3527A-6151-4A98-A75F-4D4E0D307F3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C%D0%B5%D0%B6%D0%B4%D1%83%D0%BD%D0%B0%D1%80%D0%BE%D0%B4%D0%BD%D0%B0%D1%8F_%D0%BC%D0%BE%D1%80%D1%81%D0%BA%D0%B0%D1%8F_%D0%BE%D1%80%D0%B3%D0%B0%D0%BD%D0%B8%D0%B7%D0%B0%D1%86%D0%B8%D1%8F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C%D0%B5%D0%B6%D0%B4%D1%83%D0%BD%D0%B0%D1%80%D0%BE%D0%B4%D0%BD%D0%B0%D1%8F_%D0%BC%D0%BE%D1%80%D1%81%D0%BA%D0%B0%D1%8F_%D0%BE%D1%80%D0%B3%D0%B0%D0%BD%D0%B8%D0%B7%D0%B0%D1%86%D0%B8%D1%8F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Каждое судно, подлежащее государственной регистрации, должно иметь свое название и номер. Название судну присваивается его собственником.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Орган, осуществляющий государственную регистрацию судна, присваивает ему идентификационный номер.</a:t>
            </a:r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уникальный идентификатор судна. Он был введён Международной морской организацией в 1987 году для повышения безопасности, предотвращения загрязнения окружающей среды и морского мошенничества.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 остаётся связанным с корпусом судна на протяжении всего времени его существования, независимо от изменения названия, флага или владельца судна.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 состоит из трёхбуквенной латинской аббревиатуры «IMO», за которой следует число из семи цифр. Первые шесть из них являются уникальным порядковым номером судна, а седьмая цифра — контрольная. </a:t>
            </a:r>
          </a:p>
          <a:p>
            <a:endParaRPr lang="ru-RU" dirty="0"/>
          </a:p>
          <a:p>
            <a:r>
              <a:rPr lang="ru-RU" dirty="0"/>
              <a:t>Порт 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Новороссийский морской порт,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NSP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1-е место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Новороссийский морской порт - это самый крупный в России и пятый в Европе порт по грузообороту. Порт расположен на его северо-восточном побережье в незамерзающей Новороссийской (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Цемесской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бухте на Черном море.</a:t>
            </a:r>
            <a:endParaRPr lang="ru-RU" dirty="0"/>
          </a:p>
          <a:p>
            <a:r>
              <a:rPr lang="ru-RU" dirty="0"/>
              <a:t>Порт Владивосток </a:t>
            </a:r>
            <a:r>
              <a:rPr lang="en-US" dirty="0"/>
              <a:t>Vladivostok</a:t>
            </a:r>
            <a:r>
              <a:rPr lang="ru-RU" dirty="0"/>
              <a:t> </a:t>
            </a:r>
            <a:r>
              <a:rPr lang="en-US" dirty="0"/>
              <a:t>VVO</a:t>
            </a:r>
            <a:endParaRPr lang="ru-RU" dirty="0"/>
          </a:p>
          <a:p>
            <a:r>
              <a:rPr lang="ru-RU" dirty="0"/>
              <a:t>Порт Восточный </a:t>
            </a:r>
            <a:r>
              <a:rPr lang="en-US" dirty="0" err="1"/>
              <a:t>Vostochniy</a:t>
            </a:r>
            <a:r>
              <a:rPr lang="en-US" dirty="0"/>
              <a:t>, </a:t>
            </a:r>
            <a:r>
              <a:rPr lang="ru-RU" dirty="0"/>
              <a:t> </a:t>
            </a:r>
            <a:r>
              <a:rPr lang="en-US" dirty="0"/>
              <a:t>VYP</a:t>
            </a:r>
            <a:r>
              <a:rPr lang="ru-RU" dirty="0"/>
              <a:t> 3-е место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Порт Восточный - это крупнейший тихоокеанский морской порт России, расположен на побережье Японского моря на юго-востоке залива Находка в бухте Врангеля. 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Италия Равенна </a:t>
            </a:r>
            <a:r>
              <a:rPr lang="en-US" dirty="0"/>
              <a:t>Ravenna</a:t>
            </a:r>
            <a:r>
              <a:rPr lang="ru-RU" dirty="0"/>
              <a:t> </a:t>
            </a:r>
            <a:r>
              <a:rPr lang="en-US" dirty="0"/>
              <a:t>RAN</a:t>
            </a: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ОАЭ</a:t>
            </a:r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 err="1"/>
              <a:t>Дубай</a:t>
            </a:r>
            <a:r>
              <a:rPr lang="ru-RU" dirty="0"/>
              <a:t> </a:t>
            </a:r>
            <a:r>
              <a:rPr lang="en-US" dirty="0"/>
              <a:t>Dubai</a:t>
            </a:r>
            <a:r>
              <a:rPr lang="ru-RU" dirty="0"/>
              <a:t> </a:t>
            </a:r>
            <a:r>
              <a:rPr lang="en-US" dirty="0"/>
              <a:t>DXB</a:t>
            </a:r>
            <a:endParaRPr lang="ru-RU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Австралия Аделаида </a:t>
            </a:r>
            <a:r>
              <a:rPr lang="en-US" dirty="0"/>
              <a:t>Adelaide</a:t>
            </a:r>
            <a:r>
              <a:rPr lang="ru-RU" dirty="0"/>
              <a:t> </a:t>
            </a:r>
            <a:r>
              <a:rPr lang="en-US" dirty="0"/>
              <a:t>ADL</a:t>
            </a:r>
            <a:endParaRPr lang="ru-RU" dirty="0"/>
          </a:p>
          <a:p>
            <a:r>
              <a:rPr lang="ru-RU" dirty="0"/>
              <a:t>Гонконг </a:t>
            </a:r>
            <a:r>
              <a:rPr lang="en-US" dirty="0"/>
              <a:t>Hong Kong</a:t>
            </a:r>
            <a:r>
              <a:rPr lang="ru-RU" dirty="0"/>
              <a:t> </a:t>
            </a:r>
            <a:r>
              <a:rPr lang="en-US" dirty="0"/>
              <a:t>HKG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уникальный идентификатор судна. Он был введён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Международная морская организация"/>
              </a:rPr>
              <a:t>Международной морской организацией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 1987 году для повышения безопасности, предотвращения загрязнения окружающей среды и морского мошенничества. Номер ИМО остаётся связанным с корпусом судна на протяжении всего времени его существования, независимо от изменения названия, флага или владельца судна.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 состоит из трёхбуквенной латинской аббревиатуры «IMO», за которой следует число из семи цифр. Первые шесть из них являются уникальным порядковым номером судна, а седьмая цифра — контрольная. </a:t>
            </a:r>
          </a:p>
          <a:p>
            <a:endParaRPr lang="ru-RU" dirty="0"/>
          </a:p>
          <a:p>
            <a:r>
              <a:rPr lang="ru-RU" dirty="0"/>
              <a:t>Порт 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Новороссийский морской порт,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NSP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1-е место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Новороссийский морской порт - это самый крупный в России и пятый в Европе порт по грузообороту. Порт расположен на его северо-восточном побережье в незамерзающей Новороссийской (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Цемесской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бухте на Черном море.</a:t>
            </a:r>
            <a:endParaRPr lang="ru-RU" dirty="0"/>
          </a:p>
          <a:p>
            <a:r>
              <a:rPr lang="ru-RU" dirty="0"/>
              <a:t>Порт Владивосток </a:t>
            </a:r>
            <a:r>
              <a:rPr lang="en-US" dirty="0"/>
              <a:t>Vladivostok</a:t>
            </a:r>
            <a:r>
              <a:rPr lang="ru-RU" dirty="0"/>
              <a:t> </a:t>
            </a:r>
            <a:r>
              <a:rPr lang="en-US" dirty="0"/>
              <a:t>VVO</a:t>
            </a:r>
            <a:endParaRPr lang="ru-RU" dirty="0"/>
          </a:p>
          <a:p>
            <a:r>
              <a:rPr lang="ru-RU" dirty="0"/>
              <a:t>Порт Восточный </a:t>
            </a:r>
            <a:r>
              <a:rPr lang="en-US" dirty="0" err="1"/>
              <a:t>Vostochniy</a:t>
            </a:r>
            <a:r>
              <a:rPr lang="en-US" dirty="0"/>
              <a:t>, </a:t>
            </a:r>
            <a:r>
              <a:rPr lang="ru-RU" dirty="0"/>
              <a:t> </a:t>
            </a:r>
            <a:r>
              <a:rPr lang="en-US" dirty="0"/>
              <a:t>VYP</a:t>
            </a:r>
            <a:r>
              <a:rPr lang="ru-RU" dirty="0"/>
              <a:t> 3-е место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Порт Восточный - это крупнейший тихоокеанский морской порт России, расположен на побережье Японского моря на юго-востоке залива Находка в бухте Врангеля. 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Италия Равенна </a:t>
            </a:r>
            <a:r>
              <a:rPr lang="en-US" dirty="0"/>
              <a:t>Ravenna</a:t>
            </a:r>
            <a:r>
              <a:rPr lang="ru-RU" dirty="0"/>
              <a:t> </a:t>
            </a:r>
            <a:r>
              <a:rPr lang="en-US" dirty="0"/>
              <a:t>RAN</a:t>
            </a: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ОАЭ</a:t>
            </a:r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 err="1"/>
              <a:t>Дубай</a:t>
            </a:r>
            <a:r>
              <a:rPr lang="ru-RU" dirty="0"/>
              <a:t> </a:t>
            </a:r>
            <a:r>
              <a:rPr lang="en-US" dirty="0"/>
              <a:t>Dubai</a:t>
            </a:r>
            <a:r>
              <a:rPr lang="ru-RU" dirty="0"/>
              <a:t> </a:t>
            </a:r>
            <a:r>
              <a:rPr lang="en-US" dirty="0"/>
              <a:t>DXB</a:t>
            </a:r>
            <a:endParaRPr lang="ru-RU" dirty="0"/>
          </a:p>
          <a:p>
            <a:r>
              <a:rPr lang="ru-RU" dirty="0"/>
              <a:t>Гонконг </a:t>
            </a:r>
            <a:r>
              <a:rPr lang="en-US" dirty="0"/>
              <a:t>Hong Kong</a:t>
            </a:r>
            <a:r>
              <a:rPr lang="ru-RU" dirty="0"/>
              <a:t> </a:t>
            </a:r>
            <a:r>
              <a:rPr lang="en-US" dirty="0"/>
              <a:t>HKG</a:t>
            </a:r>
            <a:endParaRPr lang="ru-RU" dirty="0"/>
          </a:p>
          <a:p>
            <a:r>
              <a:rPr lang="ru-RU" dirty="0"/>
              <a:t>Австралия Аделаида </a:t>
            </a:r>
            <a:r>
              <a:rPr lang="en-US" dirty="0"/>
              <a:t>Adelaide</a:t>
            </a:r>
            <a:r>
              <a:rPr lang="ru-RU" dirty="0"/>
              <a:t> </a:t>
            </a:r>
            <a:r>
              <a:rPr lang="en-US" dirty="0"/>
              <a:t>ADL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уникальный идентификатор судна. Он был введён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Международная морская организация"/>
              </a:rPr>
              <a:t>Международной морской организацией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 1987 году для повышения безопасности, предотвращения загрязнения окружающей среды и морского мошенничества. Номер ИМО остаётся связанным с корпусом судна на протяжении всего времени его существования, независимо от изменения названия, флага или владельца судна.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Номер ИМО состоит из трёхбуквенной латинской аббревиатуры «IMO», за которой следует число из семи цифр. Первые шесть из них являются уникальным порядковым номером судна, а седьмая цифра — контрольная. </a:t>
            </a:r>
          </a:p>
          <a:p>
            <a:endParaRPr lang="ru-RU" dirty="0"/>
          </a:p>
          <a:p>
            <a:r>
              <a:rPr lang="ru-RU" dirty="0"/>
              <a:t>Порт 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Новороссийский морской порт,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NSP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1-е место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Новороссийский морской порт - это самый крупный в России и пятый в Европе порт по грузообороту. Порт расположен на его северо-восточном побережье в незамерзающей Новороссийской (</a:t>
            </a:r>
            <a:r>
              <a:rPr lang="ru-RU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Цемесской</a:t>
            </a:r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бухте на Черном море.</a:t>
            </a:r>
            <a:endParaRPr lang="ru-RU" dirty="0"/>
          </a:p>
          <a:p>
            <a:r>
              <a:rPr lang="ru-RU" dirty="0"/>
              <a:t>Порт Владивосток </a:t>
            </a:r>
            <a:r>
              <a:rPr lang="en-US" dirty="0"/>
              <a:t>Vladivostok</a:t>
            </a:r>
            <a:r>
              <a:rPr lang="ru-RU" dirty="0"/>
              <a:t> </a:t>
            </a:r>
            <a:r>
              <a:rPr lang="en-US" dirty="0"/>
              <a:t>VVO</a:t>
            </a:r>
            <a:endParaRPr lang="ru-RU" dirty="0"/>
          </a:p>
          <a:p>
            <a:r>
              <a:rPr lang="ru-RU" dirty="0"/>
              <a:t>Порт Восточный </a:t>
            </a:r>
            <a:r>
              <a:rPr lang="en-US" dirty="0" err="1"/>
              <a:t>Vostochniy</a:t>
            </a:r>
            <a:r>
              <a:rPr lang="en-US" dirty="0"/>
              <a:t>, </a:t>
            </a:r>
            <a:r>
              <a:rPr lang="ru-RU" dirty="0"/>
              <a:t> </a:t>
            </a:r>
            <a:r>
              <a:rPr lang="en-US" dirty="0"/>
              <a:t>VYP</a:t>
            </a:r>
            <a:r>
              <a:rPr lang="ru-RU" dirty="0"/>
              <a:t> 3-е место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Порт Восточный - это крупнейший тихоокеанский морской порт России, расположен на побережье Японского моря на юго-востоке залива Находка в бухте Врангеля. </a:t>
            </a:r>
          </a:p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Италия Равенна </a:t>
            </a:r>
            <a:r>
              <a:rPr lang="en-US" dirty="0"/>
              <a:t>Ravenna</a:t>
            </a:r>
            <a:r>
              <a:rPr lang="ru-RU" dirty="0"/>
              <a:t> </a:t>
            </a:r>
            <a:r>
              <a:rPr lang="en-US" dirty="0"/>
              <a:t>RAN</a:t>
            </a: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ОАЭ</a:t>
            </a:r>
            <a:r>
              <a:rPr lang="ru-RU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 err="1"/>
              <a:t>Дубай</a:t>
            </a:r>
            <a:r>
              <a:rPr lang="ru-RU" dirty="0"/>
              <a:t> </a:t>
            </a:r>
            <a:r>
              <a:rPr lang="en-US" dirty="0"/>
              <a:t>Dubai</a:t>
            </a:r>
            <a:r>
              <a:rPr lang="ru-RU" dirty="0"/>
              <a:t> </a:t>
            </a:r>
            <a:r>
              <a:rPr lang="en-US" dirty="0"/>
              <a:t>DXB</a:t>
            </a:r>
            <a:endParaRPr lang="ru-RU" dirty="0"/>
          </a:p>
          <a:p>
            <a:r>
              <a:rPr lang="ru-RU" dirty="0"/>
              <a:t>Австралия Аделаида </a:t>
            </a:r>
            <a:r>
              <a:rPr lang="en-US" dirty="0"/>
              <a:t>Adelaide</a:t>
            </a:r>
            <a:r>
              <a:rPr lang="ru-RU" dirty="0"/>
              <a:t> </a:t>
            </a:r>
            <a:r>
              <a:rPr lang="en-US" dirty="0"/>
              <a:t>ADL</a:t>
            </a:r>
            <a:endParaRPr lang="ru-RU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Гонконг </a:t>
            </a:r>
            <a:r>
              <a:rPr lang="en-US" dirty="0"/>
              <a:t>Hong Kong</a:t>
            </a:r>
            <a:r>
              <a:rPr lang="ru-RU" dirty="0"/>
              <a:t> </a:t>
            </a:r>
            <a:r>
              <a:rPr lang="en-US" dirty="0"/>
              <a:t>HKG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3527A-6151-4A98-A75F-4D4E0D307F3E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E711-7C8E-4257-A76A-06F3D3C05320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C58E-C9F6-48FD-B9E5-AE933892D04A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11C0-8750-4E8D-9BD1-DF579FD696AD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A03D0-05CB-4C72-A911-D19BD413180A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2FE4-6142-4F31-B490-D105260BC39F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83CA6-27E9-4E4D-BCEE-D3820ACE1C26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190E-BB99-4A28-8238-D9D556E7C487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3BA-A1C1-4A50-93E6-D90B2774F18F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0698-BAFC-4F5D-B55E-E7DC063F46C5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4DA7-58E9-4D54-B46F-2E208CCEBF8D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EBCA-EEA3-4401-B722-FC2FACC9B1D1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A15DA-5244-4B85-8402-67565CA01B9A}" type="datetime1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7023B-4310-42C4-812D-874FAF4871B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2928935"/>
            <a:ext cx="7772400" cy="1285884"/>
          </a:xfr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/>
              <a:t>  Нормализация и </a:t>
            </a:r>
            <a:r>
              <a:rPr lang="en-US" b="1" dirty="0"/>
              <a:t>SQL</a:t>
            </a:r>
            <a:br>
              <a:rPr lang="en-US" b="1" dirty="0"/>
            </a:br>
            <a:r>
              <a:rPr lang="ru-RU" b="1" dirty="0"/>
              <a:t>структура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r="2299" b="-197"/>
          <a:stretch>
            <a:fillRect/>
          </a:stretch>
        </p:blipFill>
        <p:spPr bwMode="auto">
          <a:xfrm>
            <a:off x="642910" y="0"/>
            <a:ext cx="3643306" cy="27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4429132"/>
            <a:ext cx="2478333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43570" y="214290"/>
            <a:ext cx="2643206" cy="257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 cstate="print"/>
          <a:srcRect t="10756" r="1538"/>
          <a:stretch>
            <a:fillRect/>
          </a:stretch>
        </p:blipFill>
        <p:spPr bwMode="auto">
          <a:xfrm>
            <a:off x="4071934" y="4357694"/>
            <a:ext cx="4429156" cy="2124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38A52-BD2A-42A4-863D-B5E9DB65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ABD611-F12A-41DE-9CAB-163FF911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530DD34-BB4B-4799-A82E-FEED47D0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29287"/>
          </a:xfrm>
        </p:spPr>
        <p:txBody>
          <a:bodyPr>
            <a:norm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проектировании БД  основной целью разработчика БД является создание точного представления данных, связей между ними и требуемых ограничений. Для достижения этой цели необходимо определить набор необходимых отношений. Метод, используемый для решения последней задачи, называется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нормализацией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sz="2400" dirty="0"/>
          </a:p>
          <a:p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Нормализация –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 создания набора отношений с заданными свойствами на основе требований к данным, установленным в некоторой организации.</a:t>
            </a:r>
            <a:endParaRPr lang="ru-KZ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1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17BD1-5DEB-40E4-AE8B-5B66111B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C8BB7E-1CA9-4791-A1AD-1582A11BB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8963" algn="l"/>
              </a:tabLst>
            </a:pPr>
            <a:r>
              <a:rPr kumimoji="0" lang="ru-RU" altLang="ru-K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нормализации впервые предложен </a:t>
            </a:r>
            <a:r>
              <a:rPr kumimoji="0" lang="ru-RU" altLang="ru-KZ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Ф.Коддом</a:t>
            </a:r>
            <a:r>
              <a:rPr kumimoji="0" lang="ru-RU" altLang="ru-K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1972 г. </a:t>
            </a:r>
            <a:endParaRPr kumimoji="0" lang="ru-RU" altLang="ru-KZ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8963" algn="l"/>
              </a:tabLst>
            </a:pPr>
            <a:r>
              <a:rPr kumimoji="0" lang="ru-RU" altLang="ru-K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нормализации является формальным методом, который позволяет идентифицировать отношения на основе их первичных ключей или потенциальных ключей и функциональных зависимостей, существующих между их атрибутами.</a:t>
            </a:r>
            <a:endParaRPr kumimoji="0" lang="ru-RU" altLang="ru-KZ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3F5822-5D9C-443D-91C0-DA933CFA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/>
              <a:t>Аномалии в таблицах БД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9205" y="1071562"/>
            <a:ext cx="8229600" cy="928694"/>
          </a:xfrm>
        </p:spPr>
        <p:txBody>
          <a:bodyPr>
            <a:normAutofit fontScale="70000" lnSpcReduction="20000"/>
          </a:bodyPr>
          <a:lstStyle/>
          <a:p>
            <a:pPr marL="0" indent="354013">
              <a:buNone/>
            </a:pPr>
            <a:r>
              <a:rPr lang="ru-RU" dirty="0"/>
              <a:t>При неправильно спроектированной схеме реляционной БД могут возникнуть аномалии при выполнении операций модификации, добавления, удаления данных.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500430" y="2357430"/>
            <a:ext cx="214314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/>
              <a:t>Аномалии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4572008"/>
            <a:ext cx="214314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модификации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500430" y="4643446"/>
            <a:ext cx="214314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добавления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357950" y="4643446"/>
            <a:ext cx="2143140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удаления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 rot="10800000" flipV="1">
            <a:off x="1428728" y="3143248"/>
            <a:ext cx="3143272" cy="135732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endCxn id="7" idx="0"/>
          </p:cNvCxnSpPr>
          <p:nvPr/>
        </p:nvCxnSpPr>
        <p:spPr>
          <a:xfrm rot="5400000">
            <a:off x="3822695" y="3893347"/>
            <a:ext cx="1499404" cy="79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522639" y="3185487"/>
            <a:ext cx="2714644" cy="14287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143109" y="357166"/>
          <a:ext cx="6715170" cy="2318315"/>
        </p:xfrm>
        <a:graphic>
          <a:graphicData uri="http://schemas.openxmlformats.org/drawingml/2006/table">
            <a:tbl>
              <a:tblPr/>
              <a:tblGrid>
                <a:gridCol w="128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52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Табельный номер сотрудника </a:t>
                      </a:r>
                      <a:r>
                        <a:rPr lang="ru-RU" sz="1100" b="1" dirty="0">
                          <a:latin typeface="+mn-lt"/>
                          <a:ea typeface="Times New Roman"/>
                          <a:cs typeface="Arial"/>
                        </a:rPr>
                        <a:t>(</a:t>
                      </a:r>
                      <a:r>
                        <a:rPr lang="en-US" sz="1100" b="1" dirty="0">
                          <a:latin typeface="+mn-lt"/>
                          <a:ea typeface="Times New Roman"/>
                          <a:cs typeface="Arial"/>
                        </a:rPr>
                        <a:t>PK</a:t>
                      </a:r>
                      <a:r>
                        <a:rPr lang="ru-RU" sz="1100" b="1" dirty="0">
                          <a:latin typeface="+mn-lt"/>
                          <a:ea typeface="Times New Roman"/>
                          <a:cs typeface="Arial"/>
                        </a:rPr>
                        <a:t>)</a:t>
                      </a:r>
                      <a:endParaRPr lang="ru-RU" sz="11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Фамилия</a:t>
                      </a:r>
                      <a:endParaRPr lang="ru-RU" sz="11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Имя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Отчество</a:t>
                      </a:r>
                      <a:endParaRPr lang="en-US" sz="11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>
                          <a:latin typeface="+mn-lt"/>
                          <a:ea typeface="Times New Roman"/>
                          <a:cs typeface="Times New Roman"/>
                        </a:rPr>
                        <a:t>Отдел</a:t>
                      </a:r>
                      <a:endParaRPr lang="ru-RU" sz="11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Телефон отдела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+mn-lt"/>
                          <a:ea typeface="Calibri"/>
                          <a:cs typeface="Arial"/>
                        </a:rPr>
                        <a:t>1</a:t>
                      </a:r>
                      <a:endParaRPr lang="ru-RU" sz="11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Иванов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Иван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Иванович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Администрация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12345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9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Сидоров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Петр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Петрович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Информационный отдел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54321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0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Синицына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Инна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Петровна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Отдел кадров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23431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0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Егоров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Валерий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Игнатьевич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Проектный отдел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45673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0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Воронина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Наталья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</a:rPr>
                        <a:t>Игоревна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Отдел кадров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/>
                        <a:t>23431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0"/>
            <a:ext cx="2057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«Сотрудник отдела»</a:t>
            </a:r>
          </a:p>
        </p:txBody>
      </p:sp>
      <p:sp>
        <p:nvSpPr>
          <p:cNvPr id="8" name="Стрелка вправо 7"/>
          <p:cNvSpPr/>
          <p:nvPr/>
        </p:nvSpPr>
        <p:spPr>
          <a:xfrm>
            <a:off x="142844" y="1000108"/>
            <a:ext cx="1857356" cy="12858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Декомпозиция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0" y="214290"/>
            <a:ext cx="1785950" cy="714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Решение проблемы</a:t>
            </a:r>
          </a:p>
        </p:txBody>
      </p:sp>
      <p:sp>
        <p:nvSpPr>
          <p:cNvPr id="11" name="Стрелка вниз 10"/>
          <p:cNvSpPr/>
          <p:nvPr/>
        </p:nvSpPr>
        <p:spPr>
          <a:xfrm rot="2371152">
            <a:off x="3582138" y="2879286"/>
            <a:ext cx="357190" cy="5591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 rot="19075729">
            <a:off x="6427814" y="2833686"/>
            <a:ext cx="357190" cy="5591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42844" y="3500438"/>
          <a:ext cx="5500726" cy="2239124"/>
        </p:xfrm>
        <a:graphic>
          <a:graphicData uri="http://schemas.openxmlformats.org/drawingml/2006/table">
            <a:tbl>
              <a:tblPr/>
              <a:tblGrid>
                <a:gridCol w="71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30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+mn-lt"/>
                          <a:ea typeface="Times New Roman"/>
                          <a:cs typeface="Arial"/>
                        </a:rPr>
                        <a:t>(</a:t>
                      </a:r>
                      <a:r>
                        <a:rPr lang="en-US" sz="1100" b="1" dirty="0">
                          <a:latin typeface="+mn-lt"/>
                          <a:ea typeface="Times New Roman"/>
                          <a:cs typeface="Arial"/>
                        </a:rPr>
                        <a:t>PK</a:t>
                      </a:r>
                      <a:r>
                        <a:rPr lang="ru-RU" sz="1100" b="1" dirty="0">
                          <a:latin typeface="+mn-lt"/>
                          <a:ea typeface="Times New Roman"/>
                          <a:cs typeface="Arial"/>
                        </a:rPr>
                        <a:t>)</a:t>
                      </a:r>
                      <a:endParaRPr lang="ru-RU" sz="11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+mn-lt"/>
                          <a:ea typeface="Calibri"/>
                          <a:cs typeface="Times New Roman"/>
                        </a:rPr>
                        <a:t>Табельный номер сотрудника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Фамилия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Имя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Отчество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Код отдела</a:t>
                      </a:r>
                    </a:p>
                    <a:p>
                      <a:pPr algn="ctr"/>
                      <a:r>
                        <a:rPr lang="ru-RU" sz="1200" b="1" dirty="0"/>
                        <a:t>(</a:t>
                      </a:r>
                      <a:r>
                        <a:rPr lang="en-US" sz="1200" b="1" dirty="0"/>
                        <a:t>FK)</a:t>
                      </a:r>
                      <a:endParaRPr lang="ru-RU" sz="12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Arial"/>
                        </a:rPr>
                        <a:t>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Arial"/>
                        </a:rPr>
                        <a:t>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Иванов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Иван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Иванович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Сидоров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Петр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Петрович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101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Синицына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Инна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Петровна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102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Егоров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Валерий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Игнатьевич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103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Воронина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Наталья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Игоревна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102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5786446" y="3500438"/>
          <a:ext cx="3214710" cy="2000264"/>
        </p:xfrm>
        <a:graphic>
          <a:graphicData uri="http://schemas.openxmlformats.org/drawingml/2006/table">
            <a:tbl>
              <a:tblPr/>
              <a:tblGrid>
                <a:gridCol w="87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r>
                        <a:rPr lang="ru-RU" sz="1200" b="1" baseline="0" dirty="0">
                          <a:latin typeface="+mn-lt"/>
                          <a:ea typeface="Calibri"/>
                          <a:cs typeface="Times New Roman"/>
                        </a:rPr>
                        <a:t> отдела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Times New Roman"/>
                          <a:cs typeface="Arial"/>
                        </a:rPr>
                        <a:t>(</a:t>
                      </a:r>
                      <a:r>
                        <a:rPr lang="en-US" sz="1200" b="1" dirty="0">
                          <a:latin typeface="+mn-lt"/>
                          <a:ea typeface="Times New Roman"/>
                          <a:cs typeface="Arial"/>
                        </a:rPr>
                        <a:t>PK</a:t>
                      </a:r>
                      <a:r>
                        <a:rPr lang="ru-RU" sz="1200" b="1" dirty="0">
                          <a:latin typeface="+mn-lt"/>
                          <a:ea typeface="Times New Roman"/>
                          <a:cs typeface="Arial"/>
                        </a:rPr>
                        <a:t>)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Times New Roman"/>
                          <a:cs typeface="Times New Roman"/>
                        </a:rPr>
                        <a:t>Отдел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Телефон отдела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Arial"/>
                        </a:rPr>
                        <a:t>100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Администрация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12345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10</a:t>
                      </a: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Информационный отдел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54321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10</a:t>
                      </a: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Отдел кадров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23431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5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10</a:t>
                      </a: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Проектный отдел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45673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42844" y="3214686"/>
            <a:ext cx="1670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 «Сотрудник»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3834" y="3214686"/>
            <a:ext cx="1300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«Отдел»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314" y="0"/>
            <a:ext cx="8929686" cy="785794"/>
          </a:xfrm>
        </p:spPr>
        <p:txBody>
          <a:bodyPr>
            <a:noAutofit/>
          </a:bodyPr>
          <a:lstStyle/>
          <a:p>
            <a:r>
              <a:rPr lang="ru-RU" sz="2700" dirty="0"/>
              <a:t>Проектирование баз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928670"/>
            <a:ext cx="8229600" cy="16430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Нормализация </a:t>
            </a:r>
            <a:r>
              <a:rPr lang="ru-RU" dirty="0"/>
              <a:t>– это процесс преобразования отношения в состояние, обеспечивающее лучшие условия выборки, добавления, изменения и удаления данных.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Цель</a:t>
            </a:r>
            <a:r>
              <a:rPr lang="ru-RU" dirty="0"/>
              <a:t>: устранение избыточности данных в базе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57158" y="4286256"/>
          <a:ext cx="8572560" cy="1737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71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8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Семестр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Математика, часы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Физика, часы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Физическая культура, часы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00562" y="6000768"/>
            <a:ext cx="441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Пример, таблица «Учебный план</a:t>
            </a:r>
            <a:r>
              <a:rPr lang="en-US" dirty="0"/>
              <a:t> </a:t>
            </a:r>
            <a:r>
              <a:rPr lang="ru-RU" dirty="0"/>
              <a:t>ВУЗа»</a:t>
            </a:r>
          </a:p>
        </p:txBody>
      </p:sp>
      <p:sp>
        <p:nvSpPr>
          <p:cNvPr id="7" name="Стрелка вниз 6"/>
          <p:cNvSpPr/>
          <p:nvPr/>
        </p:nvSpPr>
        <p:spPr>
          <a:xfrm rot="19262887">
            <a:off x="6677394" y="3271488"/>
            <a:ext cx="525447" cy="974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одержимое 2"/>
          <p:cNvSpPr txBox="1">
            <a:spLocks/>
          </p:cNvSpPr>
          <p:nvPr/>
        </p:nvSpPr>
        <p:spPr>
          <a:xfrm>
            <a:off x="1857356" y="2500306"/>
            <a:ext cx="6715172" cy="64294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>
              <a:spcBef>
                <a:spcPct val="20000"/>
              </a:spcBef>
            </a:pPr>
            <a:r>
              <a:rPr lang="ru-RU" sz="3800" dirty="0"/>
              <a:t>Не допускается наличие в таблице полей, названия которых входят в одно множество допустимых значений =</a:t>
            </a:r>
            <a:r>
              <a:rPr lang="en-US" sz="3800" dirty="0"/>
              <a:t>&gt; </a:t>
            </a:r>
            <a:r>
              <a:rPr lang="ru-RU" sz="3800" dirty="0"/>
              <a:t>не эффективная таблица</a:t>
            </a:r>
            <a:r>
              <a:rPr lang="ru-RU" sz="3200" dirty="0"/>
              <a:t>.</a:t>
            </a:r>
            <a:endParaRPr kumimoji="0" lang="ru-RU" sz="3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Стрелка вниз 10"/>
          <p:cNvSpPr/>
          <p:nvPr/>
        </p:nvSpPr>
        <p:spPr>
          <a:xfrm>
            <a:off x="5000628" y="3571876"/>
            <a:ext cx="428628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 rot="2811743">
            <a:off x="3561852" y="3156276"/>
            <a:ext cx="447240" cy="9495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4500562" y="3214686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Дисциплина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58" y="6581001"/>
            <a:ext cx="5547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/>
              <a:t>Избыточность</a:t>
            </a:r>
            <a:r>
              <a:rPr lang="ru-RU" sz="1200" dirty="0"/>
              <a:t> </a:t>
            </a:r>
            <a:r>
              <a:rPr lang="ru-RU" sz="1200" b="1" dirty="0"/>
              <a:t>данных</a:t>
            </a:r>
            <a:r>
              <a:rPr lang="ru-RU" sz="1200" dirty="0"/>
              <a:t> – это дублирование данных, содержащихся в базе данных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715404" cy="500042"/>
          </a:xfrm>
        </p:spPr>
        <p:txBody>
          <a:bodyPr>
            <a:normAutofit/>
          </a:bodyPr>
          <a:lstStyle/>
          <a:p>
            <a:r>
              <a:rPr lang="ru-RU" sz="2600" dirty="0"/>
              <a:t>Проектирование баз данных</a:t>
            </a:r>
          </a:p>
        </p:txBody>
      </p:sp>
      <p:sp>
        <p:nvSpPr>
          <p:cNvPr id="10" name="Содержимое 2"/>
          <p:cNvSpPr>
            <a:spLocks noGrp="1"/>
          </p:cNvSpPr>
          <p:nvPr>
            <p:ph idx="1"/>
          </p:nvPr>
        </p:nvSpPr>
        <p:spPr>
          <a:xfrm>
            <a:off x="357158" y="6286520"/>
            <a:ext cx="8143932" cy="57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Появляется избыточность данных =</a:t>
            </a:r>
            <a:r>
              <a:rPr lang="en-US" sz="1600" dirty="0"/>
              <a:t>&gt;</a:t>
            </a:r>
            <a:r>
              <a:rPr lang="ru-RU" sz="1600" dirty="0"/>
              <a:t> что можно предпринять? (см. следующий слайд)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57157" y="714356"/>
          <a:ext cx="8572562" cy="1436611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70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8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Семестр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Математика, часы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Физика, часы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Физическая культура, часы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43570" y="428604"/>
            <a:ext cx="328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«Учебный план ВУЗа»</a:t>
            </a:r>
          </a:p>
        </p:txBody>
      </p:sp>
      <p:sp>
        <p:nvSpPr>
          <p:cNvPr id="7" name="Стрелка вниз 6"/>
          <p:cNvSpPr/>
          <p:nvPr/>
        </p:nvSpPr>
        <p:spPr>
          <a:xfrm>
            <a:off x="4429124" y="2214554"/>
            <a:ext cx="428628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596" y="2500306"/>
          <a:ext cx="7215237" cy="3657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Дисциплина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Часы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Семестр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Математика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Физика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Физическая культура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Математика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Физика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Математика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Физика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Физическая культура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Физическая культура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86710" y="3571876"/>
            <a:ext cx="1143040" cy="16004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b="1" dirty="0"/>
              <a:t>Вопрос: </a:t>
            </a:r>
            <a:r>
              <a:rPr lang="ru-RU" sz="1400" dirty="0"/>
              <a:t>какие аномалии могут возникнуть  в  данной таблице?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7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786710" y="285728"/>
            <a:ext cx="1357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«Учебный план ВУЗа»</a:t>
            </a:r>
          </a:p>
        </p:txBody>
      </p:sp>
      <p:sp>
        <p:nvSpPr>
          <p:cNvPr id="7" name="Стрелка вниз 6"/>
          <p:cNvSpPr/>
          <p:nvPr/>
        </p:nvSpPr>
        <p:spPr>
          <a:xfrm rot="2729035">
            <a:off x="3520741" y="3881011"/>
            <a:ext cx="414214" cy="8317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357158" y="4714884"/>
          <a:ext cx="3143272" cy="135732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Код (</a:t>
                      </a:r>
                      <a:r>
                        <a:rPr lang="en-US" sz="1400" dirty="0"/>
                        <a:t>PK</a:t>
                      </a:r>
                      <a:r>
                        <a:rPr lang="ru-RU" sz="14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Дисциплина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Математика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Физика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3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Физическая культура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714744" y="3500438"/>
            <a:ext cx="1361848" cy="3077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ru-RU" sz="1400" b="1" dirty="0"/>
              <a:t>Декомпозиция</a:t>
            </a:r>
          </a:p>
        </p:txBody>
      </p:sp>
      <p:sp>
        <p:nvSpPr>
          <p:cNvPr id="15" name="Стрелка вниз 14"/>
          <p:cNvSpPr/>
          <p:nvPr/>
        </p:nvSpPr>
        <p:spPr>
          <a:xfrm rot="19396479">
            <a:off x="4559447" y="3853133"/>
            <a:ext cx="414214" cy="5733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5214942" y="3383280"/>
          <a:ext cx="3571901" cy="34747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03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26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Код</a:t>
                      </a:r>
                      <a:endParaRPr lang="en-US" sz="14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(</a:t>
                      </a:r>
                      <a:r>
                        <a:rPr lang="en-US" sz="1400" dirty="0"/>
                        <a:t>PK</a:t>
                      </a:r>
                      <a:r>
                        <a:rPr lang="ru-RU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Код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dirty="0"/>
                        <a:t>Дисциплины (</a:t>
                      </a:r>
                      <a:r>
                        <a:rPr lang="en-US" sz="1400" dirty="0"/>
                        <a:t>FK</a:t>
                      </a:r>
                      <a:r>
                        <a:rPr lang="ru-RU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Часы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Семестр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0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57158" y="6072206"/>
            <a:ext cx="2490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«Дисциплина»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1670" y="6429396"/>
            <a:ext cx="32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«Учебный план ВУЗа»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285720" y="214290"/>
          <a:ext cx="7358114" cy="3048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874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Дисциплина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Часы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Семестр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Математика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Физика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Физическая культура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Математика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Физика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Математика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Физика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Физическая культура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Физическая культура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85720" y="3357562"/>
            <a:ext cx="25003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Вопросы: </a:t>
            </a:r>
          </a:p>
          <a:p>
            <a:r>
              <a:rPr lang="ru-RU" sz="1200" dirty="0"/>
              <a:t>1) Сколько таблиц будет получено в результате декомпозиции. С какими полями?</a:t>
            </a:r>
          </a:p>
          <a:p>
            <a:r>
              <a:rPr lang="ru-RU" sz="1200" dirty="0"/>
              <a:t>2) Какой вид связи будет между таблицами?</a:t>
            </a:r>
          </a:p>
          <a:p>
            <a:endParaRPr 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715404" cy="785794"/>
          </a:xfrm>
        </p:spPr>
        <p:txBody>
          <a:bodyPr>
            <a:normAutofit/>
          </a:bodyPr>
          <a:lstStyle/>
          <a:p>
            <a:r>
              <a:rPr lang="ru-RU" sz="3600" dirty="0"/>
              <a:t>Нормальные формы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3071833"/>
          </a:xfrm>
        </p:spPr>
        <p:txBody>
          <a:bodyPr>
            <a:normAutofit fontScale="55000" lnSpcReduction="20000"/>
          </a:bodyPr>
          <a:lstStyle/>
          <a:p>
            <a:pPr>
              <a:buFont typeface="Calibri" pitchFamily="34" charset="0"/>
              <a:buChar char="−"/>
            </a:pPr>
            <a:r>
              <a:rPr lang="ru-RU" dirty="0"/>
              <a:t>Эдгар Кодд.</a:t>
            </a:r>
            <a:endParaRPr lang="ru-RU" b="1" dirty="0"/>
          </a:p>
          <a:p>
            <a:pPr>
              <a:buFont typeface="Calibri" pitchFamily="34" charset="0"/>
              <a:buChar char="−"/>
            </a:pPr>
            <a:r>
              <a:rPr lang="ru-RU" dirty="0"/>
              <a:t>Нормальные формы: 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Первая нормальная форма (1NF, 1НФ).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Вторая нормальная форма (2NF, 2НФ).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Третья нормальная форма (3NF, 3НФ).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Нормальная форма </a:t>
            </a:r>
            <a:r>
              <a:rPr lang="ru-RU" dirty="0" err="1"/>
              <a:t>Бойса</a:t>
            </a:r>
            <a:r>
              <a:rPr lang="ru-RU" dirty="0"/>
              <a:t> — Кодда (BCNF).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Четвёртая нормальная форма (4NF).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Пятая нормальная форма (5NF).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Доменно-ключевая нормальная форма (DKNF).</a:t>
            </a:r>
          </a:p>
          <a:p>
            <a:pPr marL="268288" lvl="0" indent="268288">
              <a:buFont typeface="+mj-lt"/>
              <a:buAutoNum type="arabicParenR"/>
            </a:pPr>
            <a:r>
              <a:rPr lang="ru-RU" dirty="0"/>
              <a:t>Шестая нормальная форма (6NF).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88784-B02B-4075-A2C3-1A9CA9F7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Первая нормальная форма (1НФ)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9D7486-0646-48DD-8AE7-355E2A19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658A4E01-0CC6-4B75-A4A9-A33E7F639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Определение. </a:t>
            </a:r>
            <a:r>
              <a:rPr lang="ru-RU" dirty="0"/>
              <a:t>Отношение находится в 1НФ тогда и только тогда, когда все его атрибуты содержат только простые неделимые (атомарные) значения.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6029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E108B-4F68-4D6E-82A1-DDCF9D55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r>
              <a:rPr lang="ru-RU" sz="3600" dirty="0"/>
              <a:t>Первая нормальная форма (1НФ)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E27B38-AAA8-49D0-A1C3-408FC7BCE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Повторяющейся группой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называется группа, состоящая из одного и более атрибутов таблицы, в которой возможно наличие нескольких значений для единственного зна­чения ключевого атрибута таблицы.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перевода ее в 1 нормальную форму (1НФ) необходимо найти и устранить все повторяющиеся группы данных. 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3AD4F-3A93-4AA5-BE31-A5EBD724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72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25470"/>
          </a:xfrm>
        </p:spPr>
        <p:txBody>
          <a:bodyPr>
            <a:normAutofit/>
          </a:bodyPr>
          <a:lstStyle/>
          <a:p>
            <a:r>
              <a:rPr lang="ru-RU" dirty="0"/>
              <a:t>Первая нормальная форма (1НФ)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12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79635"/>
              </p:ext>
            </p:extLst>
          </p:nvPr>
        </p:nvGraphicFramePr>
        <p:xfrm>
          <a:off x="142846" y="1928802"/>
          <a:ext cx="8786871" cy="1719462"/>
        </p:xfrm>
        <a:graphic>
          <a:graphicData uri="http://schemas.openxmlformats.org/drawingml/2006/table">
            <a:tbl>
              <a:tblPr/>
              <a:tblGrid>
                <a:gridCol w="85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latin typeface="+mn-lt"/>
                        </a:rPr>
                        <a:t>Фамилия менеджера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Фамилия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Тип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Остаток на счете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,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Иван,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1111, 2222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1000, 100000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 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3333, 4455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текущий, 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2000, 10000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Петрова 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Полина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Проспект, 7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4466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526763" y="1628982"/>
            <a:ext cx="235745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таблица  </a:t>
            </a:r>
            <a:r>
              <a:rPr lang="ru-RU" sz="1200" dirty="0">
                <a:ea typeface="Calibri" pitchFamily="34" charset="0"/>
                <a:cs typeface="Times New Roman" pitchFamily="18" charset="0"/>
              </a:rPr>
              <a:t>«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Счет в банке»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8" name="Стрелка вниз 7"/>
          <p:cNvSpPr/>
          <p:nvPr/>
        </p:nvSpPr>
        <p:spPr>
          <a:xfrm>
            <a:off x="4286248" y="3857628"/>
            <a:ext cx="571504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734158"/>
              </p:ext>
            </p:extLst>
          </p:nvPr>
        </p:nvGraphicFramePr>
        <p:xfrm>
          <a:off x="142844" y="4357694"/>
          <a:ext cx="8786871" cy="2107422"/>
        </p:xfrm>
        <a:graphic>
          <a:graphicData uri="http://schemas.openxmlformats.org/drawingml/2006/table">
            <a:tbl>
              <a:tblPr/>
              <a:tblGrid>
                <a:gridCol w="85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latin typeface="+mn-lt"/>
                        </a:rPr>
                        <a:t>Фамилия менеджера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Фамилия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Тип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Остаток на счете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 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3333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 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4455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Петрова 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Полина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Проспект, 7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4466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572264" y="4071942"/>
            <a:ext cx="235745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таблица  </a:t>
            </a:r>
            <a:r>
              <a:rPr lang="ru-RU" sz="1200" dirty="0">
                <a:ea typeface="Calibri" pitchFamily="34" charset="0"/>
                <a:cs typeface="Times New Roman" pitchFamily="18" charset="0"/>
              </a:rPr>
              <a:t>«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Счет в банке»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CEF87D8-BC3C-46B3-A896-5DC790C1F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54505F0F-78FF-4787-9DAD-876E828D6898}"/>
              </a:ext>
            </a:extLst>
          </p:cNvPr>
          <p:cNvSpPr txBox="1">
            <a:spLocks/>
          </p:cNvSpPr>
          <p:nvPr/>
        </p:nvSpPr>
        <p:spPr>
          <a:xfrm>
            <a:off x="485803" y="580869"/>
            <a:ext cx="8398413" cy="363304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находится в </a:t>
            </a:r>
            <a:r>
              <a:rPr lang="ru-RU" sz="2000" b="1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первой нормальной форме</a:t>
            </a:r>
            <a:r>
              <a:rPr lang="ru-RU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2000" b="1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1НФ</a:t>
            </a:r>
            <a:r>
              <a:rPr lang="ru-RU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тогда и только тогда, когда ни одна из ее строк не содержит в любом своем поле более одного значения и ни одно из ее ключевых полей не пусто.</a:t>
            </a:r>
            <a:endParaRPr lang="ru-KZ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KZ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4FF839-85B7-4E14-821D-36E2DF4D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4031FB9-B57C-4137-9ECF-B797CA5C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dirty="0"/>
              <a:t>Вторая нормальная форма (2НФ)</a:t>
            </a:r>
          </a:p>
        </p:txBody>
      </p:sp>
      <p:sp>
        <p:nvSpPr>
          <p:cNvPr id="6" name="Содержимое 2">
            <a:extLst>
              <a:ext uri="{FF2B5EF4-FFF2-40B4-BE49-F238E27FC236}">
                <a16:creationId xmlns:a16="http://schemas.microsoft.com/office/drawing/2014/main" id="{DC649AB1-755B-4605-9B4A-21C5A04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Определение.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Отношение находится во 2НФ тогда и только тогда, когда соответствует 1НФ и не ключевые атрибуты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полностью зависят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 всего первичного ключа. 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Обнаружение частичных зависимостей внутри отношения показывает, что оно не находится в 2НФ. Для преобразования отношения в 2НФ требуется создать новые отношения, причем так, чтобы атрибуты, не входящие в первичный ключ, были помещены в них вместе с копией первичного ключа, от которой они функционально зависят.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379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428604"/>
          </a:xfrm>
        </p:spPr>
        <p:txBody>
          <a:bodyPr>
            <a:noAutofit/>
          </a:bodyPr>
          <a:lstStyle/>
          <a:p>
            <a:r>
              <a:rPr lang="ru-RU" sz="3200" dirty="0"/>
              <a:t>Вторая нормальная форма (2НФ)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14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42844" y="1214422"/>
          <a:ext cx="8786871" cy="2107422"/>
        </p:xfrm>
        <a:graphic>
          <a:graphicData uri="http://schemas.openxmlformats.org/drawingml/2006/table">
            <a:tbl>
              <a:tblPr/>
              <a:tblGrid>
                <a:gridCol w="85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latin typeface="+mn-lt"/>
                        </a:rPr>
                        <a:t>Фамилия менеджера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Фамилия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Тип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Остаток на счете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 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3333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 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4455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Петрова 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Полина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Проспект, 7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4466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14283" y="3643314"/>
          <a:ext cx="3714774" cy="1410897"/>
        </p:xfrm>
        <a:graphic>
          <a:graphicData uri="http://schemas.openxmlformats.org/drawingml/2006/table">
            <a:tbl>
              <a:tblPr/>
              <a:tblGrid>
                <a:gridCol w="42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latin typeface="+mn-lt"/>
                        </a:rPr>
                        <a:t>Фамилия менеджера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85720" y="5214950"/>
          <a:ext cx="2643206" cy="1464479"/>
        </p:xfrm>
        <a:graphic>
          <a:graphicData uri="http://schemas.openxmlformats.org/drawingml/2006/table">
            <a:tbl>
              <a:tblPr/>
              <a:tblGrid>
                <a:gridCol w="42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Фамилия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Петрова 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Полина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Проспект, 7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786314" y="3857629"/>
          <a:ext cx="4143403" cy="2464613"/>
        </p:xfrm>
        <a:graphic>
          <a:graphicData uri="http://schemas.openxmlformats.org/drawingml/2006/table">
            <a:tbl>
              <a:tblPr/>
              <a:tblGrid>
                <a:gridCol w="56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6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41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en-US" sz="1000" b="1" dirty="0">
                          <a:latin typeface="+mn-lt"/>
                          <a:ea typeface="Calibri"/>
                          <a:cs typeface="Times New Roman"/>
                        </a:rPr>
                        <a:t>PK</a:t>
                      </a: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Тип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Остаток на счете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клиента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+mn-lt"/>
                          <a:ea typeface="Calibri"/>
                          <a:cs typeface="Times New Roman"/>
                        </a:rPr>
                        <a:t>(FK)</a:t>
                      </a:r>
                      <a:endParaRPr lang="ru-RU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+mn-lt"/>
                          <a:ea typeface="Calibri"/>
                          <a:cs typeface="Times New Roman"/>
                        </a:rPr>
                        <a:t>Банка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  <a:ea typeface="Calibri"/>
                          <a:cs typeface="Times New Roman"/>
                        </a:rPr>
                        <a:t>(FK)</a:t>
                      </a:r>
                      <a:endParaRPr lang="ru-RU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4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+mn-lt"/>
                          <a:ea typeface="Calibri"/>
                          <a:cs typeface="Times New Roman"/>
                        </a:rPr>
                        <a:t>100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4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+mn-lt"/>
                          <a:ea typeface="Calibri"/>
                          <a:cs typeface="Times New Roman"/>
                        </a:rPr>
                        <a:t>101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+mn-lt"/>
                          <a:ea typeface="Calibri"/>
                          <a:cs typeface="Times New Roman"/>
                        </a:rPr>
                        <a:t>102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3333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5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+mn-lt"/>
                          <a:ea typeface="Calibri"/>
                          <a:cs typeface="Times New Roman"/>
                        </a:rPr>
                        <a:t>103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4455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1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+mn-lt"/>
                          <a:ea typeface="Calibri"/>
                          <a:cs typeface="Times New Roman"/>
                        </a:rPr>
                        <a:t>104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4466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4282" y="3357562"/>
            <a:ext cx="1223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«Банк»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786546" y="928670"/>
            <a:ext cx="235745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таблица  </a:t>
            </a:r>
            <a:r>
              <a:rPr lang="ru-RU" sz="1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«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Счет в банке»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Стрелка вниз 11"/>
          <p:cNvSpPr/>
          <p:nvPr/>
        </p:nvSpPr>
        <p:spPr>
          <a:xfrm>
            <a:off x="4143372" y="3357562"/>
            <a:ext cx="357190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4429124" y="3357562"/>
            <a:ext cx="1361848" cy="3077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ru-RU" sz="1400" b="1" dirty="0"/>
              <a:t>Декомпозиция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9454" y="3571876"/>
            <a:ext cx="1990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«Банковский счет»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8926" y="5429264"/>
            <a:ext cx="1221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</a:t>
            </a:r>
          </a:p>
          <a:p>
            <a:r>
              <a:rPr lang="ru-RU" sz="1200" dirty="0"/>
              <a:t>«Клиент банка»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001024" y="4643446"/>
          <a:ext cx="71438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7929586" y="4857760"/>
          <a:ext cx="857256" cy="357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7929586" y="5715016"/>
          <a:ext cx="857256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7929586" y="5286388"/>
          <a:ext cx="857256" cy="285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7858148" y="6072206"/>
          <a:ext cx="100013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Объект 16">
            <a:extLst>
              <a:ext uri="{FF2B5EF4-FFF2-40B4-BE49-F238E27FC236}">
                <a16:creationId xmlns:a16="http://schemas.microsoft.com/office/drawing/2014/main" id="{F4AFC0B9-3C2A-44FD-8C9A-792F8A6E6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 animBg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30A7A-52B7-4AD3-AA7C-FBD0EE2C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D5FDE5-64C2-42A8-BA3D-5680974E9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Отношение находится в 2НФ,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если оно находится в 1 НФ и каждый атрибут которого, не входящий в состав первичного ключа, характеризуется полной Ф-зависимостью от этого первичного ключа.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Атрибут В функционально зависит от атрибута А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запись: А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 , если для любых двух кортежей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32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32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 выполнения условия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32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(А)=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32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(А) следует, что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32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(В)=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32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(В). При этом каждый из атрибутов А или В может состоять из нескольких атрибутов.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7B59D0-207F-4268-951F-962E446F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57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961495-8715-4D5E-BC66-EEFF6A7B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727FBF3-9512-4EE2-88CC-81E1C13F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dirty="0"/>
              <a:t>Третья нормальная форма (3НФ)</a:t>
            </a:r>
          </a:p>
        </p:txBody>
      </p:sp>
      <p:sp>
        <p:nvSpPr>
          <p:cNvPr id="6" name="Содержимое 2">
            <a:extLst>
              <a:ext uri="{FF2B5EF4-FFF2-40B4-BE49-F238E27FC236}">
                <a16:creationId xmlns:a16="http://schemas.microsoft.com/office/drawing/2014/main" id="{077B3A71-1F5A-4AE2-971A-644C3049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Определение.</a:t>
            </a:r>
            <a:r>
              <a:rPr lang="ru-RU" dirty="0"/>
              <a:t> Отношение находится в 3НФ тогда и только тогда, когда соответствует 2 НФ и все не ключевые атрибуты взаимно независимы.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797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428604"/>
          </a:xfrm>
        </p:spPr>
        <p:txBody>
          <a:bodyPr>
            <a:noAutofit/>
          </a:bodyPr>
          <a:lstStyle/>
          <a:p>
            <a:r>
              <a:rPr lang="ru-RU" sz="3200" dirty="0"/>
              <a:t>Третья нормальная форма (3НФ)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17</a:t>
            </a:fld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714480" y="1571612"/>
          <a:ext cx="5214974" cy="1643074"/>
        </p:xfrm>
        <a:graphic>
          <a:graphicData uri="http://schemas.openxmlformats.org/drawingml/2006/table">
            <a:tbl>
              <a:tblPr/>
              <a:tblGrid>
                <a:gridCol w="59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83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отделения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latin typeface="+mn-lt"/>
                        </a:rPr>
                        <a:t>Фамилия менеджера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 err="1">
                          <a:latin typeface="+mn-lt"/>
                        </a:rPr>
                        <a:t>Игнатюк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86446" y="1357298"/>
            <a:ext cx="1223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«Банк»</a:t>
            </a:r>
          </a:p>
        </p:txBody>
      </p:sp>
      <p:sp>
        <p:nvSpPr>
          <p:cNvPr id="12" name="Стрелка вниз 11"/>
          <p:cNvSpPr/>
          <p:nvPr/>
        </p:nvSpPr>
        <p:spPr>
          <a:xfrm>
            <a:off x="4143372" y="3357562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7215206" y="3643314"/>
            <a:ext cx="1625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«Менеджер»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596" y="3571876"/>
            <a:ext cx="1500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Таблица «Банка»</a:t>
            </a:r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4786314" y="3929066"/>
          <a:ext cx="4034225" cy="1835602"/>
        </p:xfrm>
        <a:graphic>
          <a:graphicData uri="http://schemas.openxmlformats.org/drawingml/2006/table">
            <a:tbl>
              <a:tblPr/>
              <a:tblGrid>
                <a:gridCol w="59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3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Код отделения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(FK)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latin typeface="+mn-lt"/>
                        </a:rPr>
                        <a:t>Фамилия менеджера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3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 err="1">
                          <a:latin typeface="+mn-lt"/>
                        </a:rPr>
                        <a:t>Игнатюк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428596" y="3929066"/>
          <a:ext cx="3357586" cy="1471877"/>
        </p:xfrm>
        <a:graphic>
          <a:graphicData uri="http://schemas.openxmlformats.org/drawingml/2006/table">
            <a:tbl>
              <a:tblPr/>
              <a:tblGrid>
                <a:gridCol w="9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4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 отделения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Номер</a:t>
                      </a:r>
                      <a:r>
                        <a:rPr lang="ru-RU" sz="1200" b="1" baseline="0" dirty="0">
                          <a:latin typeface="+mn-lt"/>
                          <a:ea typeface="Calibri"/>
                          <a:cs typeface="Times New Roman"/>
                        </a:rPr>
                        <a:t> отделения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Объект 5">
            <a:extLst>
              <a:ext uri="{FF2B5EF4-FFF2-40B4-BE49-F238E27FC236}">
                <a16:creationId xmlns:a16="http://schemas.microsoft.com/office/drawing/2014/main" id="{B84E3EA4-37E8-485D-A214-8CEEA308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7286644" y="2500306"/>
            <a:ext cx="1625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«Менеджер»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282" y="2357430"/>
            <a:ext cx="1285884" cy="285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Таблица «Банка»</a:t>
            </a:r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5429256" y="2714620"/>
          <a:ext cx="3500461" cy="1648314"/>
        </p:xfrm>
        <a:graphic>
          <a:graphicData uri="http://schemas.openxmlformats.org/drawingml/2006/table">
            <a:tbl>
              <a:tblPr/>
              <a:tblGrid>
                <a:gridCol w="512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Код отделения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(FK)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latin typeface="+mn-lt"/>
                        </a:rPr>
                        <a:t>Фамилия менеджера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 err="1">
                          <a:latin typeface="+mn-lt"/>
                        </a:rPr>
                        <a:t>Игнатюк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214282" y="2643182"/>
          <a:ext cx="3929090" cy="1109110"/>
        </p:xfrm>
        <a:graphic>
          <a:graphicData uri="http://schemas.openxmlformats.org/drawingml/2006/table">
            <a:tbl>
              <a:tblPr/>
              <a:tblGrid>
                <a:gridCol w="111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0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 отделения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Номер</a:t>
                      </a:r>
                      <a:r>
                        <a:rPr lang="ru-RU" sz="1200" b="1" baseline="0" dirty="0">
                          <a:latin typeface="+mn-lt"/>
                          <a:ea typeface="Calibri"/>
                          <a:cs typeface="Times New Roman"/>
                        </a:rPr>
                        <a:t> отделения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5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5357818" y="4714884"/>
          <a:ext cx="3571869" cy="1785949"/>
        </p:xfrm>
        <a:graphic>
          <a:graphicData uri="http://schemas.openxmlformats.org/drawingml/2006/table">
            <a:tbl>
              <a:tblPr/>
              <a:tblGrid>
                <a:gridCol w="579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3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(PK)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Фамилия клиента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клиента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клиента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Петрова 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Полина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Проспект, 7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072330" y="4429132"/>
            <a:ext cx="1827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 «Клиент банка»</a:t>
            </a:r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214282" y="4071942"/>
          <a:ext cx="4286280" cy="2585131"/>
        </p:xfrm>
        <a:graphic>
          <a:graphicData uri="http://schemas.openxmlformats.org/drawingml/2006/table">
            <a:tbl>
              <a:tblPr/>
              <a:tblGrid>
                <a:gridCol w="562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41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PK</a:t>
                      </a: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счета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Тип счета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Остаток на счете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клиента</a:t>
                      </a:r>
                      <a:endParaRPr lang="en-US" sz="1200" b="1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(FK)</a:t>
                      </a:r>
                      <a:endParaRPr lang="ru-RU" sz="12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Код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менеджера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en-US" sz="1200" b="1" dirty="0">
                          <a:latin typeface="+mn-lt"/>
                          <a:ea typeface="Calibri"/>
                          <a:cs typeface="Times New Roman"/>
                        </a:rPr>
                        <a:t>FK</a:t>
                      </a:r>
                      <a:r>
                        <a:rPr lang="ru-RU" sz="1200" b="1" dirty="0">
                          <a:latin typeface="+mn-lt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4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100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1111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4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101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2222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102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3333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5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103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4455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1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104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4466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2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+mn-lt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14282" y="3786190"/>
            <a:ext cx="1990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«Банковский счет»</a:t>
            </a: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142844" y="357166"/>
          <a:ext cx="8786871" cy="1719462"/>
        </p:xfrm>
        <a:graphic>
          <a:graphicData uri="http://schemas.openxmlformats.org/drawingml/2006/table">
            <a:tbl>
              <a:tblPr/>
              <a:tblGrid>
                <a:gridCol w="857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49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отделения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b="1" dirty="0">
                          <a:latin typeface="+mn-lt"/>
                        </a:rPr>
                        <a:t>Фамилия менеджера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менеджера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Фамилия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Имя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Адрес клиента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Номер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Тип счета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Остаток на счете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>
                          <a:latin typeface="+mn-lt"/>
                        </a:rPr>
                        <a:t>Тимошин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Иван,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Тимур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Иосиф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Пушкина, 10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1111, 2222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1000, 100000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11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Садовая, 3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000" dirty="0" err="1">
                          <a:latin typeface="+mn-lt"/>
                        </a:rPr>
                        <a:t>Игнатюк</a:t>
                      </a:r>
                      <a:r>
                        <a:rPr lang="ru-RU" sz="1000" dirty="0">
                          <a:latin typeface="+mn-lt"/>
                        </a:rPr>
                        <a:t> 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Иван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Сидоров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Семен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Кирова, 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3333, 4455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текущий, депозит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2000, 10000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22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Кольцевая, 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Федосевич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Федор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Петрова 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+mn-lt"/>
                          <a:ea typeface="Calibri"/>
                          <a:cs typeface="Times New Roman"/>
                        </a:rPr>
                        <a:t>Полина</a:t>
                      </a: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Проспект, 7</a:t>
                      </a:r>
                      <a:endParaRPr lang="ru-RU" sz="1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4466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текущий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1000</a:t>
                      </a:r>
                      <a:endParaRPr lang="ru-RU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3610" marR="636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6572264" y="0"/>
            <a:ext cx="235745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таблица  </a:t>
            </a:r>
            <a:r>
              <a:rPr lang="ru-RU" sz="1200" dirty="0">
                <a:ea typeface="Calibri" pitchFamily="34" charset="0"/>
                <a:cs typeface="Times New Roman" pitchFamily="18" charset="0"/>
              </a:rPr>
              <a:t>«</a:t>
            </a: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Информация о счете»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26" name="Стрелка вниз 25"/>
          <p:cNvSpPr/>
          <p:nvPr/>
        </p:nvSpPr>
        <p:spPr>
          <a:xfrm>
            <a:off x="4572000" y="2214554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44F02-C0D2-4128-AC46-D7D6E224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Нормальная форма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Бойса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-Кодда (НФБК)</a:t>
            </a:r>
            <a:br>
              <a:rPr lang="ru-K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E905C-BA2E-473E-8FC1-8AD923602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Отношение находится в НФБК тогда и только тогда, когда ка­ждый его детерминант является потенциальным ключом.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Отношения базы данных проектируются таким образом, чтобы исключить в них присутствие частичных или транзитивных зависимостей, поскольку эти зависимости приводят к появлению аномалий обновления. До сих пор мы использовали определения второй и третьей нормальных форм, для получе­ния которых требуется найти и исключить частичные и транзитивные зависимости от первичного ключа. Однако в этих определениях не рассматриваются такие же за­висимости от потенциальных ключей отношения, если таковые имеются.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3A6B31-3DA5-474D-B12B-C3807FC4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57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1D74B-EE62-48DC-BC3F-E8ACE818C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FFE258-DE50-490F-B8D5-4AACB941F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32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Различие между ЗНФ и НФБК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заключается в том, что функциональная зависи­мость А—&gt;В допускается в ЗНФ-отношении, если атрибут В является первичным клю­чом, а атрибут А не обязательно является потенциальным ключом. Тогда как в НФБК-отношении эта зависимость допускается </a:t>
            </a:r>
            <a:r>
              <a:rPr lang="ru-RU" sz="3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только 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тогда, когда атрибут А явля­ется потенциальным ключом. Следовательно нормальная форма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Бойса</a:t>
            </a:r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-Кодда являет­ся жесткой версией формы ЗНФ, поскольку каждое НФБК-отношение является ЗНФ-отношением, но не всякое ЗНФ-отношение является НФБК-отношением.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B282F5-9C31-4942-BF72-46B4EBE9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247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B5BAD-F8B5-4695-A030-9A389209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3BCA3-9D65-4FB7-89AD-6B10A677E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spc="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4НФ - это отношение в нормальной форме </a:t>
            </a:r>
            <a:r>
              <a:rPr lang="ru-RU" sz="3200" spc="3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Бойса</a:t>
            </a:r>
            <a:r>
              <a:rPr lang="ru-RU" sz="3200" spc="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-Кодда, которое </a:t>
            </a:r>
            <a:r>
              <a:rPr lang="ru-RU" sz="3200" spc="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содержит нетривиальных многозадачных зависимостей.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DFA34F-6BFF-4982-BA62-AA94784F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475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A781F-8643-4A1E-8FA3-56A62B9A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pc="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Пятая нормальная форма (5НФ)</a:t>
            </a:r>
            <a:br>
              <a:rPr lang="ru-KZ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04A1F4-B8E5-43A4-B719-CA77368F7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"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любой декомпозиции , </a:t>
            </a:r>
            <a:r>
              <a:rPr lang="ru-RU" sz="3200" spc="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отношения на два других отношения полученные отношения имеют </a:t>
            </a:r>
            <a:r>
              <a:rPr lang="ru-RU" sz="3200" spc="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свойство соединения без потерь. Это значит, что полученные отношения </a:t>
            </a: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можно снова соединить и получить прежнее отношение в исходном виде. </a:t>
            </a:r>
            <a:r>
              <a:rPr lang="ru-RU" sz="32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Однако бывают случаи, когда требуется декомпозировать отношение на более чем два отношения. В таких (достаточно редких) случаях </a:t>
            </a:r>
            <a:r>
              <a:rPr lang="ru-RU" sz="3200" spc="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возникает необходимость учитывать зависимость соединения, которая </a:t>
            </a:r>
            <a:r>
              <a:rPr lang="ru-RU" sz="3200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устраняется с помощью пятой нормальной формы.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830" marR="88265"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b="1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Зависимость соединения</a:t>
            </a:r>
            <a:r>
              <a:rPr lang="ru-RU" sz="3200" spc="2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это свойство декомпозиции, которое </a:t>
            </a:r>
            <a:r>
              <a:rPr lang="ru-RU" sz="3200" spc="8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вызывает генерацию ложных строк при обратной соединении </a:t>
            </a:r>
            <a:r>
              <a:rPr lang="ru-RU" sz="3200" spc="3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декомпозированных отношений с помощью операции естественного </a:t>
            </a:r>
            <a:r>
              <a:rPr lang="ru-RU" sz="3200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соединения.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200" spc="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5НФ - это отношение без зависимостей соединения</a:t>
            </a:r>
            <a:endParaRPr lang="ru-KZ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E055D1-1F03-41F4-86E9-4155962B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948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23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859543"/>
              </p:ext>
            </p:extLst>
          </p:nvPr>
        </p:nvGraphicFramePr>
        <p:xfrm>
          <a:off x="214282" y="357166"/>
          <a:ext cx="8786875" cy="1498756"/>
        </p:xfrm>
        <a:graphic>
          <a:graphicData uri="http://schemas.openxmlformats.org/drawingml/2006/table">
            <a:tbl>
              <a:tblPr/>
              <a:tblGrid>
                <a:gridCol w="642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54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348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Ф.И.О.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Вид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Грузоподъемность, тонны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4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1101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RAN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 И.И.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7890123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Korea Bear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VYP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DXB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 С.С.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err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Ролкер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2345678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China Bear</a:t>
                      </a:r>
                      <a:endParaRPr lang="ru-RU" sz="11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VVO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ADL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 П.П.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Универсал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1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RAN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Володин Е.И.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5643570" y="0"/>
            <a:ext cx="3283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Таблица «Грузовые морские перевозки»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14282" y="3643314"/>
          <a:ext cx="8715437" cy="1517230"/>
        </p:xfrm>
        <a:graphic>
          <a:graphicData uri="http://schemas.openxmlformats.org/drawingml/2006/table">
            <a:tbl>
              <a:tblPr/>
              <a:tblGrid>
                <a:gridCol w="65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4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36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2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24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7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31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Фамилия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Имя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Отчество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Вид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Грузоподъемность, тонны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7890123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Korea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VYP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DXB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err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Ролкер</a:t>
                      </a:r>
                      <a:endParaRPr lang="ru-RU" sz="8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2345678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China Bear</a:t>
                      </a:r>
                      <a:endParaRPr lang="ru-RU" sz="10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VVO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ADL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Танкер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0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9204W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Володин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Евгений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3929058" y="2857496"/>
            <a:ext cx="857256" cy="500066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</a:rPr>
              <a:t>1 НФ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282" y="2000240"/>
            <a:ext cx="87868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Задание:</a:t>
            </a:r>
          </a:p>
          <a:p>
            <a:pPr marL="342900" indent="-342900">
              <a:buAutoNum type="arabicParenR"/>
            </a:pPr>
            <a:r>
              <a:rPr lang="ru-RU" sz="1400" dirty="0"/>
              <a:t>Определите название ключа по типу и по способу задания. </a:t>
            </a:r>
          </a:p>
          <a:p>
            <a:pPr marL="342900" indent="-342900">
              <a:buAutoNum type="arabicParenR"/>
            </a:pPr>
            <a:r>
              <a:rPr lang="ru-RU" sz="1400" dirty="0"/>
              <a:t>Определите к какой нормальной форме нужно привести исходную таблицу. И что для этого нужно сделать?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1F87023B-4310-42C4-812D-874FAF4871B2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643570" y="142852"/>
            <a:ext cx="3283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Таблица «Грузовые морские перевозки»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4714876" y="2928934"/>
            <a:ext cx="857256" cy="500066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</a:rPr>
              <a:t>2 НФ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428596" y="3571876"/>
          <a:ext cx="4143405" cy="1264885"/>
        </p:xfrm>
        <a:graphic>
          <a:graphicData uri="http://schemas.openxmlformats.org/drawingml/2006/table">
            <a:tbl>
              <a:tblPr/>
              <a:tblGrid>
                <a:gridCol w="57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Вид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Грузоподъемность, тонны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7890123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Korea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Ролкер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2345678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China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Танкер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57158" y="3286124"/>
            <a:ext cx="2296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«Информация о судне»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428597" y="5126480"/>
          <a:ext cx="8286809" cy="1517230"/>
        </p:xfrm>
        <a:graphic>
          <a:graphicData uri="http://schemas.openxmlformats.org/drawingml/2006/table">
            <a:tbl>
              <a:tblPr/>
              <a:tblGrid>
                <a:gridCol w="625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8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7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судна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FK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Фамилия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Имя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Отчество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VYP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DXB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VVO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ADL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9204W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6429388" y="4786322"/>
            <a:ext cx="22948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таблица «Информация о рейсе»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44" y="2000240"/>
            <a:ext cx="88583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Задание:</a:t>
            </a:r>
          </a:p>
          <a:p>
            <a:r>
              <a:rPr lang="ru-RU" sz="1400" dirty="0"/>
              <a:t>1) Определите к какой нормальной форме нужно привести исходную таблицу. </a:t>
            </a:r>
          </a:p>
          <a:p>
            <a:r>
              <a:rPr lang="ru-RU" sz="1400" dirty="0"/>
              <a:t>2) Определите структуру новых таблиц (сколько таблиц и какие поля ) и как они будут связанны.</a:t>
            </a:r>
          </a:p>
          <a:p>
            <a:r>
              <a:rPr lang="ru-RU" sz="1400" dirty="0"/>
              <a:t> Определите ключевые поля.</a:t>
            </a: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214282" y="428604"/>
          <a:ext cx="8715437" cy="1517230"/>
        </p:xfrm>
        <a:graphic>
          <a:graphicData uri="http://schemas.openxmlformats.org/drawingml/2006/table">
            <a:tbl>
              <a:tblPr/>
              <a:tblGrid>
                <a:gridCol w="653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4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0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36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2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24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7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31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Фамилия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Имя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Отчество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Вид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Грузоподъемность, тонны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7890123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Korea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VYP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DXB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err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Ролкер</a:t>
                      </a:r>
                      <a:endParaRPr lang="ru-RU" sz="8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2345678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China Bear</a:t>
                      </a:r>
                      <a:endParaRPr lang="ru-RU" sz="10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VVO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ADL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Танкер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0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9204W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14942" y="3643314"/>
            <a:ext cx="3643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Вопрос:</a:t>
            </a:r>
          </a:p>
          <a:p>
            <a:r>
              <a:rPr lang="ru-RU" sz="1400" dirty="0"/>
              <a:t>Нужно ли полученные таблицы приводить к следующей нормальной форме?</a:t>
            </a:r>
          </a:p>
          <a:p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6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215074" y="0"/>
            <a:ext cx="25697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Таблица «Морские перевозки»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4286248" y="2071678"/>
            <a:ext cx="857256" cy="500066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</a:rPr>
              <a:t>3 НФ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28596" y="357166"/>
          <a:ext cx="8286809" cy="1517230"/>
        </p:xfrm>
        <a:graphic>
          <a:graphicData uri="http://schemas.openxmlformats.org/drawingml/2006/table">
            <a:tbl>
              <a:tblPr/>
              <a:tblGrid>
                <a:gridCol w="625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8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7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судна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FK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Фамилия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Имя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Отчество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VYP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DXB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VVO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ADL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9204W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14282" y="5000636"/>
          <a:ext cx="5929355" cy="1517230"/>
        </p:xfrm>
        <a:graphic>
          <a:graphicData uri="http://schemas.openxmlformats.org/drawingml/2006/table">
            <a:tbl>
              <a:tblPr/>
              <a:tblGrid>
                <a:gridCol w="64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1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судна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FK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Код  капитана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(</a:t>
                      </a:r>
                      <a:r>
                        <a:rPr lang="en-US" sz="1000" dirty="0"/>
                        <a:t>FK)</a:t>
                      </a:r>
                      <a:endParaRPr lang="ru-RU" sz="10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VYP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DXB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VVO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ADL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9204W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5214942" y="3500438"/>
          <a:ext cx="3752519" cy="1336323"/>
        </p:xfrm>
        <a:graphic>
          <a:graphicData uri="http://schemas.openxmlformats.org/drawingml/2006/table">
            <a:tbl>
              <a:tblPr/>
              <a:tblGrid>
                <a:gridCol w="625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0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Фамилия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Имя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Отчество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285720" y="4643446"/>
            <a:ext cx="22948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таблица «Информация о рейсе»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500958" y="3214686"/>
            <a:ext cx="1442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таблица «Капитан»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500042"/>
          </a:xfrm>
        </p:spPr>
        <p:txBody>
          <a:bodyPr>
            <a:noAutofit/>
          </a:bodyPr>
          <a:lstStyle/>
          <a:p>
            <a:pPr algn="l"/>
            <a:r>
              <a:rPr lang="ru-RU" sz="2000" dirty="0"/>
              <a:t>Результат приведения исходной таблицы к 3НФ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26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14282" y="928670"/>
          <a:ext cx="8786875" cy="1500198"/>
        </p:xfrm>
        <a:graphic>
          <a:graphicData uri="http://schemas.openxmlformats.org/drawingml/2006/table">
            <a:tbl>
              <a:tblPr/>
              <a:tblGrid>
                <a:gridCol w="642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54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348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Ф.И.О.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Вид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Грузоподъемность, тонны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1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1101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RAN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 И.И.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7890123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Korea Bear</a:t>
                      </a:r>
                      <a:endParaRPr lang="ru-RU" sz="11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VYP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/>
                        <a:t>DXB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 С.С.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err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Ролкер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2345678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China Bear</a:t>
                      </a:r>
                      <a:endParaRPr lang="ru-RU" sz="110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VVO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/>
                        <a:t>ADL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 П.П.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Универсал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04W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100"/>
                        <a:t>RAN</a:t>
                      </a:r>
                      <a:endParaRPr lang="ru-RU" sz="11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Володин Е.И.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85720" y="3214686"/>
          <a:ext cx="4143405" cy="1264885"/>
        </p:xfrm>
        <a:graphic>
          <a:graphicData uri="http://schemas.openxmlformats.org/drawingml/2006/table">
            <a:tbl>
              <a:tblPr/>
              <a:tblGrid>
                <a:gridCol w="57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Вид судна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Грузоподъемность, тонны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1234567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Japan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Сухогруз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7890123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Korea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Ролкер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2345678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China Bear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Танкер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1500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7158" y="2928934"/>
            <a:ext cx="2296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Таблица «Информация о судне»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596" y="5143512"/>
          <a:ext cx="5929355" cy="1517230"/>
        </p:xfrm>
        <a:graphic>
          <a:graphicData uri="http://schemas.openxmlformats.org/drawingml/2006/table">
            <a:tbl>
              <a:tblPr/>
              <a:tblGrid>
                <a:gridCol w="64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1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01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судна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FK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Код  капитана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/>
                        <a:t>(</a:t>
                      </a:r>
                      <a:r>
                        <a:rPr lang="en-US" sz="1000" dirty="0"/>
                        <a:t>FK)</a:t>
                      </a:r>
                      <a:endParaRPr lang="ru-RU" sz="10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Номер рейса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погрузки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Порт прибытия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01.02.2019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12.03.2019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02.02.2020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VYP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DXB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03.03.2020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VVO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ADL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103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9204W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04.04.2020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NSP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18.05.2020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RAN</a:t>
                      </a:r>
                      <a:endParaRPr lang="ru-RU" sz="10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072066" y="3143248"/>
          <a:ext cx="3752519" cy="1336323"/>
        </p:xfrm>
        <a:graphic>
          <a:graphicData uri="http://schemas.openxmlformats.org/drawingml/2006/table">
            <a:tbl>
              <a:tblPr/>
              <a:tblGrid>
                <a:gridCol w="625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0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PK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Фамилия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Имя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Отчество капитана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Дата рождения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Иванович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Сидоров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Семенович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02.01.1980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Петрович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01.01.1970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428596" y="4857760"/>
            <a:ext cx="22948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таблица «Информация о рейсе»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358082" y="2786058"/>
            <a:ext cx="1442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таблица «Капитан»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715008" y="571480"/>
            <a:ext cx="3283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Таблица «Грузовые морские перевозки»</a:t>
            </a:r>
          </a:p>
        </p:txBody>
      </p:sp>
      <p:sp>
        <p:nvSpPr>
          <p:cNvPr id="13" name="Стрелка вниз 12"/>
          <p:cNvSpPr/>
          <p:nvPr/>
        </p:nvSpPr>
        <p:spPr>
          <a:xfrm>
            <a:off x="4500562" y="2571744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4857752" y="2500306"/>
            <a:ext cx="1999843" cy="30777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0070C0"/>
                </a:solidFill>
              </a:rPr>
              <a:t>Процесс нормализации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9D06-B292-4114-92A5-AEAA0B25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648A7C-B037-440A-B56B-5425ABE7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Подводя итоги, скажем, что н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ормализация </a:t>
            </a: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это метод создания набора отношений с заданными свойст­вами на основе требований, предъявляемых к данным в организации.   Нормализация является формальным методом, который может быть использо­ван для определения состава отношений на основе их ключей и существующих функциональных зависимостей между их атрибутами.</a:t>
            </a:r>
            <a:endParaRPr lang="ru-KZ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20B638-24ED-4809-AE4E-5406993D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803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DA7BC-4BE3-4D3A-8085-E8FF7AA9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70CAE2-E162-4E78-8E94-BC83C1B2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7023B-4310-42C4-812D-874FAF4871B2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5" name="Объект 3">
            <a:extLst>
              <a:ext uri="{FF2B5EF4-FFF2-40B4-BE49-F238E27FC236}">
                <a16:creationId xmlns:a16="http://schemas.microsoft.com/office/drawing/2014/main" id="{9058F3EE-42FE-4F2C-9DF5-0BDBAB6CC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7824" y="203585"/>
            <a:ext cx="3438424" cy="665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63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48307</TotalTime>
  <Words>3621</Words>
  <Application>Microsoft Office PowerPoint</Application>
  <PresentationFormat>Экран (4:3)</PresentationFormat>
  <Paragraphs>1398</Paragraphs>
  <Slides>28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Тема Office</vt:lpstr>
      <vt:lpstr>  Нормализация и SQL структура</vt:lpstr>
      <vt:lpstr>Презентация PowerPoint</vt:lpstr>
      <vt:lpstr>Презентация PowerPoint</vt:lpstr>
      <vt:lpstr>Аномалии в таблицах БД</vt:lpstr>
      <vt:lpstr>Презентация PowerPoint</vt:lpstr>
      <vt:lpstr>Проектирование баз данных</vt:lpstr>
      <vt:lpstr>Проектирование баз данных</vt:lpstr>
      <vt:lpstr>Презентация PowerPoint</vt:lpstr>
      <vt:lpstr>Нормальные формы</vt:lpstr>
      <vt:lpstr>Первая нормальная форма (1НФ)</vt:lpstr>
      <vt:lpstr>Первая нормальная форма (1НФ)</vt:lpstr>
      <vt:lpstr>Первая нормальная форма (1НФ)</vt:lpstr>
      <vt:lpstr>Вторая нормальная форма (2НФ)</vt:lpstr>
      <vt:lpstr>Вторая нормальная форма (2НФ)</vt:lpstr>
      <vt:lpstr>Презентация PowerPoint</vt:lpstr>
      <vt:lpstr>Третья нормальная форма (3НФ)</vt:lpstr>
      <vt:lpstr>Третья нормальная форма (3НФ)</vt:lpstr>
      <vt:lpstr>Презентация PowerPoint</vt:lpstr>
      <vt:lpstr>Нормальная форма Бойса-Кодда (НФБК) </vt:lpstr>
      <vt:lpstr>Презентация PowerPoint</vt:lpstr>
      <vt:lpstr>Презентация PowerPoint</vt:lpstr>
      <vt:lpstr>Пятая нормальная форма (5НФ) </vt:lpstr>
      <vt:lpstr>Презентация PowerPoint</vt:lpstr>
      <vt:lpstr>Презентация PowerPoint</vt:lpstr>
      <vt:lpstr>Презентация PowerPoint</vt:lpstr>
      <vt:lpstr>Результат приведения исходной таблицы к 3НФ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управления базами данных</dc:title>
  <dc:creator>Ольга</dc:creator>
  <cp:lastModifiedBy>Айнур Есентемирова</cp:lastModifiedBy>
  <cp:revision>3812</cp:revision>
  <dcterms:created xsi:type="dcterms:W3CDTF">2020-09-07T15:45:04Z</dcterms:created>
  <dcterms:modified xsi:type="dcterms:W3CDTF">2026-02-26T04:13:01Z</dcterms:modified>
</cp:coreProperties>
</file>